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Net buying</c:v>
                </c:pt>
              </c:strCache>
            </c:strRef>
          </c:tx>
          <c:spPr>
            <a:solidFill>
              <a:srgbClr val="2E6B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Sheet1!$B$2:$B$13</c:f>
              <c:numCache>
                <c:formatCode>General</c:formatCode>
                <c:ptCount val="12"/>
                <c:pt idx="0">
                  <c:v>0</c:v>
                </c:pt>
                <c:pt idx="1">
                  <c:v>0.24</c:v>
                </c:pt>
                <c:pt idx="2">
                  <c:v>0</c:v>
                </c:pt>
                <c:pt idx="3">
                  <c:v>0</c:v>
                </c:pt>
                <c:pt idx="4">
                  <c:v>0</c:v>
                </c:pt>
                <c:pt idx="5">
                  <c:v>0</c:v>
                </c:pt>
                <c:pt idx="6">
                  <c:v>0</c:v>
                </c:pt>
                <c:pt idx="7">
                  <c:v>0</c:v>
                </c:pt>
                <c:pt idx="8">
                  <c:v>0.34</c:v>
                </c:pt>
                <c:pt idx="9">
                  <c:v>0</c:v>
                </c:pt>
                <c:pt idx="10">
                  <c:v>0</c:v>
                </c:pt>
                <c:pt idx="11">
                  <c:v>0</c:v>
                </c:pt>
              </c:numCache>
            </c:numRef>
          </c:val>
        </c:ser>
        <c:ser>
          <c:idx val="1"/>
          <c:order val="1"/>
          <c:tx>
            <c:strRef>
              <c:f>Sheet1!$C$1</c:f>
              <c:strCache>
                <c:ptCount val="1"/>
                <c:pt idx="0">
                  <c:v>Net selling</c:v>
                </c:pt>
              </c:strCache>
            </c:strRef>
          </c:tx>
          <c:spPr>
            <a:solidFill>
              <a:srgbClr val="9A41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Sheet1!$C$2:$C$13</c:f>
              <c:numCache>
                <c:formatCode>General</c:formatCode>
                <c:ptCount val="12"/>
                <c:pt idx="0">
                  <c:v>-0.42</c:v>
                </c:pt>
                <c:pt idx="1">
                  <c:v>0</c:v>
                </c:pt>
                <c:pt idx="2">
                  <c:v>-0.36</c:v>
                </c:pt>
                <c:pt idx="3">
                  <c:v>-0.38</c:v>
                </c:pt>
                <c:pt idx="4">
                  <c:v>-0.26</c:v>
                </c:pt>
                <c:pt idx="5">
                  <c:v>-0.6</c:v>
                </c:pt>
                <c:pt idx="6">
                  <c:v>-0.38</c:v>
                </c:pt>
                <c:pt idx="7">
                  <c:v>-0.14</c:v>
                </c:pt>
                <c:pt idx="8">
                  <c:v>0</c:v>
                </c:pt>
                <c:pt idx="9">
                  <c:v>-0.09</c:v>
                </c:pt>
                <c:pt idx="10">
                  <c:v>-0.55</c:v>
                </c:pt>
                <c:pt idx="11">
                  <c:v>-0.18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100"/>
        <c:axId val="2094734554"/>
        <c:axId val="2094734552"/>
        <c:axId val="2094734556"/>
      </c:barChart>
      <c:lineChart>
        <c:varyColors val="0"/>
        <c:ser>
          <c:idx val="2"/>
          <c:order val="2"/>
          <c:tx>
            <c:strRef>
              <c:f>Sheet1!$D$1</c:f>
              <c:strCache>
                <c:ptCount val="1"/>
                <c:pt idx="0">
                  <c:v>Hang Seng Index, month-end ('000)</c:v>
                </c:pt>
              </c:strCache>
            </c:strRef>
          </c:tx>
          <c:spPr>
            <a:solidFill>
              <a:srgbClr val="002D72"/>
            </a:solidFill>
            <a:ln w="28575" cap="flat">
              <a:solidFill>
                <a:srgbClr val="002D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2D72"/>
              </a:solidFill>
              <a:ln w="9525" cap="flat">
                <a:solidFill>
                  <a:srgbClr val="002D72"/>
                </a:solidFill>
                <a:prstDash val="solid"/>
                <a:round/>
              </a:ln>
              <a:effectLst/>
            </c:spPr>
          </c:marker>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Sheet1!$D$2:$D$13</c:f>
              <c:numCache>
                <c:formatCode>General</c:formatCode>
                <c:ptCount val="12"/>
                <c:pt idx="0">
                  <c:v>25.2</c:v>
                </c:pt>
                <c:pt idx="1">
                  <c:v>26.2</c:v>
                </c:pt>
                <c:pt idx="2">
                  <c:v>26</c:v>
                </c:pt>
                <c:pt idx="3">
                  <c:v>25.5</c:v>
                </c:pt>
                <c:pt idx="4">
                  <c:v>25.8</c:v>
                </c:pt>
                <c:pt idx="5">
                  <c:v>25.2</c:v>
                </c:pt>
                <c:pt idx="6">
                  <c:v>26.3</c:v>
                </c:pt>
                <c:pt idx="7">
                  <c:v>23.5</c:v>
                </c:pt>
                <c:pt idx="8">
                  <c:v>22.8</c:v>
                </c:pt>
                <c:pt idx="9">
                  <c:v>23.5</c:v>
                </c:pt>
                <c:pt idx="10">
                  <c:v>22.7</c:v>
                </c:pt>
                <c:pt idx="11">
                  <c:v>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3737F"/>
                </a:solidFill>
                <a:latin typeface="Calibri"/>
              </a:defRPr>
            </a:pPr>
            <a:endParaRPr lang="en-US"/>
          </a:p>
        </c:txPr>
        <c:crossAx val="2094734552"/>
        <c:crosses val="autoZero"/>
        <c:auto val="1"/>
        <c:lblAlgn val="ctr"/>
        <c:noMultiLvlLbl val="1"/>
      </c:catAx>
      <c:valAx>
        <c:axId val="2094734552"/>
        <c:scaling>
          <c:orientation val="minMax"/>
          <c:max val="0.5"/>
          <c:min val="-0.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valAx>
        <c:axId val="2094734553"/>
        <c:scaling>
          <c:orientation val="minMax"/>
          <c:max val="28"/>
          <c:min val="21"/>
        </c:scaling>
        <c:delete val="0"/>
        <c:axPos val="r"/>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2D72"/>
                </a:solidFill>
                <a:latin typeface="Calibri"/>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3737F"/>
                </a:solidFill>
                <a:latin typeface="Calibri"/>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02D72"/>
                </a:solidFill>
                <a:latin typeface="Calibri"/>
              </a:defRPr>
            </a:pPr>
            <a:r>
              <a:rPr sz="1050" b="0" i="0" u="none" strike="noStrike">
                <a:solidFill>
                  <a:srgbClr val="002D72"/>
                </a:solidFill>
                <a:latin typeface="Calibri"/>
              </a:rPr>
              <a:t>Our franchise: signed buy/sell ratio (buy positive)</a:t>
            </a:r>
          </a:p>
        </c:rich>
      </c:tx>
      <c:layout/>
      <c:overlay val="0"/>
    </c:title>
    <c:autoTitleDeleted val="0"/>
    <c:plotArea>
      <c:layout/>
      <c:barChart>
        <c:barDir val="col"/>
        <c:grouping val="clustered"/>
        <c:varyColors val="0"/>
        <c:ser>
          <c:idx val="0"/>
          <c:order val="0"/>
          <c:tx>
            <c:strRef>
              <c:f>Sheet1!$B$1</c:f>
              <c:strCache>
                <c:ptCount val="1"/>
                <c:pt idx="0">
                  <c:v>June</c:v>
                </c:pt>
              </c:strCache>
            </c:strRef>
          </c:tx>
          <c:spPr>
            <a:solidFill>
              <a:srgbClr val="63737F"/>
            </a:solidFill>
            <a:effectLst/>
          </c:spPr>
          <c:invertIfNegative val="0"/>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Cons Disc</c:v>
                  </c:pt>
                  <c:pt idx="1">
                    <c:v>Comm Svc</c:v>
                  </c:pt>
                  <c:pt idx="2">
                    <c:v>Energy</c:v>
                  </c:pt>
                  <c:pt idx="3">
                    <c:v>Utilities</c:v>
                  </c:pt>
                  <c:pt idx="4">
                    <c:v>Materials</c:v>
                  </c:pt>
                </c:lvl>
              </c:multiLvlStrCache>
            </c:multiLvlStrRef>
          </c:cat>
          <c:val>
            <c:numRef>
              <c:f>Sheet1!$B$2:$B$6</c:f>
              <c:numCache>
                <c:formatCode>General</c:formatCode>
                <c:ptCount val="5"/>
                <c:pt idx="0">
                  <c:v>-0.45</c:v>
                </c:pt>
                <c:pt idx="1">
                  <c:v>0.35</c:v>
                </c:pt>
                <c:pt idx="2">
                  <c:v>-0.31</c:v>
                </c:pt>
                <c:pt idx="3">
                  <c:v>0.1</c:v>
                </c:pt>
                <c:pt idx="4">
                  <c:v>-0.39</c:v>
                </c:pt>
              </c:numCache>
            </c:numRef>
          </c:val>
        </c:ser>
        <c:ser>
          <c:idx val="1"/>
          <c:order val="1"/>
          <c:tx>
            <c:strRef>
              <c:f>Sheet1!$C$1</c:f>
              <c:strCache>
                <c:ptCount val="1"/>
                <c:pt idx="0">
                  <c:v>July</c:v>
                </c:pt>
              </c:strCache>
            </c:strRef>
          </c:tx>
          <c:spPr>
            <a:solidFill>
              <a:srgbClr val="002D72"/>
            </a:solidFill>
            <a:effectLst/>
          </c:spPr>
          <c:invertIfNegative val="0"/>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Cons Disc</c:v>
                  </c:pt>
                  <c:pt idx="1">
                    <c:v>Comm Svc</c:v>
                  </c:pt>
                  <c:pt idx="2">
                    <c:v>Energy</c:v>
                  </c:pt>
                  <c:pt idx="3">
                    <c:v>Utilities</c:v>
                  </c:pt>
                  <c:pt idx="4">
                    <c:v>Materials</c:v>
                  </c:pt>
                </c:lvl>
              </c:multiLvlStrCache>
            </c:multiLvlStrRef>
          </c:cat>
          <c:val>
            <c:numRef>
              <c:f>Sheet1!$C$2:$C$6</c:f>
              <c:numCache>
                <c:formatCode>General</c:formatCode>
                <c:ptCount val="5"/>
                <c:pt idx="0">
                  <c:v>0.13</c:v>
                </c:pt>
                <c:pt idx="1">
                  <c:v>-0.24</c:v>
                </c:pt>
                <c:pt idx="2">
                  <c:v>0.57</c:v>
                </c:pt>
                <c:pt idx="3">
                  <c:v>1.09</c:v>
                </c:pt>
                <c:pt idx="4">
                  <c:v>-0.04</c:v>
                </c:pt>
              </c:numCache>
            </c:numRef>
          </c:val>
        </c:ser>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A2733"/>
                </a:solidFill>
                <a:latin typeface="Calibri"/>
              </a:defRPr>
            </a:pPr>
            <a:endParaRPr lang="en-US"/>
          </a:p>
        </c:txPr>
        <c:crossAx val="2094734552"/>
        <c:crosses val="autoZero"/>
        <c:auto val="1"/>
        <c:lblAlgn val="ctr"/>
        <c:noMultiLvlLbl val="1"/>
      </c:catAx>
      <c:valAx>
        <c:axId val="2094734552"/>
        <c:scaling>
          <c:orientation val="minMax"/>
          <c:max val="1.2"/>
          <c:min val="-0.6"/>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73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02D72"/>
                </a:solidFill>
                <a:latin typeface="Calibri"/>
              </a:defRPr>
            </a:pPr>
            <a:r>
              <a:rPr sz="1050" b="0" i="0" u="none" strike="noStrike">
                <a:solidFill>
                  <a:srgbClr val="002D72"/>
                </a:solidFill>
                <a:latin typeface="Calibri"/>
              </a:rPr>
              <a:t>Southbound: same scale, same months</a:t>
            </a:r>
          </a:p>
        </c:rich>
      </c:tx>
      <c:layout/>
      <c:overlay val="0"/>
    </c:title>
    <c:autoTitleDeleted val="0"/>
    <c:plotArea>
      <c:layout/>
      <c:barChart>
        <c:barDir val="col"/>
        <c:grouping val="clustered"/>
        <c:varyColors val="0"/>
        <c:ser>
          <c:idx val="0"/>
          <c:order val="0"/>
          <c:tx>
            <c:strRef>
              <c:f>Sheet1!$B$1</c:f>
              <c:strCache>
                <c:ptCount val="1"/>
                <c:pt idx="0">
                  <c:v>June</c:v>
                </c:pt>
              </c:strCache>
            </c:strRef>
          </c:tx>
          <c:spPr>
            <a:solidFill>
              <a:srgbClr val="63737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Cons Disc</c:v>
                  </c:pt>
                  <c:pt idx="1">
                    <c:v>Comm Svc</c:v>
                  </c:pt>
                  <c:pt idx="2">
                    <c:v>Energy</c:v>
                  </c:pt>
                  <c:pt idx="3">
                    <c:v>Utilities</c:v>
                  </c:pt>
                  <c:pt idx="4">
                    <c:v>Materials</c:v>
                  </c:pt>
                </c:lvl>
              </c:multiLvlStrCache>
            </c:multiLvlStrRef>
          </c:cat>
          <c:val>
            <c:numRef>
              <c:f>Sheet1!$B$2:$B$6</c:f>
              <c:numCache>
                <c:formatCode>General</c:formatCode>
                <c:ptCount val="5"/>
                <c:pt idx="0">
                  <c:v>-0.76</c:v>
                </c:pt>
                <c:pt idx="1">
                  <c:v>-0.44</c:v>
                </c:pt>
                <c:pt idx="2">
                  <c:v>0.09</c:v>
                </c:pt>
                <c:pt idx="3">
                  <c:v>-0.57</c:v>
                </c:pt>
                <c:pt idx="4">
                  <c:v>-0.43</c:v>
                </c:pt>
              </c:numCache>
            </c:numRef>
          </c:val>
        </c:ser>
        <c:ser>
          <c:idx val="1"/>
          <c:order val="1"/>
          <c:tx>
            <c:strRef>
              <c:f>Sheet1!$C$1</c:f>
              <c:strCache>
                <c:ptCount val="1"/>
                <c:pt idx="0">
                  <c:v>July</c:v>
                </c:pt>
              </c:strCache>
            </c:strRef>
          </c:tx>
          <c:spPr>
            <a:solidFill>
              <a:srgbClr val="0088C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Cons Disc</c:v>
                  </c:pt>
                  <c:pt idx="1">
                    <c:v>Comm Svc</c:v>
                  </c:pt>
                  <c:pt idx="2">
                    <c:v>Energy</c:v>
                  </c:pt>
                  <c:pt idx="3">
                    <c:v>Utilities</c:v>
                  </c:pt>
                  <c:pt idx="4">
                    <c:v>Materials</c:v>
                  </c:pt>
                </c:lvl>
              </c:multiLvlStrCache>
            </c:multiLvlStrRef>
          </c:cat>
          <c:val>
            <c:numRef>
              <c:f>Sheet1!$C$2:$C$6</c:f>
              <c:numCache>
                <c:formatCode>General</c:formatCode>
                <c:ptCount val="5"/>
                <c:pt idx="0">
                  <c:v>0.18</c:v>
                </c:pt>
                <c:pt idx="1">
                  <c:v>0.86</c:v>
                </c:pt>
                <c:pt idx="2">
                  <c:v>-0.33</c:v>
                </c:pt>
                <c:pt idx="3">
                  <c:v>-0.64</c:v>
                </c:pt>
                <c:pt idx="4">
                  <c:v>0.94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A2733"/>
                </a:solidFill>
                <a:latin typeface="Calibri"/>
              </a:defRPr>
            </a:pPr>
            <a:endParaRPr lang="en-US"/>
          </a:p>
        </c:txPr>
        <c:crossAx val="2094734552"/>
        <c:crosses val="autoZero"/>
        <c:auto val="1"/>
        <c:lblAlgn val="ctr"/>
        <c:noMultiLvlLbl val="1"/>
      </c:catAx>
      <c:valAx>
        <c:axId val="2094734552"/>
        <c:scaling>
          <c:orientation val="minMax"/>
          <c:max val="1.2"/>
          <c:min val="-1"/>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73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02D72"/>
                </a:solidFill>
                <a:latin typeface="Calibri"/>
              </a:defRPr>
            </a:pPr>
            <a:r>
              <a:rPr sz="1050" b="0" i="0" u="none" strike="noStrike">
                <a:solidFill>
                  <a:srgbClr val="002D72"/>
                </a:solidFill>
                <a:latin typeface="Calibri"/>
              </a:rPr>
              <a:t>Signed buy/sell ratio by cohort (buy positive)</a:t>
            </a:r>
          </a:p>
        </c:rich>
      </c:tx>
      <c:layout/>
      <c:overlay val="0"/>
    </c:title>
    <c:autoTitleDeleted val="0"/>
    <c:plotArea>
      <c:layout/>
      <c:barChart>
        <c:barDir val="col"/>
        <c:grouping val="clustered"/>
        <c:varyColors val="0"/>
        <c:ser>
          <c:idx val="0"/>
          <c:order val="0"/>
          <c:tx>
            <c:strRef>
              <c:f>Sheet1!$B$1</c:f>
              <c:strCache>
                <c:ptCount val="1"/>
                <c:pt idx="0">
                  <c:v>June</c:v>
                </c:pt>
              </c:strCache>
            </c:strRef>
          </c:tx>
          <c:spPr>
            <a:solidFill>
              <a:srgbClr val="63737F"/>
            </a:solidFill>
            <a:effectLst/>
          </c:spPr>
          <c:invertIfNegative val="0"/>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Hedge funds</c:v>
                  </c:pt>
                  <c:pt idx="1">
                    <c:v>Long-only</c:v>
                  </c:pt>
                  <c:pt idx="2">
                    <c:v>Retail</c:v>
                  </c:pt>
                </c:lvl>
              </c:multiLvlStrCache>
            </c:multiLvlStrRef>
          </c:cat>
          <c:val>
            <c:numRef>
              <c:f>Sheet1!$B$2:$B$4</c:f>
              <c:numCache>
                <c:formatCode>General</c:formatCode>
                <c:ptCount val="3"/>
                <c:pt idx="0">
                  <c:v>-0.23</c:v>
                </c:pt>
                <c:pt idx="1">
                  <c:v>-0.16</c:v>
                </c:pt>
                <c:pt idx="2">
                  <c:v>0.23</c:v>
                </c:pt>
              </c:numCache>
            </c:numRef>
          </c:val>
        </c:ser>
        <c:ser>
          <c:idx val="1"/>
          <c:order val="1"/>
          <c:tx>
            <c:strRef>
              <c:f>Sheet1!$C$1</c:f>
              <c:strCache>
                <c:ptCount val="1"/>
                <c:pt idx="0">
                  <c:v>July</c:v>
                </c:pt>
              </c:strCache>
            </c:strRef>
          </c:tx>
          <c:spPr>
            <a:solidFill>
              <a:srgbClr val="002D72"/>
            </a:solidFill>
            <a:effectLst/>
          </c:spPr>
          <c:invertIfNegative val="0"/>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Hedge funds</c:v>
                  </c:pt>
                  <c:pt idx="1">
                    <c:v>Long-only</c:v>
                  </c:pt>
                  <c:pt idx="2">
                    <c:v>Retail</c:v>
                  </c:pt>
                </c:lvl>
              </c:multiLvlStrCache>
            </c:multiLvlStrRef>
          </c:cat>
          <c:val>
            <c:numRef>
              <c:f>Sheet1!$C$2:$C$4</c:f>
              <c:numCache>
                <c:formatCode>General</c:formatCode>
                <c:ptCount val="3"/>
                <c:pt idx="0">
                  <c:v>-0.16</c:v>
                </c:pt>
                <c:pt idx="1">
                  <c:v>0.01</c:v>
                </c:pt>
                <c:pt idx="2">
                  <c:v>-0.29</c:v>
                </c:pt>
              </c:numCache>
            </c:numRef>
          </c:val>
        </c:ser>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A2733"/>
                </a:solidFill>
                <a:latin typeface="Calibri"/>
              </a:defRPr>
            </a:pPr>
            <a:endParaRPr lang="en-US"/>
          </a:p>
        </c:txPr>
        <c:crossAx val="2094734552"/>
        <c:crosses val="autoZero"/>
        <c:auto val="1"/>
        <c:lblAlgn val="ctr"/>
        <c:noMultiLvlLbl val="1"/>
      </c:catAx>
      <c:valAx>
        <c:axId val="2094734552"/>
        <c:scaling>
          <c:orientation val="minMax"/>
          <c:max val="0.3"/>
          <c:min val="-0.35"/>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73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2D72"/>
                </a:solidFill>
                <a:latin typeface="Calibri"/>
              </a:defRPr>
            </a:pPr>
            <a:r>
              <a:rPr sz="1000" b="0" i="0" u="none" strike="noStrike">
                <a:solidFill>
                  <a:srgbClr val="002D72"/>
                </a:solidFill>
                <a:latin typeface="Calibri"/>
              </a:rPr>
              <a:t>Cumulative net flow by bucket since Aug-25 (shape traced from the dashboard)</a:t>
            </a:r>
          </a:p>
        </c:rich>
      </c:tx>
      <c:layout/>
      <c:overlay val="0"/>
    </c:title>
    <c:autoTitleDeleted val="0"/>
    <c:plotArea>
      <c:layout/>
      <c:lineChart>
        <c:varyColors val="0"/>
        <c:ser>
          <c:idx val="0"/>
          <c:order val="0"/>
          <c:tx>
            <c:strRef>
              <c:f>Sheet1!$B$1</c:f>
              <c:strCache>
                <c:ptCount val="1"/>
                <c:pt idx="0">
                  <c:v>Hedge funds</c:v>
                </c:pt>
              </c:strCache>
            </c:strRef>
          </c:tx>
          <c:spPr>
            <a:solidFill>
              <a:srgbClr val="002D72"/>
            </a:solidFill>
            <a:ln w="25400" cap="flat">
              <a:solidFill>
                <a:srgbClr val="002D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2D72"/>
              </a:solidFill>
              <a:ln w="9525" cap="flat">
                <a:solidFill>
                  <a:srgbClr val="002D72"/>
                </a:solidFill>
                <a:prstDash val="solid"/>
                <a:round/>
              </a:ln>
              <a:effectLst/>
            </c:spPr>
          </c:marker>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Sheet1!$B$2:$B$13</c:f>
              <c:numCache>
                <c:formatCode>General</c:formatCode>
                <c:ptCount val="12"/>
                <c:pt idx="0">
                  <c:v>-0.5</c:v>
                </c:pt>
                <c:pt idx="1">
                  <c:v>-0.8</c:v>
                </c:pt>
                <c:pt idx="2">
                  <c:v>-1.3</c:v>
                </c:pt>
                <c:pt idx="3">
                  <c:v>-1.8</c:v>
                </c:pt>
                <c:pt idx="4">
                  <c:v>-2.1</c:v>
                </c:pt>
                <c:pt idx="5">
                  <c:v>-2.9</c:v>
                </c:pt>
                <c:pt idx="6">
                  <c:v>-3.3</c:v>
                </c:pt>
                <c:pt idx="7">
                  <c:v>-3.4</c:v>
                </c:pt>
                <c:pt idx="8">
                  <c:v>-3.1</c:v>
                </c:pt>
                <c:pt idx="9">
                  <c:v>-3.2</c:v>
                </c:pt>
                <c:pt idx="10">
                  <c:v>-3.9</c:v>
                </c:pt>
                <c:pt idx="11">
                  <c:v>-4.2</c:v>
                </c:pt>
              </c:numCache>
            </c:numRef>
          </c:val>
          <c:smooth val="0"/>
        </c:ser>
        <c:ser>
          <c:idx val="1"/>
          <c:order val="1"/>
          <c:tx>
            <c:strRef>
              <c:f>Sheet1!$C$1</c:f>
              <c:strCache>
                <c:ptCount val="1"/>
                <c:pt idx="0">
                  <c:v>Long-only</c:v>
                </c:pt>
              </c:strCache>
            </c:strRef>
          </c:tx>
          <c:spPr>
            <a:solidFill>
              <a:srgbClr val="2E6B4F"/>
            </a:solidFill>
            <a:ln w="25400" cap="flat">
              <a:solidFill>
                <a:srgbClr val="2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6B4F"/>
              </a:solidFill>
              <a:ln w="9525" cap="flat">
                <a:solidFill>
                  <a:srgbClr val="2E6B4F"/>
                </a:solidFill>
                <a:prstDash val="solid"/>
                <a:round/>
              </a:ln>
              <a:effectLst/>
            </c:spPr>
          </c:marker>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Sheet1!$C$2:$C$13</c:f>
              <c:numCache>
                <c:formatCode>General</c:formatCode>
                <c:ptCount val="12"/>
                <c:pt idx="0">
                  <c:v>-0.1</c:v>
                </c:pt>
                <c:pt idx="1">
                  <c:v>-0.2</c:v>
                </c:pt>
                <c:pt idx="2">
                  <c:v>-0.4</c:v>
                </c:pt>
                <c:pt idx="3">
                  <c:v>-0.6</c:v>
                </c:pt>
                <c:pt idx="4">
                  <c:v>-0.7</c:v>
                </c:pt>
                <c:pt idx="5">
                  <c:v>-1.2</c:v>
                </c:pt>
                <c:pt idx="6">
                  <c:v>-1.4</c:v>
                </c:pt>
                <c:pt idx="7">
                  <c:v>-0.9</c:v>
                </c:pt>
                <c:pt idx="8">
                  <c:v>-0.4</c:v>
                </c:pt>
                <c:pt idx="9">
                  <c:v>-0.3</c:v>
                </c:pt>
                <c:pt idx="10">
                  <c:v>-1.1</c:v>
                </c:pt>
                <c:pt idx="11">
                  <c:v>-1</c:v>
                </c:pt>
              </c:numCache>
            </c:numRef>
          </c:val>
          <c:smooth val="0"/>
        </c:ser>
        <c:ser>
          <c:idx val="2"/>
          <c:order val="2"/>
          <c:tx>
            <c:strRef>
              <c:f>Sheet1!$D$1</c:f>
              <c:strCache>
                <c:ptCount val="1"/>
                <c:pt idx="0">
                  <c:v>Retail</c:v>
                </c:pt>
              </c:strCache>
            </c:strRef>
          </c:tx>
          <c:spPr>
            <a:solidFill>
              <a:srgbClr val="C9A227"/>
            </a:solidFill>
            <a:ln w="25400" cap="flat">
              <a:solidFill>
                <a:srgbClr val="C9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A227"/>
              </a:solidFill>
              <a:ln w="9525" cap="flat">
                <a:solidFill>
                  <a:srgbClr val="C9A227"/>
                </a:solidFill>
                <a:prstDash val="solid"/>
                <a:round/>
              </a:ln>
              <a:effectLst/>
            </c:spPr>
          </c:marker>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Sheet1!$D$2:$D$13</c:f>
              <c:numCache>
                <c:formatCode>General</c:formatCode>
                <c:ptCount val="12"/>
                <c:pt idx="0">
                  <c:v>-0.1</c:v>
                </c:pt>
                <c:pt idx="1">
                  <c:v>-0.2</c:v>
                </c:pt>
                <c:pt idx="2">
                  <c:v>-0.2</c:v>
                </c:pt>
                <c:pt idx="3">
                  <c:v>-0.3</c:v>
                </c:pt>
                <c:pt idx="4">
                  <c:v>-0.3</c:v>
                </c:pt>
                <c:pt idx="5">
                  <c:v>-0.4</c:v>
                </c:pt>
                <c:pt idx="6">
                  <c:v>-0.4</c:v>
                </c:pt>
                <c:pt idx="7">
                  <c:v>-0.3</c:v>
                </c:pt>
                <c:pt idx="8">
                  <c:v>-0.3</c:v>
                </c:pt>
                <c:pt idx="9">
                  <c:v>-0.2</c:v>
                </c:pt>
                <c:pt idx="10">
                  <c:v>-0.1</c:v>
                </c:pt>
                <c:pt idx="11">
                  <c:v>-0.4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3737F"/>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markets.financialcontent.com/stocks/article/marketminute-2025-10-13-hong-kongs-hang-seng-plunges-below-26000-amidst-resurgent-us-china-trade-tensions" TargetMode="External"/><Relationship Id="rId2" Type="http://schemas.openxmlformats.org/officeDocument/2006/relationships/hyperlink" Target="https://www.thompsonhinesmartrade.com/2025/11/u-s-and-china-reach-deal-to-ease-trade-tensions/" TargetMode="External"/><Relationship Id="rId3" Type="http://schemas.openxmlformats.org/officeDocument/2006/relationships/hyperlink" Target="https://www.cnbc.com/2026/04/21/oil-price-iran-war-middle-east.html" TargetMode="External"/><Relationship Id="rId4" Type="http://schemas.openxmlformats.org/officeDocument/2006/relationships/hyperlink" Target="https://www.aljazeera.com/news/2026/7/8/oil-prices-surge-as-us-strikes-iran-reversing-fall-to-pre-war-levels" TargetMode="External"/><Relationship Id="rId5" Type="http://schemas.openxmlformats.org/officeDocument/2006/relationships/hyperlink" Target="https://www.bbntimes.com/companies/hong-kong-stock-exchange-weekly-review-hang-seng-falls-1-8-to-22-672-as-ai-chip-rout-and-ipo-market-uncertainty-overshadow-quarter-end-recovery-hopes" TargetMode="External"/><Relationship Id="rId6" Type="http://schemas.openxmlformats.org/officeDocument/2006/relationships/hyperlink" Target="https://www.nakitte.com/briefs/hangseng-2026-07-20/" TargetMode="External"/><Relationship Id="rId7" Type="http://schemas.openxmlformats.org/officeDocument/2006/relationships/hyperlink" Target="https://finance.biggo.com/news/5339bae1-2900-4293-94f5-1944f85805e0" TargetMode="External"/><Relationship Id="rId8" Type="http://schemas.openxmlformats.org/officeDocument/2006/relationships/hyperlink" Target="https://finance.biggo.com/news/580fb11a-3543-498f-94d9-72f8ae24cb5d" TargetMode="External"/><Relationship Id="rId9" Type="http://schemas.openxmlformats.org/officeDocument/2006/relationships/hyperlink" Target="https://www.scmp.com/business/banking-finance/article/3363106/shares-major-hong-kong-insurance-finance-firms-tumble-following-report-20-levy" TargetMode="External"/><Relationship Id="rId10" Type="http://schemas.openxmlformats.org/officeDocument/2006/relationships/hyperlink" Target="https://www.drugdiscoverytrends.com/chinese-firms-landed-6-of-26-major-pharma-deals-in-16-months-worth-53-billion/" TargetMode="External"/><Relationship Id="rId11" Type="http://schemas.openxmlformats.org/officeDocument/2006/relationships/hyperlink" Target="https://insideretail.asia/2026/06/02/meituan-posts-another-loss-but-says-food-delivery-wars-are-beginning-to-abate/" TargetMode="External"/><Relationship Id="rId12" Type="http://schemas.openxmlformats.org/officeDocument/2006/relationships/hyperlink" Target="https://www.moomoo.com/community/feed/prince-when-the-hang-seng-index-breaks-through-the-bull-117018511147013" TargetMode="External"/><Relationship Id="rId13" Type="http://schemas.openxmlformats.org/officeDocument/2006/relationships/hyperlink" Target="https://www.cnbc.com/2026/07/27/cxmt-china-market-debut-chipmaker-ipo.html  &#183;  reuters via money.usnews.com 26 Jul" TargetMode="External"/><Relationship Id="rId14" Type="http://schemas.openxmlformats.org/officeDocument/2006/relationships/hyperlink" Target="https://finance.biggo.com/news/71a28029-87b9-4d81-b421-2187b5ba0b12" TargetMode="External"/><Relationship Id="rId15" Type="http://schemas.openxmlformats.org/officeDocument/2006/relationships/hyperlink" Target="https://www.brecorder.com/news/40431305/china-hk-stocks-close-down-on-chip-and-tech-profit-taking" TargetMode="External"/><Relationship Id="rId16" Type="http://schemas.openxmlformats.org/officeDocument/2006/relationships/slideLayout" Target="../slideLayouts/slideLayout1.xml"/><Relationship Id="rId1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D72"/>
        </a:solidFill>
      </p:bgPr>
    </p:bg>
    <p:spTree>
      <p:nvGrpSpPr>
        <p:cNvPr id="1" name=""/>
        <p:cNvGrpSpPr/>
        <p:nvPr/>
      </p:nvGrpSpPr>
      <p:grpSpPr>
        <a:xfrm>
          <a:off x="0" y="0"/>
          <a:ext cx="0" cy="0"/>
          <a:chOff x="0" y="0"/>
          <a:chExt cx="0" cy="0"/>
        </a:xfrm>
      </p:grpSpPr>
      <p:sp>
        <p:nvSpPr>
          <p:cNvPr id="2" name="Text 0"/>
          <p:cNvSpPr/>
          <p:nvPr/>
        </p:nvSpPr>
        <p:spPr>
          <a:xfrm>
            <a:off x="777240" y="1051560"/>
            <a:ext cx="10881360" cy="274320"/>
          </a:xfrm>
          <a:prstGeom prst="rect">
            <a:avLst/>
          </a:prstGeom>
          <a:noFill/>
          <a:ln/>
        </p:spPr>
        <p:txBody>
          <a:bodyPr wrap="square" lIns="0" tIns="0" rIns="0" bIns="0" rtlCol="0" anchor="t"/>
          <a:lstStyle/>
          <a:p>
            <a:pPr indent="0" marL="0">
              <a:buNone/>
            </a:pPr>
            <a:r>
              <a:rPr lang="en-US" sz="1100" b="1" spc="200" kern="0" dirty="0">
                <a:solidFill>
                  <a:srgbClr val="0088CE"/>
                </a:solidFill>
                <a:latin typeface="Calibri" pitchFamily="34" charset="0"/>
                <a:ea typeface="Calibri" pitchFamily="34" charset="-122"/>
                <a:cs typeface="Calibri" pitchFamily="34" charset="-120"/>
              </a:rPr>
              <a:t>CITI MARKETS HONG KONG · HT SALES TRADING · INTERNSHIP FINAL PROJECT</a:t>
            </a:r>
            <a:endParaRPr lang="en-US" sz="1100" dirty="0"/>
          </a:p>
        </p:txBody>
      </p:sp>
      <p:sp>
        <p:nvSpPr>
          <p:cNvPr id="3" name="Text 1"/>
          <p:cNvSpPr/>
          <p:nvPr/>
        </p:nvSpPr>
        <p:spPr>
          <a:xfrm>
            <a:off x="777240" y="146304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Flow &amp; Positioning Monitor</a:t>
            </a:r>
            <a:endParaRPr lang="en-US" sz="4000" dirty="0"/>
          </a:p>
        </p:txBody>
      </p:sp>
      <p:sp>
        <p:nvSpPr>
          <p:cNvPr id="4" name="Shape 2"/>
          <p:cNvSpPr/>
          <p:nvPr/>
        </p:nvSpPr>
        <p:spPr>
          <a:xfrm>
            <a:off x="804672" y="2286000"/>
            <a:ext cx="2926080" cy="0"/>
          </a:xfrm>
          <a:prstGeom prst="line">
            <a:avLst/>
          </a:prstGeom>
          <a:noFill/>
          <a:ln w="25400">
            <a:solidFill>
              <a:srgbClr val="0088CE"/>
            </a:solidFill>
            <a:prstDash val="solid"/>
          </a:ln>
        </p:spPr>
      </p:sp>
      <p:sp>
        <p:nvSpPr>
          <p:cNvPr id="5" name="Text 3"/>
          <p:cNvSpPr/>
          <p:nvPr/>
        </p:nvSpPr>
        <p:spPr>
          <a:xfrm>
            <a:off x="777240" y="2514600"/>
            <a:ext cx="10332720" cy="640080"/>
          </a:xfrm>
          <a:prstGeom prst="rect">
            <a:avLst/>
          </a:prstGeom>
          <a:noFill/>
          <a:ln/>
        </p:spPr>
        <p:txBody>
          <a:bodyPr wrap="square" lIns="0" tIns="0" rIns="0" bIns="0" rtlCol="0" anchor="t"/>
          <a:lstStyle/>
          <a:p>
            <a:pPr indent="0" marL="0">
              <a:lnSpc>
                <a:spcPts val="2200"/>
              </a:lnSpc>
              <a:buNone/>
            </a:pPr>
            <a:r>
              <a:rPr lang="en-US" sz="1600" i="1" dirty="0">
                <a:solidFill>
                  <a:srgbClr val="D6E6F5"/>
                </a:solidFill>
                <a:latin typeface="Calibri" pitchFamily="34" charset="0"/>
                <a:ea typeface="Calibri" pitchFamily="34" charset="-122"/>
                <a:cs typeface="Calibri" pitchFamily="34" charset="-120"/>
              </a:rPr>
              <a:t>Turning the desk's own execution flow into monthly positioning colour — an internal dashboard for the floor, and an automated report for clients.</a:t>
            </a:r>
            <a:endParaRPr lang="en-US" sz="1600" dirty="0"/>
          </a:p>
        </p:txBody>
      </p:sp>
      <p:sp>
        <p:nvSpPr>
          <p:cNvPr id="6" name="Shape 4"/>
          <p:cNvSpPr/>
          <p:nvPr/>
        </p:nvSpPr>
        <p:spPr>
          <a:xfrm>
            <a:off x="777240" y="3611880"/>
            <a:ext cx="3337560" cy="1325880"/>
          </a:xfrm>
          <a:prstGeom prst="roundRect">
            <a:avLst>
              <a:gd name="adj" fmla="val 3448"/>
            </a:avLst>
          </a:prstGeom>
          <a:solidFill>
            <a:srgbClr val="0B3E7E"/>
          </a:solidFill>
          <a:ln/>
        </p:spPr>
      </p:sp>
      <p:sp>
        <p:nvSpPr>
          <p:cNvPr id="7" name="Text 5"/>
          <p:cNvSpPr/>
          <p:nvPr/>
        </p:nvSpPr>
        <p:spPr>
          <a:xfrm>
            <a:off x="1033272" y="3767328"/>
            <a:ext cx="2834640" cy="256032"/>
          </a:xfrm>
          <a:prstGeom prst="rect">
            <a:avLst/>
          </a:prstGeom>
          <a:noFill/>
          <a:ln/>
        </p:spPr>
        <p:txBody>
          <a:bodyPr wrap="square" lIns="0" tIns="0" rIns="0" bIns="0" rtlCol="0" anchor="t"/>
          <a:lstStyle/>
          <a:p>
            <a:pPr indent="0" marL="0">
              <a:buNone/>
            </a:pPr>
            <a:r>
              <a:rPr lang="en-US" sz="1050" b="1" spc="120" kern="0" dirty="0">
                <a:solidFill>
                  <a:srgbClr val="0088CE"/>
                </a:solidFill>
                <a:latin typeface="Calibri" pitchFamily="34" charset="0"/>
                <a:ea typeface="Calibri" pitchFamily="34" charset="-122"/>
                <a:cs typeface="Calibri" pitchFamily="34" charset="-120"/>
              </a:rPr>
              <a:t>THE PROBLEM</a:t>
            </a:r>
            <a:endParaRPr lang="en-US" sz="1050" dirty="0"/>
          </a:p>
        </p:txBody>
      </p:sp>
      <p:sp>
        <p:nvSpPr>
          <p:cNvPr id="8" name="Text 6"/>
          <p:cNvSpPr/>
          <p:nvPr/>
        </p:nvSpPr>
        <p:spPr>
          <a:xfrm>
            <a:off x="1033272" y="4059936"/>
            <a:ext cx="2834640" cy="822960"/>
          </a:xfrm>
          <a:prstGeom prst="rect">
            <a:avLst/>
          </a:prstGeom>
          <a:noFill/>
          <a:ln/>
        </p:spPr>
        <p:txBody>
          <a:bodyPr wrap="square" lIns="0" tIns="0" rIns="0" bIns="0" rtlCol="0" anchor="t"/>
          <a:lstStyle/>
          <a:p>
            <a:pPr indent="0" marL="0">
              <a:lnSpc>
                <a:spcPts val="1400"/>
              </a:lnSpc>
              <a:buNone/>
            </a:pPr>
            <a:r>
              <a:rPr lang="en-US" sz="1050" dirty="0">
                <a:solidFill>
                  <a:srgbClr val="D6E6F5"/>
                </a:solidFill>
                <a:latin typeface="Calibri" pitchFamily="34" charset="0"/>
                <a:ea typeface="Calibri" pitchFamily="34" charset="-122"/>
                <a:cs typeface="Calibri" pitchFamily="34" charset="-120"/>
              </a:rPr>
              <a:t>Clients ask what is crowded. Nobody can measure it, and our franchise sends them nothing.</a:t>
            </a:r>
            <a:endParaRPr lang="en-US" sz="1050" dirty="0"/>
          </a:p>
        </p:txBody>
      </p:sp>
      <p:sp>
        <p:nvSpPr>
          <p:cNvPr id="9" name="Shape 7"/>
          <p:cNvSpPr/>
          <p:nvPr/>
        </p:nvSpPr>
        <p:spPr>
          <a:xfrm>
            <a:off x="4361688" y="3611880"/>
            <a:ext cx="3337560" cy="1325880"/>
          </a:xfrm>
          <a:prstGeom prst="roundRect">
            <a:avLst>
              <a:gd name="adj" fmla="val 3448"/>
            </a:avLst>
          </a:prstGeom>
          <a:solidFill>
            <a:srgbClr val="0B3E7E"/>
          </a:solidFill>
          <a:ln/>
        </p:spPr>
      </p:sp>
      <p:sp>
        <p:nvSpPr>
          <p:cNvPr id="10" name="Text 8"/>
          <p:cNvSpPr/>
          <p:nvPr/>
        </p:nvSpPr>
        <p:spPr>
          <a:xfrm>
            <a:off x="4617720" y="3767328"/>
            <a:ext cx="2834640" cy="256032"/>
          </a:xfrm>
          <a:prstGeom prst="rect">
            <a:avLst/>
          </a:prstGeom>
          <a:noFill/>
          <a:ln/>
        </p:spPr>
        <p:txBody>
          <a:bodyPr wrap="square" lIns="0" tIns="0" rIns="0" bIns="0" rtlCol="0" anchor="t"/>
          <a:lstStyle/>
          <a:p>
            <a:pPr indent="0" marL="0">
              <a:buNone/>
            </a:pPr>
            <a:r>
              <a:rPr lang="en-US" sz="1050" b="1" spc="120" kern="0" dirty="0">
                <a:solidFill>
                  <a:srgbClr val="0088CE"/>
                </a:solidFill>
                <a:latin typeface="Calibri" pitchFamily="34" charset="0"/>
                <a:ea typeface="Calibri" pitchFamily="34" charset="-122"/>
                <a:cs typeface="Calibri" pitchFamily="34" charset="-120"/>
              </a:rPr>
              <a:t>WHAT WAS BUILT</a:t>
            </a:r>
            <a:endParaRPr lang="en-US" sz="1050" dirty="0"/>
          </a:p>
        </p:txBody>
      </p:sp>
      <p:sp>
        <p:nvSpPr>
          <p:cNvPr id="11" name="Text 9"/>
          <p:cNvSpPr/>
          <p:nvPr/>
        </p:nvSpPr>
        <p:spPr>
          <a:xfrm>
            <a:off x="4617720" y="4059936"/>
            <a:ext cx="2834640" cy="822960"/>
          </a:xfrm>
          <a:prstGeom prst="rect">
            <a:avLst/>
          </a:prstGeom>
          <a:noFill/>
          <a:ln/>
        </p:spPr>
        <p:txBody>
          <a:bodyPr wrap="square" lIns="0" tIns="0" rIns="0" bIns="0" rtlCol="0" anchor="t"/>
          <a:lstStyle/>
          <a:p>
            <a:pPr indent="0" marL="0">
              <a:lnSpc>
                <a:spcPts val="1400"/>
              </a:lnSpc>
              <a:buNone/>
            </a:pPr>
            <a:r>
              <a:rPr lang="en-US" sz="1050" dirty="0">
                <a:solidFill>
                  <a:srgbClr val="D6E6F5"/>
                </a:solidFill>
                <a:latin typeface="Calibri" pitchFamily="34" charset="0"/>
                <a:ea typeface="Calibri" pitchFamily="34" charset="-122"/>
                <a:cs typeface="Calibri" pitchFamily="34" charset="-120"/>
              </a:rPr>
              <a:t>One Python engine producing two products from a single set of underlying data.</a:t>
            </a:r>
            <a:endParaRPr lang="en-US" sz="1050" dirty="0"/>
          </a:p>
        </p:txBody>
      </p:sp>
      <p:sp>
        <p:nvSpPr>
          <p:cNvPr id="12" name="Shape 10"/>
          <p:cNvSpPr/>
          <p:nvPr/>
        </p:nvSpPr>
        <p:spPr>
          <a:xfrm>
            <a:off x="7946136" y="3611880"/>
            <a:ext cx="3337560" cy="1325880"/>
          </a:xfrm>
          <a:prstGeom prst="roundRect">
            <a:avLst>
              <a:gd name="adj" fmla="val 3448"/>
            </a:avLst>
          </a:prstGeom>
          <a:solidFill>
            <a:srgbClr val="0B3E7E"/>
          </a:solidFill>
          <a:ln/>
        </p:spPr>
      </p:sp>
      <p:sp>
        <p:nvSpPr>
          <p:cNvPr id="13" name="Text 11"/>
          <p:cNvSpPr/>
          <p:nvPr/>
        </p:nvSpPr>
        <p:spPr>
          <a:xfrm>
            <a:off x="8202168" y="3767328"/>
            <a:ext cx="2834640" cy="256032"/>
          </a:xfrm>
          <a:prstGeom prst="rect">
            <a:avLst/>
          </a:prstGeom>
          <a:noFill/>
          <a:ln/>
        </p:spPr>
        <p:txBody>
          <a:bodyPr wrap="square" lIns="0" tIns="0" rIns="0" bIns="0" rtlCol="0" anchor="t"/>
          <a:lstStyle/>
          <a:p>
            <a:pPr indent="0" marL="0">
              <a:buNone/>
            </a:pPr>
            <a:r>
              <a:rPr lang="en-US" sz="1050" b="1" spc="120" kern="0" dirty="0">
                <a:solidFill>
                  <a:srgbClr val="0088CE"/>
                </a:solidFill>
                <a:latin typeface="Calibri" pitchFamily="34" charset="0"/>
                <a:ea typeface="Calibri" pitchFamily="34" charset="-122"/>
                <a:cs typeface="Calibri" pitchFamily="34" charset="-120"/>
              </a:rPr>
              <a:t>THE PROOF</a:t>
            </a:r>
            <a:endParaRPr lang="en-US" sz="1050" dirty="0"/>
          </a:p>
        </p:txBody>
      </p:sp>
      <p:sp>
        <p:nvSpPr>
          <p:cNvPr id="14" name="Text 12"/>
          <p:cNvSpPr/>
          <p:nvPr/>
        </p:nvSpPr>
        <p:spPr>
          <a:xfrm>
            <a:off x="8202168" y="4059936"/>
            <a:ext cx="2834640" cy="822960"/>
          </a:xfrm>
          <a:prstGeom prst="rect">
            <a:avLst/>
          </a:prstGeom>
          <a:noFill/>
          <a:ln/>
        </p:spPr>
        <p:txBody>
          <a:bodyPr wrap="square" lIns="0" tIns="0" rIns="0" bIns="0" rtlCol="0" anchor="t"/>
          <a:lstStyle/>
          <a:p>
            <a:pPr indent="0" marL="0">
              <a:lnSpc>
                <a:spcPts val="1400"/>
              </a:lnSpc>
              <a:buNone/>
            </a:pPr>
            <a:r>
              <a:rPr lang="en-US" sz="1050" dirty="0">
                <a:solidFill>
                  <a:srgbClr val="D6E6F5"/>
                </a:solidFill>
                <a:latin typeface="Calibri" pitchFamily="34" charset="0"/>
                <a:ea typeface="Calibri" pitchFamily="34" charset="-122"/>
                <a:cs typeface="Calibri" pitchFamily="34" charset="-120"/>
              </a:rPr>
              <a:t>Six desk scenarios in which the tool answered a question the floor could not otherwise answer.</a:t>
            </a:r>
            <a:endParaRPr lang="en-US" sz="1050" dirty="0"/>
          </a:p>
        </p:txBody>
      </p:sp>
      <p:sp>
        <p:nvSpPr>
          <p:cNvPr id="15" name="Text 13"/>
          <p:cNvSpPr/>
          <p:nvPr/>
        </p:nvSpPr>
        <p:spPr>
          <a:xfrm>
            <a:off x="777240" y="5532120"/>
            <a:ext cx="10881360" cy="274320"/>
          </a:xfrm>
          <a:prstGeom prst="rect">
            <a:avLst/>
          </a:prstGeom>
          <a:noFill/>
          <a:ln/>
        </p:spPr>
        <p:txBody>
          <a:bodyPr wrap="square" lIns="0" tIns="0" rIns="0" bIns="0" rtlCol="0" anchor="t"/>
          <a:lstStyle/>
          <a:p>
            <a:pPr indent="0" marL="0">
              <a:buNone/>
            </a:pPr>
            <a:r>
              <a:rPr lang="en-US" sz="1100" dirty="0">
                <a:solidFill>
                  <a:srgbClr val="D6E6F5"/>
                </a:solidFill>
                <a:latin typeface="Calibri" pitchFamily="34" charset="0"/>
                <a:ea typeface="Calibri" pitchFamily="34" charset="-122"/>
                <a:cs typeface="Calibri" pitchFamily="34" charset="-120"/>
              </a:rPr>
              <a:t>HK cash equities · reporting window August 2025 – July 2026 · directional and qualitative only</a:t>
            </a:r>
            <a:endParaRPr lang="en-US" sz="1100" dirty="0"/>
          </a:p>
        </p:txBody>
      </p:sp>
      <p:sp>
        <p:nvSpPr>
          <p:cNvPr id="16" name="Text 14"/>
          <p:cNvSpPr/>
          <p:nvPr/>
        </p:nvSpPr>
        <p:spPr>
          <a:xfrm>
            <a:off x="777240" y="5897880"/>
            <a:ext cx="10881360" cy="27432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Shuyun Lyu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1 · MOTIVATION</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The problem: four gaps that leave the desk answering from memory</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640080" y="1371600"/>
            <a:ext cx="2514600" cy="1051560"/>
          </a:xfrm>
          <a:prstGeom prst="roundRect">
            <a:avLst>
              <a:gd name="adj" fmla="val 4348"/>
            </a:avLst>
          </a:prstGeom>
          <a:solidFill>
            <a:srgbClr val="002D72"/>
          </a:solidFill>
          <a:ln/>
        </p:spPr>
      </p:sp>
      <p:sp>
        <p:nvSpPr>
          <p:cNvPr id="6" name="Text 4"/>
          <p:cNvSpPr/>
          <p:nvPr/>
        </p:nvSpPr>
        <p:spPr>
          <a:xfrm>
            <a:off x="822960" y="1536192"/>
            <a:ext cx="2148840" cy="731520"/>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Clients ask</a:t>
            </a:r>
            <a:endParaRPr lang="en-US" sz="1200" dirty="0"/>
          </a:p>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what is crowded</a:t>
            </a:r>
            <a:endParaRPr lang="en-US" sz="1200" dirty="0"/>
          </a:p>
        </p:txBody>
      </p:sp>
      <p:sp>
        <p:nvSpPr>
          <p:cNvPr id="7" name="Shape 5"/>
          <p:cNvSpPr/>
          <p:nvPr/>
        </p:nvSpPr>
        <p:spPr>
          <a:xfrm>
            <a:off x="1764792" y="2514600"/>
            <a:ext cx="274320" cy="274320"/>
          </a:xfrm>
          <a:prstGeom prst="downArrow">
            <a:avLst/>
          </a:prstGeom>
          <a:solidFill>
            <a:srgbClr val="D6E6F5"/>
          </a:solidFill>
          <a:ln/>
        </p:spPr>
      </p:sp>
      <p:sp>
        <p:nvSpPr>
          <p:cNvPr id="8" name="Shape 6"/>
          <p:cNvSpPr/>
          <p:nvPr/>
        </p:nvSpPr>
        <p:spPr>
          <a:xfrm>
            <a:off x="640080" y="2880360"/>
            <a:ext cx="2514600" cy="914400"/>
          </a:xfrm>
          <a:prstGeom prst="roundRect">
            <a:avLst>
              <a:gd name="adj" fmla="val 4000"/>
            </a:avLst>
          </a:prstGeom>
          <a:solidFill>
            <a:srgbClr val="EDF3F9"/>
          </a:solidFill>
          <a:ln w="9525">
            <a:solidFill>
              <a:srgbClr val="DCE4EC"/>
            </a:solidFill>
            <a:prstDash val="solid"/>
          </a:ln>
        </p:spPr>
      </p:sp>
      <p:sp>
        <p:nvSpPr>
          <p:cNvPr id="9" name="Text 7"/>
          <p:cNvSpPr/>
          <p:nvPr/>
        </p:nvSpPr>
        <p:spPr>
          <a:xfrm>
            <a:off x="822960" y="3054096"/>
            <a:ext cx="2148840" cy="640080"/>
          </a:xfrm>
          <a:prstGeom prst="rect">
            <a:avLst/>
          </a:prstGeom>
          <a:noFill/>
          <a:ln/>
        </p:spPr>
        <p:txBody>
          <a:bodyPr wrap="square" lIns="0" tIns="0" rIns="0" bIns="0" rtlCol="0" anchor="t"/>
          <a:lstStyle/>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Answered from one</a:t>
            </a:r>
            <a:endParaRPr lang="en-US" sz="1050" dirty="0"/>
          </a:p>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salesperson's memory</a:t>
            </a:r>
            <a:endParaRPr lang="en-US" sz="1050" dirty="0"/>
          </a:p>
        </p:txBody>
      </p:sp>
      <p:sp>
        <p:nvSpPr>
          <p:cNvPr id="10" name="Shape 8"/>
          <p:cNvSpPr/>
          <p:nvPr/>
        </p:nvSpPr>
        <p:spPr>
          <a:xfrm>
            <a:off x="3493008" y="1371600"/>
            <a:ext cx="2514600" cy="1051560"/>
          </a:xfrm>
          <a:prstGeom prst="roundRect">
            <a:avLst>
              <a:gd name="adj" fmla="val 4348"/>
            </a:avLst>
          </a:prstGeom>
          <a:solidFill>
            <a:srgbClr val="002D72"/>
          </a:solidFill>
          <a:ln/>
        </p:spPr>
      </p:sp>
      <p:sp>
        <p:nvSpPr>
          <p:cNvPr id="11" name="Text 9"/>
          <p:cNvSpPr/>
          <p:nvPr/>
        </p:nvSpPr>
        <p:spPr>
          <a:xfrm>
            <a:off x="3675888" y="1536192"/>
            <a:ext cx="2148840" cy="731520"/>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Crowding cannot</a:t>
            </a:r>
            <a:endParaRPr lang="en-US" sz="1200" dirty="0"/>
          </a:p>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be measured</a:t>
            </a:r>
            <a:endParaRPr lang="en-US" sz="1200" dirty="0"/>
          </a:p>
        </p:txBody>
      </p:sp>
      <p:sp>
        <p:nvSpPr>
          <p:cNvPr id="12" name="Shape 10"/>
          <p:cNvSpPr/>
          <p:nvPr/>
        </p:nvSpPr>
        <p:spPr>
          <a:xfrm>
            <a:off x="4617720" y="2514600"/>
            <a:ext cx="274320" cy="274320"/>
          </a:xfrm>
          <a:prstGeom prst="downArrow">
            <a:avLst/>
          </a:prstGeom>
          <a:solidFill>
            <a:srgbClr val="D6E6F5"/>
          </a:solidFill>
          <a:ln/>
        </p:spPr>
      </p:sp>
      <p:sp>
        <p:nvSpPr>
          <p:cNvPr id="13" name="Shape 11"/>
          <p:cNvSpPr/>
          <p:nvPr/>
        </p:nvSpPr>
        <p:spPr>
          <a:xfrm>
            <a:off x="3493008" y="2880360"/>
            <a:ext cx="2514600" cy="914400"/>
          </a:xfrm>
          <a:prstGeom prst="roundRect">
            <a:avLst>
              <a:gd name="adj" fmla="val 4000"/>
            </a:avLst>
          </a:prstGeom>
          <a:solidFill>
            <a:srgbClr val="EDF3F9"/>
          </a:solidFill>
          <a:ln w="9525">
            <a:solidFill>
              <a:srgbClr val="DCE4EC"/>
            </a:solidFill>
            <a:prstDash val="solid"/>
          </a:ln>
        </p:spPr>
      </p:sp>
      <p:sp>
        <p:nvSpPr>
          <p:cNvPr id="14" name="Text 12"/>
          <p:cNvSpPr/>
          <p:nvPr/>
        </p:nvSpPr>
        <p:spPr>
          <a:xfrm>
            <a:off x="3675888" y="3054096"/>
            <a:ext cx="2148840" cy="640080"/>
          </a:xfrm>
          <a:prstGeom prst="rect">
            <a:avLst/>
          </a:prstGeom>
          <a:noFill/>
          <a:ln/>
        </p:spPr>
        <p:txBody>
          <a:bodyPr wrap="square" lIns="0" tIns="0" rIns="0" bIns="0" rtlCol="0" anchor="t"/>
          <a:lstStyle/>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A research score that</a:t>
            </a:r>
            <a:endParaRPr lang="en-US" sz="1050" dirty="0"/>
          </a:p>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describes last quarter</a:t>
            </a:r>
            <a:endParaRPr lang="en-US" sz="1050" dirty="0"/>
          </a:p>
        </p:txBody>
      </p:sp>
      <p:sp>
        <p:nvSpPr>
          <p:cNvPr id="15" name="Shape 13"/>
          <p:cNvSpPr/>
          <p:nvPr/>
        </p:nvSpPr>
        <p:spPr>
          <a:xfrm>
            <a:off x="6345936" y="1371600"/>
            <a:ext cx="2514600" cy="1051560"/>
          </a:xfrm>
          <a:prstGeom prst="roundRect">
            <a:avLst>
              <a:gd name="adj" fmla="val 4348"/>
            </a:avLst>
          </a:prstGeom>
          <a:solidFill>
            <a:srgbClr val="002D72"/>
          </a:solidFill>
          <a:ln/>
        </p:spPr>
      </p:sp>
      <p:sp>
        <p:nvSpPr>
          <p:cNvPr id="16" name="Text 14"/>
          <p:cNvSpPr/>
          <p:nvPr/>
        </p:nvSpPr>
        <p:spPr>
          <a:xfrm>
            <a:off x="6528816" y="1536192"/>
            <a:ext cx="2148840" cy="731520"/>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The daily short-</a:t>
            </a:r>
            <a:endParaRPr lang="en-US" sz="1200" dirty="0"/>
          </a:p>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interest report</a:t>
            </a:r>
            <a:endParaRPr lang="en-US" sz="1200" dirty="0"/>
          </a:p>
        </p:txBody>
      </p:sp>
      <p:sp>
        <p:nvSpPr>
          <p:cNvPr id="17" name="Shape 15"/>
          <p:cNvSpPr/>
          <p:nvPr/>
        </p:nvSpPr>
        <p:spPr>
          <a:xfrm>
            <a:off x="7470648" y="2514600"/>
            <a:ext cx="274320" cy="274320"/>
          </a:xfrm>
          <a:prstGeom prst="downArrow">
            <a:avLst/>
          </a:prstGeom>
          <a:solidFill>
            <a:srgbClr val="D6E6F5"/>
          </a:solidFill>
          <a:ln/>
        </p:spPr>
      </p:sp>
      <p:sp>
        <p:nvSpPr>
          <p:cNvPr id="18" name="Shape 16"/>
          <p:cNvSpPr/>
          <p:nvPr/>
        </p:nvSpPr>
        <p:spPr>
          <a:xfrm>
            <a:off x="6345936" y="2880360"/>
            <a:ext cx="2514600" cy="914400"/>
          </a:xfrm>
          <a:prstGeom prst="roundRect">
            <a:avLst>
              <a:gd name="adj" fmla="val 4000"/>
            </a:avLst>
          </a:prstGeom>
          <a:solidFill>
            <a:srgbClr val="EDF3F9"/>
          </a:solidFill>
          <a:ln w="9525">
            <a:solidFill>
              <a:srgbClr val="DCE4EC"/>
            </a:solidFill>
            <a:prstDash val="solid"/>
          </a:ln>
        </p:spPr>
      </p:sp>
      <p:sp>
        <p:nvSpPr>
          <p:cNvPr id="19" name="Text 17"/>
          <p:cNvSpPr/>
          <p:nvPr/>
        </p:nvSpPr>
        <p:spPr>
          <a:xfrm>
            <a:off x="6528816" y="3054096"/>
            <a:ext cx="2148840" cy="640080"/>
          </a:xfrm>
          <a:prstGeom prst="rect">
            <a:avLst/>
          </a:prstGeom>
          <a:noFill/>
          <a:ln/>
        </p:spPr>
        <p:txBody>
          <a:bodyPr wrap="square" lIns="0" tIns="0" rIns="0" bIns="0" rtlCol="0" anchor="t"/>
          <a:lstStyle/>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Shows the short base,</a:t>
            </a:r>
            <a:endParaRPr lang="en-US" sz="1050" dirty="0"/>
          </a:p>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but contains no flow</a:t>
            </a:r>
            <a:endParaRPr lang="en-US" sz="1050" dirty="0"/>
          </a:p>
        </p:txBody>
      </p:sp>
      <p:sp>
        <p:nvSpPr>
          <p:cNvPr id="20" name="Shape 18"/>
          <p:cNvSpPr/>
          <p:nvPr/>
        </p:nvSpPr>
        <p:spPr>
          <a:xfrm>
            <a:off x="9198864" y="1371600"/>
            <a:ext cx="2514600" cy="1051560"/>
          </a:xfrm>
          <a:prstGeom prst="roundRect">
            <a:avLst>
              <a:gd name="adj" fmla="val 4348"/>
            </a:avLst>
          </a:prstGeom>
          <a:solidFill>
            <a:srgbClr val="002D72"/>
          </a:solidFill>
          <a:ln/>
        </p:spPr>
      </p:sp>
      <p:sp>
        <p:nvSpPr>
          <p:cNvPr id="21" name="Text 19"/>
          <p:cNvSpPr/>
          <p:nvPr/>
        </p:nvSpPr>
        <p:spPr>
          <a:xfrm>
            <a:off x="9381744" y="1536192"/>
            <a:ext cx="2148840" cy="731520"/>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Peers already send</a:t>
            </a:r>
            <a:endParaRPr lang="en-US" sz="1200" dirty="0"/>
          </a:p>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flow colour</a:t>
            </a:r>
            <a:endParaRPr lang="en-US" sz="1200" dirty="0"/>
          </a:p>
        </p:txBody>
      </p:sp>
      <p:sp>
        <p:nvSpPr>
          <p:cNvPr id="22" name="Shape 20"/>
          <p:cNvSpPr/>
          <p:nvPr/>
        </p:nvSpPr>
        <p:spPr>
          <a:xfrm>
            <a:off x="10323576" y="2514600"/>
            <a:ext cx="274320" cy="274320"/>
          </a:xfrm>
          <a:prstGeom prst="downArrow">
            <a:avLst/>
          </a:prstGeom>
          <a:solidFill>
            <a:srgbClr val="D6E6F5"/>
          </a:solidFill>
          <a:ln/>
        </p:spPr>
      </p:sp>
      <p:sp>
        <p:nvSpPr>
          <p:cNvPr id="23" name="Shape 21"/>
          <p:cNvSpPr/>
          <p:nvPr/>
        </p:nvSpPr>
        <p:spPr>
          <a:xfrm>
            <a:off x="9198864" y="2880360"/>
            <a:ext cx="2514600" cy="914400"/>
          </a:xfrm>
          <a:prstGeom prst="roundRect">
            <a:avLst>
              <a:gd name="adj" fmla="val 4000"/>
            </a:avLst>
          </a:prstGeom>
          <a:solidFill>
            <a:srgbClr val="EDF3F9"/>
          </a:solidFill>
          <a:ln w="9525">
            <a:solidFill>
              <a:srgbClr val="DCE4EC"/>
            </a:solidFill>
            <a:prstDash val="solid"/>
          </a:ln>
        </p:spPr>
      </p:sp>
      <p:sp>
        <p:nvSpPr>
          <p:cNvPr id="24" name="Text 22"/>
          <p:cNvSpPr/>
          <p:nvPr/>
        </p:nvSpPr>
        <p:spPr>
          <a:xfrm>
            <a:off x="9381744" y="3054096"/>
            <a:ext cx="2148840" cy="640080"/>
          </a:xfrm>
          <a:prstGeom prst="rect">
            <a:avLst/>
          </a:prstGeom>
          <a:noFill/>
          <a:ln/>
        </p:spPr>
        <p:txBody>
          <a:bodyPr wrap="square" lIns="0" tIns="0" rIns="0" bIns="0" rtlCol="0" anchor="t"/>
          <a:lstStyle/>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Our franchise sends</a:t>
            </a:r>
            <a:endParaRPr lang="en-US" sz="1050" dirty="0"/>
          </a:p>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nothing to clients</a:t>
            </a:r>
            <a:endParaRPr lang="en-US" sz="1050" dirty="0"/>
          </a:p>
        </p:txBody>
      </p:sp>
      <p:sp>
        <p:nvSpPr>
          <p:cNvPr id="25" name="Shape 23"/>
          <p:cNvSpPr/>
          <p:nvPr/>
        </p:nvSpPr>
        <p:spPr>
          <a:xfrm>
            <a:off x="640080" y="4114800"/>
            <a:ext cx="11018520" cy="0"/>
          </a:xfrm>
          <a:prstGeom prst="line">
            <a:avLst/>
          </a:prstGeom>
          <a:noFill/>
          <a:ln w="12700">
            <a:solidFill>
              <a:srgbClr val="DCE4EC"/>
            </a:solidFill>
            <a:prstDash val="solid"/>
          </a:ln>
        </p:spPr>
      </p:sp>
      <p:sp>
        <p:nvSpPr>
          <p:cNvPr id="26" name="Text 24"/>
          <p:cNvSpPr/>
          <p:nvPr/>
        </p:nvSpPr>
        <p:spPr>
          <a:xfrm>
            <a:off x="640080" y="4251960"/>
            <a:ext cx="2743200" cy="237744"/>
          </a:xfrm>
          <a:prstGeom prst="rect">
            <a:avLst/>
          </a:prstGeom>
          <a:noFill/>
          <a:ln/>
        </p:spPr>
        <p:txBody>
          <a:bodyPr wrap="square" lIns="0" tIns="0" rIns="0" bIns="0" rtlCol="0" anchor="t"/>
          <a:lstStyle/>
          <a:p>
            <a:pPr indent="0" marL="0">
              <a:buNone/>
            </a:pPr>
            <a:r>
              <a:rPr lang="en-US" sz="950" b="1" spc="100" kern="0" dirty="0">
                <a:solidFill>
                  <a:srgbClr val="0088CE"/>
                </a:solidFill>
                <a:latin typeface="Calibri" pitchFamily="34" charset="0"/>
                <a:ea typeface="Calibri" pitchFamily="34" charset="-122"/>
                <a:cs typeface="Calibri" pitchFamily="34" charset="-120"/>
              </a:rPr>
              <a:t>THE COMMON ROOT</a:t>
            </a:r>
            <a:endParaRPr lang="en-US" sz="950" dirty="0"/>
          </a:p>
        </p:txBody>
      </p:sp>
      <p:sp>
        <p:nvSpPr>
          <p:cNvPr id="27" name="Text 25"/>
          <p:cNvSpPr/>
          <p:nvPr/>
        </p:nvSpPr>
        <p:spPr>
          <a:xfrm>
            <a:off x="640080" y="4526280"/>
            <a:ext cx="11018520" cy="640080"/>
          </a:xfrm>
          <a:prstGeom prst="rect">
            <a:avLst/>
          </a:prstGeom>
          <a:noFill/>
          <a:ln/>
        </p:spPr>
        <p:txBody>
          <a:bodyPr wrap="square" lIns="0" tIns="0" rIns="0" bIns="0" rtlCol="0" anchor="t"/>
          <a:lstStyle/>
          <a:p>
            <a:pPr indent="0" marL="0">
              <a:lnSpc>
                <a:spcPts val="1600"/>
              </a:lnSpc>
              <a:buNone/>
            </a:pPr>
            <a:r>
              <a:rPr lang="en-US" sz="1200" dirty="0">
                <a:solidFill>
                  <a:srgbClr val="1A2733"/>
                </a:solidFill>
                <a:latin typeface="Calibri" pitchFamily="34" charset="0"/>
                <a:ea typeface="Calibri" pitchFamily="34" charset="-122"/>
                <a:cs typeface="Calibri" pitchFamily="34" charset="-120"/>
              </a:rPr>
              <a:t>Each gap exists because the three things that would answer the question sit in three separate places and are never joined: the street's short base lives on Bloomberg, our clients' intentions live in our own blotter, and the marginal buyer lives in the Connect data.</a:t>
            </a:r>
            <a:endParaRPr lang="en-US" sz="1200" dirty="0"/>
          </a:p>
        </p:txBody>
      </p:sp>
      <p:sp>
        <p:nvSpPr>
          <p:cNvPr id="28" name="Shape 26"/>
          <p:cNvSpPr/>
          <p:nvPr/>
        </p:nvSpPr>
        <p:spPr>
          <a:xfrm>
            <a:off x="502920" y="5394960"/>
            <a:ext cx="11201400" cy="777240"/>
          </a:xfrm>
          <a:prstGeom prst="roundRect">
            <a:avLst>
              <a:gd name="adj" fmla="val 4706"/>
            </a:avLst>
          </a:prstGeom>
          <a:solidFill>
            <a:srgbClr val="EDF3F9"/>
          </a:solidFill>
          <a:ln/>
        </p:spPr>
      </p:sp>
      <p:sp>
        <p:nvSpPr>
          <p:cNvPr id="29" name="Text 27"/>
          <p:cNvSpPr/>
          <p:nvPr/>
        </p:nvSpPr>
        <p:spPr>
          <a:xfrm>
            <a:off x="822960" y="554126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The objective was therefore never another screen. It was the join — produced monthly, and delivered in two forms: a dashboard for the floor and a report for the client.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2 · MAIN OBJECTIVE</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Combine the data we already own, and turn it into positioning colour for clients</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Text 3"/>
          <p:cNvSpPr/>
          <p:nvPr/>
        </p:nvSpPr>
        <p:spPr>
          <a:xfrm>
            <a:off x="502920" y="1234440"/>
            <a:ext cx="11201400" cy="457200"/>
          </a:xfrm>
          <a:prstGeom prst="rect">
            <a:avLst/>
          </a:prstGeom>
          <a:noFill/>
          <a:ln/>
        </p:spPr>
        <p:txBody>
          <a:bodyPr wrap="square" lIns="0" tIns="0" rIns="0" bIns="0" rtlCol="0" anchor="t"/>
          <a:lstStyle/>
          <a:p>
            <a:pPr indent="0" marL="0">
              <a:lnSpc>
                <a:spcPts val="1500"/>
              </a:lnSpc>
              <a:buNone/>
            </a:pPr>
            <a:r>
              <a:rPr lang="en-US" sz="1200" i="1" dirty="0">
                <a:solidFill>
                  <a:srgbClr val="63737F"/>
                </a:solidFill>
                <a:latin typeface="Calibri" pitchFamily="34" charset="0"/>
                <a:ea typeface="Calibri" pitchFamily="34" charset="-122"/>
                <a:cs typeface="Calibri" pitchFamily="34" charset="-120"/>
              </a:rPr>
              <a:t>The desk already holds every input needed to answer the question. They simply sit in separate systems and are never brought together on one page, for one month, in language a client can use.</a:t>
            </a:r>
            <a:endParaRPr lang="en-US" sz="1200" dirty="0"/>
          </a:p>
        </p:txBody>
      </p:sp>
      <p:sp>
        <p:nvSpPr>
          <p:cNvPr id="6" name="Shape 4"/>
          <p:cNvSpPr/>
          <p:nvPr/>
        </p:nvSpPr>
        <p:spPr>
          <a:xfrm>
            <a:off x="502920" y="1783080"/>
            <a:ext cx="3429000" cy="1371600"/>
          </a:xfrm>
          <a:prstGeom prst="roundRect">
            <a:avLst>
              <a:gd name="adj" fmla="val 2667"/>
            </a:avLst>
          </a:prstGeom>
          <a:solidFill>
            <a:srgbClr val="F5F8FA"/>
          </a:solidFill>
          <a:ln w="9525">
            <a:solidFill>
              <a:srgbClr val="DCE4EC"/>
            </a:solidFill>
            <a:prstDash val="solid"/>
          </a:ln>
        </p:spPr>
      </p:sp>
      <p:sp>
        <p:nvSpPr>
          <p:cNvPr id="7" name="Text 5"/>
          <p:cNvSpPr/>
          <p:nvPr/>
        </p:nvSpPr>
        <p:spPr>
          <a:xfrm>
            <a:off x="731520" y="1920240"/>
            <a:ext cx="3017520" cy="292608"/>
          </a:xfrm>
          <a:prstGeom prst="rect">
            <a:avLst/>
          </a:prstGeom>
          <a:noFill/>
          <a:ln/>
        </p:spPr>
        <p:txBody>
          <a:bodyPr wrap="square" lIns="0" tIns="0" rIns="0" bIns="0" rtlCol="0" anchor="t"/>
          <a:lstStyle/>
          <a:p>
            <a:pPr indent="0" marL="0">
              <a:buNone/>
            </a:pPr>
            <a:r>
              <a:rPr lang="en-US" sz="1150" b="1" dirty="0">
                <a:solidFill>
                  <a:srgbClr val="002D72"/>
                </a:solidFill>
                <a:latin typeface="Calibri" pitchFamily="34" charset="0"/>
                <a:ea typeface="Calibri" pitchFamily="34" charset="-122"/>
                <a:cs typeface="Calibri" pitchFamily="34" charset="-120"/>
              </a:rPr>
              <a:t>OUR OWN EXECUTED FLOW</a:t>
            </a:r>
            <a:endParaRPr lang="en-US" sz="1150" dirty="0"/>
          </a:p>
        </p:txBody>
      </p:sp>
      <p:sp>
        <p:nvSpPr>
          <p:cNvPr id="8" name="Text 6"/>
          <p:cNvSpPr/>
          <p:nvPr/>
        </p:nvSpPr>
        <p:spPr>
          <a:xfrm>
            <a:off x="731520" y="2249424"/>
            <a:ext cx="3017520" cy="822960"/>
          </a:xfrm>
          <a:prstGeom prst="rect">
            <a:avLst/>
          </a:prstGeom>
          <a:noFill/>
          <a:ln/>
        </p:spPr>
        <p:txBody>
          <a:bodyPr wrap="square" lIns="0" tIns="0" rIns="0" bIns="0" rtlCol="0" anchor="t"/>
          <a:lstStyle/>
          <a:p>
            <a:pPr indent="0" marL="0">
              <a:lnSpc>
                <a:spcPts val="1400"/>
              </a:lnSpc>
              <a:buNone/>
            </a:pPr>
            <a:r>
              <a:rPr lang="en-US" sz="1050" dirty="0">
                <a:solidFill>
                  <a:srgbClr val="1A2733"/>
                </a:solidFill>
                <a:latin typeface="Calibri" pitchFamily="34" charset="0"/>
                <a:ea typeface="Calibri" pitchFamily="34" charset="-122"/>
                <a:cs typeface="Calibri" pitchFamily="34" charset="-120"/>
              </a:rPr>
              <a:t>What our clients actually did — direction and conviction by sector, by name and by cohort</a:t>
            </a:r>
            <a:endParaRPr lang="en-US" sz="1050" dirty="0"/>
          </a:p>
        </p:txBody>
      </p:sp>
      <p:sp>
        <p:nvSpPr>
          <p:cNvPr id="9" name="Shape 7"/>
          <p:cNvSpPr/>
          <p:nvPr/>
        </p:nvSpPr>
        <p:spPr>
          <a:xfrm>
            <a:off x="4014216" y="2331720"/>
            <a:ext cx="219456" cy="219456"/>
          </a:xfrm>
          <a:prstGeom prst="plus">
            <a:avLst/>
          </a:prstGeom>
          <a:solidFill>
            <a:srgbClr val="0088CE"/>
          </a:solidFill>
          <a:ln/>
        </p:spPr>
      </p:sp>
      <p:sp>
        <p:nvSpPr>
          <p:cNvPr id="10" name="Shape 8"/>
          <p:cNvSpPr/>
          <p:nvPr/>
        </p:nvSpPr>
        <p:spPr>
          <a:xfrm>
            <a:off x="4297680" y="1783080"/>
            <a:ext cx="3429000" cy="1371600"/>
          </a:xfrm>
          <a:prstGeom prst="roundRect">
            <a:avLst>
              <a:gd name="adj" fmla="val 2667"/>
            </a:avLst>
          </a:prstGeom>
          <a:solidFill>
            <a:srgbClr val="F5F8FA"/>
          </a:solidFill>
          <a:ln w="9525">
            <a:solidFill>
              <a:srgbClr val="DCE4EC"/>
            </a:solidFill>
            <a:prstDash val="solid"/>
          </a:ln>
        </p:spPr>
      </p:sp>
      <p:sp>
        <p:nvSpPr>
          <p:cNvPr id="11" name="Text 9"/>
          <p:cNvSpPr/>
          <p:nvPr/>
        </p:nvSpPr>
        <p:spPr>
          <a:xfrm>
            <a:off x="4526280" y="1920240"/>
            <a:ext cx="3017520" cy="292608"/>
          </a:xfrm>
          <a:prstGeom prst="rect">
            <a:avLst/>
          </a:prstGeom>
          <a:noFill/>
          <a:ln/>
        </p:spPr>
        <p:txBody>
          <a:bodyPr wrap="square" lIns="0" tIns="0" rIns="0" bIns="0" rtlCol="0" anchor="t"/>
          <a:lstStyle/>
          <a:p>
            <a:pPr indent="0" marL="0">
              <a:buNone/>
            </a:pPr>
            <a:r>
              <a:rPr lang="en-US" sz="1150" b="1" dirty="0">
                <a:solidFill>
                  <a:srgbClr val="002D72"/>
                </a:solidFill>
                <a:latin typeface="Calibri" pitchFamily="34" charset="0"/>
                <a:ea typeface="Calibri" pitchFamily="34" charset="-122"/>
                <a:cs typeface="Calibri" pitchFamily="34" charset="-120"/>
              </a:rPr>
              <a:t>THE MAINLAND BID</a:t>
            </a:r>
            <a:endParaRPr lang="en-US" sz="1150" dirty="0"/>
          </a:p>
        </p:txBody>
      </p:sp>
      <p:sp>
        <p:nvSpPr>
          <p:cNvPr id="12" name="Text 10"/>
          <p:cNvSpPr/>
          <p:nvPr/>
        </p:nvSpPr>
        <p:spPr>
          <a:xfrm>
            <a:off x="4526280" y="2249424"/>
            <a:ext cx="3017520" cy="822960"/>
          </a:xfrm>
          <a:prstGeom prst="rect">
            <a:avLst/>
          </a:prstGeom>
          <a:noFill/>
          <a:ln/>
        </p:spPr>
        <p:txBody>
          <a:bodyPr wrap="square" lIns="0" tIns="0" rIns="0" bIns="0" rtlCol="0" anchor="t"/>
          <a:lstStyle/>
          <a:p>
            <a:pPr indent="0" marL="0">
              <a:lnSpc>
                <a:spcPts val="1400"/>
              </a:lnSpc>
              <a:buNone/>
            </a:pPr>
            <a:r>
              <a:rPr lang="en-US" sz="1050" dirty="0">
                <a:solidFill>
                  <a:srgbClr val="1A2733"/>
                </a:solidFill>
                <a:latin typeface="Calibri" pitchFamily="34" charset="0"/>
                <a:ea typeface="Calibri" pitchFamily="34" charset="-122"/>
                <a:cs typeface="Calibri" pitchFamily="34" charset="-120"/>
              </a:rPr>
              <a:t>Southbound Connect flow per stock — the marginal buyer in this market</a:t>
            </a:r>
            <a:endParaRPr lang="en-US" sz="1050" dirty="0"/>
          </a:p>
        </p:txBody>
      </p:sp>
      <p:sp>
        <p:nvSpPr>
          <p:cNvPr id="13" name="Shape 11"/>
          <p:cNvSpPr/>
          <p:nvPr/>
        </p:nvSpPr>
        <p:spPr>
          <a:xfrm>
            <a:off x="7808976" y="2331720"/>
            <a:ext cx="219456" cy="219456"/>
          </a:xfrm>
          <a:prstGeom prst="plus">
            <a:avLst/>
          </a:prstGeom>
          <a:solidFill>
            <a:srgbClr val="0088CE"/>
          </a:solidFill>
          <a:ln/>
        </p:spPr>
      </p:sp>
      <p:sp>
        <p:nvSpPr>
          <p:cNvPr id="14" name="Shape 12"/>
          <p:cNvSpPr/>
          <p:nvPr/>
        </p:nvSpPr>
        <p:spPr>
          <a:xfrm>
            <a:off x="8092440" y="1783080"/>
            <a:ext cx="3429000" cy="1371600"/>
          </a:xfrm>
          <a:prstGeom prst="roundRect">
            <a:avLst>
              <a:gd name="adj" fmla="val 2667"/>
            </a:avLst>
          </a:prstGeom>
          <a:solidFill>
            <a:srgbClr val="F5F8FA"/>
          </a:solidFill>
          <a:ln w="9525">
            <a:solidFill>
              <a:srgbClr val="DCE4EC"/>
            </a:solidFill>
            <a:prstDash val="solid"/>
          </a:ln>
        </p:spPr>
      </p:sp>
      <p:sp>
        <p:nvSpPr>
          <p:cNvPr id="15" name="Text 13"/>
          <p:cNvSpPr/>
          <p:nvPr/>
        </p:nvSpPr>
        <p:spPr>
          <a:xfrm>
            <a:off x="8321040" y="1920240"/>
            <a:ext cx="3017520" cy="292608"/>
          </a:xfrm>
          <a:prstGeom prst="rect">
            <a:avLst/>
          </a:prstGeom>
          <a:noFill/>
          <a:ln/>
        </p:spPr>
        <p:txBody>
          <a:bodyPr wrap="square" lIns="0" tIns="0" rIns="0" bIns="0" rtlCol="0" anchor="t"/>
          <a:lstStyle/>
          <a:p>
            <a:pPr indent="0" marL="0">
              <a:buNone/>
            </a:pPr>
            <a:r>
              <a:rPr lang="en-US" sz="1150" b="1" dirty="0">
                <a:solidFill>
                  <a:srgbClr val="002D72"/>
                </a:solidFill>
                <a:latin typeface="Calibri" pitchFamily="34" charset="0"/>
                <a:ea typeface="Calibri" pitchFamily="34" charset="-122"/>
                <a:cs typeface="Calibri" pitchFamily="34" charset="-120"/>
              </a:rPr>
              <a:t>THE STREET'S SHORT BASE</a:t>
            </a:r>
            <a:endParaRPr lang="en-US" sz="1150" dirty="0"/>
          </a:p>
        </p:txBody>
      </p:sp>
      <p:sp>
        <p:nvSpPr>
          <p:cNvPr id="16" name="Text 14"/>
          <p:cNvSpPr/>
          <p:nvPr/>
        </p:nvSpPr>
        <p:spPr>
          <a:xfrm>
            <a:off x="8321040" y="2249424"/>
            <a:ext cx="3017520" cy="822960"/>
          </a:xfrm>
          <a:prstGeom prst="rect">
            <a:avLst/>
          </a:prstGeom>
          <a:noFill/>
          <a:ln/>
        </p:spPr>
        <p:txBody>
          <a:bodyPr wrap="square" lIns="0" tIns="0" rIns="0" bIns="0" rtlCol="0" anchor="t"/>
          <a:lstStyle/>
          <a:p>
            <a:pPr indent="0" marL="0">
              <a:lnSpc>
                <a:spcPts val="1400"/>
              </a:lnSpc>
              <a:buNone/>
            </a:pPr>
            <a:r>
              <a:rPr lang="en-US" sz="1050" dirty="0">
                <a:solidFill>
                  <a:srgbClr val="1A2733"/>
                </a:solidFill>
                <a:latin typeface="Calibri" pitchFamily="34" charset="0"/>
                <a:ea typeface="Calibri" pitchFamily="34" charset="-122"/>
                <a:cs typeface="Calibri" pitchFamily="34" charset="-120"/>
              </a:rPr>
              <a:t>Short interest, days-to-cover and momentum from Bloomberg</a:t>
            </a:r>
            <a:endParaRPr lang="en-US" sz="1050" dirty="0"/>
          </a:p>
        </p:txBody>
      </p:sp>
      <p:sp>
        <p:nvSpPr>
          <p:cNvPr id="17" name="Shape 15"/>
          <p:cNvSpPr/>
          <p:nvPr/>
        </p:nvSpPr>
        <p:spPr>
          <a:xfrm>
            <a:off x="5897880" y="3273552"/>
            <a:ext cx="411480" cy="310896"/>
          </a:xfrm>
          <a:prstGeom prst="downArrow">
            <a:avLst/>
          </a:prstGeom>
          <a:solidFill>
            <a:srgbClr val="D6E6F5"/>
          </a:solidFill>
          <a:ln/>
        </p:spPr>
      </p:sp>
      <p:sp>
        <p:nvSpPr>
          <p:cNvPr id="18" name="Shape 16"/>
          <p:cNvSpPr/>
          <p:nvPr/>
        </p:nvSpPr>
        <p:spPr>
          <a:xfrm>
            <a:off x="502920" y="3703320"/>
            <a:ext cx="11201400" cy="960120"/>
          </a:xfrm>
          <a:prstGeom prst="roundRect">
            <a:avLst>
              <a:gd name="adj" fmla="val 3810"/>
            </a:avLst>
          </a:prstGeom>
          <a:solidFill>
            <a:srgbClr val="EDF3F9"/>
          </a:solidFill>
          <a:ln w="9525">
            <a:solidFill>
              <a:srgbClr val="DCE4EC"/>
            </a:solidFill>
            <a:prstDash val="solid"/>
          </a:ln>
        </p:spPr>
      </p:sp>
      <p:sp>
        <p:nvSpPr>
          <p:cNvPr id="19" name="Text 17"/>
          <p:cNvSpPr/>
          <p:nvPr/>
        </p:nvSpPr>
        <p:spPr>
          <a:xfrm>
            <a:off x="822960" y="3840480"/>
            <a:ext cx="10515600" cy="274320"/>
          </a:xfrm>
          <a:prstGeom prst="rect">
            <a:avLst/>
          </a:prstGeom>
          <a:noFill/>
          <a:ln/>
        </p:spPr>
        <p:txBody>
          <a:bodyPr wrap="square" lIns="0" tIns="0" rIns="0" bIns="0" rtlCol="0" anchor="t"/>
          <a:lstStyle/>
          <a:p>
            <a:pPr indent="0" marL="0">
              <a:buNone/>
            </a:pPr>
            <a:r>
              <a:rPr lang="en-US" sz="1200" b="1" spc="60" kern="0" dirty="0">
                <a:solidFill>
                  <a:srgbClr val="002D72"/>
                </a:solidFill>
                <a:latin typeface="Calibri" pitchFamily="34" charset="0"/>
                <a:ea typeface="Calibri" pitchFamily="34" charset="-122"/>
                <a:cs typeface="Calibri" pitchFamily="34" charset="-120"/>
              </a:rPr>
              <a:t>POSITIONING COLOUR FOR CLIENTS — delivered monthly, in two forms</a:t>
            </a:r>
            <a:endParaRPr lang="en-US" sz="1200" dirty="0"/>
          </a:p>
        </p:txBody>
      </p:sp>
      <p:sp>
        <p:nvSpPr>
          <p:cNvPr id="20" name="Text 18"/>
          <p:cNvSpPr/>
          <p:nvPr/>
        </p:nvSpPr>
        <p:spPr>
          <a:xfrm>
            <a:off x="822960" y="4133088"/>
            <a:ext cx="10515600" cy="457200"/>
          </a:xfrm>
          <a:prstGeom prst="rect">
            <a:avLst/>
          </a:prstGeom>
          <a:noFill/>
          <a:ln/>
        </p:spPr>
        <p:txBody>
          <a:bodyPr wrap="square" lIns="0" tIns="0" rIns="0" bIns="0" rtlCol="0" anchor="t"/>
          <a:lstStyle/>
          <a:p>
            <a:pPr indent="0" marL="0">
              <a:lnSpc>
                <a:spcPts val="1500"/>
              </a:lnSpc>
              <a:buNone/>
            </a:pPr>
            <a:r>
              <a:rPr lang="en-US" sz="1150" dirty="0">
                <a:solidFill>
                  <a:srgbClr val="1A2733"/>
                </a:solidFill>
                <a:latin typeface="Calibri" pitchFamily="34" charset="0"/>
                <a:ea typeface="Calibri" pitchFamily="34" charset="-122"/>
                <a:cs typeface="Calibri" pitchFamily="34" charset="-120"/>
              </a:rPr>
              <a:t>An internal dashboard the floor reads before a client call, and a concise monthly report that goes to the client directly. Both are generated from the same underlying data by the same script.</a:t>
            </a:r>
            <a:endParaRPr lang="en-US" sz="1150" dirty="0"/>
          </a:p>
        </p:txBody>
      </p:sp>
      <p:sp>
        <p:nvSpPr>
          <p:cNvPr id="21" name="Text 19"/>
          <p:cNvSpPr/>
          <p:nvPr/>
        </p:nvSpPr>
        <p:spPr>
          <a:xfrm>
            <a:off x="502920" y="4892040"/>
            <a:ext cx="5486400" cy="256032"/>
          </a:xfrm>
          <a:prstGeom prst="rect">
            <a:avLst/>
          </a:prstGeom>
          <a:noFill/>
          <a:ln/>
        </p:spPr>
        <p:txBody>
          <a:bodyPr wrap="square" lIns="0" tIns="0" rIns="0" bIns="0" rtlCol="0" anchor="t"/>
          <a:lstStyle/>
          <a:p>
            <a:pPr indent="0" marL="0">
              <a:buNone/>
            </a:pPr>
            <a:r>
              <a:rPr lang="en-US" sz="1150" b="1" dirty="0">
                <a:solidFill>
                  <a:srgbClr val="002D72"/>
                </a:solidFill>
                <a:latin typeface="Calibri" pitchFamily="34" charset="0"/>
                <a:ea typeface="Calibri" pitchFamily="34" charset="-122"/>
                <a:cs typeface="Calibri" pitchFamily="34" charset="-120"/>
              </a:rPr>
              <a:t>The discipline that keeps it defensible</a:t>
            </a:r>
            <a:endParaRPr lang="en-US" sz="1150" dirty="0"/>
          </a:p>
        </p:txBody>
      </p:sp>
      <p:sp>
        <p:nvSpPr>
          <p:cNvPr id="22" name="Shape 20"/>
          <p:cNvSpPr/>
          <p:nvPr/>
        </p:nvSpPr>
        <p:spPr>
          <a:xfrm>
            <a:off x="502920" y="5193792"/>
            <a:ext cx="5440680" cy="914400"/>
          </a:xfrm>
          <a:prstGeom prst="roundRect">
            <a:avLst>
              <a:gd name="adj" fmla="val 4000"/>
            </a:avLst>
          </a:prstGeom>
          <a:solidFill>
            <a:srgbClr val="FFFFFF"/>
          </a:solidFill>
          <a:ln w="9525">
            <a:solidFill>
              <a:srgbClr val="DCE4EC"/>
            </a:solidFill>
            <a:prstDash val="solid"/>
          </a:ln>
        </p:spPr>
      </p:sp>
      <p:sp>
        <p:nvSpPr>
          <p:cNvPr id="23" name="Text 21"/>
          <p:cNvSpPr/>
          <p:nvPr/>
        </p:nvSpPr>
        <p:spPr>
          <a:xfrm>
            <a:off x="731520" y="5303520"/>
            <a:ext cx="4937760" cy="256032"/>
          </a:xfrm>
          <a:prstGeom prst="rect">
            <a:avLst/>
          </a:prstGeom>
          <a:noFill/>
          <a:ln/>
        </p:spPr>
        <p:txBody>
          <a:bodyPr wrap="square" lIns="0" tIns="0" rIns="0" bIns="0" rtlCol="0" anchor="t"/>
          <a:lstStyle/>
          <a:p>
            <a:pPr indent="0" marL="0">
              <a:buNone/>
            </a:pPr>
            <a:r>
              <a:rPr lang="en-US" sz="1100" b="1" dirty="0">
                <a:solidFill>
                  <a:srgbClr val="0088CE"/>
                </a:solidFill>
                <a:latin typeface="Calibri" pitchFamily="34" charset="0"/>
                <a:ea typeface="Calibri" pitchFamily="34" charset="-122"/>
                <a:cs typeface="Calibri" pitchFamily="34" charset="-120"/>
              </a:rPr>
              <a:t>We flag candidates, never verdicts</a:t>
            </a:r>
            <a:endParaRPr lang="en-US" sz="1100" dirty="0"/>
          </a:p>
        </p:txBody>
      </p:sp>
      <p:sp>
        <p:nvSpPr>
          <p:cNvPr id="24" name="Text 22"/>
          <p:cNvSpPr/>
          <p:nvPr/>
        </p:nvSpPr>
        <p:spPr>
          <a:xfrm>
            <a:off x="731520" y="5577840"/>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A name is raised because two flows disagree, or because the exit is narrow — not because a score says so.</a:t>
            </a:r>
            <a:endParaRPr lang="en-US" sz="1000" dirty="0"/>
          </a:p>
        </p:txBody>
      </p:sp>
      <p:sp>
        <p:nvSpPr>
          <p:cNvPr id="25" name="Shape 23"/>
          <p:cNvSpPr/>
          <p:nvPr/>
        </p:nvSpPr>
        <p:spPr>
          <a:xfrm>
            <a:off x="6217920" y="5193792"/>
            <a:ext cx="5440680" cy="914400"/>
          </a:xfrm>
          <a:prstGeom prst="roundRect">
            <a:avLst>
              <a:gd name="adj" fmla="val 4000"/>
            </a:avLst>
          </a:prstGeom>
          <a:solidFill>
            <a:srgbClr val="FFFFFF"/>
          </a:solidFill>
          <a:ln w="9525">
            <a:solidFill>
              <a:srgbClr val="DCE4EC"/>
            </a:solidFill>
            <a:prstDash val="solid"/>
          </a:ln>
        </p:spPr>
      </p:sp>
      <p:sp>
        <p:nvSpPr>
          <p:cNvPr id="26" name="Text 24"/>
          <p:cNvSpPr/>
          <p:nvPr/>
        </p:nvSpPr>
        <p:spPr>
          <a:xfrm>
            <a:off x="6446520" y="5303520"/>
            <a:ext cx="4937760" cy="256032"/>
          </a:xfrm>
          <a:prstGeom prst="rect">
            <a:avLst/>
          </a:prstGeom>
          <a:noFill/>
          <a:ln/>
        </p:spPr>
        <p:txBody>
          <a:bodyPr wrap="square" lIns="0" tIns="0" rIns="0" bIns="0" rtlCol="0" anchor="t"/>
          <a:lstStyle/>
          <a:p>
            <a:pPr indent="0" marL="0">
              <a:buNone/>
            </a:pPr>
            <a:r>
              <a:rPr lang="en-US" sz="1100" b="1" dirty="0">
                <a:solidFill>
                  <a:srgbClr val="0088CE"/>
                </a:solidFill>
                <a:latin typeface="Calibri" pitchFamily="34" charset="0"/>
                <a:ea typeface="Calibri" pitchFamily="34" charset="-122"/>
                <a:cs typeface="Calibri" pitchFamily="34" charset="-120"/>
              </a:rPr>
              <a:t>Every claim is traceable</a:t>
            </a:r>
            <a:endParaRPr lang="en-US" sz="1100" dirty="0"/>
          </a:p>
        </p:txBody>
      </p:sp>
      <p:sp>
        <p:nvSpPr>
          <p:cNvPr id="27" name="Text 25"/>
          <p:cNvSpPr/>
          <p:nvPr/>
        </p:nvSpPr>
        <p:spPr>
          <a:xfrm>
            <a:off x="6446520" y="5577840"/>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Each sentence in the client report is generated from a computed value, so the desk can always show the working.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3 · HOW IT IS BUILT</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Four sources, one engine, two products, one scheduled run</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502920" y="1298448"/>
            <a:ext cx="3291840" cy="841248"/>
          </a:xfrm>
          <a:prstGeom prst="roundRect">
            <a:avLst>
              <a:gd name="adj" fmla="val 4348"/>
            </a:avLst>
          </a:prstGeom>
          <a:solidFill>
            <a:srgbClr val="F5F8FA"/>
          </a:solidFill>
          <a:ln w="9525">
            <a:solidFill>
              <a:srgbClr val="DCE4EC"/>
            </a:solidFill>
            <a:prstDash val="solid"/>
          </a:ln>
        </p:spPr>
      </p:sp>
      <p:sp>
        <p:nvSpPr>
          <p:cNvPr id="6" name="Text 4"/>
          <p:cNvSpPr/>
          <p:nvPr/>
        </p:nvSpPr>
        <p:spPr>
          <a:xfrm>
            <a:off x="713232" y="1408176"/>
            <a:ext cx="2926080" cy="256032"/>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CTA line-by-line</a:t>
            </a:r>
            <a:endParaRPr lang="en-US" sz="1100" dirty="0"/>
          </a:p>
        </p:txBody>
      </p:sp>
      <p:sp>
        <p:nvSpPr>
          <p:cNvPr id="7" name="Text 5"/>
          <p:cNvSpPr/>
          <p:nvPr/>
        </p:nvSpPr>
        <p:spPr>
          <a:xfrm>
            <a:off x="713232" y="1682496"/>
            <a:ext cx="2926080" cy="402336"/>
          </a:xfrm>
          <a:prstGeom prst="rect">
            <a:avLst/>
          </a:prstGeom>
          <a:noFill/>
          <a:ln/>
        </p:spPr>
        <p:txBody>
          <a:bodyPr wrap="square" lIns="0" tIns="0" rIns="0" bIns="0" rtlCol="0" anchor="t"/>
          <a:lstStyle/>
          <a:p>
            <a:pPr indent="0" marL="0">
              <a:lnSpc>
                <a:spcPts val="1200"/>
              </a:lnSpc>
              <a:buNone/>
            </a:pPr>
            <a:r>
              <a:rPr lang="en-US" sz="950" dirty="0">
                <a:solidFill>
                  <a:srgbClr val="63737F"/>
                </a:solidFill>
                <a:latin typeface="Calibri" pitchFamily="34" charset="0"/>
                <a:ea typeface="Calibri" pitchFamily="34" charset="-122"/>
                <a:cs typeface="Calibri" pitchFamily="34" charset="-120"/>
              </a:rPr>
              <a:t>Every high-touch and program ticket: name, side, notional, month</a:t>
            </a:r>
            <a:endParaRPr lang="en-US" sz="950" dirty="0"/>
          </a:p>
        </p:txBody>
      </p:sp>
      <p:sp>
        <p:nvSpPr>
          <p:cNvPr id="8" name="Shape 6"/>
          <p:cNvSpPr/>
          <p:nvPr/>
        </p:nvSpPr>
        <p:spPr>
          <a:xfrm>
            <a:off x="502920" y="2231136"/>
            <a:ext cx="3291840" cy="841248"/>
          </a:xfrm>
          <a:prstGeom prst="roundRect">
            <a:avLst>
              <a:gd name="adj" fmla="val 4348"/>
            </a:avLst>
          </a:prstGeom>
          <a:solidFill>
            <a:srgbClr val="F5F8FA"/>
          </a:solidFill>
          <a:ln w="9525">
            <a:solidFill>
              <a:srgbClr val="DCE4EC"/>
            </a:solidFill>
            <a:prstDash val="solid"/>
          </a:ln>
        </p:spPr>
      </p:sp>
      <p:sp>
        <p:nvSpPr>
          <p:cNvPr id="9" name="Text 7"/>
          <p:cNvSpPr/>
          <p:nvPr/>
        </p:nvSpPr>
        <p:spPr>
          <a:xfrm>
            <a:off x="713232" y="2340864"/>
            <a:ext cx="2926080" cy="256032"/>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EE aggregate only</a:t>
            </a:r>
            <a:endParaRPr lang="en-US" sz="1100" dirty="0"/>
          </a:p>
        </p:txBody>
      </p:sp>
      <p:sp>
        <p:nvSpPr>
          <p:cNvPr id="10" name="Text 8"/>
          <p:cNvSpPr/>
          <p:nvPr/>
        </p:nvSpPr>
        <p:spPr>
          <a:xfrm>
            <a:off x="713232" y="2615184"/>
            <a:ext cx="2926080" cy="402336"/>
          </a:xfrm>
          <a:prstGeom prst="rect">
            <a:avLst/>
          </a:prstGeom>
          <a:noFill/>
          <a:ln/>
        </p:spPr>
        <p:txBody>
          <a:bodyPr wrap="square" lIns="0" tIns="0" rIns="0" bIns="0" rtlCol="0" anchor="t"/>
          <a:lstStyle/>
          <a:p>
            <a:pPr indent="0" marL="0">
              <a:lnSpc>
                <a:spcPts val="1200"/>
              </a:lnSpc>
              <a:buNone/>
            </a:pPr>
            <a:r>
              <a:rPr lang="en-US" sz="950" dirty="0">
                <a:solidFill>
                  <a:srgbClr val="63737F"/>
                </a:solidFill>
                <a:latin typeface="Calibri" pitchFamily="34" charset="0"/>
                <a:ea typeface="Calibri" pitchFamily="34" charset="-122"/>
                <a:cs typeface="Calibri" pitchFamily="34" charset="-120"/>
              </a:rPr>
              <a:t>Sector × month and client type × month — a compliance boundary</a:t>
            </a:r>
            <a:endParaRPr lang="en-US" sz="950" dirty="0"/>
          </a:p>
        </p:txBody>
      </p:sp>
      <p:sp>
        <p:nvSpPr>
          <p:cNvPr id="11" name="Shape 9"/>
          <p:cNvSpPr/>
          <p:nvPr/>
        </p:nvSpPr>
        <p:spPr>
          <a:xfrm>
            <a:off x="502920" y="3163824"/>
            <a:ext cx="3291840" cy="841248"/>
          </a:xfrm>
          <a:prstGeom prst="roundRect">
            <a:avLst>
              <a:gd name="adj" fmla="val 4348"/>
            </a:avLst>
          </a:prstGeom>
          <a:solidFill>
            <a:srgbClr val="F5F8FA"/>
          </a:solidFill>
          <a:ln w="9525">
            <a:solidFill>
              <a:srgbClr val="DCE4EC"/>
            </a:solidFill>
            <a:prstDash val="solid"/>
          </a:ln>
        </p:spPr>
      </p:sp>
      <p:sp>
        <p:nvSpPr>
          <p:cNvPr id="12" name="Text 10"/>
          <p:cNvSpPr/>
          <p:nvPr/>
        </p:nvSpPr>
        <p:spPr>
          <a:xfrm>
            <a:off x="713232" y="3273552"/>
            <a:ext cx="2926080" cy="256032"/>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Southbound database</a:t>
            </a:r>
            <a:endParaRPr lang="en-US" sz="1100" dirty="0"/>
          </a:p>
        </p:txBody>
      </p:sp>
      <p:sp>
        <p:nvSpPr>
          <p:cNvPr id="13" name="Text 11"/>
          <p:cNvSpPr/>
          <p:nvPr/>
        </p:nvSpPr>
        <p:spPr>
          <a:xfrm>
            <a:off x="713232" y="3547872"/>
            <a:ext cx="2926080" cy="402336"/>
          </a:xfrm>
          <a:prstGeom prst="rect">
            <a:avLst/>
          </a:prstGeom>
          <a:noFill/>
          <a:ln/>
        </p:spPr>
        <p:txBody>
          <a:bodyPr wrap="square" lIns="0" tIns="0" rIns="0" bIns="0" rtlCol="0" anchor="t"/>
          <a:lstStyle/>
          <a:p>
            <a:pPr indent="0" marL="0">
              <a:lnSpc>
                <a:spcPts val="1200"/>
              </a:lnSpc>
              <a:buNone/>
            </a:pPr>
            <a:r>
              <a:rPr lang="en-US" sz="950" dirty="0">
                <a:solidFill>
                  <a:srgbClr val="63737F"/>
                </a:solidFill>
                <a:latin typeface="Calibri" pitchFamily="34" charset="0"/>
                <a:ea typeface="Calibri" pitchFamily="34" charset="-122"/>
                <a:cs typeface="Calibri" pitchFamily="34" charset="-120"/>
              </a:rPr>
              <a:t>Per-stock Connect net flow from one internal source</a:t>
            </a:r>
            <a:endParaRPr lang="en-US" sz="950" dirty="0"/>
          </a:p>
        </p:txBody>
      </p:sp>
      <p:sp>
        <p:nvSpPr>
          <p:cNvPr id="14" name="Shape 12"/>
          <p:cNvSpPr/>
          <p:nvPr/>
        </p:nvSpPr>
        <p:spPr>
          <a:xfrm>
            <a:off x="502920" y="4096512"/>
            <a:ext cx="3291840" cy="841248"/>
          </a:xfrm>
          <a:prstGeom prst="roundRect">
            <a:avLst>
              <a:gd name="adj" fmla="val 4348"/>
            </a:avLst>
          </a:prstGeom>
          <a:solidFill>
            <a:srgbClr val="F5F8FA"/>
          </a:solidFill>
          <a:ln w="9525">
            <a:solidFill>
              <a:srgbClr val="DCE4EC"/>
            </a:solidFill>
            <a:prstDash val="solid"/>
          </a:ln>
        </p:spPr>
      </p:sp>
      <p:sp>
        <p:nvSpPr>
          <p:cNvPr id="15" name="Text 13"/>
          <p:cNvSpPr/>
          <p:nvPr/>
        </p:nvSpPr>
        <p:spPr>
          <a:xfrm>
            <a:off x="713232" y="4206240"/>
            <a:ext cx="2926080" cy="256032"/>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Bloomberg via xbbg</a:t>
            </a:r>
            <a:endParaRPr lang="en-US" sz="1100" dirty="0"/>
          </a:p>
        </p:txBody>
      </p:sp>
      <p:sp>
        <p:nvSpPr>
          <p:cNvPr id="16" name="Text 14"/>
          <p:cNvSpPr/>
          <p:nvPr/>
        </p:nvSpPr>
        <p:spPr>
          <a:xfrm>
            <a:off x="713232" y="4480560"/>
            <a:ext cx="2926080" cy="402336"/>
          </a:xfrm>
          <a:prstGeom prst="rect">
            <a:avLst/>
          </a:prstGeom>
          <a:noFill/>
          <a:ln/>
        </p:spPr>
        <p:txBody>
          <a:bodyPr wrap="square" lIns="0" tIns="0" rIns="0" bIns="0" rtlCol="0" anchor="t"/>
          <a:lstStyle/>
          <a:p>
            <a:pPr indent="0" marL="0">
              <a:lnSpc>
                <a:spcPts val="1200"/>
              </a:lnSpc>
              <a:buNone/>
            </a:pPr>
            <a:r>
              <a:rPr lang="en-US" sz="950" dirty="0">
                <a:solidFill>
                  <a:srgbClr val="63737F"/>
                </a:solidFill>
                <a:latin typeface="Calibri" pitchFamily="34" charset="0"/>
                <a:ea typeface="Calibri" pitchFamily="34" charset="-122"/>
                <a:cs typeface="Calibri" pitchFamily="34" charset="-120"/>
              </a:rPr>
              <a:t>RSI 14D, short interest, float, 30-day volume, price, turnover</a:t>
            </a:r>
            <a:endParaRPr lang="en-US" sz="950" dirty="0"/>
          </a:p>
        </p:txBody>
      </p:sp>
      <p:sp>
        <p:nvSpPr>
          <p:cNvPr id="17" name="Shape 15"/>
          <p:cNvSpPr/>
          <p:nvPr/>
        </p:nvSpPr>
        <p:spPr>
          <a:xfrm>
            <a:off x="3950208" y="2880360"/>
            <a:ext cx="365760" cy="329184"/>
          </a:xfrm>
          <a:prstGeom prst="rightArrow">
            <a:avLst/>
          </a:prstGeom>
          <a:solidFill>
            <a:srgbClr val="D6E6F5"/>
          </a:solidFill>
          <a:ln/>
        </p:spPr>
      </p:sp>
      <p:sp>
        <p:nvSpPr>
          <p:cNvPr id="18" name="Shape 16"/>
          <p:cNvSpPr/>
          <p:nvPr/>
        </p:nvSpPr>
        <p:spPr>
          <a:xfrm>
            <a:off x="4462272" y="1298448"/>
            <a:ext cx="3063240" cy="3749040"/>
          </a:xfrm>
          <a:prstGeom prst="roundRect">
            <a:avLst>
              <a:gd name="adj" fmla="val 1493"/>
            </a:avLst>
          </a:prstGeom>
          <a:solidFill>
            <a:srgbClr val="0B3E7E"/>
          </a:solidFill>
          <a:ln/>
        </p:spPr>
      </p:sp>
      <p:sp>
        <p:nvSpPr>
          <p:cNvPr id="19" name="Text 17"/>
          <p:cNvSpPr/>
          <p:nvPr/>
        </p:nvSpPr>
        <p:spPr>
          <a:xfrm>
            <a:off x="4681728" y="1463040"/>
            <a:ext cx="2651760" cy="256032"/>
          </a:xfrm>
          <a:prstGeom prst="rect">
            <a:avLst/>
          </a:prstGeom>
          <a:noFill/>
          <a:ln/>
        </p:spPr>
        <p:txBody>
          <a:bodyPr wrap="square" lIns="0" tIns="0" rIns="0" bIns="0" rtlCol="0" anchor="t"/>
          <a:lstStyle/>
          <a:p>
            <a:pPr indent="0" marL="0">
              <a:buNone/>
            </a:pPr>
            <a:r>
              <a:rPr lang="en-US" sz="1100" b="1" spc="120" kern="0" dirty="0">
                <a:solidFill>
                  <a:srgbClr val="0088CE"/>
                </a:solidFill>
                <a:latin typeface="Calibri" pitchFamily="34" charset="0"/>
                <a:ea typeface="Calibri" pitchFamily="34" charset="-122"/>
                <a:cs typeface="Calibri" pitchFamily="34" charset="-120"/>
              </a:rPr>
              <a:t>THE ENGINE</a:t>
            </a:r>
            <a:endParaRPr lang="en-US" sz="1100" dirty="0"/>
          </a:p>
        </p:txBody>
      </p:sp>
      <p:sp>
        <p:nvSpPr>
          <p:cNvPr id="20" name="Text 18"/>
          <p:cNvSpPr/>
          <p:nvPr/>
        </p:nvSpPr>
        <p:spPr>
          <a:xfrm>
            <a:off x="4681728" y="181051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Net flow</a:t>
            </a:r>
            <a:endParaRPr lang="en-US" sz="1000" dirty="0"/>
          </a:p>
        </p:txBody>
      </p:sp>
      <p:sp>
        <p:nvSpPr>
          <p:cNvPr id="21" name="Text 19"/>
          <p:cNvSpPr/>
          <p:nvPr/>
        </p:nvSpPr>
        <p:spPr>
          <a:xfrm>
            <a:off x="4681728" y="202996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Buy − Sell − Short-sell, shown only as ratios and direction</a:t>
            </a:r>
            <a:endParaRPr lang="en-US" sz="900" dirty="0"/>
          </a:p>
        </p:txBody>
      </p:sp>
      <p:sp>
        <p:nvSpPr>
          <p:cNvPr id="22" name="Text 20"/>
          <p:cNvSpPr/>
          <p:nvPr/>
        </p:nvSpPr>
        <p:spPr>
          <a:xfrm>
            <a:off x="4681728" y="245059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Short interest</a:t>
            </a:r>
            <a:endParaRPr lang="en-US" sz="1000" dirty="0"/>
          </a:p>
        </p:txBody>
      </p:sp>
      <p:sp>
        <p:nvSpPr>
          <p:cNvPr id="23" name="Text 21"/>
          <p:cNvSpPr/>
          <p:nvPr/>
        </p:nvSpPr>
        <p:spPr>
          <a:xfrm>
            <a:off x="4681728" y="267004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Short shares ÷ float, expressed as a percentage</a:t>
            </a:r>
            <a:endParaRPr lang="en-US" sz="900" dirty="0"/>
          </a:p>
        </p:txBody>
      </p:sp>
      <p:sp>
        <p:nvSpPr>
          <p:cNvPr id="24" name="Text 22"/>
          <p:cNvSpPr/>
          <p:nvPr/>
        </p:nvSpPr>
        <p:spPr>
          <a:xfrm>
            <a:off x="4681728" y="309067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Days-to-cover</a:t>
            </a:r>
            <a:endParaRPr lang="en-US" sz="1000" dirty="0"/>
          </a:p>
        </p:txBody>
      </p:sp>
      <p:sp>
        <p:nvSpPr>
          <p:cNvPr id="25" name="Text 23"/>
          <p:cNvSpPr/>
          <p:nvPr/>
        </p:nvSpPr>
        <p:spPr>
          <a:xfrm>
            <a:off x="4681728" y="331012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Short shares ÷ 30-day average volume</a:t>
            </a:r>
            <a:endParaRPr lang="en-US" sz="900" dirty="0"/>
          </a:p>
        </p:txBody>
      </p:sp>
      <p:sp>
        <p:nvSpPr>
          <p:cNvPr id="26" name="Text 24"/>
          <p:cNvSpPr/>
          <p:nvPr/>
        </p:nvSpPr>
        <p:spPr>
          <a:xfrm>
            <a:off x="4681728" y="373075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Price vs flow</a:t>
            </a:r>
            <a:endParaRPr lang="en-US" sz="1000" dirty="0"/>
          </a:p>
        </p:txBody>
      </p:sp>
      <p:sp>
        <p:nvSpPr>
          <p:cNvPr id="27" name="Text 25"/>
          <p:cNvSpPr/>
          <p:nvPr/>
        </p:nvSpPr>
        <p:spPr>
          <a:xfrm>
            <a:off x="4681728" y="395020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Month-end price against the prior month-end, versus our side</a:t>
            </a:r>
            <a:endParaRPr lang="en-US" sz="900" dirty="0"/>
          </a:p>
        </p:txBody>
      </p:sp>
      <p:sp>
        <p:nvSpPr>
          <p:cNvPr id="28" name="Text 26"/>
          <p:cNvSpPr/>
          <p:nvPr/>
        </p:nvSpPr>
        <p:spPr>
          <a:xfrm>
            <a:off x="4681728" y="437083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Narrative</a:t>
            </a:r>
            <a:endParaRPr lang="en-US" sz="1000" dirty="0"/>
          </a:p>
        </p:txBody>
      </p:sp>
      <p:sp>
        <p:nvSpPr>
          <p:cNvPr id="29" name="Text 27"/>
          <p:cNvSpPr/>
          <p:nvPr/>
        </p:nvSpPr>
        <p:spPr>
          <a:xfrm>
            <a:off x="4681728" y="459028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Four deterministic templates filled with computed values — never generative</a:t>
            </a:r>
            <a:endParaRPr lang="en-US" sz="900" dirty="0"/>
          </a:p>
        </p:txBody>
      </p:sp>
      <p:sp>
        <p:nvSpPr>
          <p:cNvPr id="30" name="Shape 28"/>
          <p:cNvSpPr/>
          <p:nvPr/>
        </p:nvSpPr>
        <p:spPr>
          <a:xfrm>
            <a:off x="7680960" y="2880360"/>
            <a:ext cx="365760" cy="329184"/>
          </a:xfrm>
          <a:prstGeom prst="rightArrow">
            <a:avLst/>
          </a:prstGeom>
          <a:solidFill>
            <a:srgbClr val="D6E6F5"/>
          </a:solidFill>
          <a:ln/>
        </p:spPr>
      </p:sp>
      <p:sp>
        <p:nvSpPr>
          <p:cNvPr id="31" name="Shape 29"/>
          <p:cNvSpPr/>
          <p:nvPr/>
        </p:nvSpPr>
        <p:spPr>
          <a:xfrm>
            <a:off x="8183880" y="1298448"/>
            <a:ext cx="3538728" cy="1783080"/>
          </a:xfrm>
          <a:prstGeom prst="roundRect">
            <a:avLst>
              <a:gd name="adj" fmla="val 2051"/>
            </a:avLst>
          </a:prstGeom>
          <a:solidFill>
            <a:srgbClr val="EDF3F9"/>
          </a:solidFill>
          <a:ln w="9525">
            <a:solidFill>
              <a:srgbClr val="DCE4EC"/>
            </a:solidFill>
            <a:prstDash val="solid"/>
          </a:ln>
        </p:spPr>
      </p:sp>
      <p:sp>
        <p:nvSpPr>
          <p:cNvPr id="32" name="Text 30"/>
          <p:cNvSpPr/>
          <p:nvPr/>
        </p:nvSpPr>
        <p:spPr>
          <a:xfrm>
            <a:off x="8412480" y="1444752"/>
            <a:ext cx="3108960" cy="237744"/>
          </a:xfrm>
          <a:prstGeom prst="rect">
            <a:avLst/>
          </a:prstGeom>
          <a:noFill/>
          <a:ln/>
        </p:spPr>
        <p:txBody>
          <a:bodyPr wrap="square" lIns="0" tIns="0" rIns="0" bIns="0" rtlCol="0" anchor="t"/>
          <a:lstStyle/>
          <a:p>
            <a:pPr indent="0" marL="0">
              <a:buNone/>
            </a:pPr>
            <a:r>
              <a:rPr lang="en-US" sz="950" b="1" spc="110" kern="0" dirty="0">
                <a:solidFill>
                  <a:srgbClr val="0088CE"/>
                </a:solidFill>
                <a:latin typeface="Calibri" pitchFamily="34" charset="0"/>
                <a:ea typeface="Calibri" pitchFamily="34" charset="-122"/>
                <a:cs typeface="Calibri" pitchFamily="34" charset="-120"/>
              </a:rPr>
              <a:t>PRODUCT 1 · INTERNAL</a:t>
            </a:r>
            <a:endParaRPr lang="en-US" sz="950" dirty="0"/>
          </a:p>
        </p:txBody>
      </p:sp>
      <p:sp>
        <p:nvSpPr>
          <p:cNvPr id="33" name="Text 31"/>
          <p:cNvSpPr/>
          <p:nvPr/>
        </p:nvSpPr>
        <p:spPr>
          <a:xfrm>
            <a:off x="8412480" y="1700784"/>
            <a:ext cx="3108960" cy="274320"/>
          </a:xfrm>
          <a:prstGeom prst="rect">
            <a:avLst/>
          </a:prstGeom>
          <a:noFill/>
          <a:ln/>
        </p:spPr>
        <p:txBody>
          <a:bodyPr wrap="square" lIns="0" tIns="0" rIns="0" bIns="0" rtlCol="0" anchor="t"/>
          <a:lstStyle/>
          <a:p>
            <a:pPr indent="0" marL="0">
              <a:buNone/>
            </a:pPr>
            <a:r>
              <a:rPr lang="en-US" sz="1200" b="1" dirty="0">
                <a:solidFill>
                  <a:srgbClr val="002D72"/>
                </a:solidFill>
                <a:latin typeface="Calibri" pitchFamily="34" charset="0"/>
                <a:ea typeface="Calibri" pitchFamily="34" charset="-122"/>
                <a:cs typeface="Calibri" pitchFamily="34" charset="-120"/>
              </a:rPr>
              <a:t>The full HTML dashboard</a:t>
            </a:r>
            <a:endParaRPr lang="en-US" sz="1200" dirty="0"/>
          </a:p>
        </p:txBody>
      </p:sp>
      <p:sp>
        <p:nvSpPr>
          <p:cNvPr id="34" name="Text 32"/>
          <p:cNvSpPr/>
          <p:nvPr/>
        </p:nvSpPr>
        <p:spPr>
          <a:xfrm>
            <a:off x="8412480" y="2011680"/>
            <a:ext cx="3108960" cy="9144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Notionals included and every window selectable. This is where the floor goes before a client call to see rotation, the name screens and the flow trend.</a:t>
            </a:r>
            <a:endParaRPr lang="en-US" sz="1000" dirty="0"/>
          </a:p>
        </p:txBody>
      </p:sp>
      <p:sp>
        <p:nvSpPr>
          <p:cNvPr id="35" name="Shape 33"/>
          <p:cNvSpPr/>
          <p:nvPr/>
        </p:nvSpPr>
        <p:spPr>
          <a:xfrm>
            <a:off x="8183880" y="3264408"/>
            <a:ext cx="3538728" cy="1783080"/>
          </a:xfrm>
          <a:prstGeom prst="roundRect">
            <a:avLst>
              <a:gd name="adj" fmla="val 2051"/>
            </a:avLst>
          </a:prstGeom>
          <a:solidFill>
            <a:srgbClr val="EDF3F9"/>
          </a:solidFill>
          <a:ln w="9525">
            <a:solidFill>
              <a:srgbClr val="DCE4EC"/>
            </a:solidFill>
            <a:prstDash val="solid"/>
          </a:ln>
        </p:spPr>
      </p:sp>
      <p:sp>
        <p:nvSpPr>
          <p:cNvPr id="36" name="Text 34"/>
          <p:cNvSpPr/>
          <p:nvPr/>
        </p:nvSpPr>
        <p:spPr>
          <a:xfrm>
            <a:off x="8412480" y="3410712"/>
            <a:ext cx="3108960" cy="237744"/>
          </a:xfrm>
          <a:prstGeom prst="rect">
            <a:avLst/>
          </a:prstGeom>
          <a:noFill/>
          <a:ln/>
        </p:spPr>
        <p:txBody>
          <a:bodyPr wrap="square" lIns="0" tIns="0" rIns="0" bIns="0" rtlCol="0" anchor="t"/>
          <a:lstStyle/>
          <a:p>
            <a:pPr indent="0" marL="0">
              <a:buNone/>
            </a:pPr>
            <a:r>
              <a:rPr lang="en-US" sz="950" b="1" spc="110" kern="0" dirty="0">
                <a:solidFill>
                  <a:srgbClr val="0088CE"/>
                </a:solidFill>
                <a:latin typeface="Calibri" pitchFamily="34" charset="0"/>
                <a:ea typeface="Calibri" pitchFamily="34" charset="-122"/>
                <a:cs typeface="Calibri" pitchFamily="34" charset="-120"/>
              </a:rPr>
              <a:t>PRODUCT 2 · EXTERNAL</a:t>
            </a:r>
            <a:endParaRPr lang="en-US" sz="950" dirty="0"/>
          </a:p>
        </p:txBody>
      </p:sp>
      <p:sp>
        <p:nvSpPr>
          <p:cNvPr id="37" name="Text 35"/>
          <p:cNvSpPr/>
          <p:nvPr/>
        </p:nvSpPr>
        <p:spPr>
          <a:xfrm>
            <a:off x="8412480" y="3666744"/>
            <a:ext cx="3108960" cy="274320"/>
          </a:xfrm>
          <a:prstGeom prst="rect">
            <a:avLst/>
          </a:prstGeom>
          <a:noFill/>
          <a:ln/>
        </p:spPr>
        <p:txBody>
          <a:bodyPr wrap="square" lIns="0" tIns="0" rIns="0" bIns="0" rtlCol="0" anchor="t"/>
          <a:lstStyle/>
          <a:p>
            <a:pPr indent="0" marL="0">
              <a:buNone/>
            </a:pPr>
            <a:r>
              <a:rPr lang="en-US" sz="1200" b="1" dirty="0">
                <a:solidFill>
                  <a:srgbClr val="002D72"/>
                </a:solidFill>
                <a:latin typeface="Calibri" pitchFamily="34" charset="0"/>
                <a:ea typeface="Calibri" pitchFamily="34" charset="-122"/>
                <a:cs typeface="Calibri" pitchFamily="34" charset="-120"/>
              </a:rPr>
              <a:t>The monthly client report</a:t>
            </a:r>
            <a:endParaRPr lang="en-US" sz="1200" dirty="0"/>
          </a:p>
        </p:txBody>
      </p:sp>
      <p:sp>
        <p:nvSpPr>
          <p:cNvPr id="38" name="Text 36"/>
          <p:cNvSpPr/>
          <p:nvPr/>
        </p:nvSpPr>
        <p:spPr>
          <a:xfrm>
            <a:off x="8412480" y="3977640"/>
            <a:ext cx="3108960" cy="9144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Concise and qualitative, with no notionals. Generated by the same script for the latest completed month and ready for an Outlook distribution.</a:t>
            </a:r>
            <a:endParaRPr lang="en-US" sz="1000" dirty="0"/>
          </a:p>
        </p:txBody>
      </p:sp>
      <p:sp>
        <p:nvSpPr>
          <p:cNvPr id="39" name="Shape 37"/>
          <p:cNvSpPr/>
          <p:nvPr/>
        </p:nvSpPr>
        <p:spPr>
          <a:xfrm>
            <a:off x="502920" y="5257800"/>
            <a:ext cx="11201400" cy="777240"/>
          </a:xfrm>
          <a:prstGeom prst="roundRect">
            <a:avLst>
              <a:gd name="adj" fmla="val 4706"/>
            </a:avLst>
          </a:prstGeom>
          <a:solidFill>
            <a:srgbClr val="EDF3F9"/>
          </a:solidFill>
          <a:ln/>
        </p:spPr>
      </p:sp>
      <p:sp>
        <p:nvSpPr>
          <p:cNvPr id="40" name="Text 38"/>
          <p:cNvSpPr/>
          <p:nvPr/>
        </p:nvSpPr>
        <p:spPr>
          <a:xfrm>
            <a:off x="822960" y="540410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One command produces both outputs, and the reporting month advances automatically to the last completed month, so next month's edition requires no code change.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3B · THE DELIVERABLE</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Product one: the monthly client report that leaves the building</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Jul-26 edition</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34440"/>
            <a:ext cx="5120640" cy="4892040"/>
          </a:xfrm>
          <a:prstGeom prst="rect">
            <a:avLst/>
          </a:prstGeom>
          <a:solidFill>
            <a:srgbClr val="F5F8FA"/>
          </a:solidFill>
          <a:ln w="9525">
            <a:solidFill>
              <a:srgbClr val="DCE4EC"/>
            </a:solidFill>
            <a:prstDash val="solid"/>
          </a:ln>
        </p:spPr>
      </p:sp>
      <p:pic>
        <p:nvPicPr>
          <p:cNvPr id="7" name="Image 0" descr="/home/claude/deck/rpt_s.jpg">    </p:cNvPr>
          <p:cNvPicPr>
            <a:picLocks noChangeAspect="1"/>
          </p:cNvPicPr>
          <p:nvPr/>
        </p:nvPicPr>
        <p:blipFill>
          <a:blip r:embed="rId1"/>
          <a:srcRect l="0" r="0" t="0" b="0"/>
          <a:stretch/>
        </p:blipFill>
        <p:spPr>
          <a:xfrm>
            <a:off x="566928" y="1298448"/>
            <a:ext cx="4992624" cy="4764024"/>
          </a:xfrm>
          <a:prstGeom prst="rect">
            <a:avLst/>
          </a:prstGeom>
        </p:spPr>
      </p:pic>
      <p:sp>
        <p:nvSpPr>
          <p:cNvPr id="8" name="Text 5"/>
          <p:cNvSpPr/>
          <p:nvPr/>
        </p:nvSpPr>
        <p:spPr>
          <a:xfrm>
            <a:off x="502920" y="6199632"/>
            <a:ext cx="5120640" cy="365760"/>
          </a:xfrm>
          <a:prstGeom prst="rect">
            <a:avLst/>
          </a:prstGeom>
          <a:noFill/>
          <a:ln/>
        </p:spPr>
        <p:txBody>
          <a:bodyPr wrap="square" lIns="0" tIns="0" rIns="0" bIns="0" rtlCol="0" anchor="t"/>
          <a:lstStyle/>
          <a:p>
            <a:pPr indent="0" marL="0">
              <a:lnSpc>
                <a:spcPts val="1100"/>
              </a:lnSpc>
              <a:buNone/>
            </a:pPr>
            <a:r>
              <a:rPr lang="en-US" sz="850" i="1" dirty="0">
                <a:solidFill>
                  <a:srgbClr val="63737F"/>
                </a:solidFill>
                <a:latin typeface="Calibri" pitchFamily="34" charset="0"/>
                <a:ea typeface="Calibri" pitchFamily="34" charset="-122"/>
                <a:cs typeface="Calibri" pitchFamily="34" charset="-120"/>
              </a:rPr>
              <a:t>Citi HK Equities — Monthly Flow &amp; Positioning Report, generated automatically for the latest completed month and sized for an Outlook body.</a:t>
            </a:r>
            <a:endParaRPr lang="en-US" sz="850" dirty="0"/>
          </a:p>
        </p:txBody>
      </p:sp>
      <p:sp>
        <p:nvSpPr>
          <p:cNvPr id="9" name="Text 6"/>
          <p:cNvSpPr/>
          <p:nvPr/>
        </p:nvSpPr>
        <p:spPr>
          <a:xfrm>
            <a:off x="5943600" y="1234440"/>
            <a:ext cx="5760720" cy="274320"/>
          </a:xfrm>
          <a:prstGeom prst="rect">
            <a:avLst/>
          </a:prstGeom>
          <a:noFill/>
          <a:ln/>
        </p:spPr>
        <p:txBody>
          <a:bodyPr wrap="square" lIns="0" tIns="0" rIns="0" bIns="0" rtlCol="0" anchor="t"/>
          <a:lstStyle/>
          <a:p>
            <a:pPr indent="0" marL="0">
              <a:buNone/>
            </a:pPr>
            <a:r>
              <a:rPr lang="en-US" sz="1250" b="1" dirty="0">
                <a:solidFill>
                  <a:srgbClr val="002D72"/>
                </a:solidFill>
                <a:latin typeface="Calibri" pitchFamily="34" charset="0"/>
                <a:ea typeface="Calibri" pitchFamily="34" charset="-122"/>
                <a:cs typeface="Calibri" pitchFamily="34" charset="-120"/>
              </a:rPr>
              <a:t>Four commentary layers, written by the script</a:t>
            </a:r>
            <a:endParaRPr lang="en-US" sz="1250" dirty="0"/>
          </a:p>
        </p:txBody>
      </p:sp>
      <p:sp>
        <p:nvSpPr>
          <p:cNvPr id="10" name="Shape 7"/>
          <p:cNvSpPr/>
          <p:nvPr/>
        </p:nvSpPr>
        <p:spPr>
          <a:xfrm>
            <a:off x="5943600" y="1664208"/>
            <a:ext cx="329184" cy="329184"/>
          </a:xfrm>
          <a:prstGeom prst="ellipse">
            <a:avLst/>
          </a:prstGeom>
          <a:solidFill>
            <a:srgbClr val="002D72"/>
          </a:solidFill>
          <a:ln/>
        </p:spPr>
      </p:sp>
      <p:sp>
        <p:nvSpPr>
          <p:cNvPr id="11" name="Text 8"/>
          <p:cNvSpPr/>
          <p:nvPr/>
        </p:nvSpPr>
        <p:spPr>
          <a:xfrm>
            <a:off x="5943600" y="1719072"/>
            <a:ext cx="32918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A</a:t>
            </a:r>
            <a:endParaRPr lang="en-US" sz="1200" dirty="0"/>
          </a:p>
        </p:txBody>
      </p:sp>
      <p:sp>
        <p:nvSpPr>
          <p:cNvPr id="12" name="Text 9"/>
          <p:cNvSpPr/>
          <p:nvPr/>
        </p:nvSpPr>
        <p:spPr>
          <a:xfrm>
            <a:off x="6400800" y="1682496"/>
            <a:ext cx="5303520" cy="256032"/>
          </a:xfrm>
          <a:prstGeom prst="rect">
            <a:avLst/>
          </a:prstGeom>
          <a:noFill/>
          <a:ln/>
        </p:spPr>
        <p:txBody>
          <a:bodyPr wrap="square" lIns="0" tIns="0" rIns="0" bIns="0" rtlCol="0" anchor="t"/>
          <a:lstStyle/>
          <a:p>
            <a:pPr indent="0" marL="0">
              <a:buNone/>
            </a:pPr>
            <a:r>
              <a:rPr lang="en-US" sz="1100" b="1" spc="60" kern="0" dirty="0">
                <a:solidFill>
                  <a:srgbClr val="0088CE"/>
                </a:solidFill>
                <a:latin typeface="Calibri" pitchFamily="34" charset="0"/>
                <a:ea typeface="Calibri" pitchFamily="34" charset="-122"/>
                <a:cs typeface="Calibri" pitchFamily="34" charset="-120"/>
              </a:rPr>
              <a:t>EXECUTIVE PARAGRAPH</a:t>
            </a:r>
            <a:endParaRPr lang="en-US" sz="1100" dirty="0"/>
          </a:p>
        </p:txBody>
      </p:sp>
      <p:sp>
        <p:nvSpPr>
          <p:cNvPr id="13" name="Text 10"/>
          <p:cNvSpPr/>
          <p:nvPr/>
        </p:nvSpPr>
        <p:spPr>
          <a:xfrm>
            <a:off x="6400800" y="1956816"/>
            <a:ext cx="5349240" cy="749808"/>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Opens the report. Ranks sectors by net flow, counts how many are net-bought against net-sold, names the leading buying and selling tilt, and states each client cohort's side and ratio.</a:t>
            </a:r>
            <a:endParaRPr lang="en-US" sz="1000" dirty="0"/>
          </a:p>
        </p:txBody>
      </p:sp>
      <p:sp>
        <p:nvSpPr>
          <p:cNvPr id="14" name="Shape 11"/>
          <p:cNvSpPr/>
          <p:nvPr/>
        </p:nvSpPr>
        <p:spPr>
          <a:xfrm>
            <a:off x="5943600" y="2798064"/>
            <a:ext cx="329184" cy="329184"/>
          </a:xfrm>
          <a:prstGeom prst="ellipse">
            <a:avLst/>
          </a:prstGeom>
          <a:solidFill>
            <a:srgbClr val="002D72"/>
          </a:solidFill>
          <a:ln/>
        </p:spPr>
      </p:sp>
      <p:sp>
        <p:nvSpPr>
          <p:cNvPr id="15" name="Text 12"/>
          <p:cNvSpPr/>
          <p:nvPr/>
        </p:nvSpPr>
        <p:spPr>
          <a:xfrm>
            <a:off x="5943600" y="2852928"/>
            <a:ext cx="32918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B</a:t>
            </a:r>
            <a:endParaRPr lang="en-US" sz="1200" dirty="0"/>
          </a:p>
        </p:txBody>
      </p:sp>
      <p:sp>
        <p:nvSpPr>
          <p:cNvPr id="16" name="Text 13"/>
          <p:cNvSpPr/>
          <p:nvPr/>
        </p:nvSpPr>
        <p:spPr>
          <a:xfrm>
            <a:off x="6400800" y="2816352"/>
            <a:ext cx="5303520" cy="256032"/>
          </a:xfrm>
          <a:prstGeom prst="rect">
            <a:avLst/>
          </a:prstGeom>
          <a:noFill/>
          <a:ln/>
        </p:spPr>
        <p:txBody>
          <a:bodyPr wrap="square" lIns="0" tIns="0" rIns="0" bIns="0" rtlCol="0" anchor="t"/>
          <a:lstStyle/>
          <a:p>
            <a:pPr indent="0" marL="0">
              <a:buNone/>
            </a:pPr>
            <a:r>
              <a:rPr lang="en-US" sz="1100" b="1" spc="60" kern="0" dirty="0">
                <a:solidFill>
                  <a:srgbClr val="0088CE"/>
                </a:solidFill>
                <a:latin typeface="Calibri" pitchFamily="34" charset="0"/>
                <a:ea typeface="Calibri" pitchFamily="34" charset="-122"/>
                <a:cs typeface="Calibri" pitchFamily="34" charset="-120"/>
              </a:rPr>
              <a:t>ROTATION COMMENTARY</a:t>
            </a:r>
            <a:endParaRPr lang="en-US" sz="1100" dirty="0"/>
          </a:p>
        </p:txBody>
      </p:sp>
      <p:sp>
        <p:nvSpPr>
          <p:cNvPr id="17" name="Text 14"/>
          <p:cNvSpPr/>
          <p:nvPr/>
        </p:nvSpPr>
        <p:spPr>
          <a:xfrm>
            <a:off x="6400800" y="3090672"/>
            <a:ext cx="5349240" cy="749808"/>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Sits under the two rotation charts. Compares this month with last: the breadth change, every full direction reversal, the largest non-flip swing, categories still building conviction, and where selling pressure eased.</a:t>
            </a:r>
            <a:endParaRPr lang="en-US" sz="1000" dirty="0"/>
          </a:p>
        </p:txBody>
      </p:sp>
      <p:sp>
        <p:nvSpPr>
          <p:cNvPr id="18" name="Shape 15"/>
          <p:cNvSpPr/>
          <p:nvPr/>
        </p:nvSpPr>
        <p:spPr>
          <a:xfrm>
            <a:off x="5943600" y="3931920"/>
            <a:ext cx="329184" cy="329184"/>
          </a:xfrm>
          <a:prstGeom prst="ellipse">
            <a:avLst/>
          </a:prstGeom>
          <a:solidFill>
            <a:srgbClr val="002D72"/>
          </a:solidFill>
          <a:ln/>
        </p:spPr>
      </p:sp>
      <p:sp>
        <p:nvSpPr>
          <p:cNvPr id="19" name="Text 16"/>
          <p:cNvSpPr/>
          <p:nvPr/>
        </p:nvSpPr>
        <p:spPr>
          <a:xfrm>
            <a:off x="5943600" y="3986784"/>
            <a:ext cx="32918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C</a:t>
            </a:r>
            <a:endParaRPr lang="en-US" sz="1200" dirty="0"/>
          </a:p>
        </p:txBody>
      </p:sp>
      <p:sp>
        <p:nvSpPr>
          <p:cNvPr id="20" name="Text 17"/>
          <p:cNvSpPr/>
          <p:nvPr/>
        </p:nvSpPr>
        <p:spPr>
          <a:xfrm>
            <a:off x="6400800" y="3950208"/>
            <a:ext cx="5303520" cy="256032"/>
          </a:xfrm>
          <a:prstGeom prst="rect">
            <a:avLst/>
          </a:prstGeom>
          <a:noFill/>
          <a:ln/>
        </p:spPr>
        <p:txBody>
          <a:bodyPr wrap="square" lIns="0" tIns="0" rIns="0" bIns="0" rtlCol="0" anchor="t"/>
          <a:lstStyle/>
          <a:p>
            <a:pPr indent="0" marL="0">
              <a:buNone/>
            </a:pPr>
            <a:r>
              <a:rPr lang="en-US" sz="1100" b="1" spc="60" kern="0" dirty="0">
                <a:solidFill>
                  <a:srgbClr val="0088CE"/>
                </a:solidFill>
                <a:latin typeface="Calibri" pitchFamily="34" charset="0"/>
                <a:ea typeface="Calibri" pitchFamily="34" charset="-122"/>
                <a:cs typeface="Calibri" pitchFamily="34" charset="-120"/>
              </a:rPr>
              <a:t>PRICE VERSUS FLOW</a:t>
            </a:r>
            <a:endParaRPr lang="en-US" sz="1100" dirty="0"/>
          </a:p>
        </p:txBody>
      </p:sp>
      <p:sp>
        <p:nvSpPr>
          <p:cNvPr id="21" name="Text 18"/>
          <p:cNvSpPr/>
          <p:nvPr/>
        </p:nvSpPr>
        <p:spPr>
          <a:xfrm>
            <a:off x="6400800" y="4224528"/>
            <a:ext cx="5349240" cy="749808"/>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Sits under the first quadrant chart. Places each name into buy-up, buy-down, sell-up or sell-down, keeps the three largest per quadrant, and writes the interpretation only for quadrants that are populated.</a:t>
            </a:r>
            <a:endParaRPr lang="en-US" sz="1000" dirty="0"/>
          </a:p>
        </p:txBody>
      </p:sp>
      <p:sp>
        <p:nvSpPr>
          <p:cNvPr id="22" name="Shape 19"/>
          <p:cNvSpPr/>
          <p:nvPr/>
        </p:nvSpPr>
        <p:spPr>
          <a:xfrm>
            <a:off x="5943600" y="5065776"/>
            <a:ext cx="329184" cy="329184"/>
          </a:xfrm>
          <a:prstGeom prst="ellipse">
            <a:avLst/>
          </a:prstGeom>
          <a:solidFill>
            <a:srgbClr val="002D72"/>
          </a:solidFill>
          <a:ln/>
        </p:spPr>
      </p:sp>
      <p:sp>
        <p:nvSpPr>
          <p:cNvPr id="23" name="Text 20"/>
          <p:cNvSpPr/>
          <p:nvPr/>
        </p:nvSpPr>
        <p:spPr>
          <a:xfrm>
            <a:off x="5943600" y="5120640"/>
            <a:ext cx="32918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D</a:t>
            </a:r>
            <a:endParaRPr lang="en-US" sz="1200" dirty="0"/>
          </a:p>
        </p:txBody>
      </p:sp>
      <p:sp>
        <p:nvSpPr>
          <p:cNvPr id="24" name="Text 21"/>
          <p:cNvSpPr/>
          <p:nvPr/>
        </p:nvSpPr>
        <p:spPr>
          <a:xfrm>
            <a:off x="6400800" y="5084064"/>
            <a:ext cx="5303520" cy="256032"/>
          </a:xfrm>
          <a:prstGeom prst="rect">
            <a:avLst/>
          </a:prstGeom>
          <a:noFill/>
          <a:ln/>
        </p:spPr>
        <p:txBody>
          <a:bodyPr wrap="square" lIns="0" tIns="0" rIns="0" bIns="0" rtlCol="0" anchor="t"/>
          <a:lstStyle/>
          <a:p>
            <a:pPr indent="0" marL="0">
              <a:buNone/>
            </a:pPr>
            <a:r>
              <a:rPr lang="en-US" sz="1100" b="1" spc="60" kern="0" dirty="0">
                <a:solidFill>
                  <a:srgbClr val="0088CE"/>
                </a:solidFill>
                <a:latin typeface="Calibri" pitchFamily="34" charset="0"/>
                <a:ea typeface="Calibri" pitchFamily="34" charset="-122"/>
                <a:cs typeface="Calibri" pitchFamily="34" charset="-120"/>
              </a:rPr>
              <a:t>CITI VERSUS SOUTHBOUND</a:t>
            </a:r>
            <a:endParaRPr lang="en-US" sz="1100" dirty="0"/>
          </a:p>
        </p:txBody>
      </p:sp>
      <p:sp>
        <p:nvSpPr>
          <p:cNvPr id="25" name="Text 22"/>
          <p:cNvSpPr/>
          <p:nvPr/>
        </p:nvSpPr>
        <p:spPr>
          <a:xfrm>
            <a:off x="6400800" y="5358384"/>
            <a:ext cx="5349240" cy="749808"/>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Sits under the second quadrant chart. Places each name by our side against the mainland's, then flags shared conviction as crowding risk and opposite sides as an onshore-offshore divergence worth watching.</a:t>
            </a:r>
            <a:endParaRPr lang="en-US" sz="1000" dirty="0"/>
          </a:p>
        </p:txBody>
      </p:sp>
      <p:sp>
        <p:nvSpPr>
          <p:cNvPr id="26" name="Shape 23"/>
          <p:cNvSpPr/>
          <p:nvPr/>
        </p:nvSpPr>
        <p:spPr>
          <a:xfrm>
            <a:off x="5943600" y="5989320"/>
            <a:ext cx="5779008" cy="566928"/>
          </a:xfrm>
          <a:prstGeom prst="roundRect">
            <a:avLst>
              <a:gd name="adj" fmla="val 6452"/>
            </a:avLst>
          </a:prstGeom>
          <a:solidFill>
            <a:srgbClr val="EDF3F9"/>
          </a:solidFill>
          <a:ln w="9525">
            <a:solidFill>
              <a:srgbClr val="DCE4EC"/>
            </a:solidFill>
            <a:prstDash val="solid"/>
          </a:ln>
        </p:spPr>
      </p:sp>
      <p:sp>
        <p:nvSpPr>
          <p:cNvPr id="27" name="Text 24"/>
          <p:cNvSpPr/>
          <p:nvPr/>
        </p:nvSpPr>
        <p:spPr>
          <a:xfrm>
            <a:off x="6144768" y="6108192"/>
            <a:ext cx="5440680" cy="36576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Identical inputs always produce identical wording, so the text can be reviewed once and trusted every month.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3C · THE DESK TOOL</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Product two: the internal dashboard the floor reads before a client call</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Any window</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6309360" y="1234440"/>
            <a:ext cx="5413248" cy="4892040"/>
          </a:xfrm>
          <a:prstGeom prst="rect">
            <a:avLst/>
          </a:prstGeom>
          <a:solidFill>
            <a:srgbClr val="F5F8FA"/>
          </a:solidFill>
          <a:ln w="9525">
            <a:solidFill>
              <a:srgbClr val="DCE4EC"/>
            </a:solidFill>
            <a:prstDash val="solid"/>
          </a:ln>
        </p:spPr>
      </p:sp>
      <p:pic>
        <p:nvPicPr>
          <p:cNvPr id="7" name="Image 0" descr="/home/claude/deck/dash_s.jpg">    </p:cNvPr>
          <p:cNvPicPr>
            <a:picLocks noChangeAspect="1"/>
          </p:cNvPicPr>
          <p:nvPr/>
        </p:nvPicPr>
        <p:blipFill>
          <a:blip r:embed="rId1"/>
          <a:srcRect l="0" r="0" t="0" b="0"/>
          <a:stretch/>
        </p:blipFill>
        <p:spPr>
          <a:xfrm>
            <a:off x="6373368" y="1298448"/>
            <a:ext cx="5285232" cy="4764024"/>
          </a:xfrm>
          <a:prstGeom prst="rect">
            <a:avLst/>
          </a:prstGeom>
        </p:spPr>
      </p:pic>
      <p:sp>
        <p:nvSpPr>
          <p:cNvPr id="8" name="Text 5"/>
          <p:cNvSpPr/>
          <p:nvPr/>
        </p:nvSpPr>
        <p:spPr>
          <a:xfrm>
            <a:off x="6309360" y="6199632"/>
            <a:ext cx="5413248" cy="365760"/>
          </a:xfrm>
          <a:prstGeom prst="rect">
            <a:avLst/>
          </a:prstGeom>
          <a:noFill/>
          <a:ln/>
        </p:spPr>
        <p:txBody>
          <a:bodyPr wrap="square" lIns="0" tIns="0" rIns="0" bIns="0" rtlCol="0" anchor="t"/>
          <a:lstStyle/>
          <a:p>
            <a:pPr indent="0" marL="0">
              <a:lnSpc>
                <a:spcPts val="1100"/>
              </a:lnSpc>
              <a:buNone/>
            </a:pPr>
            <a:r>
              <a:rPr lang="en-US" sz="850" i="1" dirty="0">
                <a:solidFill>
                  <a:srgbClr val="63737F"/>
                </a:solidFill>
                <a:latin typeface="Calibri" pitchFamily="34" charset="0"/>
                <a:ea typeface="Calibri" pitchFamily="34" charset="-122"/>
                <a:cs typeface="Calibri" pitchFamily="34" charset="-120"/>
              </a:rPr>
              <a:t>Flow &amp; Positioning Monitor — the full internal build. Notionals are retained here and every panel recomputes for any window inside the rolling twelve months.</a:t>
            </a:r>
            <a:endParaRPr lang="en-US" sz="850" dirty="0"/>
          </a:p>
        </p:txBody>
      </p:sp>
      <p:sp>
        <p:nvSpPr>
          <p:cNvPr id="9" name="Shape 6"/>
          <p:cNvSpPr/>
          <p:nvPr/>
        </p:nvSpPr>
        <p:spPr>
          <a:xfrm>
            <a:off x="502920" y="1280160"/>
            <a:ext cx="5577840" cy="731520"/>
          </a:xfrm>
          <a:prstGeom prst="roundRect">
            <a:avLst>
              <a:gd name="adj" fmla="val 5000"/>
            </a:avLst>
          </a:prstGeom>
          <a:solidFill>
            <a:srgbClr val="F5F8FA"/>
          </a:solidFill>
          <a:ln w="9525">
            <a:solidFill>
              <a:srgbClr val="DCE4EC"/>
            </a:solidFill>
            <a:prstDash val="solid"/>
          </a:ln>
        </p:spPr>
      </p:sp>
      <p:sp>
        <p:nvSpPr>
          <p:cNvPr id="10" name="Text 7"/>
          <p:cNvSpPr/>
          <p:nvPr/>
        </p:nvSpPr>
        <p:spPr>
          <a:xfrm>
            <a:off x="713232" y="137160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Executive summary</a:t>
            </a:r>
            <a:endParaRPr lang="en-US" sz="1100" dirty="0"/>
          </a:p>
        </p:txBody>
      </p:sp>
      <p:sp>
        <p:nvSpPr>
          <p:cNvPr id="11" name="Text 8"/>
          <p:cNvSpPr/>
          <p:nvPr/>
        </p:nvSpPr>
        <p:spPr>
          <a:xfrm>
            <a:off x="713232" y="160934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Three columns written for the selected window: sector flow and rotation, single-name positioning against southbound, and client behaviour by cohort.</a:t>
            </a:r>
            <a:endParaRPr lang="en-US" sz="950" dirty="0"/>
          </a:p>
        </p:txBody>
      </p:sp>
      <p:sp>
        <p:nvSpPr>
          <p:cNvPr id="12" name="Shape 9"/>
          <p:cNvSpPr/>
          <p:nvPr/>
        </p:nvSpPr>
        <p:spPr>
          <a:xfrm>
            <a:off x="502920" y="2103120"/>
            <a:ext cx="5577840" cy="731520"/>
          </a:xfrm>
          <a:prstGeom prst="roundRect">
            <a:avLst>
              <a:gd name="adj" fmla="val 5000"/>
            </a:avLst>
          </a:prstGeom>
          <a:solidFill>
            <a:srgbClr val="FFFFFF"/>
          </a:solidFill>
          <a:ln w="9525">
            <a:solidFill>
              <a:srgbClr val="DCE4EC"/>
            </a:solidFill>
            <a:prstDash val="solid"/>
          </a:ln>
        </p:spPr>
      </p:sp>
      <p:sp>
        <p:nvSpPr>
          <p:cNvPr id="13" name="Text 10"/>
          <p:cNvSpPr/>
          <p:nvPr/>
        </p:nvSpPr>
        <p:spPr>
          <a:xfrm>
            <a:off x="713232" y="219456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Sector positioning master table</a:t>
            </a:r>
            <a:endParaRPr lang="en-US" sz="1100" dirty="0"/>
          </a:p>
        </p:txBody>
      </p:sp>
      <p:sp>
        <p:nvSpPr>
          <p:cNvPr id="14" name="Text 11"/>
          <p:cNvSpPr/>
          <p:nvPr/>
        </p:nvSpPr>
        <p:spPr>
          <a:xfrm>
            <a:off x="713232" y="243230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Buy/sell ratio, net flow direction, book weight and the southbound ratio for the same sector, side by side on one row.</a:t>
            </a:r>
            <a:endParaRPr lang="en-US" sz="950" dirty="0"/>
          </a:p>
        </p:txBody>
      </p:sp>
      <p:sp>
        <p:nvSpPr>
          <p:cNvPr id="15" name="Shape 12"/>
          <p:cNvSpPr/>
          <p:nvPr/>
        </p:nvSpPr>
        <p:spPr>
          <a:xfrm>
            <a:off x="502920" y="2926080"/>
            <a:ext cx="5577840" cy="731520"/>
          </a:xfrm>
          <a:prstGeom prst="roundRect">
            <a:avLst>
              <a:gd name="adj" fmla="val 5000"/>
            </a:avLst>
          </a:prstGeom>
          <a:solidFill>
            <a:srgbClr val="F5F8FA"/>
          </a:solidFill>
          <a:ln w="9525">
            <a:solidFill>
              <a:srgbClr val="DCE4EC"/>
            </a:solidFill>
            <a:prstDash val="solid"/>
          </a:ln>
        </p:spPr>
      </p:sp>
      <p:sp>
        <p:nvSpPr>
          <p:cNvPr id="16" name="Text 13"/>
          <p:cNvSpPr/>
          <p:nvPr/>
        </p:nvSpPr>
        <p:spPr>
          <a:xfrm>
            <a:off x="713232" y="301752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Most-traded names</a:t>
            </a:r>
            <a:endParaRPr lang="en-US" sz="1100" dirty="0"/>
          </a:p>
        </p:txBody>
      </p:sp>
      <p:sp>
        <p:nvSpPr>
          <p:cNvPr id="17" name="Text 14"/>
          <p:cNvSpPr/>
          <p:nvPr/>
        </p:nvSpPr>
        <p:spPr>
          <a:xfrm>
            <a:off x="713232" y="325526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Top five within the leading buy and sell sectors, and the top ten across all sectors, each carrying RSI, short interest, days-to-cover and price versus flow.</a:t>
            </a:r>
            <a:endParaRPr lang="en-US" sz="950" dirty="0"/>
          </a:p>
        </p:txBody>
      </p:sp>
      <p:sp>
        <p:nvSpPr>
          <p:cNvPr id="18" name="Shape 15"/>
          <p:cNvSpPr/>
          <p:nvPr/>
        </p:nvSpPr>
        <p:spPr>
          <a:xfrm>
            <a:off x="502920" y="3749040"/>
            <a:ext cx="5577840" cy="731520"/>
          </a:xfrm>
          <a:prstGeom prst="roundRect">
            <a:avLst>
              <a:gd name="adj" fmla="val 5000"/>
            </a:avLst>
          </a:prstGeom>
          <a:solidFill>
            <a:srgbClr val="FFFFFF"/>
          </a:solidFill>
          <a:ln w="9525">
            <a:solidFill>
              <a:srgbClr val="DCE4EC"/>
            </a:solidFill>
            <a:prstDash val="solid"/>
          </a:ln>
        </p:spPr>
      </p:sp>
      <p:sp>
        <p:nvSpPr>
          <p:cNvPr id="19" name="Text 16"/>
          <p:cNvSpPr/>
          <p:nvPr/>
        </p:nvSpPr>
        <p:spPr>
          <a:xfrm>
            <a:off x="713232" y="384048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Price-versus-flow monitor</a:t>
            </a:r>
            <a:endParaRPr lang="en-US" sz="1100" dirty="0"/>
          </a:p>
        </p:txBody>
      </p:sp>
      <p:sp>
        <p:nvSpPr>
          <p:cNvPr id="20" name="Text 17"/>
          <p:cNvSpPr/>
          <p:nvPr/>
        </p:nvSpPr>
        <p:spPr>
          <a:xfrm>
            <a:off x="713232" y="407822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Every name plotted by our side against its price move, with the two contradiction corners boxed and ranked.</a:t>
            </a:r>
            <a:endParaRPr lang="en-US" sz="950" dirty="0"/>
          </a:p>
        </p:txBody>
      </p:sp>
      <p:sp>
        <p:nvSpPr>
          <p:cNvPr id="21" name="Shape 18"/>
          <p:cNvSpPr/>
          <p:nvPr/>
        </p:nvSpPr>
        <p:spPr>
          <a:xfrm>
            <a:off x="502920" y="4572000"/>
            <a:ext cx="5577840" cy="731520"/>
          </a:xfrm>
          <a:prstGeom prst="roundRect">
            <a:avLst>
              <a:gd name="adj" fmla="val 5000"/>
            </a:avLst>
          </a:prstGeom>
          <a:solidFill>
            <a:srgbClr val="F5F8FA"/>
          </a:solidFill>
          <a:ln w="9525">
            <a:solidFill>
              <a:srgbClr val="DCE4EC"/>
            </a:solidFill>
            <a:prstDash val="solid"/>
          </a:ln>
        </p:spPr>
      </p:sp>
      <p:sp>
        <p:nvSpPr>
          <p:cNvPr id="22" name="Text 19"/>
          <p:cNvSpPr/>
          <p:nvPr/>
        </p:nvSpPr>
        <p:spPr>
          <a:xfrm>
            <a:off x="713232" y="466344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Franchise-versus-southbound map</a:t>
            </a:r>
            <a:endParaRPr lang="en-US" sz="1100" dirty="0"/>
          </a:p>
        </p:txBody>
      </p:sp>
      <p:sp>
        <p:nvSpPr>
          <p:cNvPr id="23" name="Text 20"/>
          <p:cNvSpPr/>
          <p:nvPr/>
        </p:nvSpPr>
        <p:spPr>
          <a:xfrm>
            <a:off x="713232" y="490118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The four positioning quadrants with the named lists that sit behind each one.</a:t>
            </a:r>
            <a:endParaRPr lang="en-US" sz="950" dirty="0"/>
          </a:p>
        </p:txBody>
      </p:sp>
      <p:sp>
        <p:nvSpPr>
          <p:cNvPr id="24" name="Shape 21"/>
          <p:cNvSpPr/>
          <p:nvPr/>
        </p:nvSpPr>
        <p:spPr>
          <a:xfrm>
            <a:off x="502920" y="5394960"/>
            <a:ext cx="5577840" cy="731520"/>
          </a:xfrm>
          <a:prstGeom prst="roundRect">
            <a:avLst>
              <a:gd name="adj" fmla="val 5000"/>
            </a:avLst>
          </a:prstGeom>
          <a:solidFill>
            <a:srgbClr val="FFFFFF"/>
          </a:solidFill>
          <a:ln w="9525">
            <a:solidFill>
              <a:srgbClr val="DCE4EC"/>
            </a:solidFill>
            <a:prstDash val="solid"/>
          </a:ln>
        </p:spPr>
      </p:sp>
      <p:sp>
        <p:nvSpPr>
          <p:cNvPr id="25" name="Text 22"/>
          <p:cNvSpPr/>
          <p:nvPr/>
        </p:nvSpPr>
        <p:spPr>
          <a:xfrm>
            <a:off x="713232" y="548640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Trajectories and cohorts</a:t>
            </a:r>
            <a:endParaRPr lang="en-US" sz="1100" dirty="0"/>
          </a:p>
        </p:txBody>
      </p:sp>
      <p:sp>
        <p:nvSpPr>
          <p:cNvPr id="26" name="Text 23"/>
          <p:cNvSpPr/>
          <p:nvPr/>
        </p:nvSpPr>
        <p:spPr>
          <a:xfrm>
            <a:off x="713232" y="572414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Monthly direction, cumulative paths by sector, any-two-month comparison, and the client-type panel expandable to sub-types.</a:t>
            </a:r>
            <a:endParaRPr lang="en-US" sz="950" dirty="0"/>
          </a:p>
        </p:txBody>
      </p:sp>
      <p:sp>
        <p:nvSpPr>
          <p:cNvPr id="27" name="Shape 24"/>
          <p:cNvSpPr/>
          <p:nvPr/>
        </p:nvSpPr>
        <p:spPr>
          <a:xfrm>
            <a:off x="502920" y="6236208"/>
            <a:ext cx="5577840" cy="457200"/>
          </a:xfrm>
          <a:prstGeom prst="roundRect">
            <a:avLst>
              <a:gd name="adj" fmla="val 8000"/>
            </a:avLst>
          </a:prstGeom>
          <a:solidFill>
            <a:srgbClr val="EDF3F9"/>
          </a:solidFill>
          <a:ln w="9525">
            <a:solidFill>
              <a:srgbClr val="DCE4EC"/>
            </a:solidFill>
            <a:prstDash val="solid"/>
          </a:ln>
        </p:spPr>
      </p:sp>
      <p:sp>
        <p:nvSpPr>
          <p:cNvPr id="28" name="Text 25"/>
          <p:cNvSpPr/>
          <p:nvPr/>
        </p:nvSpPr>
        <p:spPr>
          <a:xfrm>
            <a:off x="713232" y="6327648"/>
            <a:ext cx="5212080" cy="27432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Same engine, same underlying data — only the audience and the disclosure level differ.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1 — THE TWELVE-MONTH REGIME</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Institutions sold through a rising market — the flow against its benchmark</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Aug-25 – 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“Flows into Hong Kong look strong. Is that true of institutional money, or only of the mainland bid?”</a:t>
            </a:r>
            <a:endParaRPr lang="en-US" sz="1250" dirty="0"/>
          </a:p>
        </p:txBody>
      </p:sp>
      <p:graphicFrame>
        <p:nvGraphicFramePr>
          <p:cNvPr id="9" name="Chart 0" descr=""/>
          <p:cNvGraphicFramePr/>
          <p:nvPr/>
        </p:nvGraphicFramePr>
        <p:xfrm>
          <a:off x="457200" y="1810512"/>
          <a:ext cx="7315200" cy="27432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502920" y="4617720"/>
            <a:ext cx="7315200" cy="566928"/>
          </a:xfrm>
          <a:prstGeom prst="rect">
            <a:avLst/>
          </a:prstGeom>
          <a:noFill/>
          <a:ln/>
        </p:spPr>
        <p:txBody>
          <a:bodyPr wrap="square" lIns="0" tIns="0" rIns="0" bIns="0" rtlCol="0" anchor="t"/>
          <a:lstStyle/>
          <a:p>
            <a:pPr indent="0" marL="0">
              <a:lnSpc>
                <a:spcPts val="1100"/>
              </a:lnSpc>
              <a:buNone/>
            </a:pPr>
            <a:r>
              <a:rPr lang="en-US" sz="850" i="1" dirty="0">
                <a:solidFill>
                  <a:srgbClr val="63737F"/>
                </a:solidFill>
                <a:latin typeface="Calibri" pitchFamily="34" charset="0"/>
                <a:ea typeface="Calibri" pitchFamily="34" charset="-122"/>
                <a:cs typeface="Calibri" pitchFamily="34" charset="-120"/>
              </a:rPr>
              <a:t>Index path: four-year high above 27,000 intramonth in October; 22,672 at the June low; 25,009 by 17 July. Month-end closes are indicative — pull exact prints from Bloomberg before presenting. Hang Seng TECH traced the same shape with roughly twice the amplitude.</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001000" y="1810512"/>
          <a:ext cx="3721608" cy="914400"/>
        </p:xfrm>
        <a:graphic>
          <a:graphicData uri="http://schemas.openxmlformats.org/drawingml/2006/table">
            <a:tbl>
              <a:tblPr/>
              <a:tblGrid>
                <a:gridCol w="1856232"/>
                <a:gridCol w="1865376"/>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THE FLOW</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THE BENCHMARK</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237744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Net sellers in ten of twelve months, deepest in January at the war shock and June in the chip rout. Buying appeared only in September and April.</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The index made a four-year high in October and still ended the window near where it started — strength our clients sold into for a full year.</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12" name="Shape 8"/>
          <p:cNvSpPr/>
          <p:nvPr/>
        </p:nvSpPr>
        <p:spPr>
          <a:xfrm>
            <a:off x="502920" y="5349240"/>
            <a:ext cx="11201400" cy="777240"/>
          </a:xfrm>
          <a:prstGeom prst="roundRect">
            <a:avLst>
              <a:gd name="adj" fmla="val 4706"/>
            </a:avLst>
          </a:prstGeom>
          <a:solidFill>
            <a:srgbClr val="EDF3F9"/>
          </a:solidFill>
          <a:ln/>
        </p:spPr>
      </p:sp>
      <p:sp>
        <p:nvSpPr>
          <p:cNvPr id="13" name="Text 9"/>
          <p:cNvSpPr/>
          <p:nvPr/>
        </p:nvSpPr>
        <p:spPr>
          <a:xfrm>
            <a:off x="822960" y="549554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The two lines on one page are the argument: a rising benchmark over a persistently selling franchise means the rally was carried by the mainland bid, not by institutions — so institutional re-entry is fresh fuel, and the cushion in any sell-off is southbound's to hold.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2 — THE MONTHLY ROTATION</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Three sectors reversed outright, and the mainland did not always follow</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Jun vs 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“Out of what, into what — and was the mainland with you or against you?”</a:t>
            </a:r>
            <a:endParaRPr lang="en-US" sz="1250" dirty="0"/>
          </a:p>
        </p:txBody>
      </p:sp>
      <p:graphicFrame>
        <p:nvGraphicFramePr>
          <p:cNvPr id="9" name="Chart 0" descr=""/>
          <p:cNvGraphicFramePr/>
          <p:nvPr/>
        </p:nvGraphicFramePr>
        <p:xfrm>
          <a:off x="411480" y="1828800"/>
          <a:ext cx="576072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6355080" y="1828800"/>
          <a:ext cx="5394960" cy="278892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920" y="4846320"/>
            <a:ext cx="3611880" cy="1417320"/>
          </a:xfrm>
          <a:prstGeom prst="roundRect">
            <a:avLst>
              <a:gd name="adj" fmla="val 2581"/>
            </a:avLst>
          </a:prstGeom>
          <a:solidFill>
            <a:srgbClr val="F6EEEE"/>
          </a:solidFill>
          <a:ln w="9525">
            <a:solidFill>
              <a:srgbClr val="DCE4EC"/>
            </a:solidFill>
            <a:prstDash val="solid"/>
          </a:ln>
        </p:spPr>
      </p:sp>
      <p:sp>
        <p:nvSpPr>
          <p:cNvPr id="12" name="Text 8"/>
          <p:cNvSpPr/>
          <p:nvPr/>
        </p:nvSpPr>
        <p:spPr>
          <a:xfrm>
            <a:off x="731520" y="4956048"/>
            <a:ext cx="3108960" cy="237744"/>
          </a:xfrm>
          <a:prstGeom prst="rect">
            <a:avLst/>
          </a:prstGeom>
          <a:noFill/>
          <a:ln/>
        </p:spPr>
        <p:txBody>
          <a:bodyPr wrap="square" lIns="0" tIns="0" rIns="0" bIns="0" rtlCol="0" anchor="t"/>
          <a:lstStyle/>
          <a:p>
            <a:pPr indent="0" marL="0">
              <a:buNone/>
            </a:pPr>
            <a:r>
              <a:rPr lang="en-US" sz="1000" b="1" spc="80" kern="0" dirty="0">
                <a:solidFill>
                  <a:srgbClr val="9A4141"/>
                </a:solidFill>
                <a:latin typeface="Calibri" pitchFamily="34" charset="0"/>
                <a:ea typeface="Calibri" pitchFamily="34" charset="-122"/>
                <a:cs typeface="Calibri" pitchFamily="34" charset="-120"/>
              </a:rPr>
              <a:t>THE HAND-OFF</a:t>
            </a:r>
            <a:endParaRPr lang="en-US" sz="1000" dirty="0"/>
          </a:p>
        </p:txBody>
      </p:sp>
      <p:sp>
        <p:nvSpPr>
          <p:cNvPr id="13" name="Text 9"/>
          <p:cNvSpPr/>
          <p:nvPr/>
        </p:nvSpPr>
        <p:spPr>
          <a:xfrm>
            <a:off x="731520" y="5212080"/>
            <a:ext cx="3154680" cy="96012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Communication Services is the only bar that crosses zero in opposite directions on the two charts. We moved from 1.35x buying to 1.24x selling exactly as the mainland moved from 1.78x selling to 6.91x buying.</a:t>
            </a:r>
            <a:endParaRPr lang="en-US" sz="1000" dirty="0"/>
          </a:p>
        </p:txBody>
      </p:sp>
      <p:sp>
        <p:nvSpPr>
          <p:cNvPr id="14" name="Shape 10"/>
          <p:cNvSpPr/>
          <p:nvPr/>
        </p:nvSpPr>
        <p:spPr>
          <a:xfrm>
            <a:off x="4297680" y="4846320"/>
            <a:ext cx="3611880" cy="1417320"/>
          </a:xfrm>
          <a:prstGeom prst="roundRect">
            <a:avLst>
              <a:gd name="adj" fmla="val 2581"/>
            </a:avLst>
          </a:prstGeom>
          <a:solidFill>
            <a:srgbClr val="F5F8FA"/>
          </a:solidFill>
          <a:ln w="9525">
            <a:solidFill>
              <a:srgbClr val="DCE4EC"/>
            </a:solidFill>
            <a:prstDash val="solid"/>
          </a:ln>
        </p:spPr>
      </p:sp>
      <p:sp>
        <p:nvSpPr>
          <p:cNvPr id="15" name="Text 11"/>
          <p:cNvSpPr/>
          <p:nvPr/>
        </p:nvSpPr>
        <p:spPr>
          <a:xfrm>
            <a:off x="4526280" y="4956048"/>
            <a:ext cx="3108960" cy="237744"/>
          </a:xfrm>
          <a:prstGeom prst="rect">
            <a:avLst/>
          </a:prstGeom>
          <a:noFill/>
          <a:ln/>
        </p:spPr>
        <p:txBody>
          <a:bodyPr wrap="square" lIns="0" tIns="0" rIns="0" bIns="0" rtlCol="0" anchor="t"/>
          <a:lstStyle/>
          <a:p>
            <a:pPr indent="0" marL="0">
              <a:buNone/>
            </a:pPr>
            <a:r>
              <a:rPr lang="en-US" sz="1000" b="1" spc="80" kern="0" dirty="0">
                <a:solidFill>
                  <a:srgbClr val="2E6B4F"/>
                </a:solidFill>
                <a:latin typeface="Calibri" pitchFamily="34" charset="0"/>
                <a:ea typeface="Calibri" pitchFamily="34" charset="-122"/>
                <a:cs typeface="Calibri" pitchFamily="34" charset="-120"/>
              </a:rPr>
              <a:t>THE SHARED TRADE</a:t>
            </a:r>
            <a:endParaRPr lang="en-US" sz="1000" dirty="0"/>
          </a:p>
        </p:txBody>
      </p:sp>
      <p:sp>
        <p:nvSpPr>
          <p:cNvPr id="16" name="Text 12"/>
          <p:cNvSpPr/>
          <p:nvPr/>
        </p:nvSpPr>
        <p:spPr>
          <a:xfrm>
            <a:off x="4526280" y="5212080"/>
            <a:ext cx="3154680" cy="96012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Consumer Discretionary flipped to buying on both sides at once, as the delivery subsidy war cooled and PMI reached 52.0. When both feeds turn together, the demand is broader than our own book.</a:t>
            </a:r>
            <a:endParaRPr lang="en-US" sz="1000" dirty="0"/>
          </a:p>
        </p:txBody>
      </p:sp>
      <p:sp>
        <p:nvSpPr>
          <p:cNvPr id="17" name="Shape 13"/>
          <p:cNvSpPr/>
          <p:nvPr/>
        </p:nvSpPr>
        <p:spPr>
          <a:xfrm>
            <a:off x="8092440" y="4846320"/>
            <a:ext cx="3611880" cy="1417320"/>
          </a:xfrm>
          <a:prstGeom prst="roundRect">
            <a:avLst>
              <a:gd name="adj" fmla="val 2581"/>
            </a:avLst>
          </a:prstGeom>
          <a:solidFill>
            <a:srgbClr val="F5F8FA"/>
          </a:solidFill>
          <a:ln w="9525">
            <a:solidFill>
              <a:srgbClr val="DCE4EC"/>
            </a:solidFill>
            <a:prstDash val="solid"/>
          </a:ln>
        </p:spPr>
      </p:sp>
      <p:sp>
        <p:nvSpPr>
          <p:cNvPr id="18" name="Text 14"/>
          <p:cNvSpPr/>
          <p:nvPr/>
        </p:nvSpPr>
        <p:spPr>
          <a:xfrm>
            <a:off x="8321040" y="4956048"/>
            <a:ext cx="3108960" cy="237744"/>
          </a:xfrm>
          <a:prstGeom prst="rect">
            <a:avLst/>
          </a:prstGeom>
          <a:noFill/>
          <a:ln/>
        </p:spPr>
        <p:txBody>
          <a:bodyPr wrap="square" lIns="0" tIns="0" rIns="0" bIns="0" rtlCol="0" anchor="t"/>
          <a:lstStyle/>
          <a:p>
            <a:pPr indent="0" marL="0">
              <a:buNone/>
            </a:pPr>
            <a:r>
              <a:rPr lang="en-US" sz="1000" b="1" spc="80" kern="0" dirty="0">
                <a:solidFill>
                  <a:srgbClr val="0088CE"/>
                </a:solidFill>
                <a:latin typeface="Calibri" pitchFamily="34" charset="0"/>
                <a:ea typeface="Calibri" pitchFamily="34" charset="-122"/>
                <a:cs typeface="Calibri" pitchFamily="34" charset="-120"/>
              </a:rPr>
              <a:t>THE DISAGREEMENT</a:t>
            </a:r>
            <a:endParaRPr lang="en-US" sz="1000" dirty="0"/>
          </a:p>
        </p:txBody>
      </p:sp>
      <p:sp>
        <p:nvSpPr>
          <p:cNvPr id="19" name="Text 15"/>
          <p:cNvSpPr/>
          <p:nvPr/>
        </p:nvSpPr>
        <p:spPr>
          <a:xfrm>
            <a:off x="8321040" y="5212080"/>
            <a:ext cx="3154680" cy="96012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Materials stayed a modest sell for us while southbound bought at 17.49x, and Energy split the other way. Breadth widened from three of eleven sectors bought to five.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3 — THE THEME BEHIND THE ROTATION</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The AI complex sold off across four GICS sectors — a positioning reset, not a fundamental break</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Jun → 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“Comm Svc was your top buy in June and your top sell in July. What actually changed?”</a:t>
            </a:r>
            <a:endParaRPr lang="en-US" sz="1250" dirty="0"/>
          </a:p>
        </p:txBody>
      </p:sp>
      <p:sp>
        <p:nvSpPr>
          <p:cNvPr id="9" name="Text 7"/>
          <p:cNvSpPr/>
          <p:nvPr/>
        </p:nvSpPr>
        <p:spPr>
          <a:xfrm>
            <a:off x="502920" y="1810512"/>
            <a:ext cx="11201400" cy="219456"/>
          </a:xfrm>
          <a:prstGeom prst="rect">
            <a:avLst/>
          </a:prstGeom>
          <a:noFill/>
          <a:ln/>
        </p:spPr>
        <p:txBody>
          <a:bodyPr wrap="square" lIns="0" tIns="0" rIns="0" bIns="0" rtlCol="0" anchor="t"/>
          <a:lstStyle/>
          <a:p>
            <a:pPr indent="0" marL="0">
              <a:buNone/>
            </a:pPr>
            <a:r>
              <a:rPr lang="en-US" sz="900" b="1" spc="50" kern="0" dirty="0">
                <a:solidFill>
                  <a:srgbClr val="0088CE"/>
                </a:solidFill>
                <a:latin typeface="Calibri" pitchFamily="34" charset="0"/>
                <a:ea typeface="Calibri" pitchFamily="34" charset="-122"/>
                <a:cs typeface="Calibri" pitchFamily="34" charset="-120"/>
              </a:rPr>
              <a:t>THE AI COMPLEX, REBUILT FROM THE NAME SCREEN — the sector table hides it, because these names sit in four different GICS buckets</a:t>
            </a:r>
            <a:endParaRPr lang="en-US" sz="900" dirty="0"/>
          </a:p>
        </p:txBody>
      </p:sp>
      <p:sp>
        <p:nvSpPr>
          <p:cNvPr id="10" name="Shape 8"/>
          <p:cNvSpPr/>
          <p:nvPr/>
        </p:nvSpPr>
        <p:spPr>
          <a:xfrm>
            <a:off x="502920" y="2103120"/>
            <a:ext cx="2651760" cy="1828800"/>
          </a:xfrm>
          <a:prstGeom prst="roundRect">
            <a:avLst>
              <a:gd name="adj" fmla="val 2000"/>
            </a:avLst>
          </a:prstGeom>
          <a:solidFill>
            <a:srgbClr val="EDF3F9"/>
          </a:solidFill>
          <a:ln w="8890">
            <a:solidFill>
              <a:srgbClr val="DCE4EC"/>
            </a:solidFill>
            <a:prstDash val="solid"/>
          </a:ln>
        </p:spPr>
      </p:sp>
      <p:sp>
        <p:nvSpPr>
          <p:cNvPr id="11" name="Shape 9"/>
          <p:cNvSpPr/>
          <p:nvPr/>
        </p:nvSpPr>
        <p:spPr>
          <a:xfrm>
            <a:off x="502920" y="2103120"/>
            <a:ext cx="2651760" cy="36576"/>
          </a:xfrm>
          <a:prstGeom prst="rect">
            <a:avLst/>
          </a:prstGeom>
          <a:solidFill>
            <a:srgbClr val="0088CE"/>
          </a:solidFill>
          <a:ln/>
        </p:spPr>
      </p:sp>
      <p:sp>
        <p:nvSpPr>
          <p:cNvPr id="12" name="Text 10"/>
          <p:cNvSpPr/>
          <p:nvPr/>
        </p:nvSpPr>
        <p:spPr>
          <a:xfrm>
            <a:off x="685800" y="2212848"/>
            <a:ext cx="2286000" cy="219456"/>
          </a:xfrm>
          <a:prstGeom prst="rect">
            <a:avLst/>
          </a:prstGeom>
          <a:noFill/>
          <a:ln/>
        </p:spPr>
        <p:txBody>
          <a:bodyPr wrap="square" lIns="0" tIns="0" rIns="0" bIns="0" rtlCol="0" anchor="t"/>
          <a:lstStyle/>
          <a:p>
            <a:pPr indent="0" marL="0">
              <a:buNone/>
            </a:pPr>
            <a:r>
              <a:rPr lang="en-US" sz="1000" b="1" spc="60" kern="0" dirty="0">
                <a:solidFill>
                  <a:srgbClr val="0088CE"/>
                </a:solidFill>
                <a:latin typeface="Calibri" pitchFamily="34" charset="0"/>
                <a:ea typeface="Calibri" pitchFamily="34" charset="-122"/>
                <a:cs typeface="Calibri" pitchFamily="34" charset="-120"/>
              </a:rPr>
              <a:t>INFO TECH</a:t>
            </a:r>
            <a:endParaRPr lang="en-US" sz="1000" dirty="0"/>
          </a:p>
        </p:txBody>
      </p:sp>
      <p:sp>
        <p:nvSpPr>
          <p:cNvPr id="13" name="Text 11"/>
          <p:cNvSpPr/>
          <p:nvPr/>
        </p:nvSpPr>
        <p:spPr>
          <a:xfrm>
            <a:off x="685800" y="2468880"/>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Kingboard Lam. −70.3%</a:t>
            </a:r>
            <a:endParaRPr lang="en-US" sz="860" dirty="0"/>
          </a:p>
        </p:txBody>
      </p:sp>
      <p:sp>
        <p:nvSpPr>
          <p:cNvPr id="14" name="Text 12"/>
          <p:cNvSpPr/>
          <p:nvPr/>
        </p:nvSpPr>
        <p:spPr>
          <a:xfrm>
            <a:off x="685800" y="2688336"/>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Victory Giant −47.2%</a:t>
            </a:r>
            <a:endParaRPr lang="en-US" sz="860" dirty="0"/>
          </a:p>
        </p:txBody>
      </p:sp>
      <p:sp>
        <p:nvSpPr>
          <p:cNvPr id="15" name="Text 13"/>
          <p:cNvSpPr/>
          <p:nvPr/>
        </p:nvSpPr>
        <p:spPr>
          <a:xfrm>
            <a:off x="685800" y="2907792"/>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Knowledge Atlas −53.1%</a:t>
            </a:r>
            <a:endParaRPr lang="en-US" sz="860" dirty="0"/>
          </a:p>
        </p:txBody>
      </p:sp>
      <p:sp>
        <p:nvSpPr>
          <p:cNvPr id="16" name="Text 14"/>
          <p:cNvSpPr/>
          <p:nvPr/>
        </p:nvSpPr>
        <p:spPr>
          <a:xfrm>
            <a:off x="685800" y="3127248"/>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Sunny Optical −8.1%</a:t>
            </a:r>
            <a:endParaRPr lang="en-US" sz="860" dirty="0"/>
          </a:p>
        </p:txBody>
      </p:sp>
      <p:sp>
        <p:nvSpPr>
          <p:cNvPr id="17" name="Text 15"/>
          <p:cNvSpPr/>
          <p:nvPr/>
        </p:nvSpPr>
        <p:spPr>
          <a:xfrm>
            <a:off x="685800" y="3346704"/>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Xiaomi +33.0%</a:t>
            </a:r>
            <a:endParaRPr lang="en-US" sz="860" dirty="0"/>
          </a:p>
        </p:txBody>
      </p:sp>
      <p:sp>
        <p:nvSpPr>
          <p:cNvPr id="18" name="Text 16"/>
          <p:cNvSpPr/>
          <p:nvPr/>
        </p:nvSpPr>
        <p:spPr>
          <a:xfrm>
            <a:off x="685800" y="3639312"/>
            <a:ext cx="2331720" cy="256032"/>
          </a:xfrm>
          <a:prstGeom prst="rect">
            <a:avLst/>
          </a:prstGeom>
          <a:noFill/>
          <a:ln/>
        </p:spPr>
        <p:txBody>
          <a:bodyPr wrap="square" lIns="0" tIns="0" rIns="0" bIns="0" rtlCol="0" anchor="t"/>
          <a:lstStyle/>
          <a:p>
            <a:pPr indent="0" marL="0">
              <a:buNone/>
            </a:pPr>
            <a:r>
              <a:rPr lang="en-US" sz="800" i="1" dirty="0">
                <a:solidFill>
                  <a:srgbClr val="63737F"/>
                </a:solidFill>
                <a:latin typeface="Calibri" pitchFamily="34" charset="0"/>
                <a:ea typeface="Calibri" pitchFamily="34" charset="-122"/>
                <a:cs typeface="Calibri" pitchFamily="34" charset="-120"/>
              </a:rPr>
              <a:t>Hardware chain and new AI listings — the epicentre</a:t>
            </a:r>
            <a:endParaRPr lang="en-US" sz="800" dirty="0"/>
          </a:p>
        </p:txBody>
      </p:sp>
      <p:sp>
        <p:nvSpPr>
          <p:cNvPr id="19" name="Shape 17"/>
          <p:cNvSpPr/>
          <p:nvPr/>
        </p:nvSpPr>
        <p:spPr>
          <a:xfrm>
            <a:off x="3337560" y="2103120"/>
            <a:ext cx="2651760" cy="1828800"/>
          </a:xfrm>
          <a:prstGeom prst="roundRect">
            <a:avLst>
              <a:gd name="adj" fmla="val 2000"/>
            </a:avLst>
          </a:prstGeom>
          <a:solidFill>
            <a:srgbClr val="F5F8FA"/>
          </a:solidFill>
          <a:ln w="8890">
            <a:solidFill>
              <a:srgbClr val="DCE4EC"/>
            </a:solidFill>
            <a:prstDash val="solid"/>
          </a:ln>
        </p:spPr>
      </p:sp>
      <p:sp>
        <p:nvSpPr>
          <p:cNvPr id="20" name="Shape 18"/>
          <p:cNvSpPr/>
          <p:nvPr/>
        </p:nvSpPr>
        <p:spPr>
          <a:xfrm>
            <a:off x="3337560" y="2103120"/>
            <a:ext cx="2651760" cy="36576"/>
          </a:xfrm>
          <a:prstGeom prst="rect">
            <a:avLst/>
          </a:prstGeom>
          <a:solidFill>
            <a:srgbClr val="002D72"/>
          </a:solidFill>
          <a:ln/>
        </p:spPr>
      </p:sp>
      <p:sp>
        <p:nvSpPr>
          <p:cNvPr id="21" name="Text 19"/>
          <p:cNvSpPr/>
          <p:nvPr/>
        </p:nvSpPr>
        <p:spPr>
          <a:xfrm>
            <a:off x="3520440" y="2212848"/>
            <a:ext cx="2286000" cy="219456"/>
          </a:xfrm>
          <a:prstGeom prst="rect">
            <a:avLst/>
          </a:prstGeom>
          <a:noFill/>
          <a:ln/>
        </p:spPr>
        <p:txBody>
          <a:bodyPr wrap="square" lIns="0" tIns="0" rIns="0" bIns="0" rtlCol="0" anchor="t"/>
          <a:lstStyle/>
          <a:p>
            <a:pPr indent="0" marL="0">
              <a:buNone/>
            </a:pPr>
            <a:r>
              <a:rPr lang="en-US" sz="1000" b="1" spc="60" kern="0" dirty="0">
                <a:solidFill>
                  <a:srgbClr val="002D72"/>
                </a:solidFill>
                <a:latin typeface="Calibri" pitchFamily="34" charset="0"/>
                <a:ea typeface="Calibri" pitchFamily="34" charset="-122"/>
                <a:cs typeface="Calibri" pitchFamily="34" charset="-120"/>
              </a:rPr>
              <a:t>COMM SVC</a:t>
            </a:r>
            <a:endParaRPr lang="en-US" sz="1000" dirty="0"/>
          </a:p>
        </p:txBody>
      </p:sp>
      <p:sp>
        <p:nvSpPr>
          <p:cNvPr id="22" name="Text 20"/>
          <p:cNvSpPr/>
          <p:nvPr/>
        </p:nvSpPr>
        <p:spPr>
          <a:xfrm>
            <a:off x="3520440" y="2468880"/>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NetEase +2.7%</a:t>
            </a:r>
            <a:endParaRPr lang="en-US" sz="860" dirty="0"/>
          </a:p>
        </p:txBody>
      </p:sp>
      <p:sp>
        <p:nvSpPr>
          <p:cNvPr id="23" name="Text 21"/>
          <p:cNvSpPr/>
          <p:nvPr/>
        </p:nvSpPr>
        <p:spPr>
          <a:xfrm>
            <a:off x="3520440" y="2688336"/>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Baidu −3.4%</a:t>
            </a:r>
            <a:endParaRPr lang="en-US" sz="860" dirty="0"/>
          </a:p>
        </p:txBody>
      </p:sp>
      <p:sp>
        <p:nvSpPr>
          <p:cNvPr id="24" name="Text 22"/>
          <p:cNvSpPr/>
          <p:nvPr/>
        </p:nvSpPr>
        <p:spPr>
          <a:xfrm>
            <a:off x="3520440" y="2907792"/>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Tencent (Jun buy)</a:t>
            </a:r>
            <a:endParaRPr lang="en-US" sz="860" dirty="0"/>
          </a:p>
        </p:txBody>
      </p:sp>
      <p:sp>
        <p:nvSpPr>
          <p:cNvPr id="25" name="Text 23"/>
          <p:cNvSpPr/>
          <p:nvPr/>
        </p:nvSpPr>
        <p:spPr>
          <a:xfrm>
            <a:off x="3520440" y="3639312"/>
            <a:ext cx="2331720" cy="256032"/>
          </a:xfrm>
          <a:prstGeom prst="rect">
            <a:avLst/>
          </a:prstGeom>
          <a:noFill/>
          <a:ln/>
        </p:spPr>
        <p:txBody>
          <a:bodyPr wrap="square" lIns="0" tIns="0" rIns="0" bIns="0" rtlCol="0" anchor="t"/>
          <a:lstStyle/>
          <a:p>
            <a:pPr indent="0" marL="0">
              <a:buNone/>
            </a:pPr>
            <a:r>
              <a:rPr lang="en-US" sz="800" i="1" dirty="0">
                <a:solidFill>
                  <a:srgbClr val="63737F"/>
                </a:solidFill>
                <a:latin typeface="Calibri" pitchFamily="34" charset="0"/>
                <a:ea typeface="Calibri" pitchFamily="34" charset="-122"/>
                <a:cs typeface="Calibri" pitchFamily="34" charset="-120"/>
              </a:rPr>
              <a:t>Platforms: bought in June, sold in July</a:t>
            </a:r>
            <a:endParaRPr lang="en-US" sz="800" dirty="0"/>
          </a:p>
        </p:txBody>
      </p:sp>
      <p:sp>
        <p:nvSpPr>
          <p:cNvPr id="26" name="Shape 24"/>
          <p:cNvSpPr/>
          <p:nvPr/>
        </p:nvSpPr>
        <p:spPr>
          <a:xfrm>
            <a:off x="6172200" y="2103120"/>
            <a:ext cx="2651760" cy="1828800"/>
          </a:xfrm>
          <a:prstGeom prst="roundRect">
            <a:avLst>
              <a:gd name="adj" fmla="val 2000"/>
            </a:avLst>
          </a:prstGeom>
          <a:solidFill>
            <a:srgbClr val="F5F8FA"/>
          </a:solidFill>
          <a:ln w="8890">
            <a:solidFill>
              <a:srgbClr val="DCE4EC"/>
            </a:solidFill>
            <a:prstDash val="solid"/>
          </a:ln>
        </p:spPr>
      </p:sp>
      <p:sp>
        <p:nvSpPr>
          <p:cNvPr id="27" name="Shape 25"/>
          <p:cNvSpPr/>
          <p:nvPr/>
        </p:nvSpPr>
        <p:spPr>
          <a:xfrm>
            <a:off x="6172200" y="2103120"/>
            <a:ext cx="2651760" cy="36576"/>
          </a:xfrm>
          <a:prstGeom prst="rect">
            <a:avLst/>
          </a:prstGeom>
          <a:solidFill>
            <a:srgbClr val="2E6B4F"/>
          </a:solidFill>
          <a:ln/>
        </p:spPr>
      </p:sp>
      <p:sp>
        <p:nvSpPr>
          <p:cNvPr id="28" name="Text 26"/>
          <p:cNvSpPr/>
          <p:nvPr/>
        </p:nvSpPr>
        <p:spPr>
          <a:xfrm>
            <a:off x="6355080" y="2212848"/>
            <a:ext cx="2286000" cy="219456"/>
          </a:xfrm>
          <a:prstGeom prst="rect">
            <a:avLst/>
          </a:prstGeom>
          <a:noFill/>
          <a:ln/>
        </p:spPr>
        <p:txBody>
          <a:bodyPr wrap="square" lIns="0" tIns="0" rIns="0" bIns="0" rtlCol="0" anchor="t"/>
          <a:lstStyle/>
          <a:p>
            <a:pPr indent="0" marL="0">
              <a:buNone/>
            </a:pPr>
            <a:r>
              <a:rPr lang="en-US" sz="1000" b="1" spc="60" kern="0" dirty="0">
                <a:solidFill>
                  <a:srgbClr val="2E6B4F"/>
                </a:solidFill>
                <a:latin typeface="Calibri" pitchFamily="34" charset="0"/>
                <a:ea typeface="Calibri" pitchFamily="34" charset="-122"/>
                <a:cs typeface="Calibri" pitchFamily="34" charset="-120"/>
              </a:rPr>
              <a:t>CONS DISC</a:t>
            </a:r>
            <a:endParaRPr lang="en-US" sz="1000" dirty="0"/>
          </a:p>
        </p:txBody>
      </p:sp>
      <p:sp>
        <p:nvSpPr>
          <p:cNvPr id="29" name="Text 27"/>
          <p:cNvSpPr/>
          <p:nvPr/>
        </p:nvSpPr>
        <p:spPr>
          <a:xfrm>
            <a:off x="6355080" y="2468880"/>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Alibaba +26.0%</a:t>
            </a:r>
            <a:endParaRPr lang="en-US" sz="860" dirty="0"/>
          </a:p>
        </p:txBody>
      </p:sp>
      <p:sp>
        <p:nvSpPr>
          <p:cNvPr id="30" name="Text 28"/>
          <p:cNvSpPr/>
          <p:nvPr/>
        </p:nvSpPr>
        <p:spPr>
          <a:xfrm>
            <a:off x="6355080" y="2688336"/>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Trip.com +17.6%</a:t>
            </a:r>
            <a:endParaRPr lang="en-US" sz="860" dirty="0"/>
          </a:p>
        </p:txBody>
      </p:sp>
      <p:sp>
        <p:nvSpPr>
          <p:cNvPr id="31" name="Text 29"/>
          <p:cNvSpPr/>
          <p:nvPr/>
        </p:nvSpPr>
        <p:spPr>
          <a:xfrm>
            <a:off x="6355080" y="2907792"/>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JD.com +28.1%</a:t>
            </a:r>
            <a:endParaRPr lang="en-US" sz="860" dirty="0"/>
          </a:p>
        </p:txBody>
      </p:sp>
      <p:sp>
        <p:nvSpPr>
          <p:cNvPr id="32" name="Text 30"/>
          <p:cNvSpPr/>
          <p:nvPr/>
        </p:nvSpPr>
        <p:spPr>
          <a:xfrm>
            <a:off x="6355080" y="3639312"/>
            <a:ext cx="2331720" cy="256032"/>
          </a:xfrm>
          <a:prstGeom prst="rect">
            <a:avLst/>
          </a:prstGeom>
          <a:noFill/>
          <a:ln/>
        </p:spPr>
        <p:txBody>
          <a:bodyPr wrap="square" lIns="0" tIns="0" rIns="0" bIns="0" rtlCol="0" anchor="t"/>
          <a:lstStyle/>
          <a:p>
            <a:pPr indent="0" marL="0">
              <a:buNone/>
            </a:pPr>
            <a:r>
              <a:rPr lang="en-US" sz="800" i="1" dirty="0">
                <a:solidFill>
                  <a:srgbClr val="63737F"/>
                </a:solidFill>
                <a:latin typeface="Calibri" pitchFamily="34" charset="0"/>
                <a:ea typeface="Calibri" pitchFamily="34" charset="-122"/>
                <a:cs typeface="Calibri" pitchFamily="34" charset="-120"/>
              </a:rPr>
              <a:t>Cloud and e-commerce — counted as consumer</a:t>
            </a:r>
            <a:endParaRPr lang="en-US" sz="800" dirty="0"/>
          </a:p>
        </p:txBody>
      </p:sp>
      <p:sp>
        <p:nvSpPr>
          <p:cNvPr id="33" name="Shape 31"/>
          <p:cNvSpPr/>
          <p:nvPr/>
        </p:nvSpPr>
        <p:spPr>
          <a:xfrm>
            <a:off x="9006840" y="2103120"/>
            <a:ext cx="2651760" cy="1828800"/>
          </a:xfrm>
          <a:prstGeom prst="roundRect">
            <a:avLst>
              <a:gd name="adj" fmla="val 2000"/>
            </a:avLst>
          </a:prstGeom>
          <a:solidFill>
            <a:srgbClr val="F5F8FA"/>
          </a:solidFill>
          <a:ln w="8890">
            <a:solidFill>
              <a:srgbClr val="DCE4EC"/>
            </a:solidFill>
            <a:prstDash val="solid"/>
          </a:ln>
        </p:spPr>
      </p:sp>
      <p:sp>
        <p:nvSpPr>
          <p:cNvPr id="34" name="Shape 32"/>
          <p:cNvSpPr/>
          <p:nvPr/>
        </p:nvSpPr>
        <p:spPr>
          <a:xfrm>
            <a:off x="9006840" y="2103120"/>
            <a:ext cx="2651760" cy="36576"/>
          </a:xfrm>
          <a:prstGeom prst="rect">
            <a:avLst/>
          </a:prstGeom>
          <a:solidFill>
            <a:srgbClr val="C9A227"/>
          </a:solidFill>
          <a:ln/>
        </p:spPr>
      </p:sp>
      <p:sp>
        <p:nvSpPr>
          <p:cNvPr id="35" name="Text 33"/>
          <p:cNvSpPr/>
          <p:nvPr/>
        </p:nvSpPr>
        <p:spPr>
          <a:xfrm>
            <a:off x="9189720" y="2212848"/>
            <a:ext cx="2286000" cy="219456"/>
          </a:xfrm>
          <a:prstGeom prst="rect">
            <a:avLst/>
          </a:prstGeom>
          <a:noFill/>
          <a:ln/>
        </p:spPr>
        <p:txBody>
          <a:bodyPr wrap="square" lIns="0" tIns="0" rIns="0" bIns="0" rtlCol="0" anchor="t"/>
          <a:lstStyle/>
          <a:p>
            <a:pPr indent="0" marL="0">
              <a:buNone/>
            </a:pPr>
            <a:r>
              <a:rPr lang="en-US" sz="1000" b="1" spc="60" kern="0" dirty="0">
                <a:solidFill>
                  <a:srgbClr val="8A6D12"/>
                </a:solidFill>
                <a:latin typeface="Calibri" pitchFamily="34" charset="0"/>
                <a:ea typeface="Calibri" pitchFamily="34" charset="-122"/>
                <a:cs typeface="Calibri" pitchFamily="34" charset="-120"/>
              </a:rPr>
              <a:t>INDUSTRIALS</a:t>
            </a:r>
            <a:endParaRPr lang="en-US" sz="1000" dirty="0"/>
          </a:p>
        </p:txBody>
      </p:sp>
      <p:sp>
        <p:nvSpPr>
          <p:cNvPr id="36" name="Text 34"/>
          <p:cNvSpPr/>
          <p:nvPr/>
        </p:nvSpPr>
        <p:spPr>
          <a:xfrm>
            <a:off x="9189720" y="2468880"/>
            <a:ext cx="2331720" cy="201168"/>
          </a:xfrm>
          <a:prstGeom prst="rect">
            <a:avLst/>
          </a:prstGeom>
          <a:noFill/>
          <a:ln/>
        </p:spPr>
        <p:txBody>
          <a:bodyPr wrap="square" lIns="0" tIns="0" rIns="0" bIns="0" rtlCol="0" anchor="t"/>
          <a:lstStyle/>
          <a:p>
            <a:pPr indent="0" marL="0">
              <a:buNone/>
            </a:pPr>
            <a:r>
              <a:rPr lang="en-US" sz="860" dirty="0">
                <a:solidFill>
                  <a:srgbClr val="1A2733"/>
                </a:solidFill>
                <a:latin typeface="Calibri" pitchFamily="34" charset="0"/>
                <a:ea typeface="Calibri" pitchFamily="34" charset="-122"/>
                <a:cs typeface="Calibri" pitchFamily="34" charset="-120"/>
              </a:rPr>
              <a:t>CATL −11.3%</a:t>
            </a:r>
            <a:endParaRPr lang="en-US" sz="860" dirty="0"/>
          </a:p>
        </p:txBody>
      </p:sp>
      <p:sp>
        <p:nvSpPr>
          <p:cNvPr id="37" name="Text 35"/>
          <p:cNvSpPr/>
          <p:nvPr/>
        </p:nvSpPr>
        <p:spPr>
          <a:xfrm>
            <a:off x="9189720" y="3639312"/>
            <a:ext cx="2331720" cy="256032"/>
          </a:xfrm>
          <a:prstGeom prst="rect">
            <a:avLst/>
          </a:prstGeom>
          <a:noFill/>
          <a:ln/>
        </p:spPr>
        <p:txBody>
          <a:bodyPr wrap="square" lIns="0" tIns="0" rIns="0" bIns="0" rtlCol="0" anchor="t"/>
          <a:lstStyle/>
          <a:p>
            <a:pPr indent="0" marL="0">
              <a:buNone/>
            </a:pPr>
            <a:r>
              <a:rPr lang="en-US" sz="800" i="1" dirty="0">
                <a:solidFill>
                  <a:srgbClr val="63737F"/>
                </a:solidFill>
                <a:latin typeface="Calibri" pitchFamily="34" charset="0"/>
                <a:ea typeface="Calibri" pitchFamily="34" charset="-122"/>
                <a:cs typeface="Calibri" pitchFamily="34" charset="-120"/>
              </a:rPr>
              <a:t>Battery tech, also AI-adjacent capex</a:t>
            </a:r>
            <a:endParaRPr lang="en-US" sz="800" dirty="0"/>
          </a:p>
        </p:txBody>
      </p:sp>
      <p:sp>
        <p:nvSpPr>
          <p:cNvPr id="38" name="Text 36"/>
          <p:cNvSpPr/>
          <p:nvPr/>
        </p:nvSpPr>
        <p:spPr>
          <a:xfrm>
            <a:off x="502920" y="3986784"/>
            <a:ext cx="11201400" cy="219456"/>
          </a:xfrm>
          <a:prstGeom prst="rect">
            <a:avLst/>
          </a:prstGeom>
          <a:noFill/>
          <a:ln/>
        </p:spPr>
        <p:txBody>
          <a:bodyPr wrap="square" lIns="0" tIns="0" rIns="0" bIns="0" rtlCol="0" anchor="t"/>
          <a:lstStyle/>
          <a:p>
            <a:pPr indent="0" marL="0">
              <a:buNone/>
            </a:pPr>
            <a:r>
              <a:rPr lang="en-US" sz="750" i="1" dirty="0">
                <a:solidFill>
                  <a:srgbClr val="63737F"/>
                </a:solidFill>
                <a:latin typeface="Calibri" pitchFamily="34" charset="0"/>
                <a:ea typeface="Calibri" pitchFamily="34" charset="-122"/>
                <a:cs typeface="Calibri" pitchFamily="34" charset="-120"/>
              </a:rPr>
              <a:t>Price move over July, from the top-traded screen. Verify the Kingboard print before presenting — a fall of that size in one month warrants a second look at the price reference.</a:t>
            </a:r>
            <a:endParaRPr lang="en-US" sz="750" dirty="0"/>
          </a:p>
        </p:txBody>
      </p:sp>
      <p:sp>
        <p:nvSpPr>
          <p:cNvPr id="39" name="Shape 37"/>
          <p:cNvSpPr/>
          <p:nvPr/>
        </p:nvSpPr>
        <p:spPr>
          <a:xfrm>
            <a:off x="502920" y="4315968"/>
            <a:ext cx="3657600" cy="1828800"/>
          </a:xfrm>
          <a:prstGeom prst="roundRect">
            <a:avLst>
              <a:gd name="adj" fmla="val 2000"/>
            </a:avLst>
          </a:prstGeom>
          <a:solidFill>
            <a:srgbClr val="F5F8FA"/>
          </a:solidFill>
          <a:ln w="9525">
            <a:solidFill>
              <a:srgbClr val="DCE4EC"/>
            </a:solidFill>
            <a:prstDash val="solid"/>
          </a:ln>
        </p:spPr>
      </p:sp>
      <p:sp>
        <p:nvSpPr>
          <p:cNvPr id="40" name="Text 38"/>
          <p:cNvSpPr/>
          <p:nvPr/>
        </p:nvSpPr>
        <p:spPr>
          <a:xfrm>
            <a:off x="713232" y="4425696"/>
            <a:ext cx="3200400" cy="201168"/>
          </a:xfrm>
          <a:prstGeom prst="rect">
            <a:avLst/>
          </a:prstGeom>
          <a:noFill/>
          <a:ln/>
        </p:spPr>
        <p:txBody>
          <a:bodyPr wrap="square" lIns="0" tIns="0" rIns="0" bIns="0" rtlCol="0" anchor="t"/>
          <a:lstStyle/>
          <a:p>
            <a:pPr indent="0" marL="0">
              <a:buNone/>
            </a:pPr>
            <a:r>
              <a:rPr lang="en-US" sz="900" b="1" spc="80" kern="0" dirty="0">
                <a:solidFill>
                  <a:srgbClr val="002D72"/>
                </a:solidFill>
                <a:latin typeface="Calibri" pitchFamily="34" charset="0"/>
                <a:ea typeface="Calibri" pitchFamily="34" charset="-122"/>
                <a:cs typeface="Calibri" pitchFamily="34" charset="-120"/>
              </a:rPr>
              <a:t>1 · THE CATALYSTS</a:t>
            </a:r>
            <a:endParaRPr lang="en-US" sz="900" dirty="0"/>
          </a:p>
        </p:txBody>
      </p:sp>
      <p:sp>
        <p:nvSpPr>
          <p:cNvPr id="41" name="Text 39"/>
          <p:cNvSpPr/>
          <p:nvPr/>
        </p:nvSpPr>
        <p:spPr>
          <a:xfrm>
            <a:off x="713232" y="4663440"/>
            <a:ext cx="3246120" cy="1371600"/>
          </a:xfrm>
          <a:prstGeom prst="rect">
            <a:avLst/>
          </a:prstGeom>
          <a:noFill/>
          <a:ln/>
        </p:spPr>
        <p:txBody>
          <a:bodyPr wrap="square" lIns="0" tIns="0" rIns="0" bIns="0" rtlCol="0" anchor="t"/>
          <a:lstStyle/>
          <a:p>
            <a:pPr indent="0" marL="0">
              <a:lnSpc>
                <a:spcPts val="1100"/>
              </a:lnSpc>
              <a:buNone/>
            </a:pPr>
            <a:r>
              <a:rPr lang="en-US" sz="840" dirty="0">
                <a:solidFill>
                  <a:srgbClr val="1A2733"/>
                </a:solidFill>
                <a:latin typeface="Calibri" pitchFamily="34" charset="0"/>
                <a:ea typeface="Calibri" pitchFamily="34" charset="-122"/>
                <a:cs typeface="Calibri" pitchFamily="34" charset="-120"/>
              </a:rPr>
              <a:t>Two record capital events pulled money out of the incumbents. SK Hynix listed ADRs on Nasdaq on 10 July, raising US$26.5bn — the largest US share sale ever by a foreign company — and closed its debut +13%. CXMT then priced Asia's biggest IPO of 2026 at US$8.6bn and opened +466% on 27 July. Fresh AI supply, same wallet.</a:t>
            </a:r>
            <a:endParaRPr lang="en-US" sz="840" dirty="0"/>
          </a:p>
        </p:txBody>
      </p:sp>
      <p:sp>
        <p:nvSpPr>
          <p:cNvPr id="42" name="Shape 40"/>
          <p:cNvSpPr/>
          <p:nvPr/>
        </p:nvSpPr>
        <p:spPr>
          <a:xfrm>
            <a:off x="4297680" y="4315968"/>
            <a:ext cx="3657600" cy="1828800"/>
          </a:xfrm>
          <a:prstGeom prst="roundRect">
            <a:avLst>
              <a:gd name="adj" fmla="val 2000"/>
            </a:avLst>
          </a:prstGeom>
          <a:solidFill>
            <a:srgbClr val="EDF3EF"/>
          </a:solidFill>
          <a:ln w="9525">
            <a:solidFill>
              <a:srgbClr val="DCE4EC"/>
            </a:solidFill>
            <a:prstDash val="solid"/>
          </a:ln>
        </p:spPr>
      </p:sp>
      <p:sp>
        <p:nvSpPr>
          <p:cNvPr id="43" name="Text 41"/>
          <p:cNvSpPr/>
          <p:nvPr/>
        </p:nvSpPr>
        <p:spPr>
          <a:xfrm>
            <a:off x="4507992" y="4425696"/>
            <a:ext cx="3200400" cy="201168"/>
          </a:xfrm>
          <a:prstGeom prst="rect">
            <a:avLst/>
          </a:prstGeom>
          <a:noFill/>
          <a:ln/>
        </p:spPr>
        <p:txBody>
          <a:bodyPr wrap="square" lIns="0" tIns="0" rIns="0" bIns="0" rtlCol="0" anchor="t"/>
          <a:lstStyle/>
          <a:p>
            <a:pPr indent="0" marL="0">
              <a:buNone/>
            </a:pPr>
            <a:r>
              <a:rPr lang="en-US" sz="900" b="1" spc="80" kern="0" dirty="0">
                <a:solidFill>
                  <a:srgbClr val="145C33"/>
                </a:solidFill>
                <a:latin typeface="Calibri" pitchFamily="34" charset="0"/>
                <a:ea typeface="Calibri" pitchFamily="34" charset="-122"/>
                <a:cs typeface="Calibri" pitchFamily="34" charset="-120"/>
              </a:rPr>
              <a:t>2 · WHY IT READS AS A RESET</a:t>
            </a:r>
            <a:endParaRPr lang="en-US" sz="900" dirty="0"/>
          </a:p>
        </p:txBody>
      </p:sp>
      <p:sp>
        <p:nvSpPr>
          <p:cNvPr id="44" name="Text 42"/>
          <p:cNvSpPr/>
          <p:nvPr/>
        </p:nvSpPr>
        <p:spPr>
          <a:xfrm>
            <a:off x="4507992" y="4663440"/>
            <a:ext cx="3246120" cy="1371600"/>
          </a:xfrm>
          <a:prstGeom prst="rect">
            <a:avLst/>
          </a:prstGeom>
          <a:noFill/>
          <a:ln/>
        </p:spPr>
        <p:txBody>
          <a:bodyPr wrap="square" lIns="0" tIns="0" rIns="0" bIns="0" rtlCol="0" anchor="t"/>
          <a:lstStyle/>
          <a:p>
            <a:pPr indent="0" marL="0">
              <a:lnSpc>
                <a:spcPts val="1100"/>
              </a:lnSpc>
              <a:buNone/>
            </a:pPr>
            <a:r>
              <a:rPr lang="en-US" sz="840" dirty="0">
                <a:solidFill>
                  <a:srgbClr val="1A2733"/>
                </a:solidFill>
                <a:latin typeface="Calibri" pitchFamily="34" charset="0"/>
                <a:ea typeface="Calibri" pitchFamily="34" charset="-122"/>
                <a:cs typeface="Calibri" pitchFamily="34" charset="-120"/>
              </a:rPr>
              <a:t>Results were not the problem. Samsung posted a record second quarter with operating profit up more than eighteen-fold, and Asian chips were sold anyway. Mid-July reporting described AI names as short-term overheated with near-term catalysts exhausted, while staples and financials rose in the same sessions. Earnings up, prices down is positioning unwinding — not a change in fundamentals.</a:t>
            </a:r>
            <a:endParaRPr lang="en-US" sz="840" dirty="0"/>
          </a:p>
        </p:txBody>
      </p:sp>
      <p:sp>
        <p:nvSpPr>
          <p:cNvPr id="45" name="Shape 43"/>
          <p:cNvSpPr/>
          <p:nvPr/>
        </p:nvSpPr>
        <p:spPr>
          <a:xfrm>
            <a:off x="8092440" y="4315968"/>
            <a:ext cx="3630168" cy="1828800"/>
          </a:xfrm>
          <a:prstGeom prst="roundRect">
            <a:avLst>
              <a:gd name="adj" fmla="val 2000"/>
            </a:avLst>
          </a:prstGeom>
          <a:solidFill>
            <a:srgbClr val="EDF3F9"/>
          </a:solidFill>
          <a:ln w="9525">
            <a:solidFill>
              <a:srgbClr val="DCE4EC"/>
            </a:solidFill>
            <a:prstDash val="solid"/>
          </a:ln>
        </p:spPr>
      </p:sp>
      <p:sp>
        <p:nvSpPr>
          <p:cNvPr id="46" name="Text 44"/>
          <p:cNvSpPr/>
          <p:nvPr/>
        </p:nvSpPr>
        <p:spPr>
          <a:xfrm>
            <a:off x="8302752" y="4425696"/>
            <a:ext cx="3200400" cy="201168"/>
          </a:xfrm>
          <a:prstGeom prst="rect">
            <a:avLst/>
          </a:prstGeom>
          <a:noFill/>
          <a:ln/>
        </p:spPr>
        <p:txBody>
          <a:bodyPr wrap="square" lIns="0" tIns="0" rIns="0" bIns="0" rtlCol="0" anchor="t"/>
          <a:lstStyle/>
          <a:p>
            <a:pPr indent="0" marL="0">
              <a:buNone/>
            </a:pPr>
            <a:r>
              <a:rPr lang="en-US" sz="900" b="1" spc="80" kern="0" dirty="0">
                <a:solidFill>
                  <a:srgbClr val="0088CE"/>
                </a:solidFill>
                <a:latin typeface="Calibri" pitchFamily="34" charset="0"/>
                <a:ea typeface="Calibri" pitchFamily="34" charset="-122"/>
                <a:cs typeface="Calibri" pitchFamily="34" charset="-120"/>
              </a:rPr>
              <a:t>3 · WHERE THE MONEY WENT</a:t>
            </a:r>
            <a:endParaRPr lang="en-US" sz="900" dirty="0"/>
          </a:p>
        </p:txBody>
      </p:sp>
      <p:sp>
        <p:nvSpPr>
          <p:cNvPr id="47" name="Text 45"/>
          <p:cNvSpPr/>
          <p:nvPr/>
        </p:nvSpPr>
        <p:spPr>
          <a:xfrm>
            <a:off x="8302752" y="4663440"/>
            <a:ext cx="3218688" cy="1371600"/>
          </a:xfrm>
          <a:prstGeom prst="rect">
            <a:avLst/>
          </a:prstGeom>
          <a:noFill/>
          <a:ln/>
        </p:spPr>
        <p:txBody>
          <a:bodyPr wrap="square" lIns="0" tIns="0" rIns="0" bIns="0" rtlCol="0" anchor="t"/>
          <a:lstStyle/>
          <a:p>
            <a:pPr indent="0" marL="0">
              <a:lnSpc>
                <a:spcPts val="1100"/>
              </a:lnSpc>
              <a:buNone/>
            </a:pPr>
            <a:r>
              <a:rPr lang="en-US" sz="840" dirty="0">
                <a:solidFill>
                  <a:srgbClr val="1A2733"/>
                </a:solidFill>
                <a:latin typeface="Calibri" pitchFamily="34" charset="0"/>
                <a:ea typeface="Calibri" pitchFamily="34" charset="-122"/>
                <a:cs typeface="Calibri" pitchFamily="34" charset="-120"/>
              </a:rPr>
              <a:t>Out of the crowded AI complex and into under-owned consumer. Consumer Discretionary went from our heaviest sell in June (1.45x) to our top buy in July (1.13x), and southbound flipped with us from 5.26x selling to 1.22x buying. Utilities doubled its buying and Energy reversed to buy — the reset funded the defensive and the under-owned alike.</a:t>
            </a:r>
            <a:endParaRPr lang="en-US" sz="840" dirty="0"/>
          </a:p>
        </p:txBody>
      </p:sp>
      <p:sp>
        <p:nvSpPr>
          <p:cNvPr id="48" name="Shape 46"/>
          <p:cNvSpPr/>
          <p:nvPr/>
        </p:nvSpPr>
        <p:spPr>
          <a:xfrm>
            <a:off x="502920" y="6263640"/>
            <a:ext cx="11201400" cy="777240"/>
          </a:xfrm>
          <a:prstGeom prst="roundRect">
            <a:avLst>
              <a:gd name="adj" fmla="val 4706"/>
            </a:avLst>
          </a:prstGeom>
          <a:solidFill>
            <a:srgbClr val="EDF3F9"/>
          </a:solidFill>
          <a:ln/>
        </p:spPr>
      </p:sp>
      <p:sp>
        <p:nvSpPr>
          <p:cNvPr id="49" name="Text 47"/>
          <p:cNvSpPr/>
          <p:nvPr/>
        </p:nvSpPr>
        <p:spPr>
          <a:xfrm>
            <a:off x="822960" y="640994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This is the slide the sector table alone could never produce: regrouped by theme rather than by GICS label, June's buying and July's selling are the same trade being put on and taken off — and our franchise used the reset to rotate, not to exit.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4 — ONE MAP, FOUR VERDICTS</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One exemplar per quadrant, and the four columns that decide the verdict</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“We are buying and the price is falling. Is that new demand — or shorts covering into us?”</a:t>
            </a:r>
            <a:endParaRPr lang="en-US" sz="1250" dirty="0"/>
          </a:p>
        </p:txBody>
      </p:sp>
      <p:sp>
        <p:nvSpPr>
          <p:cNvPr id="9" name="Shape 7"/>
          <p:cNvSpPr/>
          <p:nvPr/>
        </p:nvSpPr>
        <p:spPr>
          <a:xfrm>
            <a:off x="502920" y="1828800"/>
            <a:ext cx="3726180" cy="1988820"/>
          </a:xfrm>
          <a:prstGeom prst="rect">
            <a:avLst/>
          </a:prstGeom>
          <a:solidFill>
            <a:srgbClr val="EDF3F9"/>
          </a:solidFill>
          <a:ln w="25400">
            <a:solidFill>
              <a:srgbClr val="FFFFFF"/>
            </a:solidFill>
            <a:prstDash val="solid"/>
          </a:ln>
        </p:spPr>
      </p:sp>
      <p:sp>
        <p:nvSpPr>
          <p:cNvPr id="10" name="Text 8"/>
          <p:cNvSpPr/>
          <p:nvPr/>
        </p:nvSpPr>
        <p:spPr>
          <a:xfrm>
            <a:off x="667512" y="1920240"/>
            <a:ext cx="3415284" cy="201168"/>
          </a:xfrm>
          <a:prstGeom prst="rect">
            <a:avLst/>
          </a:prstGeom>
          <a:noFill/>
          <a:ln/>
        </p:spPr>
        <p:txBody>
          <a:bodyPr wrap="square" lIns="0" tIns="0" rIns="0" bIns="0" rtlCol="0" anchor="t"/>
          <a:lstStyle/>
          <a:p>
            <a:pPr indent="0" marL="0">
              <a:buNone/>
            </a:pPr>
            <a:r>
              <a:rPr lang="en-US" sz="820" b="1" spc="60" kern="0" dirty="0">
                <a:solidFill>
                  <a:srgbClr val="63737F"/>
                </a:solidFill>
                <a:latin typeface="Calibri" pitchFamily="34" charset="0"/>
                <a:ea typeface="Calibri" pitchFamily="34" charset="-122"/>
                <a:cs typeface="Calibri" pitchFamily="34" charset="-120"/>
              </a:rPr>
              <a:t>WE BUY · PRICE FALLING</a:t>
            </a:r>
            <a:endParaRPr lang="en-US" sz="820" dirty="0"/>
          </a:p>
        </p:txBody>
      </p:sp>
      <p:sp>
        <p:nvSpPr>
          <p:cNvPr id="11" name="Text 9"/>
          <p:cNvSpPr/>
          <p:nvPr/>
        </p:nvSpPr>
        <p:spPr>
          <a:xfrm>
            <a:off x="667512" y="2130552"/>
            <a:ext cx="3415284" cy="256032"/>
          </a:xfrm>
          <a:prstGeom prst="rect">
            <a:avLst/>
          </a:prstGeom>
          <a:noFill/>
          <a:ln/>
        </p:spPr>
        <p:txBody>
          <a:bodyPr wrap="square" lIns="0" tIns="0" rIns="0" bIns="0" rtlCol="0" anchor="t"/>
          <a:lstStyle/>
          <a:p>
            <a:pPr indent="0" marL="0">
              <a:buNone/>
            </a:pPr>
            <a:r>
              <a:rPr lang="en-US" sz="1250" b="1" dirty="0">
                <a:solidFill>
                  <a:srgbClr val="002D72"/>
                </a:solidFill>
                <a:latin typeface="Calibri" pitchFamily="34" charset="0"/>
                <a:ea typeface="Calibri" pitchFamily="34" charset="-122"/>
                <a:cs typeface="Calibri" pitchFamily="34" charset="-120"/>
              </a:rPr>
              <a:t>KINGBOARD LAMINATES</a:t>
            </a:r>
            <a:endParaRPr lang="en-US" sz="1250" dirty="0"/>
          </a:p>
        </p:txBody>
      </p:sp>
      <p:sp>
        <p:nvSpPr>
          <p:cNvPr id="12" name="Shape 10"/>
          <p:cNvSpPr/>
          <p:nvPr/>
        </p:nvSpPr>
        <p:spPr>
          <a:xfrm>
            <a:off x="667512" y="2450592"/>
            <a:ext cx="841248" cy="274320"/>
          </a:xfrm>
          <a:prstGeom prst="roundRect">
            <a:avLst>
              <a:gd name="adj" fmla="val 16667"/>
            </a:avLst>
          </a:prstGeom>
          <a:solidFill>
            <a:srgbClr val="FFFFFF"/>
          </a:solidFill>
          <a:ln w="6350">
            <a:solidFill>
              <a:srgbClr val="DCE4EC"/>
            </a:solidFill>
            <a:prstDash val="solid"/>
          </a:ln>
        </p:spPr>
      </p:sp>
      <p:sp>
        <p:nvSpPr>
          <p:cNvPr id="13" name="Text 11"/>
          <p:cNvSpPr/>
          <p:nvPr/>
        </p:nvSpPr>
        <p:spPr>
          <a:xfrm>
            <a:off x="667512" y="2505456"/>
            <a:ext cx="841248" cy="182880"/>
          </a:xfrm>
          <a:prstGeom prst="rect">
            <a:avLst/>
          </a:prstGeom>
          <a:noFill/>
          <a:ln/>
        </p:spPr>
        <p:txBody>
          <a:bodyPr wrap="square" lIns="0" tIns="0" rIns="0" bIns="0" rtlCol="0" anchor="t"/>
          <a:lstStyle/>
          <a:p>
            <a:pPr algn="ctr" indent="0" marL="0">
              <a:buNone/>
            </a:pPr>
            <a:r>
              <a:rPr lang="en-US" sz="720" b="1" dirty="0">
                <a:solidFill>
                  <a:srgbClr val="0088CE"/>
                </a:solidFill>
                <a:latin typeface="Calibri" pitchFamily="34" charset="0"/>
                <a:ea typeface="Calibri" pitchFamily="34" charset="-122"/>
                <a:cs typeface="Calibri" pitchFamily="34" charset="-120"/>
              </a:rPr>
              <a:t>RSI 52.3</a:t>
            </a:r>
            <a:endParaRPr lang="en-US" sz="720" dirty="0"/>
          </a:p>
        </p:txBody>
      </p:sp>
      <p:sp>
        <p:nvSpPr>
          <p:cNvPr id="14" name="Shape 12"/>
          <p:cNvSpPr/>
          <p:nvPr/>
        </p:nvSpPr>
        <p:spPr>
          <a:xfrm>
            <a:off x="1563624" y="2450592"/>
            <a:ext cx="841248" cy="274320"/>
          </a:xfrm>
          <a:prstGeom prst="roundRect">
            <a:avLst>
              <a:gd name="adj" fmla="val 16667"/>
            </a:avLst>
          </a:prstGeom>
          <a:solidFill>
            <a:srgbClr val="FFFFFF"/>
          </a:solidFill>
          <a:ln w="6350">
            <a:solidFill>
              <a:srgbClr val="DCE4EC"/>
            </a:solidFill>
            <a:prstDash val="solid"/>
          </a:ln>
        </p:spPr>
      </p:sp>
      <p:sp>
        <p:nvSpPr>
          <p:cNvPr id="15" name="Text 13"/>
          <p:cNvSpPr/>
          <p:nvPr/>
        </p:nvSpPr>
        <p:spPr>
          <a:xfrm>
            <a:off x="1563624" y="2505456"/>
            <a:ext cx="841248" cy="182880"/>
          </a:xfrm>
          <a:prstGeom prst="rect">
            <a:avLst/>
          </a:prstGeom>
          <a:noFill/>
          <a:ln/>
        </p:spPr>
        <p:txBody>
          <a:bodyPr wrap="square" lIns="0" tIns="0" rIns="0" bIns="0" rtlCol="0" anchor="t"/>
          <a:lstStyle/>
          <a:p>
            <a:pPr algn="ctr" indent="0" marL="0">
              <a:buNone/>
            </a:pPr>
            <a:r>
              <a:rPr lang="en-US" sz="720" b="1" dirty="0">
                <a:solidFill>
                  <a:srgbClr val="0088CE"/>
                </a:solidFill>
                <a:latin typeface="Calibri" pitchFamily="34" charset="0"/>
                <a:ea typeface="Calibri" pitchFamily="34" charset="-122"/>
                <a:cs typeface="Calibri" pitchFamily="34" charset="-120"/>
              </a:rPr>
              <a:t>SI 19.6%</a:t>
            </a:r>
            <a:endParaRPr lang="en-US" sz="720" dirty="0"/>
          </a:p>
        </p:txBody>
      </p:sp>
      <p:sp>
        <p:nvSpPr>
          <p:cNvPr id="16" name="Shape 14"/>
          <p:cNvSpPr/>
          <p:nvPr/>
        </p:nvSpPr>
        <p:spPr>
          <a:xfrm>
            <a:off x="2459736" y="2450592"/>
            <a:ext cx="841248" cy="274320"/>
          </a:xfrm>
          <a:prstGeom prst="roundRect">
            <a:avLst>
              <a:gd name="adj" fmla="val 16667"/>
            </a:avLst>
          </a:prstGeom>
          <a:solidFill>
            <a:srgbClr val="FFFFFF"/>
          </a:solidFill>
          <a:ln w="6350">
            <a:solidFill>
              <a:srgbClr val="DCE4EC"/>
            </a:solidFill>
            <a:prstDash val="solid"/>
          </a:ln>
        </p:spPr>
      </p:sp>
      <p:sp>
        <p:nvSpPr>
          <p:cNvPr id="17" name="Text 15"/>
          <p:cNvSpPr/>
          <p:nvPr/>
        </p:nvSpPr>
        <p:spPr>
          <a:xfrm>
            <a:off x="2459736" y="2505456"/>
            <a:ext cx="841248" cy="182880"/>
          </a:xfrm>
          <a:prstGeom prst="rect">
            <a:avLst/>
          </a:prstGeom>
          <a:noFill/>
          <a:ln/>
        </p:spPr>
        <p:txBody>
          <a:bodyPr wrap="square" lIns="0" tIns="0" rIns="0" bIns="0" rtlCol="0" anchor="t"/>
          <a:lstStyle/>
          <a:p>
            <a:pPr algn="ctr" indent="0" marL="0">
              <a:buNone/>
            </a:pPr>
            <a:r>
              <a:rPr lang="en-US" sz="720" b="1" dirty="0">
                <a:solidFill>
                  <a:srgbClr val="0088CE"/>
                </a:solidFill>
                <a:latin typeface="Calibri" pitchFamily="34" charset="0"/>
                <a:ea typeface="Calibri" pitchFamily="34" charset="-122"/>
                <a:cs typeface="Calibri" pitchFamily="34" charset="-120"/>
              </a:rPr>
              <a:t>ΔSI −25.4%</a:t>
            </a:r>
            <a:endParaRPr lang="en-US" sz="720" dirty="0"/>
          </a:p>
        </p:txBody>
      </p:sp>
      <p:sp>
        <p:nvSpPr>
          <p:cNvPr id="18" name="Shape 16"/>
          <p:cNvSpPr/>
          <p:nvPr/>
        </p:nvSpPr>
        <p:spPr>
          <a:xfrm>
            <a:off x="3355848" y="2450592"/>
            <a:ext cx="841248" cy="274320"/>
          </a:xfrm>
          <a:prstGeom prst="roundRect">
            <a:avLst>
              <a:gd name="adj" fmla="val 16667"/>
            </a:avLst>
          </a:prstGeom>
          <a:solidFill>
            <a:srgbClr val="FFFFFF"/>
          </a:solidFill>
          <a:ln w="6350">
            <a:solidFill>
              <a:srgbClr val="DCE4EC"/>
            </a:solidFill>
            <a:prstDash val="solid"/>
          </a:ln>
        </p:spPr>
      </p:sp>
      <p:sp>
        <p:nvSpPr>
          <p:cNvPr id="19" name="Text 17"/>
          <p:cNvSpPr/>
          <p:nvPr/>
        </p:nvSpPr>
        <p:spPr>
          <a:xfrm>
            <a:off x="3355848" y="2505456"/>
            <a:ext cx="841248" cy="182880"/>
          </a:xfrm>
          <a:prstGeom prst="rect">
            <a:avLst/>
          </a:prstGeom>
          <a:noFill/>
          <a:ln/>
        </p:spPr>
        <p:txBody>
          <a:bodyPr wrap="square" lIns="0" tIns="0" rIns="0" bIns="0" rtlCol="0" anchor="t"/>
          <a:lstStyle/>
          <a:p>
            <a:pPr algn="ctr" indent="0" marL="0">
              <a:buNone/>
            </a:pPr>
            <a:r>
              <a:rPr lang="en-US" sz="720" b="1" dirty="0">
                <a:solidFill>
                  <a:srgbClr val="0088CE"/>
                </a:solidFill>
                <a:latin typeface="Calibri" pitchFamily="34" charset="0"/>
                <a:ea typeface="Calibri" pitchFamily="34" charset="-122"/>
                <a:cs typeface="Calibri" pitchFamily="34" charset="-120"/>
              </a:rPr>
              <a:t>DTC 1.96x</a:t>
            </a:r>
            <a:endParaRPr lang="en-US" sz="720" dirty="0"/>
          </a:p>
        </p:txBody>
      </p:sp>
      <p:sp>
        <p:nvSpPr>
          <p:cNvPr id="20" name="Text 18"/>
          <p:cNvSpPr/>
          <p:nvPr/>
        </p:nvSpPr>
        <p:spPr>
          <a:xfrm>
            <a:off x="667512" y="2816352"/>
            <a:ext cx="3415284" cy="219456"/>
          </a:xfrm>
          <a:prstGeom prst="rect">
            <a:avLst/>
          </a:prstGeom>
          <a:noFill/>
          <a:ln/>
        </p:spPr>
        <p:txBody>
          <a:bodyPr wrap="square" lIns="0" tIns="0" rIns="0" bIns="0" rtlCol="0" anchor="t"/>
          <a:lstStyle/>
          <a:p>
            <a:pPr indent="0" marL="0">
              <a:buNone/>
            </a:pPr>
            <a:r>
              <a:rPr lang="en-US" sz="950" b="1" spc="50" kern="0" dirty="0">
                <a:solidFill>
                  <a:srgbClr val="0088CE"/>
                </a:solidFill>
                <a:latin typeface="Calibri" pitchFamily="34" charset="0"/>
                <a:ea typeface="Calibri" pitchFamily="34" charset="-122"/>
                <a:cs typeface="Calibri" pitchFamily="34" charset="-120"/>
              </a:rPr>
              <a:t>COVERING MET OUR BID</a:t>
            </a:r>
            <a:endParaRPr lang="en-US" sz="950" dirty="0"/>
          </a:p>
        </p:txBody>
      </p:sp>
      <p:sp>
        <p:nvSpPr>
          <p:cNvPr id="21" name="Text 19"/>
          <p:cNvSpPr/>
          <p:nvPr/>
        </p:nvSpPr>
        <p:spPr>
          <a:xfrm>
            <a:off x="667512" y="3054096"/>
            <a:ext cx="3415284" cy="713232"/>
          </a:xfrm>
          <a:prstGeom prst="rect">
            <a:avLst/>
          </a:prstGeom>
          <a:noFill/>
          <a:ln/>
        </p:spPr>
        <p:txBody>
          <a:bodyPr wrap="square" lIns="0" tIns="0" rIns="0" bIns="0" rtlCol="0" anchor="t"/>
          <a:lstStyle/>
          <a:p>
            <a:pPr indent="0" marL="0">
              <a:lnSpc>
                <a:spcPts val="1100"/>
              </a:lnSpc>
              <a:buNone/>
            </a:pPr>
            <a:r>
              <a:rPr lang="en-US" sz="840" dirty="0">
                <a:solidFill>
                  <a:srgbClr val="1A2733"/>
                </a:solidFill>
                <a:latin typeface="Calibri" pitchFamily="34" charset="0"/>
                <a:ea typeface="Calibri" pitchFamily="34" charset="-122"/>
                <a:cs typeface="Calibri" pitchFamily="34" charset="-120"/>
              </a:rPr>
              <a:t>The largest short base on the page, but it shrank as the price fell and the exit is under two sessions. Part of our buying met shorts taking profit, not fresh sellers — so this is a value call, not a squeeze.</a:t>
            </a:r>
            <a:endParaRPr lang="en-US" sz="840" dirty="0"/>
          </a:p>
        </p:txBody>
      </p:sp>
      <p:sp>
        <p:nvSpPr>
          <p:cNvPr id="22" name="Shape 20"/>
          <p:cNvSpPr/>
          <p:nvPr/>
        </p:nvSpPr>
        <p:spPr>
          <a:xfrm>
            <a:off x="4229100" y="1828800"/>
            <a:ext cx="3726180" cy="1988820"/>
          </a:xfrm>
          <a:prstGeom prst="rect">
            <a:avLst/>
          </a:prstGeom>
          <a:solidFill>
            <a:srgbClr val="FDF6E3"/>
          </a:solidFill>
          <a:ln w="25400">
            <a:solidFill>
              <a:srgbClr val="FFFFFF"/>
            </a:solidFill>
            <a:prstDash val="solid"/>
          </a:ln>
        </p:spPr>
      </p:sp>
      <p:sp>
        <p:nvSpPr>
          <p:cNvPr id="23" name="Text 21"/>
          <p:cNvSpPr/>
          <p:nvPr/>
        </p:nvSpPr>
        <p:spPr>
          <a:xfrm>
            <a:off x="4393692" y="1920240"/>
            <a:ext cx="3415284" cy="201168"/>
          </a:xfrm>
          <a:prstGeom prst="rect">
            <a:avLst/>
          </a:prstGeom>
          <a:noFill/>
          <a:ln/>
        </p:spPr>
        <p:txBody>
          <a:bodyPr wrap="square" lIns="0" tIns="0" rIns="0" bIns="0" rtlCol="0" anchor="t"/>
          <a:lstStyle/>
          <a:p>
            <a:pPr indent="0" marL="0">
              <a:buNone/>
            </a:pPr>
            <a:r>
              <a:rPr lang="en-US" sz="820" b="1" spc="60" kern="0" dirty="0">
                <a:solidFill>
                  <a:srgbClr val="63737F"/>
                </a:solidFill>
                <a:latin typeface="Calibri" pitchFamily="34" charset="0"/>
                <a:ea typeface="Calibri" pitchFamily="34" charset="-122"/>
                <a:cs typeface="Calibri" pitchFamily="34" charset="-120"/>
              </a:rPr>
              <a:t>WE BUY · PRICE RISING</a:t>
            </a:r>
            <a:endParaRPr lang="en-US" sz="820" dirty="0"/>
          </a:p>
        </p:txBody>
      </p:sp>
      <p:sp>
        <p:nvSpPr>
          <p:cNvPr id="24" name="Text 22"/>
          <p:cNvSpPr/>
          <p:nvPr/>
        </p:nvSpPr>
        <p:spPr>
          <a:xfrm>
            <a:off x="4393692" y="2130552"/>
            <a:ext cx="3415284" cy="256032"/>
          </a:xfrm>
          <a:prstGeom prst="rect">
            <a:avLst/>
          </a:prstGeom>
          <a:noFill/>
          <a:ln/>
        </p:spPr>
        <p:txBody>
          <a:bodyPr wrap="square" lIns="0" tIns="0" rIns="0" bIns="0" rtlCol="0" anchor="t"/>
          <a:lstStyle/>
          <a:p>
            <a:pPr indent="0" marL="0">
              <a:buNone/>
            </a:pPr>
            <a:r>
              <a:rPr lang="en-US" sz="1250" b="1" dirty="0">
                <a:solidFill>
                  <a:srgbClr val="002D72"/>
                </a:solidFill>
                <a:latin typeface="Calibri" pitchFamily="34" charset="0"/>
                <a:ea typeface="Calibri" pitchFamily="34" charset="-122"/>
                <a:cs typeface="Calibri" pitchFamily="34" charset="-120"/>
              </a:rPr>
              <a:t>XIAOMI CORP-B</a:t>
            </a:r>
            <a:endParaRPr lang="en-US" sz="1250" dirty="0"/>
          </a:p>
        </p:txBody>
      </p:sp>
      <p:sp>
        <p:nvSpPr>
          <p:cNvPr id="25" name="Shape 23"/>
          <p:cNvSpPr/>
          <p:nvPr/>
        </p:nvSpPr>
        <p:spPr>
          <a:xfrm>
            <a:off x="4393692" y="2450592"/>
            <a:ext cx="841248" cy="274320"/>
          </a:xfrm>
          <a:prstGeom prst="roundRect">
            <a:avLst>
              <a:gd name="adj" fmla="val 16667"/>
            </a:avLst>
          </a:prstGeom>
          <a:solidFill>
            <a:srgbClr val="FFFFFF"/>
          </a:solidFill>
          <a:ln w="6350">
            <a:solidFill>
              <a:srgbClr val="DCE4EC"/>
            </a:solidFill>
            <a:prstDash val="solid"/>
          </a:ln>
        </p:spPr>
      </p:sp>
      <p:sp>
        <p:nvSpPr>
          <p:cNvPr id="26" name="Text 24"/>
          <p:cNvSpPr/>
          <p:nvPr/>
        </p:nvSpPr>
        <p:spPr>
          <a:xfrm>
            <a:off x="4393692" y="2505456"/>
            <a:ext cx="841248" cy="182880"/>
          </a:xfrm>
          <a:prstGeom prst="rect">
            <a:avLst/>
          </a:prstGeom>
          <a:noFill/>
          <a:ln/>
        </p:spPr>
        <p:txBody>
          <a:bodyPr wrap="square" lIns="0" tIns="0" rIns="0" bIns="0" rtlCol="0" anchor="t"/>
          <a:lstStyle/>
          <a:p>
            <a:pPr algn="ctr" indent="0" marL="0">
              <a:buNone/>
            </a:pPr>
            <a:r>
              <a:rPr lang="en-US" sz="720" b="1" dirty="0">
                <a:solidFill>
                  <a:srgbClr val="8A6D12"/>
                </a:solidFill>
                <a:latin typeface="Calibri" pitchFamily="34" charset="0"/>
                <a:ea typeface="Calibri" pitchFamily="34" charset="-122"/>
                <a:cs typeface="Calibri" pitchFamily="34" charset="-120"/>
              </a:rPr>
              <a:t>RSI 50.3</a:t>
            </a:r>
            <a:endParaRPr lang="en-US" sz="720" dirty="0"/>
          </a:p>
        </p:txBody>
      </p:sp>
      <p:sp>
        <p:nvSpPr>
          <p:cNvPr id="27" name="Shape 25"/>
          <p:cNvSpPr/>
          <p:nvPr/>
        </p:nvSpPr>
        <p:spPr>
          <a:xfrm>
            <a:off x="5289804" y="2450592"/>
            <a:ext cx="841248" cy="274320"/>
          </a:xfrm>
          <a:prstGeom prst="roundRect">
            <a:avLst>
              <a:gd name="adj" fmla="val 16667"/>
            </a:avLst>
          </a:prstGeom>
          <a:solidFill>
            <a:srgbClr val="FFFFFF"/>
          </a:solidFill>
          <a:ln w="6350">
            <a:solidFill>
              <a:srgbClr val="DCE4EC"/>
            </a:solidFill>
            <a:prstDash val="solid"/>
          </a:ln>
        </p:spPr>
      </p:sp>
      <p:sp>
        <p:nvSpPr>
          <p:cNvPr id="28" name="Text 26"/>
          <p:cNvSpPr/>
          <p:nvPr/>
        </p:nvSpPr>
        <p:spPr>
          <a:xfrm>
            <a:off x="5289804" y="2505456"/>
            <a:ext cx="841248" cy="182880"/>
          </a:xfrm>
          <a:prstGeom prst="rect">
            <a:avLst/>
          </a:prstGeom>
          <a:noFill/>
          <a:ln/>
        </p:spPr>
        <p:txBody>
          <a:bodyPr wrap="square" lIns="0" tIns="0" rIns="0" bIns="0" rtlCol="0" anchor="t"/>
          <a:lstStyle/>
          <a:p>
            <a:pPr algn="ctr" indent="0" marL="0">
              <a:buNone/>
            </a:pPr>
            <a:r>
              <a:rPr lang="en-US" sz="720" b="1" dirty="0">
                <a:solidFill>
                  <a:srgbClr val="8A6D12"/>
                </a:solidFill>
                <a:latin typeface="Calibri" pitchFamily="34" charset="0"/>
                <a:ea typeface="Calibri" pitchFamily="34" charset="-122"/>
                <a:cs typeface="Calibri" pitchFamily="34" charset="-120"/>
              </a:rPr>
              <a:t>SI 8.7%</a:t>
            </a:r>
            <a:endParaRPr lang="en-US" sz="720" dirty="0"/>
          </a:p>
        </p:txBody>
      </p:sp>
      <p:sp>
        <p:nvSpPr>
          <p:cNvPr id="29" name="Shape 27"/>
          <p:cNvSpPr/>
          <p:nvPr/>
        </p:nvSpPr>
        <p:spPr>
          <a:xfrm>
            <a:off x="6185916" y="2450592"/>
            <a:ext cx="841248" cy="274320"/>
          </a:xfrm>
          <a:prstGeom prst="roundRect">
            <a:avLst>
              <a:gd name="adj" fmla="val 16667"/>
            </a:avLst>
          </a:prstGeom>
          <a:solidFill>
            <a:srgbClr val="FFFFFF"/>
          </a:solidFill>
          <a:ln w="6350">
            <a:solidFill>
              <a:srgbClr val="DCE4EC"/>
            </a:solidFill>
            <a:prstDash val="solid"/>
          </a:ln>
        </p:spPr>
      </p:sp>
      <p:sp>
        <p:nvSpPr>
          <p:cNvPr id="30" name="Text 28"/>
          <p:cNvSpPr/>
          <p:nvPr/>
        </p:nvSpPr>
        <p:spPr>
          <a:xfrm>
            <a:off x="6185916" y="2505456"/>
            <a:ext cx="841248" cy="182880"/>
          </a:xfrm>
          <a:prstGeom prst="rect">
            <a:avLst/>
          </a:prstGeom>
          <a:noFill/>
          <a:ln/>
        </p:spPr>
        <p:txBody>
          <a:bodyPr wrap="square" lIns="0" tIns="0" rIns="0" bIns="0" rtlCol="0" anchor="t"/>
          <a:lstStyle/>
          <a:p>
            <a:pPr algn="ctr" indent="0" marL="0">
              <a:buNone/>
            </a:pPr>
            <a:r>
              <a:rPr lang="en-US" sz="720" b="1" dirty="0">
                <a:solidFill>
                  <a:srgbClr val="8A6D12"/>
                </a:solidFill>
                <a:latin typeface="Calibri" pitchFamily="34" charset="0"/>
                <a:ea typeface="Calibri" pitchFamily="34" charset="-122"/>
                <a:cs typeface="Calibri" pitchFamily="34" charset="-120"/>
              </a:rPr>
              <a:t>ΔSI +83.8%</a:t>
            </a:r>
            <a:endParaRPr lang="en-US" sz="720" dirty="0"/>
          </a:p>
        </p:txBody>
      </p:sp>
      <p:sp>
        <p:nvSpPr>
          <p:cNvPr id="31" name="Shape 29"/>
          <p:cNvSpPr/>
          <p:nvPr/>
        </p:nvSpPr>
        <p:spPr>
          <a:xfrm>
            <a:off x="7082028" y="2450592"/>
            <a:ext cx="841248" cy="274320"/>
          </a:xfrm>
          <a:prstGeom prst="roundRect">
            <a:avLst>
              <a:gd name="adj" fmla="val 16667"/>
            </a:avLst>
          </a:prstGeom>
          <a:solidFill>
            <a:srgbClr val="FFFFFF"/>
          </a:solidFill>
          <a:ln w="6350">
            <a:solidFill>
              <a:srgbClr val="DCE4EC"/>
            </a:solidFill>
            <a:prstDash val="solid"/>
          </a:ln>
        </p:spPr>
      </p:sp>
      <p:sp>
        <p:nvSpPr>
          <p:cNvPr id="32" name="Text 30"/>
          <p:cNvSpPr/>
          <p:nvPr/>
        </p:nvSpPr>
        <p:spPr>
          <a:xfrm>
            <a:off x="7082028" y="2505456"/>
            <a:ext cx="841248" cy="182880"/>
          </a:xfrm>
          <a:prstGeom prst="rect">
            <a:avLst/>
          </a:prstGeom>
          <a:noFill/>
          <a:ln/>
        </p:spPr>
        <p:txBody>
          <a:bodyPr wrap="square" lIns="0" tIns="0" rIns="0" bIns="0" rtlCol="0" anchor="t"/>
          <a:lstStyle/>
          <a:p>
            <a:pPr algn="ctr" indent="0" marL="0">
              <a:buNone/>
            </a:pPr>
            <a:r>
              <a:rPr lang="en-US" sz="720" b="1" dirty="0">
                <a:solidFill>
                  <a:srgbClr val="8A6D12"/>
                </a:solidFill>
                <a:latin typeface="Calibri" pitchFamily="34" charset="0"/>
                <a:ea typeface="Calibri" pitchFamily="34" charset="-122"/>
                <a:cs typeface="Calibri" pitchFamily="34" charset="-120"/>
              </a:rPr>
              <a:t>DTC 6.34x</a:t>
            </a:r>
            <a:endParaRPr lang="en-US" sz="720" dirty="0"/>
          </a:p>
        </p:txBody>
      </p:sp>
      <p:sp>
        <p:nvSpPr>
          <p:cNvPr id="33" name="Text 31"/>
          <p:cNvSpPr/>
          <p:nvPr/>
        </p:nvSpPr>
        <p:spPr>
          <a:xfrm>
            <a:off x="4393692" y="2816352"/>
            <a:ext cx="3415284" cy="219456"/>
          </a:xfrm>
          <a:prstGeom prst="rect">
            <a:avLst/>
          </a:prstGeom>
          <a:noFill/>
          <a:ln/>
        </p:spPr>
        <p:txBody>
          <a:bodyPr wrap="square" lIns="0" tIns="0" rIns="0" bIns="0" rtlCol="0" anchor="t"/>
          <a:lstStyle/>
          <a:p>
            <a:pPr indent="0" marL="0">
              <a:buNone/>
            </a:pPr>
            <a:r>
              <a:rPr lang="en-US" sz="950" b="1" spc="50" kern="0" dirty="0">
                <a:solidFill>
                  <a:srgbClr val="8A6D12"/>
                </a:solidFill>
                <a:latin typeface="Calibri" pitchFamily="34" charset="0"/>
                <a:ea typeface="Calibri" pitchFamily="34" charset="-122"/>
                <a:cs typeface="Calibri" pitchFamily="34" charset="-120"/>
              </a:rPr>
              <a:t>SQUEEZE LOADING</a:t>
            </a:r>
            <a:endParaRPr lang="en-US" sz="950" dirty="0"/>
          </a:p>
        </p:txBody>
      </p:sp>
      <p:sp>
        <p:nvSpPr>
          <p:cNvPr id="34" name="Text 32"/>
          <p:cNvSpPr/>
          <p:nvPr/>
        </p:nvSpPr>
        <p:spPr>
          <a:xfrm>
            <a:off x="4393692" y="3054096"/>
            <a:ext cx="3415284" cy="713232"/>
          </a:xfrm>
          <a:prstGeom prst="rect">
            <a:avLst/>
          </a:prstGeom>
          <a:noFill/>
          <a:ln/>
        </p:spPr>
        <p:txBody>
          <a:bodyPr wrap="square" lIns="0" tIns="0" rIns="0" bIns="0" rtlCol="0" anchor="t"/>
          <a:lstStyle/>
          <a:p>
            <a:pPr indent="0" marL="0">
              <a:lnSpc>
                <a:spcPts val="1100"/>
              </a:lnSpc>
              <a:buNone/>
            </a:pPr>
            <a:r>
              <a:rPr lang="en-US" sz="840" dirty="0">
                <a:solidFill>
                  <a:srgbClr val="1A2733"/>
                </a:solidFill>
                <a:latin typeface="Calibri" pitchFamily="34" charset="0"/>
                <a:ea typeface="Calibri" pitchFamily="34" charset="-122"/>
                <a:cs typeface="Calibri" pitchFamily="34" charset="-120"/>
              </a:rPr>
              <a:t>Shorts nearly doubled into a 33% rally while our clients bought, and the door is six sessions wide. RSI is only 50, so the tape is not yet stretched — the squeeze has room to run.</a:t>
            </a:r>
            <a:endParaRPr lang="en-US" sz="840" dirty="0"/>
          </a:p>
        </p:txBody>
      </p:sp>
      <p:sp>
        <p:nvSpPr>
          <p:cNvPr id="35" name="Shape 33"/>
          <p:cNvSpPr/>
          <p:nvPr/>
        </p:nvSpPr>
        <p:spPr>
          <a:xfrm>
            <a:off x="502920" y="3817620"/>
            <a:ext cx="3726180" cy="1988820"/>
          </a:xfrm>
          <a:prstGeom prst="rect">
            <a:avLst/>
          </a:prstGeom>
          <a:solidFill>
            <a:srgbClr val="EDF3EF"/>
          </a:solidFill>
          <a:ln w="25400">
            <a:solidFill>
              <a:srgbClr val="FFFFFF"/>
            </a:solidFill>
            <a:prstDash val="solid"/>
          </a:ln>
        </p:spPr>
      </p:sp>
      <p:sp>
        <p:nvSpPr>
          <p:cNvPr id="36" name="Text 34"/>
          <p:cNvSpPr/>
          <p:nvPr/>
        </p:nvSpPr>
        <p:spPr>
          <a:xfrm>
            <a:off x="667512" y="3909060"/>
            <a:ext cx="3415284" cy="201168"/>
          </a:xfrm>
          <a:prstGeom prst="rect">
            <a:avLst/>
          </a:prstGeom>
          <a:noFill/>
          <a:ln/>
        </p:spPr>
        <p:txBody>
          <a:bodyPr wrap="square" lIns="0" tIns="0" rIns="0" bIns="0" rtlCol="0" anchor="t"/>
          <a:lstStyle/>
          <a:p>
            <a:pPr indent="0" marL="0">
              <a:buNone/>
            </a:pPr>
            <a:r>
              <a:rPr lang="en-US" sz="820" b="1" spc="60" kern="0" dirty="0">
                <a:solidFill>
                  <a:srgbClr val="63737F"/>
                </a:solidFill>
                <a:latin typeface="Calibri" pitchFamily="34" charset="0"/>
                <a:ea typeface="Calibri" pitchFamily="34" charset="-122"/>
                <a:cs typeface="Calibri" pitchFamily="34" charset="-120"/>
              </a:rPr>
              <a:t>WE SELL · PRICE RISING</a:t>
            </a:r>
            <a:endParaRPr lang="en-US" sz="820" dirty="0"/>
          </a:p>
        </p:txBody>
      </p:sp>
      <p:sp>
        <p:nvSpPr>
          <p:cNvPr id="37" name="Text 35"/>
          <p:cNvSpPr/>
          <p:nvPr/>
        </p:nvSpPr>
        <p:spPr>
          <a:xfrm>
            <a:off x="667512" y="4119372"/>
            <a:ext cx="3415284" cy="256032"/>
          </a:xfrm>
          <a:prstGeom prst="rect">
            <a:avLst/>
          </a:prstGeom>
          <a:noFill/>
          <a:ln/>
        </p:spPr>
        <p:txBody>
          <a:bodyPr wrap="square" lIns="0" tIns="0" rIns="0" bIns="0" rtlCol="0" anchor="t"/>
          <a:lstStyle/>
          <a:p>
            <a:pPr indent="0" marL="0">
              <a:buNone/>
            </a:pPr>
            <a:r>
              <a:rPr lang="en-US" sz="1250" b="1" dirty="0">
                <a:solidFill>
                  <a:srgbClr val="002D72"/>
                </a:solidFill>
                <a:latin typeface="Calibri" pitchFamily="34" charset="0"/>
                <a:ea typeface="Calibri" pitchFamily="34" charset="-122"/>
                <a:cs typeface="Calibri" pitchFamily="34" charset="-120"/>
              </a:rPr>
              <a:t>AIA GROUP</a:t>
            </a:r>
            <a:endParaRPr lang="en-US" sz="1250" dirty="0"/>
          </a:p>
        </p:txBody>
      </p:sp>
      <p:sp>
        <p:nvSpPr>
          <p:cNvPr id="38" name="Shape 36"/>
          <p:cNvSpPr/>
          <p:nvPr/>
        </p:nvSpPr>
        <p:spPr>
          <a:xfrm>
            <a:off x="667512" y="4439412"/>
            <a:ext cx="841248" cy="274320"/>
          </a:xfrm>
          <a:prstGeom prst="roundRect">
            <a:avLst>
              <a:gd name="adj" fmla="val 16667"/>
            </a:avLst>
          </a:prstGeom>
          <a:solidFill>
            <a:srgbClr val="FFFFFF"/>
          </a:solidFill>
          <a:ln w="6350">
            <a:solidFill>
              <a:srgbClr val="DCE4EC"/>
            </a:solidFill>
            <a:prstDash val="solid"/>
          </a:ln>
        </p:spPr>
      </p:sp>
      <p:sp>
        <p:nvSpPr>
          <p:cNvPr id="39" name="Text 37"/>
          <p:cNvSpPr/>
          <p:nvPr/>
        </p:nvSpPr>
        <p:spPr>
          <a:xfrm>
            <a:off x="667512" y="4494276"/>
            <a:ext cx="841248" cy="182880"/>
          </a:xfrm>
          <a:prstGeom prst="rect">
            <a:avLst/>
          </a:prstGeom>
          <a:noFill/>
          <a:ln/>
        </p:spPr>
        <p:txBody>
          <a:bodyPr wrap="square" lIns="0" tIns="0" rIns="0" bIns="0" rtlCol="0" anchor="t"/>
          <a:lstStyle/>
          <a:p>
            <a:pPr algn="ctr" indent="0" marL="0">
              <a:buNone/>
            </a:pPr>
            <a:r>
              <a:rPr lang="en-US" sz="720" b="1" dirty="0">
                <a:solidFill>
                  <a:srgbClr val="145C33"/>
                </a:solidFill>
                <a:latin typeface="Calibri" pitchFamily="34" charset="0"/>
                <a:ea typeface="Calibri" pitchFamily="34" charset="-122"/>
                <a:cs typeface="Calibri" pitchFamily="34" charset="-120"/>
              </a:rPr>
              <a:t>RSI 55.8</a:t>
            </a:r>
            <a:endParaRPr lang="en-US" sz="720" dirty="0"/>
          </a:p>
        </p:txBody>
      </p:sp>
      <p:sp>
        <p:nvSpPr>
          <p:cNvPr id="40" name="Shape 38"/>
          <p:cNvSpPr/>
          <p:nvPr/>
        </p:nvSpPr>
        <p:spPr>
          <a:xfrm>
            <a:off x="1563624" y="4439412"/>
            <a:ext cx="841248" cy="274320"/>
          </a:xfrm>
          <a:prstGeom prst="roundRect">
            <a:avLst>
              <a:gd name="adj" fmla="val 16667"/>
            </a:avLst>
          </a:prstGeom>
          <a:solidFill>
            <a:srgbClr val="FFFFFF"/>
          </a:solidFill>
          <a:ln w="6350">
            <a:solidFill>
              <a:srgbClr val="DCE4EC"/>
            </a:solidFill>
            <a:prstDash val="solid"/>
          </a:ln>
        </p:spPr>
      </p:sp>
      <p:sp>
        <p:nvSpPr>
          <p:cNvPr id="41" name="Text 39"/>
          <p:cNvSpPr/>
          <p:nvPr/>
        </p:nvSpPr>
        <p:spPr>
          <a:xfrm>
            <a:off x="1563624" y="4494276"/>
            <a:ext cx="841248" cy="182880"/>
          </a:xfrm>
          <a:prstGeom prst="rect">
            <a:avLst/>
          </a:prstGeom>
          <a:noFill/>
          <a:ln/>
        </p:spPr>
        <p:txBody>
          <a:bodyPr wrap="square" lIns="0" tIns="0" rIns="0" bIns="0" rtlCol="0" anchor="t"/>
          <a:lstStyle/>
          <a:p>
            <a:pPr algn="ctr" indent="0" marL="0">
              <a:buNone/>
            </a:pPr>
            <a:r>
              <a:rPr lang="en-US" sz="720" b="1" dirty="0">
                <a:solidFill>
                  <a:srgbClr val="145C33"/>
                </a:solidFill>
                <a:latin typeface="Calibri" pitchFamily="34" charset="0"/>
                <a:ea typeface="Calibri" pitchFamily="34" charset="-122"/>
                <a:cs typeface="Calibri" pitchFamily="34" charset="-120"/>
              </a:rPr>
              <a:t>SI 1.0%</a:t>
            </a:r>
            <a:endParaRPr lang="en-US" sz="720" dirty="0"/>
          </a:p>
        </p:txBody>
      </p:sp>
      <p:sp>
        <p:nvSpPr>
          <p:cNvPr id="42" name="Shape 40"/>
          <p:cNvSpPr/>
          <p:nvPr/>
        </p:nvSpPr>
        <p:spPr>
          <a:xfrm>
            <a:off x="2459736" y="4439412"/>
            <a:ext cx="841248" cy="274320"/>
          </a:xfrm>
          <a:prstGeom prst="roundRect">
            <a:avLst>
              <a:gd name="adj" fmla="val 16667"/>
            </a:avLst>
          </a:prstGeom>
          <a:solidFill>
            <a:srgbClr val="FFFFFF"/>
          </a:solidFill>
          <a:ln w="6350">
            <a:solidFill>
              <a:srgbClr val="DCE4EC"/>
            </a:solidFill>
            <a:prstDash val="solid"/>
          </a:ln>
        </p:spPr>
      </p:sp>
      <p:sp>
        <p:nvSpPr>
          <p:cNvPr id="43" name="Text 41"/>
          <p:cNvSpPr/>
          <p:nvPr/>
        </p:nvSpPr>
        <p:spPr>
          <a:xfrm>
            <a:off x="2459736" y="4494276"/>
            <a:ext cx="841248" cy="182880"/>
          </a:xfrm>
          <a:prstGeom prst="rect">
            <a:avLst/>
          </a:prstGeom>
          <a:noFill/>
          <a:ln/>
        </p:spPr>
        <p:txBody>
          <a:bodyPr wrap="square" lIns="0" tIns="0" rIns="0" bIns="0" rtlCol="0" anchor="t"/>
          <a:lstStyle/>
          <a:p>
            <a:pPr algn="ctr" indent="0" marL="0">
              <a:buNone/>
            </a:pPr>
            <a:r>
              <a:rPr lang="en-US" sz="720" b="1" dirty="0">
                <a:solidFill>
                  <a:srgbClr val="145C33"/>
                </a:solidFill>
                <a:latin typeface="Calibri" pitchFamily="34" charset="0"/>
                <a:ea typeface="Calibri" pitchFamily="34" charset="-122"/>
                <a:cs typeface="Calibri" pitchFamily="34" charset="-120"/>
              </a:rPr>
              <a:t>ΔSI −48.8%</a:t>
            </a:r>
            <a:endParaRPr lang="en-US" sz="720" dirty="0"/>
          </a:p>
        </p:txBody>
      </p:sp>
      <p:sp>
        <p:nvSpPr>
          <p:cNvPr id="44" name="Shape 42"/>
          <p:cNvSpPr/>
          <p:nvPr/>
        </p:nvSpPr>
        <p:spPr>
          <a:xfrm>
            <a:off x="3355848" y="4439412"/>
            <a:ext cx="841248" cy="274320"/>
          </a:xfrm>
          <a:prstGeom prst="roundRect">
            <a:avLst>
              <a:gd name="adj" fmla="val 16667"/>
            </a:avLst>
          </a:prstGeom>
          <a:solidFill>
            <a:srgbClr val="FFFFFF"/>
          </a:solidFill>
          <a:ln w="6350">
            <a:solidFill>
              <a:srgbClr val="DCE4EC"/>
            </a:solidFill>
            <a:prstDash val="solid"/>
          </a:ln>
        </p:spPr>
      </p:sp>
      <p:sp>
        <p:nvSpPr>
          <p:cNvPr id="45" name="Text 43"/>
          <p:cNvSpPr/>
          <p:nvPr/>
        </p:nvSpPr>
        <p:spPr>
          <a:xfrm>
            <a:off x="3355848" y="4494276"/>
            <a:ext cx="841248" cy="182880"/>
          </a:xfrm>
          <a:prstGeom prst="rect">
            <a:avLst/>
          </a:prstGeom>
          <a:noFill/>
          <a:ln/>
        </p:spPr>
        <p:txBody>
          <a:bodyPr wrap="square" lIns="0" tIns="0" rIns="0" bIns="0" rtlCol="0" anchor="t"/>
          <a:lstStyle/>
          <a:p>
            <a:pPr algn="ctr" indent="0" marL="0">
              <a:buNone/>
            </a:pPr>
            <a:r>
              <a:rPr lang="en-US" sz="720" b="1" dirty="0">
                <a:solidFill>
                  <a:srgbClr val="145C33"/>
                </a:solidFill>
                <a:latin typeface="Calibri" pitchFamily="34" charset="0"/>
                <a:ea typeface="Calibri" pitchFamily="34" charset="-122"/>
                <a:cs typeface="Calibri" pitchFamily="34" charset="-120"/>
              </a:rPr>
              <a:t>DTC 4.17x</a:t>
            </a:r>
            <a:endParaRPr lang="en-US" sz="720" dirty="0"/>
          </a:p>
        </p:txBody>
      </p:sp>
      <p:sp>
        <p:nvSpPr>
          <p:cNvPr id="46" name="Text 44"/>
          <p:cNvSpPr/>
          <p:nvPr/>
        </p:nvSpPr>
        <p:spPr>
          <a:xfrm>
            <a:off x="667512" y="4805172"/>
            <a:ext cx="3415284" cy="219456"/>
          </a:xfrm>
          <a:prstGeom prst="rect">
            <a:avLst/>
          </a:prstGeom>
          <a:noFill/>
          <a:ln/>
        </p:spPr>
        <p:txBody>
          <a:bodyPr wrap="square" lIns="0" tIns="0" rIns="0" bIns="0" rtlCol="0" anchor="t"/>
          <a:lstStyle/>
          <a:p>
            <a:pPr indent="0" marL="0">
              <a:buNone/>
            </a:pPr>
            <a:r>
              <a:rPr lang="en-US" sz="950" b="1" spc="50" kern="0" dirty="0">
                <a:solidFill>
                  <a:srgbClr val="145C33"/>
                </a:solidFill>
                <a:latin typeface="Calibri" pitchFamily="34" charset="0"/>
                <a:ea typeface="Calibri" pitchFamily="34" charset="-122"/>
                <a:cs typeface="Calibri" pitchFamily="34" charset="-120"/>
              </a:rPr>
              <a:t>COVERING-LED STRENGTH</a:t>
            </a:r>
            <a:endParaRPr lang="en-US" sz="950" dirty="0"/>
          </a:p>
        </p:txBody>
      </p:sp>
      <p:sp>
        <p:nvSpPr>
          <p:cNvPr id="47" name="Text 45"/>
          <p:cNvSpPr/>
          <p:nvPr/>
        </p:nvSpPr>
        <p:spPr>
          <a:xfrm>
            <a:off x="667512" y="5042916"/>
            <a:ext cx="3415284" cy="713232"/>
          </a:xfrm>
          <a:prstGeom prst="rect">
            <a:avLst/>
          </a:prstGeom>
          <a:noFill/>
          <a:ln/>
        </p:spPr>
        <p:txBody>
          <a:bodyPr wrap="square" lIns="0" tIns="0" rIns="0" bIns="0" rtlCol="0" anchor="t"/>
          <a:lstStyle/>
          <a:p>
            <a:pPr indent="0" marL="0">
              <a:lnSpc>
                <a:spcPts val="1100"/>
              </a:lnSpc>
              <a:buNone/>
            </a:pPr>
            <a:r>
              <a:rPr lang="en-US" sz="840" dirty="0">
                <a:solidFill>
                  <a:srgbClr val="1A2733"/>
                </a:solidFill>
                <a:latin typeface="Calibri" pitchFamily="34" charset="0"/>
                <a:ea typeface="Calibri" pitchFamily="34" charset="-122"/>
                <a:cs typeface="Calibri" pitchFamily="34" charset="-120"/>
              </a:rPr>
              <a:t>The base halved as the price rose, so covering — not fresh demand — absorbed our supply. Covering is finite: when it ends the bid disappears. Weeks later the offshore-levy headline validated the exit.</a:t>
            </a:r>
            <a:endParaRPr lang="en-US" sz="840" dirty="0"/>
          </a:p>
        </p:txBody>
      </p:sp>
      <p:sp>
        <p:nvSpPr>
          <p:cNvPr id="48" name="Shape 46"/>
          <p:cNvSpPr/>
          <p:nvPr/>
        </p:nvSpPr>
        <p:spPr>
          <a:xfrm>
            <a:off x="4229100" y="3817620"/>
            <a:ext cx="3726180" cy="1988820"/>
          </a:xfrm>
          <a:prstGeom prst="rect">
            <a:avLst/>
          </a:prstGeom>
          <a:solidFill>
            <a:srgbClr val="F6EEEE"/>
          </a:solidFill>
          <a:ln w="25400">
            <a:solidFill>
              <a:srgbClr val="FFFFFF"/>
            </a:solidFill>
            <a:prstDash val="solid"/>
          </a:ln>
        </p:spPr>
      </p:sp>
      <p:sp>
        <p:nvSpPr>
          <p:cNvPr id="49" name="Text 47"/>
          <p:cNvSpPr/>
          <p:nvPr/>
        </p:nvSpPr>
        <p:spPr>
          <a:xfrm>
            <a:off x="4393692" y="3909060"/>
            <a:ext cx="3415284" cy="201168"/>
          </a:xfrm>
          <a:prstGeom prst="rect">
            <a:avLst/>
          </a:prstGeom>
          <a:noFill/>
          <a:ln/>
        </p:spPr>
        <p:txBody>
          <a:bodyPr wrap="square" lIns="0" tIns="0" rIns="0" bIns="0" rtlCol="0" anchor="t"/>
          <a:lstStyle/>
          <a:p>
            <a:pPr indent="0" marL="0">
              <a:buNone/>
            </a:pPr>
            <a:r>
              <a:rPr lang="en-US" sz="820" b="1" spc="60" kern="0" dirty="0">
                <a:solidFill>
                  <a:srgbClr val="63737F"/>
                </a:solidFill>
                <a:latin typeface="Calibri" pitchFamily="34" charset="0"/>
                <a:ea typeface="Calibri" pitchFamily="34" charset="-122"/>
                <a:cs typeface="Calibri" pitchFamily="34" charset="-120"/>
              </a:rPr>
              <a:t>WE SELL · PRICE FALLING</a:t>
            </a:r>
            <a:endParaRPr lang="en-US" sz="820" dirty="0"/>
          </a:p>
        </p:txBody>
      </p:sp>
      <p:sp>
        <p:nvSpPr>
          <p:cNvPr id="50" name="Text 48"/>
          <p:cNvSpPr/>
          <p:nvPr/>
        </p:nvSpPr>
        <p:spPr>
          <a:xfrm>
            <a:off x="4393692" y="4119372"/>
            <a:ext cx="3415284" cy="256032"/>
          </a:xfrm>
          <a:prstGeom prst="rect">
            <a:avLst/>
          </a:prstGeom>
          <a:noFill/>
          <a:ln/>
        </p:spPr>
        <p:txBody>
          <a:bodyPr wrap="square" lIns="0" tIns="0" rIns="0" bIns="0" rtlCol="0" anchor="t"/>
          <a:lstStyle/>
          <a:p>
            <a:pPr indent="0" marL="0">
              <a:buNone/>
            </a:pPr>
            <a:r>
              <a:rPr lang="en-US" sz="1250" b="1" dirty="0">
                <a:solidFill>
                  <a:srgbClr val="002D72"/>
                </a:solidFill>
                <a:latin typeface="Calibri" pitchFamily="34" charset="0"/>
                <a:ea typeface="Calibri" pitchFamily="34" charset="-122"/>
                <a:cs typeface="Calibri" pitchFamily="34" charset="-120"/>
              </a:rPr>
              <a:t>KNOWLEDGE ATLAS</a:t>
            </a:r>
            <a:endParaRPr lang="en-US" sz="1250" dirty="0"/>
          </a:p>
        </p:txBody>
      </p:sp>
      <p:sp>
        <p:nvSpPr>
          <p:cNvPr id="51" name="Shape 49"/>
          <p:cNvSpPr/>
          <p:nvPr/>
        </p:nvSpPr>
        <p:spPr>
          <a:xfrm>
            <a:off x="4393692" y="4439412"/>
            <a:ext cx="841248" cy="274320"/>
          </a:xfrm>
          <a:prstGeom prst="roundRect">
            <a:avLst>
              <a:gd name="adj" fmla="val 16667"/>
            </a:avLst>
          </a:prstGeom>
          <a:solidFill>
            <a:srgbClr val="FFFFFF"/>
          </a:solidFill>
          <a:ln w="6350">
            <a:solidFill>
              <a:srgbClr val="DCE4EC"/>
            </a:solidFill>
            <a:prstDash val="solid"/>
          </a:ln>
        </p:spPr>
      </p:sp>
      <p:sp>
        <p:nvSpPr>
          <p:cNvPr id="52" name="Text 50"/>
          <p:cNvSpPr/>
          <p:nvPr/>
        </p:nvSpPr>
        <p:spPr>
          <a:xfrm>
            <a:off x="4393692" y="4494276"/>
            <a:ext cx="841248" cy="182880"/>
          </a:xfrm>
          <a:prstGeom prst="rect">
            <a:avLst/>
          </a:prstGeom>
          <a:noFill/>
          <a:ln/>
        </p:spPr>
        <p:txBody>
          <a:bodyPr wrap="square" lIns="0" tIns="0" rIns="0" bIns="0" rtlCol="0" anchor="t"/>
          <a:lstStyle/>
          <a:p>
            <a:pPr algn="ctr" indent="0" marL="0">
              <a:buNone/>
            </a:pPr>
            <a:r>
              <a:rPr lang="en-US" sz="720" b="1" dirty="0">
                <a:solidFill>
                  <a:srgbClr val="9A4141"/>
                </a:solidFill>
                <a:latin typeface="Calibri" pitchFamily="34" charset="0"/>
                <a:ea typeface="Calibri" pitchFamily="34" charset="-122"/>
                <a:cs typeface="Calibri" pitchFamily="34" charset="-120"/>
              </a:rPr>
              <a:t>RSI 48.4</a:t>
            </a:r>
            <a:endParaRPr lang="en-US" sz="720" dirty="0"/>
          </a:p>
        </p:txBody>
      </p:sp>
      <p:sp>
        <p:nvSpPr>
          <p:cNvPr id="53" name="Shape 51"/>
          <p:cNvSpPr/>
          <p:nvPr/>
        </p:nvSpPr>
        <p:spPr>
          <a:xfrm>
            <a:off x="5289804" y="4439412"/>
            <a:ext cx="841248" cy="274320"/>
          </a:xfrm>
          <a:prstGeom prst="roundRect">
            <a:avLst>
              <a:gd name="adj" fmla="val 16667"/>
            </a:avLst>
          </a:prstGeom>
          <a:solidFill>
            <a:srgbClr val="FFFFFF"/>
          </a:solidFill>
          <a:ln w="6350">
            <a:solidFill>
              <a:srgbClr val="DCE4EC"/>
            </a:solidFill>
            <a:prstDash val="solid"/>
          </a:ln>
        </p:spPr>
      </p:sp>
      <p:sp>
        <p:nvSpPr>
          <p:cNvPr id="54" name="Text 52"/>
          <p:cNvSpPr/>
          <p:nvPr/>
        </p:nvSpPr>
        <p:spPr>
          <a:xfrm>
            <a:off x="5289804" y="4494276"/>
            <a:ext cx="841248" cy="182880"/>
          </a:xfrm>
          <a:prstGeom prst="rect">
            <a:avLst/>
          </a:prstGeom>
          <a:noFill/>
          <a:ln/>
        </p:spPr>
        <p:txBody>
          <a:bodyPr wrap="square" lIns="0" tIns="0" rIns="0" bIns="0" rtlCol="0" anchor="t"/>
          <a:lstStyle/>
          <a:p>
            <a:pPr algn="ctr" indent="0" marL="0">
              <a:buNone/>
            </a:pPr>
            <a:r>
              <a:rPr lang="en-US" sz="720" b="1" dirty="0">
                <a:solidFill>
                  <a:srgbClr val="9A4141"/>
                </a:solidFill>
                <a:latin typeface="Calibri" pitchFamily="34" charset="0"/>
                <a:ea typeface="Calibri" pitchFamily="34" charset="-122"/>
                <a:cs typeface="Calibri" pitchFamily="34" charset="-120"/>
              </a:rPr>
              <a:t>SI 6.9%</a:t>
            </a:r>
            <a:endParaRPr lang="en-US" sz="720" dirty="0"/>
          </a:p>
        </p:txBody>
      </p:sp>
      <p:sp>
        <p:nvSpPr>
          <p:cNvPr id="55" name="Shape 53"/>
          <p:cNvSpPr/>
          <p:nvPr/>
        </p:nvSpPr>
        <p:spPr>
          <a:xfrm>
            <a:off x="6185916" y="4439412"/>
            <a:ext cx="841248" cy="274320"/>
          </a:xfrm>
          <a:prstGeom prst="roundRect">
            <a:avLst>
              <a:gd name="adj" fmla="val 16667"/>
            </a:avLst>
          </a:prstGeom>
          <a:solidFill>
            <a:srgbClr val="FFFFFF"/>
          </a:solidFill>
          <a:ln w="6350">
            <a:solidFill>
              <a:srgbClr val="DCE4EC"/>
            </a:solidFill>
            <a:prstDash val="solid"/>
          </a:ln>
        </p:spPr>
      </p:sp>
      <p:sp>
        <p:nvSpPr>
          <p:cNvPr id="56" name="Text 54"/>
          <p:cNvSpPr/>
          <p:nvPr/>
        </p:nvSpPr>
        <p:spPr>
          <a:xfrm>
            <a:off x="6185916" y="4494276"/>
            <a:ext cx="841248" cy="182880"/>
          </a:xfrm>
          <a:prstGeom prst="rect">
            <a:avLst/>
          </a:prstGeom>
          <a:noFill/>
          <a:ln/>
        </p:spPr>
        <p:txBody>
          <a:bodyPr wrap="square" lIns="0" tIns="0" rIns="0" bIns="0" rtlCol="0" anchor="t"/>
          <a:lstStyle/>
          <a:p>
            <a:pPr algn="ctr" indent="0" marL="0">
              <a:buNone/>
            </a:pPr>
            <a:r>
              <a:rPr lang="en-US" sz="720" b="1" dirty="0">
                <a:solidFill>
                  <a:srgbClr val="9A4141"/>
                </a:solidFill>
                <a:latin typeface="Calibri" pitchFamily="34" charset="0"/>
                <a:ea typeface="Calibri" pitchFamily="34" charset="-122"/>
                <a:cs typeface="Calibri" pitchFamily="34" charset="-120"/>
              </a:rPr>
              <a:t>ΔSI +271.9%</a:t>
            </a:r>
            <a:endParaRPr lang="en-US" sz="720" dirty="0"/>
          </a:p>
        </p:txBody>
      </p:sp>
      <p:sp>
        <p:nvSpPr>
          <p:cNvPr id="57" name="Shape 55"/>
          <p:cNvSpPr/>
          <p:nvPr/>
        </p:nvSpPr>
        <p:spPr>
          <a:xfrm>
            <a:off x="7082028" y="4439412"/>
            <a:ext cx="841248" cy="274320"/>
          </a:xfrm>
          <a:prstGeom prst="roundRect">
            <a:avLst>
              <a:gd name="adj" fmla="val 16667"/>
            </a:avLst>
          </a:prstGeom>
          <a:solidFill>
            <a:srgbClr val="FFFFFF"/>
          </a:solidFill>
          <a:ln w="6350">
            <a:solidFill>
              <a:srgbClr val="DCE4EC"/>
            </a:solidFill>
            <a:prstDash val="solid"/>
          </a:ln>
        </p:spPr>
      </p:sp>
      <p:sp>
        <p:nvSpPr>
          <p:cNvPr id="58" name="Text 56"/>
          <p:cNvSpPr/>
          <p:nvPr/>
        </p:nvSpPr>
        <p:spPr>
          <a:xfrm>
            <a:off x="7082028" y="4494276"/>
            <a:ext cx="841248" cy="182880"/>
          </a:xfrm>
          <a:prstGeom prst="rect">
            <a:avLst/>
          </a:prstGeom>
          <a:noFill/>
          <a:ln/>
        </p:spPr>
        <p:txBody>
          <a:bodyPr wrap="square" lIns="0" tIns="0" rIns="0" bIns="0" rtlCol="0" anchor="t"/>
          <a:lstStyle/>
          <a:p>
            <a:pPr algn="ctr" indent="0" marL="0">
              <a:buNone/>
            </a:pPr>
            <a:r>
              <a:rPr lang="en-US" sz="720" b="1" dirty="0">
                <a:solidFill>
                  <a:srgbClr val="9A4141"/>
                </a:solidFill>
                <a:latin typeface="Calibri" pitchFamily="34" charset="0"/>
                <a:ea typeface="Calibri" pitchFamily="34" charset="-122"/>
                <a:cs typeface="Calibri" pitchFamily="34" charset="-120"/>
              </a:rPr>
              <a:t>DTC 1.39x</a:t>
            </a:r>
            <a:endParaRPr lang="en-US" sz="720" dirty="0"/>
          </a:p>
        </p:txBody>
      </p:sp>
      <p:sp>
        <p:nvSpPr>
          <p:cNvPr id="59" name="Text 57"/>
          <p:cNvSpPr/>
          <p:nvPr/>
        </p:nvSpPr>
        <p:spPr>
          <a:xfrm>
            <a:off x="4393692" y="4805172"/>
            <a:ext cx="3415284" cy="219456"/>
          </a:xfrm>
          <a:prstGeom prst="rect">
            <a:avLst/>
          </a:prstGeom>
          <a:noFill/>
          <a:ln/>
        </p:spPr>
        <p:txBody>
          <a:bodyPr wrap="square" lIns="0" tIns="0" rIns="0" bIns="0" rtlCol="0" anchor="t"/>
          <a:lstStyle/>
          <a:p>
            <a:pPr indent="0" marL="0">
              <a:buNone/>
            </a:pPr>
            <a:r>
              <a:rPr lang="en-US" sz="950" b="1" spc="50" kern="0" dirty="0">
                <a:solidFill>
                  <a:srgbClr val="9A4141"/>
                </a:solidFill>
                <a:latin typeface="Calibri" pitchFamily="34" charset="0"/>
                <a:ea typeface="Calibri" pitchFamily="34" charset="-122"/>
                <a:cs typeface="Calibri" pitchFamily="34" charset="-120"/>
              </a:rPr>
              <a:t>BEAR CONVICTION, FAST EXIT</a:t>
            </a:r>
            <a:endParaRPr lang="en-US" sz="950" dirty="0"/>
          </a:p>
        </p:txBody>
      </p:sp>
      <p:sp>
        <p:nvSpPr>
          <p:cNvPr id="60" name="Text 58"/>
          <p:cNvSpPr/>
          <p:nvPr/>
        </p:nvSpPr>
        <p:spPr>
          <a:xfrm>
            <a:off x="4393692" y="5042916"/>
            <a:ext cx="3415284" cy="713232"/>
          </a:xfrm>
          <a:prstGeom prst="rect">
            <a:avLst/>
          </a:prstGeom>
          <a:noFill/>
          <a:ln/>
        </p:spPr>
        <p:txBody>
          <a:bodyPr wrap="square" lIns="0" tIns="0" rIns="0" bIns="0" rtlCol="0" anchor="t"/>
          <a:lstStyle/>
          <a:p>
            <a:pPr indent="0" marL="0">
              <a:lnSpc>
                <a:spcPts val="1100"/>
              </a:lnSpc>
              <a:buNone/>
            </a:pPr>
            <a:r>
              <a:rPr lang="en-US" sz="840" dirty="0">
                <a:solidFill>
                  <a:srgbClr val="1A2733"/>
                </a:solidFill>
                <a:latin typeface="Calibri" pitchFamily="34" charset="0"/>
                <a:ea typeface="Calibri" pitchFamily="34" charset="-122"/>
                <a:cs typeface="Calibri" pitchFamily="34" charset="-120"/>
              </a:rPr>
              <a:t>We sold, shorts multiplied nearly fourfold, and the price collapsed. But a day-wide exit means any bounce is violent and brief — conviction without a trap.</a:t>
            </a:r>
            <a:endParaRPr lang="en-US" sz="840" dirty="0"/>
          </a:p>
        </p:txBody>
      </p:sp>
      <p:sp>
        <p:nvSpPr>
          <p:cNvPr id="61" name="Text 59"/>
          <p:cNvSpPr/>
          <p:nvPr/>
        </p:nvSpPr>
        <p:spPr>
          <a:xfrm>
            <a:off x="502920" y="5861304"/>
            <a:ext cx="3657600" cy="201168"/>
          </a:xfrm>
          <a:prstGeom prst="rect">
            <a:avLst/>
          </a:prstGeom>
          <a:noFill/>
          <a:ln/>
        </p:spPr>
        <p:txBody>
          <a:bodyPr wrap="square" lIns="0" tIns="0" rIns="0" bIns="0" rtlCol="0" anchor="t"/>
          <a:lstStyle/>
          <a:p>
            <a:pPr indent="0" marL="0">
              <a:buNone/>
            </a:pPr>
            <a:r>
              <a:rPr lang="en-US" sz="750" i="1" dirty="0">
                <a:solidFill>
                  <a:srgbClr val="63737F"/>
                </a:solidFill>
                <a:latin typeface="Calibri" pitchFamily="34" charset="0"/>
                <a:ea typeface="Calibri" pitchFamily="34" charset="-122"/>
                <a:cs typeface="Calibri" pitchFamily="34" charset="-120"/>
              </a:rPr>
              <a:t>our franchise: buying (top row) · selling (bottom row)</a:t>
            </a:r>
            <a:endParaRPr lang="en-US" sz="750" dirty="0"/>
          </a:p>
        </p:txBody>
      </p:sp>
      <p:sp>
        <p:nvSpPr>
          <p:cNvPr id="62" name="Text 60"/>
          <p:cNvSpPr/>
          <p:nvPr/>
        </p:nvSpPr>
        <p:spPr>
          <a:xfrm>
            <a:off x="4297680" y="5861304"/>
            <a:ext cx="3657600" cy="201168"/>
          </a:xfrm>
          <a:prstGeom prst="rect">
            <a:avLst/>
          </a:prstGeom>
          <a:noFill/>
          <a:ln/>
        </p:spPr>
        <p:txBody>
          <a:bodyPr wrap="square" lIns="0" tIns="0" rIns="0" bIns="0" rtlCol="0" anchor="t"/>
          <a:lstStyle/>
          <a:p>
            <a:pPr algn="r" indent="0" marL="0">
              <a:buNone/>
            </a:pPr>
            <a:r>
              <a:rPr lang="en-US" sz="750" i="1" dirty="0">
                <a:solidFill>
                  <a:srgbClr val="63737F"/>
                </a:solidFill>
                <a:latin typeface="Calibri" pitchFamily="34" charset="0"/>
                <a:ea typeface="Calibri" pitchFamily="34" charset="-122"/>
                <a:cs typeface="Calibri" pitchFamily="34" charset="-120"/>
              </a:rPr>
              <a:t>the tape: price fell (left) · price rose (right)</a:t>
            </a:r>
            <a:endParaRPr lang="en-US" sz="750" dirty="0"/>
          </a:p>
        </p:txBody>
      </p:sp>
      <p:sp>
        <p:nvSpPr>
          <p:cNvPr id="63" name="Text 61"/>
          <p:cNvSpPr/>
          <p:nvPr/>
        </p:nvSpPr>
        <p:spPr>
          <a:xfrm>
            <a:off x="8183880" y="1828800"/>
            <a:ext cx="3566160" cy="201168"/>
          </a:xfrm>
          <a:prstGeom prst="rect">
            <a:avLst/>
          </a:prstGeom>
          <a:noFill/>
          <a:ln/>
        </p:spPr>
        <p:txBody>
          <a:bodyPr wrap="square" lIns="0" tIns="0" rIns="0" bIns="0" rtlCol="0" anchor="t"/>
          <a:lstStyle/>
          <a:p>
            <a:pPr indent="0" marL="0">
              <a:buNone/>
            </a:pPr>
            <a:r>
              <a:rPr lang="en-US" sz="900" b="1" spc="80" kern="0" dirty="0">
                <a:solidFill>
                  <a:srgbClr val="0088CE"/>
                </a:solidFill>
                <a:latin typeface="Calibri" pitchFamily="34" charset="0"/>
                <a:ea typeface="Calibri" pitchFamily="34" charset="-122"/>
                <a:cs typeface="Calibri" pitchFamily="34" charset="-120"/>
              </a:rPr>
              <a:t>THE FOUR COLUMNS</a:t>
            </a:r>
            <a:endParaRPr lang="en-US" sz="900" dirty="0"/>
          </a:p>
        </p:txBody>
      </p:sp>
      <p:sp>
        <p:nvSpPr>
          <p:cNvPr id="64" name="Shape 62"/>
          <p:cNvSpPr/>
          <p:nvPr/>
        </p:nvSpPr>
        <p:spPr>
          <a:xfrm>
            <a:off x="8138160" y="2084832"/>
            <a:ext cx="3584448" cy="493776"/>
          </a:xfrm>
          <a:prstGeom prst="roundRect">
            <a:avLst>
              <a:gd name="adj" fmla="val 7407"/>
            </a:avLst>
          </a:prstGeom>
          <a:solidFill>
            <a:srgbClr val="F5F8FA"/>
          </a:solidFill>
          <a:ln w="6350">
            <a:solidFill>
              <a:srgbClr val="DCE4EC"/>
            </a:solidFill>
            <a:prstDash val="solid"/>
          </a:ln>
        </p:spPr>
      </p:sp>
      <p:sp>
        <p:nvSpPr>
          <p:cNvPr id="65" name="Text 63"/>
          <p:cNvSpPr/>
          <p:nvPr/>
        </p:nvSpPr>
        <p:spPr>
          <a:xfrm>
            <a:off x="8321040" y="2157984"/>
            <a:ext cx="1143000" cy="201168"/>
          </a:xfrm>
          <a:prstGeom prst="rect">
            <a:avLst/>
          </a:prstGeom>
          <a:noFill/>
          <a:ln/>
        </p:spPr>
        <p:txBody>
          <a:bodyPr wrap="square" lIns="0" tIns="0" rIns="0" bIns="0" rtlCol="0" anchor="t"/>
          <a:lstStyle/>
          <a:p>
            <a:pPr indent="0" marL="0">
              <a:buNone/>
            </a:pPr>
            <a:r>
              <a:rPr lang="en-US" sz="850" b="1" dirty="0">
                <a:solidFill>
                  <a:srgbClr val="002D72"/>
                </a:solidFill>
                <a:latin typeface="Calibri" pitchFamily="34" charset="0"/>
                <a:ea typeface="Calibri" pitchFamily="34" charset="-122"/>
                <a:cs typeface="Calibri" pitchFamily="34" charset="-120"/>
              </a:rPr>
              <a:t>Flow × price</a:t>
            </a:r>
            <a:endParaRPr lang="en-US" sz="850" dirty="0"/>
          </a:p>
        </p:txBody>
      </p:sp>
      <p:sp>
        <p:nvSpPr>
          <p:cNvPr id="66" name="Text 64"/>
          <p:cNvSpPr/>
          <p:nvPr/>
        </p:nvSpPr>
        <p:spPr>
          <a:xfrm>
            <a:off x="9464040" y="2157984"/>
            <a:ext cx="2148840" cy="384048"/>
          </a:xfrm>
          <a:prstGeom prst="rect">
            <a:avLst/>
          </a:prstGeom>
          <a:noFill/>
          <a:ln/>
        </p:spPr>
        <p:txBody>
          <a:bodyPr wrap="square" lIns="0" tIns="0" rIns="0" bIns="0" rtlCol="0" anchor="t"/>
          <a:lstStyle/>
          <a:p>
            <a:pPr indent="0" marL="0">
              <a:lnSpc>
                <a:spcPts val="1050"/>
              </a:lnSpc>
              <a:buNone/>
            </a:pPr>
            <a:r>
              <a:rPr lang="en-US" sz="800" dirty="0">
                <a:solidFill>
                  <a:srgbClr val="1A2733"/>
                </a:solidFill>
                <a:latin typeface="Calibri" pitchFamily="34" charset="0"/>
                <a:ea typeface="Calibri" pitchFamily="34" charset="-122"/>
                <a:cs typeface="Calibri" pitchFamily="34" charset="-120"/>
              </a:rPr>
              <a:t>gives the quadrant — who is being paid</a:t>
            </a:r>
            <a:endParaRPr lang="en-US" sz="800" dirty="0"/>
          </a:p>
        </p:txBody>
      </p:sp>
      <p:sp>
        <p:nvSpPr>
          <p:cNvPr id="67" name="Shape 65"/>
          <p:cNvSpPr/>
          <p:nvPr/>
        </p:nvSpPr>
        <p:spPr>
          <a:xfrm>
            <a:off x="8138160" y="2651760"/>
            <a:ext cx="3584448" cy="493776"/>
          </a:xfrm>
          <a:prstGeom prst="roundRect">
            <a:avLst>
              <a:gd name="adj" fmla="val 7407"/>
            </a:avLst>
          </a:prstGeom>
          <a:solidFill>
            <a:srgbClr val="F5F8FA"/>
          </a:solidFill>
          <a:ln w="6350">
            <a:solidFill>
              <a:srgbClr val="DCE4EC"/>
            </a:solidFill>
            <a:prstDash val="solid"/>
          </a:ln>
        </p:spPr>
      </p:sp>
      <p:sp>
        <p:nvSpPr>
          <p:cNvPr id="68" name="Text 66"/>
          <p:cNvSpPr/>
          <p:nvPr/>
        </p:nvSpPr>
        <p:spPr>
          <a:xfrm>
            <a:off x="8321040" y="2724912"/>
            <a:ext cx="1143000" cy="201168"/>
          </a:xfrm>
          <a:prstGeom prst="rect">
            <a:avLst/>
          </a:prstGeom>
          <a:noFill/>
          <a:ln/>
        </p:spPr>
        <p:txBody>
          <a:bodyPr wrap="square" lIns="0" tIns="0" rIns="0" bIns="0" rtlCol="0" anchor="t"/>
          <a:lstStyle/>
          <a:p>
            <a:pPr indent="0" marL="0">
              <a:buNone/>
            </a:pPr>
            <a:r>
              <a:rPr lang="en-US" sz="850" b="1" dirty="0">
                <a:solidFill>
                  <a:srgbClr val="002D72"/>
                </a:solidFill>
                <a:latin typeface="Calibri" pitchFamily="34" charset="0"/>
                <a:ea typeface="Calibri" pitchFamily="34" charset="-122"/>
                <a:cs typeface="Calibri" pitchFamily="34" charset="-120"/>
              </a:rPr>
              <a:t>Δ short base</a:t>
            </a:r>
            <a:endParaRPr lang="en-US" sz="850" dirty="0"/>
          </a:p>
        </p:txBody>
      </p:sp>
      <p:sp>
        <p:nvSpPr>
          <p:cNvPr id="69" name="Text 67"/>
          <p:cNvSpPr/>
          <p:nvPr/>
        </p:nvSpPr>
        <p:spPr>
          <a:xfrm>
            <a:off x="9464040" y="2724912"/>
            <a:ext cx="2148840" cy="384048"/>
          </a:xfrm>
          <a:prstGeom prst="rect">
            <a:avLst/>
          </a:prstGeom>
          <a:noFill/>
          <a:ln/>
        </p:spPr>
        <p:txBody>
          <a:bodyPr wrap="square" lIns="0" tIns="0" rIns="0" bIns="0" rtlCol="0" anchor="t"/>
          <a:lstStyle/>
          <a:p>
            <a:pPr indent="0" marL="0">
              <a:lnSpc>
                <a:spcPts val="1050"/>
              </a:lnSpc>
              <a:buNone/>
            </a:pPr>
            <a:r>
              <a:rPr lang="en-US" sz="800" dirty="0">
                <a:solidFill>
                  <a:srgbClr val="1A2733"/>
                </a:solidFill>
                <a:latin typeface="Calibri" pitchFamily="34" charset="0"/>
                <a:ea typeface="Calibri" pitchFamily="34" charset="-122"/>
                <a:cs typeface="Calibri" pitchFamily="34" charset="-120"/>
              </a:rPr>
              <a:t>names who is on the other side: covering, or fresh shorts</a:t>
            </a:r>
            <a:endParaRPr lang="en-US" sz="800" dirty="0"/>
          </a:p>
        </p:txBody>
      </p:sp>
      <p:sp>
        <p:nvSpPr>
          <p:cNvPr id="70" name="Shape 68"/>
          <p:cNvSpPr/>
          <p:nvPr/>
        </p:nvSpPr>
        <p:spPr>
          <a:xfrm>
            <a:off x="8138160" y="3218688"/>
            <a:ext cx="3584448" cy="493776"/>
          </a:xfrm>
          <a:prstGeom prst="roundRect">
            <a:avLst>
              <a:gd name="adj" fmla="val 7407"/>
            </a:avLst>
          </a:prstGeom>
          <a:solidFill>
            <a:srgbClr val="F5F8FA"/>
          </a:solidFill>
          <a:ln w="6350">
            <a:solidFill>
              <a:srgbClr val="DCE4EC"/>
            </a:solidFill>
            <a:prstDash val="solid"/>
          </a:ln>
        </p:spPr>
      </p:sp>
      <p:sp>
        <p:nvSpPr>
          <p:cNvPr id="71" name="Text 69"/>
          <p:cNvSpPr/>
          <p:nvPr/>
        </p:nvSpPr>
        <p:spPr>
          <a:xfrm>
            <a:off x="8321040" y="3291840"/>
            <a:ext cx="1143000" cy="201168"/>
          </a:xfrm>
          <a:prstGeom prst="rect">
            <a:avLst/>
          </a:prstGeom>
          <a:noFill/>
          <a:ln/>
        </p:spPr>
        <p:txBody>
          <a:bodyPr wrap="square" lIns="0" tIns="0" rIns="0" bIns="0" rtlCol="0" anchor="t"/>
          <a:lstStyle/>
          <a:p>
            <a:pPr indent="0" marL="0">
              <a:buNone/>
            </a:pPr>
            <a:r>
              <a:rPr lang="en-US" sz="850" b="1" dirty="0">
                <a:solidFill>
                  <a:srgbClr val="002D72"/>
                </a:solidFill>
                <a:latin typeface="Calibri" pitchFamily="34" charset="0"/>
                <a:ea typeface="Calibri" pitchFamily="34" charset="-122"/>
                <a:cs typeface="Calibri" pitchFamily="34" charset="-120"/>
              </a:rPr>
              <a:t>Days-to-cover</a:t>
            </a:r>
            <a:endParaRPr lang="en-US" sz="850" dirty="0"/>
          </a:p>
        </p:txBody>
      </p:sp>
      <p:sp>
        <p:nvSpPr>
          <p:cNvPr id="72" name="Text 70"/>
          <p:cNvSpPr/>
          <p:nvPr/>
        </p:nvSpPr>
        <p:spPr>
          <a:xfrm>
            <a:off x="9464040" y="3291840"/>
            <a:ext cx="2148840" cy="384048"/>
          </a:xfrm>
          <a:prstGeom prst="rect">
            <a:avLst/>
          </a:prstGeom>
          <a:noFill/>
          <a:ln/>
        </p:spPr>
        <p:txBody>
          <a:bodyPr wrap="square" lIns="0" tIns="0" rIns="0" bIns="0" rtlCol="0" anchor="t"/>
          <a:lstStyle/>
          <a:p>
            <a:pPr indent="0" marL="0">
              <a:lnSpc>
                <a:spcPts val="1050"/>
              </a:lnSpc>
              <a:buNone/>
            </a:pPr>
            <a:r>
              <a:rPr lang="en-US" sz="800" dirty="0">
                <a:solidFill>
                  <a:srgbClr val="1A2733"/>
                </a:solidFill>
                <a:latin typeface="Calibri" pitchFamily="34" charset="0"/>
                <a:ea typeface="Calibri" pitchFamily="34" charset="-122"/>
                <a:cs typeface="Calibri" pitchFamily="34" charset="-120"/>
              </a:rPr>
              <a:t>how fast they can leave — a trap or a doorway</a:t>
            </a:r>
            <a:endParaRPr lang="en-US" sz="800" dirty="0"/>
          </a:p>
        </p:txBody>
      </p:sp>
      <p:sp>
        <p:nvSpPr>
          <p:cNvPr id="73" name="Shape 71"/>
          <p:cNvSpPr/>
          <p:nvPr/>
        </p:nvSpPr>
        <p:spPr>
          <a:xfrm>
            <a:off x="8138160" y="3785616"/>
            <a:ext cx="3584448" cy="493776"/>
          </a:xfrm>
          <a:prstGeom prst="roundRect">
            <a:avLst>
              <a:gd name="adj" fmla="val 7407"/>
            </a:avLst>
          </a:prstGeom>
          <a:solidFill>
            <a:srgbClr val="F5F8FA"/>
          </a:solidFill>
          <a:ln w="6350">
            <a:solidFill>
              <a:srgbClr val="DCE4EC"/>
            </a:solidFill>
            <a:prstDash val="solid"/>
          </a:ln>
        </p:spPr>
      </p:sp>
      <p:sp>
        <p:nvSpPr>
          <p:cNvPr id="74" name="Text 72"/>
          <p:cNvSpPr/>
          <p:nvPr/>
        </p:nvSpPr>
        <p:spPr>
          <a:xfrm>
            <a:off x="8321040" y="3858768"/>
            <a:ext cx="1143000" cy="201168"/>
          </a:xfrm>
          <a:prstGeom prst="rect">
            <a:avLst/>
          </a:prstGeom>
          <a:noFill/>
          <a:ln/>
        </p:spPr>
        <p:txBody>
          <a:bodyPr wrap="square" lIns="0" tIns="0" rIns="0" bIns="0" rtlCol="0" anchor="t"/>
          <a:lstStyle/>
          <a:p>
            <a:pPr indent="0" marL="0">
              <a:buNone/>
            </a:pPr>
            <a:r>
              <a:rPr lang="en-US" sz="850" b="1" dirty="0">
                <a:solidFill>
                  <a:srgbClr val="002D72"/>
                </a:solidFill>
                <a:latin typeface="Calibri" pitchFamily="34" charset="0"/>
                <a:ea typeface="Calibri" pitchFamily="34" charset="-122"/>
                <a:cs typeface="Calibri" pitchFamily="34" charset="-120"/>
              </a:rPr>
              <a:t>RSI 14D</a:t>
            </a:r>
            <a:endParaRPr lang="en-US" sz="850" dirty="0"/>
          </a:p>
        </p:txBody>
      </p:sp>
      <p:sp>
        <p:nvSpPr>
          <p:cNvPr id="75" name="Text 73"/>
          <p:cNvSpPr/>
          <p:nvPr/>
        </p:nvSpPr>
        <p:spPr>
          <a:xfrm>
            <a:off x="9464040" y="3858768"/>
            <a:ext cx="2148840" cy="384048"/>
          </a:xfrm>
          <a:prstGeom prst="rect">
            <a:avLst/>
          </a:prstGeom>
          <a:noFill/>
          <a:ln/>
        </p:spPr>
        <p:txBody>
          <a:bodyPr wrap="square" lIns="0" tIns="0" rIns="0" bIns="0" rtlCol="0" anchor="t"/>
          <a:lstStyle/>
          <a:p>
            <a:pPr indent="0" marL="0">
              <a:lnSpc>
                <a:spcPts val="1050"/>
              </a:lnSpc>
              <a:buNone/>
            </a:pPr>
            <a:r>
              <a:rPr lang="en-US" sz="800" dirty="0">
                <a:solidFill>
                  <a:srgbClr val="1A2733"/>
                </a:solidFill>
                <a:latin typeface="Calibri" pitchFamily="34" charset="0"/>
                <a:ea typeface="Calibri" pitchFamily="34" charset="-122"/>
                <a:cs typeface="Calibri" pitchFamily="34" charset="-120"/>
              </a:rPr>
              <a:t>whether the tape was already stretched before any of it</a:t>
            </a:r>
            <a:endParaRPr lang="en-US" sz="800" dirty="0"/>
          </a:p>
        </p:txBody>
      </p:sp>
      <p:sp>
        <p:nvSpPr>
          <p:cNvPr id="76" name="Shape 74"/>
          <p:cNvSpPr/>
          <p:nvPr/>
        </p:nvSpPr>
        <p:spPr>
          <a:xfrm>
            <a:off x="8138160" y="4443984"/>
            <a:ext cx="3584448" cy="1371600"/>
          </a:xfrm>
          <a:prstGeom prst="roundRect">
            <a:avLst>
              <a:gd name="adj" fmla="val 2667"/>
            </a:avLst>
          </a:prstGeom>
          <a:solidFill>
            <a:srgbClr val="EDF3F9"/>
          </a:solidFill>
          <a:ln w="9525">
            <a:solidFill>
              <a:srgbClr val="DCE4EC"/>
            </a:solidFill>
            <a:prstDash val="solid"/>
          </a:ln>
        </p:spPr>
      </p:sp>
      <p:sp>
        <p:nvSpPr>
          <p:cNvPr id="77" name="Text 75"/>
          <p:cNvSpPr/>
          <p:nvPr/>
        </p:nvSpPr>
        <p:spPr>
          <a:xfrm>
            <a:off x="8321040" y="4544568"/>
            <a:ext cx="3291840" cy="201168"/>
          </a:xfrm>
          <a:prstGeom prst="rect">
            <a:avLst/>
          </a:prstGeom>
          <a:noFill/>
          <a:ln/>
        </p:spPr>
        <p:txBody>
          <a:bodyPr wrap="square" lIns="0" tIns="0" rIns="0" bIns="0" rtlCol="0" anchor="t"/>
          <a:lstStyle/>
          <a:p>
            <a:pPr indent="0" marL="0">
              <a:buNone/>
            </a:pPr>
            <a:r>
              <a:rPr lang="en-US" sz="900" b="1" spc="80" kern="0" dirty="0">
                <a:solidFill>
                  <a:srgbClr val="002D72"/>
                </a:solidFill>
                <a:latin typeface="Calibri" pitchFamily="34" charset="0"/>
                <a:ea typeface="Calibri" pitchFamily="34" charset="-122"/>
                <a:cs typeface="Calibri" pitchFamily="34" charset="-120"/>
              </a:rPr>
              <a:t>AND AGAINST THE MAINLAND</a:t>
            </a:r>
            <a:endParaRPr lang="en-US" sz="900" dirty="0"/>
          </a:p>
        </p:txBody>
      </p:sp>
      <p:sp>
        <p:nvSpPr>
          <p:cNvPr id="78" name="Text 76"/>
          <p:cNvSpPr/>
          <p:nvPr/>
        </p:nvSpPr>
        <p:spPr>
          <a:xfrm>
            <a:off x="8321040" y="4773168"/>
            <a:ext cx="3310128" cy="960120"/>
          </a:xfrm>
          <a:prstGeom prst="rect">
            <a:avLst/>
          </a:prstGeom>
          <a:noFill/>
          <a:ln/>
        </p:spPr>
        <p:txBody>
          <a:bodyPr wrap="square" lIns="0" tIns="0" rIns="0" bIns="0" rtlCol="0" anchor="t"/>
          <a:lstStyle/>
          <a:p>
            <a:pPr indent="0" marL="0">
              <a:lnSpc>
                <a:spcPts val="1100"/>
              </a:lnSpc>
              <a:buNone/>
            </a:pPr>
            <a:r>
              <a:rPr lang="en-US" sz="820" dirty="0">
                <a:solidFill>
                  <a:srgbClr val="1A2733"/>
                </a:solidFill>
                <a:latin typeface="Calibri" pitchFamily="34" charset="0"/>
                <a:ea typeface="Calibri" pitchFamily="34" charset="-122"/>
                <a:cs typeface="Calibri" pitchFamily="34" charset="-120"/>
              </a:rPr>
              <a:t>315 of the mapped names sit in disagreement with southbound against 265 in agreement. We buy what the mainland distributes — Kingboard, Xiaomi, Lenovo — and sell into its bid in Knowledge Atlas, Z AI and NetEase. Agreement marks the crowded names; disagreement marks the view.</a:t>
            </a:r>
            <a:endParaRPr lang="en-US" sz="820" dirty="0"/>
          </a:p>
        </p:txBody>
      </p:sp>
      <p:sp>
        <p:nvSpPr>
          <p:cNvPr id="79" name="Shape 77"/>
          <p:cNvSpPr/>
          <p:nvPr/>
        </p:nvSpPr>
        <p:spPr>
          <a:xfrm>
            <a:off x="502920" y="6053328"/>
            <a:ext cx="11201400" cy="777240"/>
          </a:xfrm>
          <a:prstGeom prst="roundRect">
            <a:avLst>
              <a:gd name="adj" fmla="val 4706"/>
            </a:avLst>
          </a:prstGeom>
          <a:solidFill>
            <a:srgbClr val="EDF3F9"/>
          </a:solidFill>
          <a:ln/>
        </p:spPr>
      </p:sp>
      <p:sp>
        <p:nvSpPr>
          <p:cNvPr id="80" name="Text 78"/>
          <p:cNvSpPr/>
          <p:nvPr/>
        </p:nvSpPr>
        <p:spPr>
          <a:xfrm>
            <a:off x="822960" y="6199632"/>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Two names sit in the same quadrant of the tool and mean opposite things: Kingboard's shorts were leaving, Knowledge Atlas's were arriving. Without the change in the short base, both would simply read “we sold and it fell.”</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5 — THE CLIENT COHORTS</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June to July: hedge funds held their line, real money crossed it</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Jun vs Jul-26 · 12M path</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“Is this move fast money or real money — a trend, or a contested level?”</a:t>
            </a:r>
            <a:endParaRPr lang="en-US" sz="1250" dirty="0"/>
          </a:p>
        </p:txBody>
      </p:sp>
      <p:graphicFrame>
        <p:nvGraphicFramePr>
          <p:cNvPr id="9" name="Chart 0" descr=""/>
          <p:cNvGraphicFramePr/>
          <p:nvPr/>
        </p:nvGraphicFramePr>
        <p:xfrm>
          <a:off x="411480" y="1828800"/>
          <a:ext cx="512064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5760720" y="1828800"/>
          <a:ext cx="5943600" cy="283464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5760720" y="4681728"/>
            <a:ext cx="5943600" cy="365760"/>
          </a:xfrm>
          <a:prstGeom prst="rect">
            <a:avLst/>
          </a:prstGeom>
          <a:noFill/>
          <a:ln/>
        </p:spPr>
        <p:txBody>
          <a:bodyPr wrap="square" lIns="0" tIns="0" rIns="0" bIns="0" rtlCol="0" anchor="t"/>
          <a:lstStyle/>
          <a:p>
            <a:pPr indent="0" marL="0">
              <a:lnSpc>
                <a:spcPts val="1050"/>
              </a:lnSpc>
              <a:buNone/>
            </a:pPr>
            <a:r>
              <a:rPr lang="en-US" sz="800" i="1" dirty="0">
                <a:solidFill>
                  <a:srgbClr val="63737F"/>
                </a:solidFill>
                <a:latin typeface="Calibri" pitchFamily="34" charset="0"/>
                <a:ea typeface="Calibri" pitchFamily="34" charset="-122"/>
                <a:cs typeface="Calibri" pitchFamily="34" charset="-120"/>
              </a:rPr>
              <a:t>Replace with a direct export of the dashboard's cumulative-by-bucket panel before presenting — the shape is traced, the exact path is the tool's.</a:t>
            </a:r>
            <a:endParaRPr lang="en-US" sz="800" dirty="0"/>
          </a:p>
        </p:txBody>
      </p:sp>
      <p:sp>
        <p:nvSpPr>
          <p:cNvPr id="12" name="Shape 8"/>
          <p:cNvSpPr/>
          <p:nvPr/>
        </p:nvSpPr>
        <p:spPr>
          <a:xfrm>
            <a:off x="502920" y="5120640"/>
            <a:ext cx="3611880" cy="1234440"/>
          </a:xfrm>
          <a:prstGeom prst="roundRect">
            <a:avLst>
              <a:gd name="adj" fmla="val 2963"/>
            </a:avLst>
          </a:prstGeom>
          <a:solidFill>
            <a:srgbClr val="F5F8FA"/>
          </a:solidFill>
          <a:ln w="9525">
            <a:solidFill>
              <a:srgbClr val="DCE4EC"/>
            </a:solidFill>
            <a:prstDash val="solid"/>
          </a:ln>
        </p:spPr>
      </p:sp>
      <p:sp>
        <p:nvSpPr>
          <p:cNvPr id="13" name="Text 9"/>
          <p:cNvSpPr/>
          <p:nvPr/>
        </p:nvSpPr>
        <p:spPr>
          <a:xfrm>
            <a:off x="722376" y="5230368"/>
            <a:ext cx="3200400" cy="219456"/>
          </a:xfrm>
          <a:prstGeom prst="rect">
            <a:avLst/>
          </a:prstGeom>
          <a:noFill/>
          <a:ln/>
        </p:spPr>
        <p:txBody>
          <a:bodyPr wrap="square" lIns="0" tIns="0" rIns="0" bIns="0" rtlCol="0" anchor="t"/>
          <a:lstStyle/>
          <a:p>
            <a:pPr indent="0" marL="0">
              <a:buNone/>
            </a:pPr>
            <a:r>
              <a:rPr lang="en-US" sz="950" b="1" spc="40" kern="0" dirty="0">
                <a:solidFill>
                  <a:srgbClr val="002D72"/>
                </a:solidFill>
                <a:latin typeface="Calibri" pitchFamily="34" charset="0"/>
                <a:ea typeface="Calibri" pitchFamily="34" charset="-122"/>
                <a:cs typeface="Calibri" pitchFamily="34" charset="-120"/>
              </a:rPr>
              <a:t>HEDGE FUNDS — the trend</a:t>
            </a:r>
            <a:endParaRPr lang="en-US" sz="950" dirty="0"/>
          </a:p>
        </p:txBody>
      </p:sp>
      <p:sp>
        <p:nvSpPr>
          <p:cNvPr id="14" name="Text 10"/>
          <p:cNvSpPr/>
          <p:nvPr/>
        </p:nvSpPr>
        <p:spPr>
          <a:xfrm>
            <a:off x="722376" y="5468112"/>
            <a:ext cx="3200400" cy="841248"/>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One-way de-grossing: the cumulative line steps down in almost every month of the year. June to July it merely eased, from 1.23x to 1.16x selling.</a:t>
            </a:r>
            <a:endParaRPr lang="en-US" sz="900" dirty="0"/>
          </a:p>
        </p:txBody>
      </p:sp>
      <p:sp>
        <p:nvSpPr>
          <p:cNvPr id="15" name="Shape 11"/>
          <p:cNvSpPr/>
          <p:nvPr/>
        </p:nvSpPr>
        <p:spPr>
          <a:xfrm>
            <a:off x="4297680" y="5120640"/>
            <a:ext cx="3611880" cy="1234440"/>
          </a:xfrm>
          <a:prstGeom prst="roundRect">
            <a:avLst>
              <a:gd name="adj" fmla="val 2963"/>
            </a:avLst>
          </a:prstGeom>
          <a:solidFill>
            <a:srgbClr val="EDF3EF"/>
          </a:solidFill>
          <a:ln w="9525">
            <a:solidFill>
              <a:srgbClr val="DCE4EC"/>
            </a:solidFill>
            <a:prstDash val="solid"/>
          </a:ln>
        </p:spPr>
      </p:sp>
      <p:sp>
        <p:nvSpPr>
          <p:cNvPr id="16" name="Text 12"/>
          <p:cNvSpPr/>
          <p:nvPr/>
        </p:nvSpPr>
        <p:spPr>
          <a:xfrm>
            <a:off x="4517136" y="5230368"/>
            <a:ext cx="3200400" cy="219456"/>
          </a:xfrm>
          <a:prstGeom prst="rect">
            <a:avLst/>
          </a:prstGeom>
          <a:noFill/>
          <a:ln/>
        </p:spPr>
        <p:txBody>
          <a:bodyPr wrap="square" lIns="0" tIns="0" rIns="0" bIns="0" rtlCol="0" anchor="t"/>
          <a:lstStyle/>
          <a:p>
            <a:pPr indent="0" marL="0">
              <a:buNone/>
            </a:pPr>
            <a:r>
              <a:rPr lang="en-US" sz="950" b="1" spc="40" kern="0" dirty="0">
                <a:solidFill>
                  <a:srgbClr val="2E6B4F"/>
                </a:solidFill>
                <a:latin typeface="Calibri" pitchFamily="34" charset="0"/>
                <a:ea typeface="Calibri" pitchFamily="34" charset="-122"/>
                <a:cs typeface="Calibri" pitchFamily="34" charset="-120"/>
              </a:rPr>
              <a:t>LONG-ONLY — the turn</a:t>
            </a:r>
            <a:endParaRPr lang="en-US" sz="950" dirty="0"/>
          </a:p>
        </p:txBody>
      </p:sp>
      <p:sp>
        <p:nvSpPr>
          <p:cNvPr id="17" name="Text 13"/>
          <p:cNvSpPr/>
          <p:nvPr/>
        </p:nvSpPr>
        <p:spPr>
          <a:xfrm>
            <a:off x="4517136" y="5468112"/>
            <a:ext cx="3200400" cy="841248"/>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Accumulated the March–April war lows, funded that out in June's rout, then crossed to a 1.01x net buy at July's breakout — its first buy in months, and marginal by design of the word.</a:t>
            </a:r>
            <a:endParaRPr lang="en-US" sz="900" dirty="0"/>
          </a:p>
        </p:txBody>
      </p:sp>
      <p:sp>
        <p:nvSpPr>
          <p:cNvPr id="18" name="Shape 14"/>
          <p:cNvSpPr/>
          <p:nvPr/>
        </p:nvSpPr>
        <p:spPr>
          <a:xfrm>
            <a:off x="8092440" y="5120640"/>
            <a:ext cx="3611880" cy="1234440"/>
          </a:xfrm>
          <a:prstGeom prst="roundRect">
            <a:avLst>
              <a:gd name="adj" fmla="val 2963"/>
            </a:avLst>
          </a:prstGeom>
          <a:solidFill>
            <a:srgbClr val="F5F8FA"/>
          </a:solidFill>
          <a:ln w="9525">
            <a:solidFill>
              <a:srgbClr val="DCE4EC"/>
            </a:solidFill>
            <a:prstDash val="solid"/>
          </a:ln>
        </p:spPr>
      </p:sp>
      <p:sp>
        <p:nvSpPr>
          <p:cNvPr id="19" name="Text 15"/>
          <p:cNvSpPr/>
          <p:nvPr/>
        </p:nvSpPr>
        <p:spPr>
          <a:xfrm>
            <a:off x="8311896" y="5230368"/>
            <a:ext cx="3200400" cy="219456"/>
          </a:xfrm>
          <a:prstGeom prst="rect">
            <a:avLst/>
          </a:prstGeom>
          <a:noFill/>
          <a:ln/>
        </p:spPr>
        <p:txBody>
          <a:bodyPr wrap="square" lIns="0" tIns="0" rIns="0" bIns="0" rtlCol="0" anchor="t"/>
          <a:lstStyle/>
          <a:p>
            <a:pPr indent="0" marL="0">
              <a:buNone/>
            </a:pPr>
            <a:r>
              <a:rPr lang="en-US" sz="950" b="1" spc="40" kern="0" dirty="0">
                <a:solidFill>
                  <a:srgbClr val="8A6D12"/>
                </a:solidFill>
                <a:latin typeface="Calibri" pitchFamily="34" charset="0"/>
                <a:ea typeface="Calibri" pitchFamily="34" charset="-122"/>
                <a:cs typeface="Calibri" pitchFamily="34" charset="-120"/>
              </a:rPr>
              <a:t>RETAIL — the mirror</a:t>
            </a:r>
            <a:endParaRPr lang="en-US" sz="950" dirty="0"/>
          </a:p>
        </p:txBody>
      </p:sp>
      <p:sp>
        <p:nvSpPr>
          <p:cNvPr id="20" name="Text 16"/>
          <p:cNvSpPr/>
          <p:nvPr/>
        </p:nvSpPr>
        <p:spPr>
          <a:xfrm>
            <a:off x="8311896" y="5468112"/>
            <a:ext cx="3200400" cy="841248"/>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Bought the June dip at 1.23x, sold the July rip at 1.29x — the smallest bucket, excluded from the signal, but a neat sentiment mirror of long-only.</a:t>
            </a:r>
            <a:endParaRPr lang="en-US" sz="900" dirty="0"/>
          </a:p>
        </p:txBody>
      </p:sp>
      <p:sp>
        <p:nvSpPr>
          <p:cNvPr id="21" name="Shape 17"/>
          <p:cNvSpPr/>
          <p:nvPr/>
        </p:nvSpPr>
        <p:spPr>
          <a:xfrm>
            <a:off x="502920" y="6446520"/>
            <a:ext cx="11201400" cy="777240"/>
          </a:xfrm>
          <a:prstGeom prst="roundRect">
            <a:avLst>
              <a:gd name="adj" fmla="val 4706"/>
            </a:avLst>
          </a:prstGeom>
          <a:solidFill>
            <a:srgbClr val="EDF3F9"/>
          </a:solidFill>
          <a:ln/>
        </p:spPr>
      </p:sp>
      <p:sp>
        <p:nvSpPr>
          <p:cNvPr id="22" name="Text 18"/>
          <p:cNvSpPr/>
          <p:nvPr/>
        </p:nvSpPr>
        <p:spPr>
          <a:xfrm>
            <a:off x="822960" y="659282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June's alignment — both institutional cohorts selling — is why bounces faded. July's divergence marks a contested level, not yet a trend. Built purely from our own tickets: no vendor can print this pair.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5 · VALUE TO THE DESK</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The three questions the desk is asked — now answered on sight</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502920" y="1325880"/>
            <a:ext cx="3611880" cy="1874520"/>
          </a:xfrm>
          <a:prstGeom prst="roundRect">
            <a:avLst>
              <a:gd name="adj" fmla="val 2439"/>
            </a:avLst>
          </a:prstGeom>
          <a:solidFill>
            <a:srgbClr val="EDF3F9"/>
          </a:solidFill>
          <a:ln w="9525">
            <a:solidFill>
              <a:srgbClr val="DCE4EC"/>
            </a:solidFill>
            <a:prstDash val="solid"/>
          </a:ln>
        </p:spPr>
      </p:sp>
      <p:sp>
        <p:nvSpPr>
          <p:cNvPr id="6" name="Shape 4"/>
          <p:cNvSpPr/>
          <p:nvPr/>
        </p:nvSpPr>
        <p:spPr>
          <a:xfrm>
            <a:off x="722376" y="1508760"/>
            <a:ext cx="274320" cy="274320"/>
          </a:xfrm>
          <a:prstGeom prst="ellipse">
            <a:avLst/>
          </a:prstGeom>
          <a:solidFill>
            <a:srgbClr val="2E6B4F"/>
          </a:solidFill>
          <a:ln/>
        </p:spPr>
      </p:sp>
      <p:sp>
        <p:nvSpPr>
          <p:cNvPr id="7" name="Text 5"/>
          <p:cNvSpPr/>
          <p:nvPr/>
        </p:nvSpPr>
        <p:spPr>
          <a:xfrm>
            <a:off x="722376" y="1545336"/>
            <a:ext cx="274320" cy="21945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1088136" y="1481328"/>
            <a:ext cx="2926080" cy="365760"/>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“What is crowded?”</a:t>
            </a:r>
            <a:endParaRPr lang="en-US" sz="1250" dirty="0"/>
          </a:p>
        </p:txBody>
      </p:sp>
      <p:sp>
        <p:nvSpPr>
          <p:cNvPr id="9" name="Text 7"/>
          <p:cNvSpPr/>
          <p:nvPr/>
        </p:nvSpPr>
        <p:spPr>
          <a:xfrm>
            <a:off x="722376" y="1920240"/>
            <a:ext cx="3200400" cy="1234440"/>
          </a:xfrm>
          <a:prstGeom prst="rect">
            <a:avLst/>
          </a:prstGeom>
          <a:noFill/>
          <a:ln/>
        </p:spPr>
        <p:txBody>
          <a:bodyPr wrap="square" lIns="0" tIns="0" rIns="0" bIns="0" rtlCol="0" anchor="t"/>
          <a:lstStyle/>
          <a:p>
            <a:pPr indent="0" marL="0">
              <a:lnSpc>
                <a:spcPts val="1350"/>
              </a:lnSpc>
              <a:buNone/>
            </a:pPr>
            <a:r>
              <a:rPr lang="en-US" sz="1000" dirty="0">
                <a:solidFill>
                  <a:srgbClr val="1A2733"/>
                </a:solidFill>
                <a:latin typeface="Calibri" pitchFamily="34" charset="0"/>
                <a:ea typeface="Calibri" pitchFamily="34" charset="-122"/>
                <a:cs typeface="Calibri" pitchFamily="34" charset="-120"/>
              </a:rPr>
              <a:t>Scenario 4's quadrant map names the crowded longs and shorts, with the change in the short base and days-to-cover testing whether the exit is narrow. Candidates with evidence, refreshed monthly.</a:t>
            </a:r>
            <a:endParaRPr lang="en-US" sz="1000" dirty="0"/>
          </a:p>
        </p:txBody>
      </p:sp>
      <p:sp>
        <p:nvSpPr>
          <p:cNvPr id="10" name="Shape 8"/>
          <p:cNvSpPr/>
          <p:nvPr/>
        </p:nvSpPr>
        <p:spPr>
          <a:xfrm>
            <a:off x="4297680" y="1325880"/>
            <a:ext cx="3611880" cy="1874520"/>
          </a:xfrm>
          <a:prstGeom prst="roundRect">
            <a:avLst>
              <a:gd name="adj" fmla="val 2439"/>
            </a:avLst>
          </a:prstGeom>
          <a:solidFill>
            <a:srgbClr val="EDF3F9"/>
          </a:solidFill>
          <a:ln w="9525">
            <a:solidFill>
              <a:srgbClr val="DCE4EC"/>
            </a:solidFill>
            <a:prstDash val="solid"/>
          </a:ln>
        </p:spPr>
      </p:sp>
      <p:sp>
        <p:nvSpPr>
          <p:cNvPr id="11" name="Shape 9"/>
          <p:cNvSpPr/>
          <p:nvPr/>
        </p:nvSpPr>
        <p:spPr>
          <a:xfrm>
            <a:off x="4517136" y="1508760"/>
            <a:ext cx="274320" cy="274320"/>
          </a:xfrm>
          <a:prstGeom prst="ellipse">
            <a:avLst/>
          </a:prstGeom>
          <a:solidFill>
            <a:srgbClr val="0088CE"/>
          </a:solidFill>
          <a:ln/>
        </p:spPr>
      </p:sp>
      <p:sp>
        <p:nvSpPr>
          <p:cNvPr id="12" name="Text 10"/>
          <p:cNvSpPr/>
          <p:nvPr/>
        </p:nvSpPr>
        <p:spPr>
          <a:xfrm>
            <a:off x="4517136" y="1545336"/>
            <a:ext cx="274320" cy="21945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4882896" y="1481328"/>
            <a:ext cx="2926080" cy="365760"/>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“How is the street positioned?”</a:t>
            </a:r>
            <a:endParaRPr lang="en-US" sz="1250" dirty="0"/>
          </a:p>
        </p:txBody>
      </p:sp>
      <p:sp>
        <p:nvSpPr>
          <p:cNvPr id="14" name="Text 12"/>
          <p:cNvSpPr/>
          <p:nvPr/>
        </p:nvSpPr>
        <p:spPr>
          <a:xfrm>
            <a:off x="4517136" y="1920240"/>
            <a:ext cx="3200400" cy="1234440"/>
          </a:xfrm>
          <a:prstGeom prst="rect">
            <a:avLst/>
          </a:prstGeom>
          <a:noFill/>
          <a:ln/>
        </p:spPr>
        <p:txBody>
          <a:bodyPr wrap="square" lIns="0" tIns="0" rIns="0" bIns="0" rtlCol="0" anchor="t"/>
          <a:lstStyle/>
          <a:p>
            <a:pPr indent="0" marL="0">
              <a:lnSpc>
                <a:spcPts val="1350"/>
              </a:lnSpc>
              <a:buNone/>
            </a:pPr>
            <a:r>
              <a:rPr lang="en-US" sz="1000" dirty="0">
                <a:solidFill>
                  <a:srgbClr val="1A2733"/>
                </a:solidFill>
                <a:latin typeface="Calibri" pitchFamily="34" charset="0"/>
                <a:ea typeface="Calibri" pitchFamily="34" charset="-122"/>
                <a:cs typeface="Calibri" pitchFamily="34" charset="-120"/>
              </a:rPr>
              <a:t>Scenario 1 sets the regime — a year of institutional selling under a rising benchmark — and Scenario 5 shows which cohort is doing it and when real money turned.</a:t>
            </a:r>
            <a:endParaRPr lang="en-US" sz="1000" dirty="0"/>
          </a:p>
        </p:txBody>
      </p:sp>
      <p:sp>
        <p:nvSpPr>
          <p:cNvPr id="15" name="Shape 13"/>
          <p:cNvSpPr/>
          <p:nvPr/>
        </p:nvSpPr>
        <p:spPr>
          <a:xfrm>
            <a:off x="8092440" y="1325880"/>
            <a:ext cx="3611880" cy="1874520"/>
          </a:xfrm>
          <a:prstGeom prst="roundRect">
            <a:avLst>
              <a:gd name="adj" fmla="val 2439"/>
            </a:avLst>
          </a:prstGeom>
          <a:solidFill>
            <a:srgbClr val="EDF3F9"/>
          </a:solidFill>
          <a:ln w="9525">
            <a:solidFill>
              <a:srgbClr val="DCE4EC"/>
            </a:solidFill>
            <a:prstDash val="solid"/>
          </a:ln>
        </p:spPr>
      </p:sp>
      <p:sp>
        <p:nvSpPr>
          <p:cNvPr id="16" name="Shape 14"/>
          <p:cNvSpPr/>
          <p:nvPr/>
        </p:nvSpPr>
        <p:spPr>
          <a:xfrm>
            <a:off x="8311896" y="1508760"/>
            <a:ext cx="274320" cy="274320"/>
          </a:xfrm>
          <a:prstGeom prst="ellipse">
            <a:avLst/>
          </a:prstGeom>
          <a:solidFill>
            <a:srgbClr val="002D72"/>
          </a:solidFill>
          <a:ln/>
        </p:spPr>
      </p:sp>
      <p:sp>
        <p:nvSpPr>
          <p:cNvPr id="17" name="Text 15"/>
          <p:cNvSpPr/>
          <p:nvPr/>
        </p:nvSpPr>
        <p:spPr>
          <a:xfrm>
            <a:off x="8311896" y="1545336"/>
            <a:ext cx="274320" cy="21945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8677656" y="1481328"/>
            <a:ext cx="2926080" cy="365760"/>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“What rotated, and why?”</a:t>
            </a:r>
            <a:endParaRPr lang="en-US" sz="1250" dirty="0"/>
          </a:p>
        </p:txBody>
      </p:sp>
      <p:sp>
        <p:nvSpPr>
          <p:cNvPr id="19" name="Text 17"/>
          <p:cNvSpPr/>
          <p:nvPr/>
        </p:nvSpPr>
        <p:spPr>
          <a:xfrm>
            <a:off x="8311896" y="1920240"/>
            <a:ext cx="3200400" cy="1234440"/>
          </a:xfrm>
          <a:prstGeom prst="rect">
            <a:avLst/>
          </a:prstGeom>
          <a:noFill/>
          <a:ln/>
        </p:spPr>
        <p:txBody>
          <a:bodyPr wrap="square" lIns="0" tIns="0" rIns="0" bIns="0" rtlCol="0" anchor="t"/>
          <a:lstStyle/>
          <a:p>
            <a:pPr indent="0" marL="0">
              <a:lnSpc>
                <a:spcPts val="1350"/>
              </a:lnSpc>
              <a:buNone/>
            </a:pPr>
            <a:r>
              <a:rPr lang="en-US" sz="1000" dirty="0">
                <a:solidFill>
                  <a:srgbClr val="1A2733"/>
                </a:solidFill>
                <a:latin typeface="Calibri" pitchFamily="34" charset="0"/>
                <a:ea typeface="Calibri" pitchFamily="34" charset="-122"/>
                <a:cs typeface="Calibri" pitchFamily="34" charset="-120"/>
              </a:rPr>
              <a:t>Scenarios 2 and 3 trace the sector reversals and the theme inside them, with the mainland's flow on the same axes for contrast.</a:t>
            </a:r>
            <a:endParaRPr lang="en-US" sz="1000" dirty="0"/>
          </a:p>
        </p:txBody>
      </p:sp>
      <p:sp>
        <p:nvSpPr>
          <p:cNvPr id="20" name="Text 18"/>
          <p:cNvSpPr/>
          <p:nvPr/>
        </p:nvSpPr>
        <p:spPr>
          <a:xfrm>
            <a:off x="548640" y="3575304"/>
            <a:ext cx="2743200" cy="457200"/>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Positioning colour for a call</a:t>
            </a:r>
            <a:endParaRPr lang="en-US" sz="1100" dirty="0"/>
          </a:p>
        </p:txBody>
      </p:sp>
      <p:sp>
        <p:nvSpPr>
          <p:cNvPr id="21" name="Shape 19"/>
          <p:cNvSpPr/>
          <p:nvPr/>
        </p:nvSpPr>
        <p:spPr>
          <a:xfrm>
            <a:off x="3383280" y="3429000"/>
            <a:ext cx="3566160" cy="603504"/>
          </a:xfrm>
          <a:prstGeom prst="roundRect">
            <a:avLst>
              <a:gd name="adj" fmla="val 6061"/>
            </a:avLst>
          </a:prstGeom>
          <a:solidFill>
            <a:srgbClr val="F5F8FA"/>
          </a:solidFill>
          <a:ln w="7620">
            <a:solidFill>
              <a:srgbClr val="DCE4EC"/>
            </a:solidFill>
            <a:prstDash val="solid"/>
          </a:ln>
        </p:spPr>
      </p:sp>
      <p:sp>
        <p:nvSpPr>
          <p:cNvPr id="22" name="Text 20"/>
          <p:cNvSpPr/>
          <p:nvPr/>
        </p:nvSpPr>
        <p:spPr>
          <a:xfrm>
            <a:off x="3584448" y="3593592"/>
            <a:ext cx="3200400" cy="320040"/>
          </a:xfrm>
          <a:prstGeom prst="rect">
            <a:avLst/>
          </a:prstGeom>
          <a:noFill/>
          <a:ln/>
        </p:spPr>
        <p:txBody>
          <a:bodyPr wrap="square" lIns="0" tIns="0" rIns="0" bIns="0" rtlCol="0" anchor="t"/>
          <a:lstStyle/>
          <a:p>
            <a:pPr indent="0" marL="0">
              <a:buNone/>
            </a:pPr>
            <a:r>
              <a:rPr lang="en-US" sz="1000" dirty="0">
                <a:solidFill>
                  <a:srgbClr val="63737F"/>
                </a:solidFill>
                <a:latin typeface="Calibri" pitchFamily="34" charset="0"/>
                <a:ea typeface="Calibri" pitchFamily="34" charset="-122"/>
                <a:cs typeface="Calibri" pitchFamily="34" charset="-120"/>
              </a:rPr>
              <a:t>one seat's memory</a:t>
            </a:r>
            <a:endParaRPr lang="en-US" sz="1000" dirty="0"/>
          </a:p>
        </p:txBody>
      </p:sp>
      <p:sp>
        <p:nvSpPr>
          <p:cNvPr id="23" name="Shape 21"/>
          <p:cNvSpPr/>
          <p:nvPr/>
        </p:nvSpPr>
        <p:spPr>
          <a:xfrm>
            <a:off x="7059168" y="3584448"/>
            <a:ext cx="384048" cy="274320"/>
          </a:xfrm>
          <a:prstGeom prst="rightArrow">
            <a:avLst/>
          </a:prstGeom>
          <a:solidFill>
            <a:srgbClr val="0088CE"/>
          </a:solidFill>
          <a:ln/>
        </p:spPr>
      </p:sp>
      <p:sp>
        <p:nvSpPr>
          <p:cNvPr id="24" name="Shape 22"/>
          <p:cNvSpPr/>
          <p:nvPr/>
        </p:nvSpPr>
        <p:spPr>
          <a:xfrm>
            <a:off x="7589520" y="3429000"/>
            <a:ext cx="4114800" cy="603504"/>
          </a:xfrm>
          <a:prstGeom prst="roundRect">
            <a:avLst>
              <a:gd name="adj" fmla="val 6061"/>
            </a:avLst>
          </a:prstGeom>
          <a:solidFill>
            <a:srgbClr val="EDF3F9"/>
          </a:solidFill>
          <a:ln w="7620">
            <a:solidFill>
              <a:srgbClr val="DCE4EC"/>
            </a:solidFill>
            <a:prstDash val="solid"/>
          </a:ln>
        </p:spPr>
      </p:sp>
      <p:sp>
        <p:nvSpPr>
          <p:cNvPr id="25" name="Text 23"/>
          <p:cNvSpPr/>
          <p:nvPr/>
        </p:nvSpPr>
        <p:spPr>
          <a:xfrm>
            <a:off x="7790688" y="3593592"/>
            <a:ext cx="3749040" cy="32004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the whole franchise, any window, in about a minute</a:t>
            </a:r>
            <a:endParaRPr lang="en-US" sz="1000" dirty="0"/>
          </a:p>
        </p:txBody>
      </p:sp>
      <p:sp>
        <p:nvSpPr>
          <p:cNvPr id="26" name="Text 24"/>
          <p:cNvSpPr/>
          <p:nvPr/>
        </p:nvSpPr>
        <p:spPr>
          <a:xfrm>
            <a:off x="548640" y="4288536"/>
            <a:ext cx="2743200" cy="457200"/>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Verifying a single name</a:t>
            </a:r>
            <a:endParaRPr lang="en-US" sz="1100" dirty="0"/>
          </a:p>
        </p:txBody>
      </p:sp>
      <p:sp>
        <p:nvSpPr>
          <p:cNvPr id="27" name="Shape 25"/>
          <p:cNvSpPr/>
          <p:nvPr/>
        </p:nvSpPr>
        <p:spPr>
          <a:xfrm>
            <a:off x="3383280" y="4142232"/>
            <a:ext cx="3566160" cy="603504"/>
          </a:xfrm>
          <a:prstGeom prst="roundRect">
            <a:avLst>
              <a:gd name="adj" fmla="val 6061"/>
            </a:avLst>
          </a:prstGeom>
          <a:solidFill>
            <a:srgbClr val="F5F8FA"/>
          </a:solidFill>
          <a:ln w="7620">
            <a:solidFill>
              <a:srgbClr val="DCE4EC"/>
            </a:solidFill>
            <a:prstDash val="solid"/>
          </a:ln>
        </p:spPr>
      </p:sp>
      <p:sp>
        <p:nvSpPr>
          <p:cNvPr id="28" name="Text 26"/>
          <p:cNvSpPr/>
          <p:nvPr/>
        </p:nvSpPr>
        <p:spPr>
          <a:xfrm>
            <a:off x="3584448" y="4306824"/>
            <a:ext cx="3200400" cy="320040"/>
          </a:xfrm>
          <a:prstGeom prst="rect">
            <a:avLst/>
          </a:prstGeom>
          <a:noFill/>
          <a:ln/>
        </p:spPr>
        <p:txBody>
          <a:bodyPr wrap="square" lIns="0" tIns="0" rIns="0" bIns="0" rtlCol="0" anchor="t"/>
          <a:lstStyle/>
          <a:p>
            <a:pPr indent="0" marL="0">
              <a:buNone/>
            </a:pPr>
            <a:r>
              <a:rPr lang="en-US" sz="1000" dirty="0">
                <a:solidFill>
                  <a:srgbClr val="63737F"/>
                </a:solidFill>
                <a:latin typeface="Calibri" pitchFamily="34" charset="0"/>
                <a:ea typeface="Calibri" pitchFamily="34" charset="-122"/>
                <a:cs typeface="Calibri" pitchFamily="34" charset="-120"/>
              </a:rPr>
              <a:t>30–60 minutes of ad-hoc Bloomberg work</a:t>
            </a:r>
            <a:endParaRPr lang="en-US" sz="1000" dirty="0"/>
          </a:p>
        </p:txBody>
      </p:sp>
      <p:sp>
        <p:nvSpPr>
          <p:cNvPr id="29" name="Shape 27"/>
          <p:cNvSpPr/>
          <p:nvPr/>
        </p:nvSpPr>
        <p:spPr>
          <a:xfrm>
            <a:off x="7059168" y="4297680"/>
            <a:ext cx="384048" cy="274320"/>
          </a:xfrm>
          <a:prstGeom prst="rightArrow">
            <a:avLst/>
          </a:prstGeom>
          <a:solidFill>
            <a:srgbClr val="0088CE"/>
          </a:solidFill>
          <a:ln/>
        </p:spPr>
      </p:sp>
      <p:sp>
        <p:nvSpPr>
          <p:cNvPr id="30" name="Shape 28"/>
          <p:cNvSpPr/>
          <p:nvPr/>
        </p:nvSpPr>
        <p:spPr>
          <a:xfrm>
            <a:off x="7589520" y="4142232"/>
            <a:ext cx="4114800" cy="603504"/>
          </a:xfrm>
          <a:prstGeom prst="roundRect">
            <a:avLst>
              <a:gd name="adj" fmla="val 6061"/>
            </a:avLst>
          </a:prstGeom>
          <a:solidFill>
            <a:srgbClr val="EDF3F9"/>
          </a:solidFill>
          <a:ln w="7620">
            <a:solidFill>
              <a:srgbClr val="DCE4EC"/>
            </a:solidFill>
            <a:prstDash val="solid"/>
          </a:ln>
        </p:spPr>
      </p:sp>
      <p:sp>
        <p:nvSpPr>
          <p:cNvPr id="31" name="Text 29"/>
          <p:cNvSpPr/>
          <p:nvPr/>
        </p:nvSpPr>
        <p:spPr>
          <a:xfrm>
            <a:off x="7790688" y="4306824"/>
            <a:ext cx="3749040" cy="32004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RSI, short base, exit and southbound pre-joined on the row</a:t>
            </a:r>
            <a:endParaRPr lang="en-US" sz="1000" dirty="0"/>
          </a:p>
        </p:txBody>
      </p:sp>
      <p:sp>
        <p:nvSpPr>
          <p:cNvPr id="32" name="Text 30"/>
          <p:cNvSpPr/>
          <p:nvPr/>
        </p:nvSpPr>
        <p:spPr>
          <a:xfrm>
            <a:off x="548640" y="5001768"/>
            <a:ext cx="2743200" cy="457200"/>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What the client receives</a:t>
            </a:r>
            <a:endParaRPr lang="en-US" sz="1100" dirty="0"/>
          </a:p>
        </p:txBody>
      </p:sp>
      <p:sp>
        <p:nvSpPr>
          <p:cNvPr id="33" name="Shape 31"/>
          <p:cNvSpPr/>
          <p:nvPr/>
        </p:nvSpPr>
        <p:spPr>
          <a:xfrm>
            <a:off x="3383280" y="4855464"/>
            <a:ext cx="3566160" cy="603504"/>
          </a:xfrm>
          <a:prstGeom prst="roundRect">
            <a:avLst>
              <a:gd name="adj" fmla="val 6061"/>
            </a:avLst>
          </a:prstGeom>
          <a:solidFill>
            <a:srgbClr val="F5F8FA"/>
          </a:solidFill>
          <a:ln w="7620">
            <a:solidFill>
              <a:srgbClr val="DCE4EC"/>
            </a:solidFill>
            <a:prstDash val="solid"/>
          </a:ln>
        </p:spPr>
      </p:sp>
      <p:sp>
        <p:nvSpPr>
          <p:cNvPr id="34" name="Text 32"/>
          <p:cNvSpPr/>
          <p:nvPr/>
        </p:nvSpPr>
        <p:spPr>
          <a:xfrm>
            <a:off x="3584448" y="5020056"/>
            <a:ext cx="3200400" cy="320040"/>
          </a:xfrm>
          <a:prstGeom prst="rect">
            <a:avLst/>
          </a:prstGeom>
          <a:noFill/>
          <a:ln/>
        </p:spPr>
        <p:txBody>
          <a:bodyPr wrap="square" lIns="0" tIns="0" rIns="0" bIns="0" rtlCol="0" anchor="t"/>
          <a:lstStyle/>
          <a:p>
            <a:pPr indent="0" marL="0">
              <a:buNone/>
            </a:pPr>
            <a:r>
              <a:rPr lang="en-US" sz="1000" dirty="0">
                <a:solidFill>
                  <a:srgbClr val="63737F"/>
                </a:solidFill>
                <a:latin typeface="Calibri" pitchFamily="34" charset="0"/>
                <a:ea typeface="Calibri" pitchFamily="34" charset="-122"/>
                <a:cs typeface="Calibri" pitchFamily="34" charset="-120"/>
              </a:rPr>
              <a:t>nothing, while peers send monthly flow reports</a:t>
            </a:r>
            <a:endParaRPr lang="en-US" sz="1000" dirty="0"/>
          </a:p>
        </p:txBody>
      </p:sp>
      <p:sp>
        <p:nvSpPr>
          <p:cNvPr id="35" name="Shape 33"/>
          <p:cNvSpPr/>
          <p:nvPr/>
        </p:nvSpPr>
        <p:spPr>
          <a:xfrm>
            <a:off x="7059168" y="5010912"/>
            <a:ext cx="384048" cy="274320"/>
          </a:xfrm>
          <a:prstGeom prst="rightArrow">
            <a:avLst/>
          </a:prstGeom>
          <a:solidFill>
            <a:srgbClr val="0088CE"/>
          </a:solidFill>
          <a:ln/>
        </p:spPr>
      </p:sp>
      <p:sp>
        <p:nvSpPr>
          <p:cNvPr id="36" name="Shape 34"/>
          <p:cNvSpPr/>
          <p:nvPr/>
        </p:nvSpPr>
        <p:spPr>
          <a:xfrm>
            <a:off x="7589520" y="4855464"/>
            <a:ext cx="4114800" cy="603504"/>
          </a:xfrm>
          <a:prstGeom prst="roundRect">
            <a:avLst>
              <a:gd name="adj" fmla="val 6061"/>
            </a:avLst>
          </a:prstGeom>
          <a:solidFill>
            <a:srgbClr val="EDF3F9"/>
          </a:solidFill>
          <a:ln w="7620">
            <a:solidFill>
              <a:srgbClr val="DCE4EC"/>
            </a:solidFill>
            <a:prstDash val="solid"/>
          </a:ln>
        </p:spPr>
      </p:sp>
      <p:sp>
        <p:nvSpPr>
          <p:cNvPr id="37" name="Text 35"/>
          <p:cNvSpPr/>
          <p:nvPr/>
        </p:nvSpPr>
        <p:spPr>
          <a:xfrm>
            <a:off x="7790688" y="5020056"/>
            <a:ext cx="3749040" cy="32004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an automated, disclosure-safe monthly report in the inbox</a:t>
            </a:r>
            <a:endParaRPr lang="en-US" sz="1000" dirty="0"/>
          </a:p>
        </p:txBody>
      </p:sp>
      <p:sp>
        <p:nvSpPr>
          <p:cNvPr id="38" name="Shape 36"/>
          <p:cNvSpPr/>
          <p:nvPr/>
        </p:nvSpPr>
        <p:spPr>
          <a:xfrm>
            <a:off x="502920" y="5715000"/>
            <a:ext cx="11201400" cy="868680"/>
          </a:xfrm>
          <a:prstGeom prst="roundRect">
            <a:avLst>
              <a:gd name="adj" fmla="val 4211"/>
            </a:avLst>
          </a:prstGeom>
          <a:solidFill>
            <a:srgbClr val="EDF3EF"/>
          </a:solidFill>
          <a:ln w="9525">
            <a:solidFill>
              <a:srgbClr val="DCE4EC"/>
            </a:solidFill>
            <a:prstDash val="solid"/>
          </a:ln>
        </p:spPr>
      </p:sp>
      <p:sp>
        <p:nvSpPr>
          <p:cNvPr id="39" name="Text 37"/>
          <p:cNvSpPr/>
          <p:nvPr/>
        </p:nvSpPr>
        <p:spPr>
          <a:xfrm>
            <a:off x="822960" y="5888736"/>
            <a:ext cx="10607040" cy="594360"/>
          </a:xfrm>
          <a:prstGeom prst="rect">
            <a:avLst/>
          </a:prstGeom>
          <a:noFill/>
          <a:ln/>
        </p:spPr>
        <p:txBody>
          <a:bodyPr wrap="square" lIns="0" tIns="0" rIns="0" bIns="0" rtlCol="0" anchor="t"/>
          <a:lstStyle/>
          <a:p>
            <a:pPr indent="0" marL="0">
              <a:lnSpc>
                <a:spcPts val="1500"/>
              </a:lnSpc>
              <a:buNone/>
            </a:pPr>
            <a:r>
              <a:rPr lang="en-US" sz="1150" b="1" dirty="0">
                <a:solidFill>
                  <a:srgbClr val="145C33"/>
                </a:solidFill>
                <a:latin typeface="Calibri" pitchFamily="34" charset="0"/>
                <a:ea typeface="Calibri" pitchFamily="34" charset="-122"/>
                <a:cs typeface="Calibri" pitchFamily="34" charset="-120"/>
              </a:rPr>
              <a:t>The moat is structural: everyone receives the same short-interest report and anyone can watch southbound — but only this desk can cross both with its own franchise flow, and that ingredient cannot be bought.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6 · AUTOMATION   ·   7 · LIMITATIONS</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Built to run every month, and explicit about what it cannot say</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502920" y="1280160"/>
            <a:ext cx="2697480" cy="1234440"/>
          </a:xfrm>
          <a:prstGeom prst="roundRect">
            <a:avLst>
              <a:gd name="adj" fmla="val 2963"/>
            </a:avLst>
          </a:prstGeom>
          <a:solidFill>
            <a:srgbClr val="EDF3F9"/>
          </a:solidFill>
          <a:ln w="9525">
            <a:solidFill>
              <a:srgbClr val="DCE4EC"/>
            </a:solidFill>
            <a:prstDash val="solid"/>
          </a:ln>
        </p:spPr>
      </p:sp>
      <p:sp>
        <p:nvSpPr>
          <p:cNvPr id="6" name="Text 4"/>
          <p:cNvSpPr/>
          <p:nvPr/>
        </p:nvSpPr>
        <p:spPr>
          <a:xfrm>
            <a:off x="704088" y="1408176"/>
            <a:ext cx="2286000" cy="237744"/>
          </a:xfrm>
          <a:prstGeom prst="rect">
            <a:avLst/>
          </a:prstGeom>
          <a:noFill/>
          <a:ln/>
        </p:spPr>
        <p:txBody>
          <a:bodyPr wrap="square" lIns="0" tIns="0" rIns="0" bIns="0" rtlCol="0" anchor="t"/>
          <a:lstStyle/>
          <a:p>
            <a:pPr indent="0" marL="0">
              <a:buNone/>
            </a:pPr>
            <a:r>
              <a:rPr lang="en-US" sz="1050" b="1" spc="80" kern="0" dirty="0">
                <a:solidFill>
                  <a:srgbClr val="0088CE"/>
                </a:solidFill>
                <a:latin typeface="Calibri" pitchFamily="34" charset="0"/>
                <a:ea typeface="Calibri" pitchFamily="34" charset="-122"/>
                <a:cs typeface="Calibri" pitchFamily="34" charset="-120"/>
              </a:rPr>
              <a:t>1 · DROP</a:t>
            </a:r>
            <a:endParaRPr lang="en-US" sz="1050" dirty="0"/>
          </a:p>
        </p:txBody>
      </p:sp>
      <p:sp>
        <p:nvSpPr>
          <p:cNvPr id="7" name="Text 5"/>
          <p:cNvSpPr/>
          <p:nvPr/>
        </p:nvSpPr>
        <p:spPr>
          <a:xfrm>
            <a:off x="704088" y="1682496"/>
            <a:ext cx="2331720" cy="777240"/>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The month's CTA extract and the two aggregate files land, and the southbound database refreshes.</a:t>
            </a:r>
            <a:endParaRPr lang="en-US" sz="950" dirty="0"/>
          </a:p>
        </p:txBody>
      </p:sp>
      <p:sp>
        <p:nvSpPr>
          <p:cNvPr id="8" name="Shape 6"/>
          <p:cNvSpPr/>
          <p:nvPr/>
        </p:nvSpPr>
        <p:spPr>
          <a:xfrm>
            <a:off x="3154680" y="1792224"/>
            <a:ext cx="237744" cy="256032"/>
          </a:xfrm>
          <a:prstGeom prst="rightArrow">
            <a:avLst/>
          </a:prstGeom>
          <a:solidFill>
            <a:srgbClr val="D6E6F5"/>
          </a:solidFill>
          <a:ln/>
        </p:spPr>
      </p:sp>
      <p:sp>
        <p:nvSpPr>
          <p:cNvPr id="9" name="Shape 7"/>
          <p:cNvSpPr/>
          <p:nvPr/>
        </p:nvSpPr>
        <p:spPr>
          <a:xfrm>
            <a:off x="3429000" y="1280160"/>
            <a:ext cx="2697480" cy="1234440"/>
          </a:xfrm>
          <a:prstGeom prst="roundRect">
            <a:avLst>
              <a:gd name="adj" fmla="val 2963"/>
            </a:avLst>
          </a:prstGeom>
          <a:solidFill>
            <a:srgbClr val="EDF3F9"/>
          </a:solidFill>
          <a:ln w="9525">
            <a:solidFill>
              <a:srgbClr val="DCE4EC"/>
            </a:solidFill>
            <a:prstDash val="solid"/>
          </a:ln>
        </p:spPr>
      </p:sp>
      <p:sp>
        <p:nvSpPr>
          <p:cNvPr id="10" name="Text 8"/>
          <p:cNvSpPr/>
          <p:nvPr/>
        </p:nvSpPr>
        <p:spPr>
          <a:xfrm>
            <a:off x="3630168" y="1408176"/>
            <a:ext cx="2286000" cy="237744"/>
          </a:xfrm>
          <a:prstGeom prst="rect">
            <a:avLst/>
          </a:prstGeom>
          <a:noFill/>
          <a:ln/>
        </p:spPr>
        <p:txBody>
          <a:bodyPr wrap="square" lIns="0" tIns="0" rIns="0" bIns="0" rtlCol="0" anchor="t"/>
          <a:lstStyle/>
          <a:p>
            <a:pPr indent="0" marL="0">
              <a:buNone/>
            </a:pPr>
            <a:r>
              <a:rPr lang="en-US" sz="1050" b="1" spc="80" kern="0" dirty="0">
                <a:solidFill>
                  <a:srgbClr val="0088CE"/>
                </a:solidFill>
                <a:latin typeface="Calibri" pitchFamily="34" charset="0"/>
                <a:ea typeface="Calibri" pitchFamily="34" charset="-122"/>
                <a:cs typeface="Calibri" pitchFamily="34" charset="-120"/>
              </a:rPr>
              <a:t>2 · RUN</a:t>
            </a:r>
            <a:endParaRPr lang="en-US" sz="1050" dirty="0"/>
          </a:p>
        </p:txBody>
      </p:sp>
      <p:sp>
        <p:nvSpPr>
          <p:cNvPr id="11" name="Text 9"/>
          <p:cNvSpPr/>
          <p:nvPr/>
        </p:nvSpPr>
        <p:spPr>
          <a:xfrm>
            <a:off x="3630168" y="1682496"/>
            <a:ext cx="2331720" cy="777240"/>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One command. The reporting month advances automatically and both products are produced together.</a:t>
            </a:r>
            <a:endParaRPr lang="en-US" sz="950" dirty="0"/>
          </a:p>
        </p:txBody>
      </p:sp>
      <p:sp>
        <p:nvSpPr>
          <p:cNvPr id="12" name="Shape 10"/>
          <p:cNvSpPr/>
          <p:nvPr/>
        </p:nvSpPr>
        <p:spPr>
          <a:xfrm>
            <a:off x="6080760" y="1792224"/>
            <a:ext cx="237744" cy="256032"/>
          </a:xfrm>
          <a:prstGeom prst="rightArrow">
            <a:avLst/>
          </a:prstGeom>
          <a:solidFill>
            <a:srgbClr val="D6E6F5"/>
          </a:solidFill>
          <a:ln/>
        </p:spPr>
      </p:sp>
      <p:sp>
        <p:nvSpPr>
          <p:cNvPr id="13" name="Shape 11"/>
          <p:cNvSpPr/>
          <p:nvPr/>
        </p:nvSpPr>
        <p:spPr>
          <a:xfrm>
            <a:off x="6355080" y="1280160"/>
            <a:ext cx="2697480" cy="1234440"/>
          </a:xfrm>
          <a:prstGeom prst="roundRect">
            <a:avLst>
              <a:gd name="adj" fmla="val 2963"/>
            </a:avLst>
          </a:prstGeom>
          <a:solidFill>
            <a:srgbClr val="EDF3F9"/>
          </a:solidFill>
          <a:ln w="9525">
            <a:solidFill>
              <a:srgbClr val="DCE4EC"/>
            </a:solidFill>
            <a:prstDash val="solid"/>
          </a:ln>
        </p:spPr>
      </p:sp>
      <p:sp>
        <p:nvSpPr>
          <p:cNvPr id="14" name="Text 12"/>
          <p:cNvSpPr/>
          <p:nvPr/>
        </p:nvSpPr>
        <p:spPr>
          <a:xfrm>
            <a:off x="6556248" y="1408176"/>
            <a:ext cx="2286000" cy="237744"/>
          </a:xfrm>
          <a:prstGeom prst="rect">
            <a:avLst/>
          </a:prstGeom>
          <a:noFill/>
          <a:ln/>
        </p:spPr>
        <p:txBody>
          <a:bodyPr wrap="square" lIns="0" tIns="0" rIns="0" bIns="0" rtlCol="0" anchor="t"/>
          <a:lstStyle/>
          <a:p>
            <a:pPr indent="0" marL="0">
              <a:buNone/>
            </a:pPr>
            <a:r>
              <a:rPr lang="en-US" sz="1050" b="1" spc="80" kern="0" dirty="0">
                <a:solidFill>
                  <a:srgbClr val="0088CE"/>
                </a:solidFill>
                <a:latin typeface="Calibri" pitchFamily="34" charset="0"/>
                <a:ea typeface="Calibri" pitchFamily="34" charset="-122"/>
                <a:cs typeface="Calibri" pitchFamily="34" charset="-120"/>
              </a:rPr>
              <a:t>3 · GUARD</a:t>
            </a:r>
            <a:endParaRPr lang="en-US" sz="1050" dirty="0"/>
          </a:p>
        </p:txBody>
      </p:sp>
      <p:sp>
        <p:nvSpPr>
          <p:cNvPr id="15" name="Text 13"/>
          <p:cNvSpPr/>
          <p:nvPr/>
        </p:nvSpPr>
        <p:spPr>
          <a:xfrm>
            <a:off x="6556248" y="1682496"/>
            <a:ext cx="2331720" cy="777240"/>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Bloomberg fields are cached, so re-runs cost no quota and missing data renders as not-available.</a:t>
            </a:r>
            <a:endParaRPr lang="en-US" sz="950" dirty="0"/>
          </a:p>
        </p:txBody>
      </p:sp>
      <p:sp>
        <p:nvSpPr>
          <p:cNvPr id="16" name="Shape 14"/>
          <p:cNvSpPr/>
          <p:nvPr/>
        </p:nvSpPr>
        <p:spPr>
          <a:xfrm>
            <a:off x="9006840" y="1792224"/>
            <a:ext cx="237744" cy="256032"/>
          </a:xfrm>
          <a:prstGeom prst="rightArrow">
            <a:avLst/>
          </a:prstGeom>
          <a:solidFill>
            <a:srgbClr val="D6E6F5"/>
          </a:solidFill>
          <a:ln/>
        </p:spPr>
      </p:sp>
      <p:sp>
        <p:nvSpPr>
          <p:cNvPr id="17" name="Shape 15"/>
          <p:cNvSpPr/>
          <p:nvPr/>
        </p:nvSpPr>
        <p:spPr>
          <a:xfrm>
            <a:off x="9281160" y="1280160"/>
            <a:ext cx="2697480" cy="1234440"/>
          </a:xfrm>
          <a:prstGeom prst="roundRect">
            <a:avLst>
              <a:gd name="adj" fmla="val 2963"/>
            </a:avLst>
          </a:prstGeom>
          <a:solidFill>
            <a:srgbClr val="EDF3F9"/>
          </a:solidFill>
          <a:ln w="9525">
            <a:solidFill>
              <a:srgbClr val="DCE4EC"/>
            </a:solidFill>
            <a:prstDash val="solid"/>
          </a:ln>
        </p:spPr>
      </p:sp>
      <p:sp>
        <p:nvSpPr>
          <p:cNvPr id="18" name="Text 16"/>
          <p:cNvSpPr/>
          <p:nvPr/>
        </p:nvSpPr>
        <p:spPr>
          <a:xfrm>
            <a:off x="9482328" y="1408176"/>
            <a:ext cx="2286000" cy="237744"/>
          </a:xfrm>
          <a:prstGeom prst="rect">
            <a:avLst/>
          </a:prstGeom>
          <a:noFill/>
          <a:ln/>
        </p:spPr>
        <p:txBody>
          <a:bodyPr wrap="square" lIns="0" tIns="0" rIns="0" bIns="0" rtlCol="0" anchor="t"/>
          <a:lstStyle/>
          <a:p>
            <a:pPr indent="0" marL="0">
              <a:buNone/>
            </a:pPr>
            <a:r>
              <a:rPr lang="en-US" sz="1050" b="1" spc="80" kern="0" dirty="0">
                <a:solidFill>
                  <a:srgbClr val="0088CE"/>
                </a:solidFill>
                <a:latin typeface="Calibri" pitchFamily="34" charset="0"/>
                <a:ea typeface="Calibri" pitchFamily="34" charset="-122"/>
                <a:cs typeface="Calibri" pitchFamily="34" charset="-120"/>
              </a:rPr>
              <a:t>4 · SEND</a:t>
            </a:r>
            <a:endParaRPr lang="en-US" sz="1050" dirty="0"/>
          </a:p>
        </p:txBody>
      </p:sp>
      <p:sp>
        <p:nvSpPr>
          <p:cNvPr id="19" name="Text 17"/>
          <p:cNvSpPr/>
          <p:nvPr/>
        </p:nvSpPr>
        <p:spPr>
          <a:xfrm>
            <a:off x="9482328" y="1682496"/>
            <a:ext cx="2331720" cy="777240"/>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The dashboard goes to the floor and the report goes into the Outlook distribution.</a:t>
            </a:r>
            <a:endParaRPr lang="en-US" sz="950" dirty="0"/>
          </a:p>
        </p:txBody>
      </p:sp>
      <p:sp>
        <p:nvSpPr>
          <p:cNvPr id="20" name="Text 18"/>
          <p:cNvSpPr/>
          <p:nvPr/>
        </p:nvSpPr>
        <p:spPr>
          <a:xfrm>
            <a:off x="502920" y="2615184"/>
            <a:ext cx="10972800" cy="237744"/>
          </a:xfrm>
          <a:prstGeom prst="rect">
            <a:avLst/>
          </a:prstGeom>
          <a:noFill/>
          <a:ln/>
        </p:spPr>
        <p:txBody>
          <a:bodyPr wrap="square" lIns="0" tIns="0" rIns="0" bIns="0" rtlCol="0" anchor="t"/>
          <a:lstStyle/>
          <a:p>
            <a:pPr indent="0" marL="0">
              <a:buNone/>
            </a:pPr>
            <a:r>
              <a:rPr lang="en-US" sz="1050" b="1" i="1" dirty="0">
                <a:solidFill>
                  <a:srgbClr val="002D72"/>
                </a:solidFill>
                <a:latin typeface="Calibri" pitchFamily="34" charset="0"/>
                <a:ea typeface="Calibri" pitchFamily="34" charset="-122"/>
                <a:cs typeface="Calibri" pitchFamily="34" charset="-120"/>
              </a:rPr>
              <a:t>Approximately fifteen minutes of effort per month once the file drops are scheduled.</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962656"/>
          <a:ext cx="11201400" cy="914400"/>
        </p:xfrm>
        <a:graphic>
          <a:graphicData uri="http://schemas.openxmlformats.org/drawingml/2006/table">
            <a:tbl>
              <a:tblPr/>
              <a:tblGrid>
                <a:gridCol w="2743200"/>
                <a:gridCol w="4663440"/>
                <a:gridCol w="3794760"/>
              </a:tblGrid>
              <a:tr h="32918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LIMITATION</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WHAT IT MEANS IN PRACTICE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COULD BE IMPROVED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74980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Our flow is a sample, not the market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It reads our own clients accurately and leans on southbound as the market-wide anchor, so every output is a candidate rather than a verdict.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Blend in exchange-level short-interest and turnover data to widen the denominator.</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Electronic execution joins at aggregate only</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Compliance prevents line-by-line sharing, so single names cover high-touch and program trading, and sector can never be crossed with client type.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Nothing to fix — it is a hard boundary and the design already works around it.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The two flow feeds overlap</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Onshore institutions trade through us and through Connect, so same-direction readings are overlap-sensitive while contradictions stay conservative.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Bound the overlap explicitly and footnote same-sign signals in the client report.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Directional-only cuts both ways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The absence of notionals makes the report safe to send but means it cannot size risk, and rotation into ADR lines is invisible to Hong Kong flow.</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Keep notionals in the internal build, and add an ADR overlay for dual-listed names.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22" name="Shape 19"/>
          <p:cNvSpPr/>
          <p:nvPr/>
        </p:nvSpPr>
        <p:spPr>
          <a:xfrm>
            <a:off x="502920" y="5852160"/>
            <a:ext cx="11201400" cy="777240"/>
          </a:xfrm>
          <a:prstGeom prst="roundRect">
            <a:avLst>
              <a:gd name="adj" fmla="val 4706"/>
            </a:avLst>
          </a:prstGeom>
          <a:solidFill>
            <a:srgbClr val="EDF3F9"/>
          </a:solidFill>
          <a:ln/>
        </p:spPr>
      </p:sp>
      <p:sp>
        <p:nvSpPr>
          <p:cNvPr id="23" name="Text 20"/>
          <p:cNvSpPr/>
          <p:nvPr/>
        </p:nvSpPr>
        <p:spPr>
          <a:xfrm>
            <a:off x="822960" y="599846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Next steps: schedule the run two business days after month-end, add an alert when a name enters the contradiction watch-list, and tune the report's wording with the desk before the first client distribution.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D72"/>
        </a:solidFill>
      </p:bgPr>
    </p:bg>
    <p:spTree>
      <p:nvGrpSpPr>
        <p:cNvPr id="1" name=""/>
        <p:cNvGrpSpPr/>
        <p:nvPr/>
      </p:nvGrpSpPr>
      <p:grpSpPr>
        <a:xfrm>
          <a:off x="0" y="0"/>
          <a:ext cx="0" cy="0"/>
          <a:chOff x="0" y="0"/>
          <a:chExt cx="0" cy="0"/>
        </a:xfrm>
      </p:grpSpPr>
      <p:sp>
        <p:nvSpPr>
          <p:cNvPr id="2" name="Text 0"/>
          <p:cNvSpPr/>
          <p:nvPr/>
        </p:nvSpPr>
        <p:spPr>
          <a:xfrm>
            <a:off x="777240" y="914400"/>
            <a:ext cx="10881360" cy="274320"/>
          </a:xfrm>
          <a:prstGeom prst="rect">
            <a:avLst/>
          </a:prstGeom>
          <a:noFill/>
          <a:ln/>
        </p:spPr>
        <p:txBody>
          <a:bodyPr wrap="square" lIns="0" tIns="0" rIns="0" bIns="0" rtlCol="0" anchor="t"/>
          <a:lstStyle/>
          <a:p>
            <a:pPr indent="0" marL="0">
              <a:buNone/>
            </a:pPr>
            <a:r>
              <a:rPr lang="en-US" sz="1100" b="1" spc="200" kern="0" dirty="0">
                <a:solidFill>
                  <a:srgbClr val="0088CE"/>
                </a:solidFill>
                <a:latin typeface="Calibri" pitchFamily="34" charset="0"/>
                <a:ea typeface="Calibri" pitchFamily="34" charset="-122"/>
                <a:cs typeface="Calibri" pitchFamily="34" charset="-120"/>
              </a:rPr>
              <a:t>IN CLOSING</a:t>
            </a:r>
            <a:endParaRPr lang="en-US" sz="1100" dirty="0"/>
          </a:p>
        </p:txBody>
      </p:sp>
      <p:sp>
        <p:nvSpPr>
          <p:cNvPr id="3" name="Text 1"/>
          <p:cNvSpPr/>
          <p:nvPr/>
        </p:nvSpPr>
        <p:spPr>
          <a:xfrm>
            <a:off x="777240" y="1280160"/>
            <a:ext cx="10881360" cy="548640"/>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The problem solved, in one sentence</a:t>
            </a:r>
            <a:endParaRPr lang="en-US" sz="2900" dirty="0"/>
          </a:p>
        </p:txBody>
      </p:sp>
      <p:sp>
        <p:nvSpPr>
          <p:cNvPr id="4" name="Shape 2"/>
          <p:cNvSpPr/>
          <p:nvPr/>
        </p:nvSpPr>
        <p:spPr>
          <a:xfrm>
            <a:off x="804672" y="1965960"/>
            <a:ext cx="2926080" cy="0"/>
          </a:xfrm>
          <a:prstGeom prst="line">
            <a:avLst/>
          </a:prstGeom>
          <a:noFill/>
          <a:ln w="25400">
            <a:solidFill>
              <a:srgbClr val="0088CE"/>
            </a:solidFill>
            <a:prstDash val="solid"/>
          </a:ln>
        </p:spPr>
      </p:sp>
      <p:sp>
        <p:nvSpPr>
          <p:cNvPr id="5" name="Text 3"/>
          <p:cNvSpPr/>
          <p:nvPr/>
        </p:nvSpPr>
        <p:spPr>
          <a:xfrm>
            <a:off x="777240" y="2240280"/>
            <a:ext cx="10515600" cy="914400"/>
          </a:xfrm>
          <a:prstGeom prst="rect">
            <a:avLst/>
          </a:prstGeom>
          <a:noFill/>
          <a:ln/>
        </p:spPr>
        <p:txBody>
          <a:bodyPr wrap="square" lIns="0" tIns="0" rIns="0" bIns="0" rtlCol="0" anchor="t"/>
          <a:lstStyle/>
          <a:p>
            <a:pPr indent="0" marL="0">
              <a:lnSpc>
                <a:spcPts val="2200"/>
              </a:lnSpc>
              <a:buNone/>
            </a:pPr>
            <a:r>
              <a:rPr lang="en-US" sz="1500" i="1" dirty="0">
                <a:solidFill>
                  <a:srgbClr val="D6E6F5"/>
                </a:solidFill>
                <a:latin typeface="Calibri" pitchFamily="34" charset="0"/>
                <a:ea typeface="Calibri" pitchFamily="34" charset="-122"/>
                <a:cs typeface="Calibri" pitchFamily="34" charset="-120"/>
              </a:rPr>
              <a:t>The desk was being asked what is crowded and had only memory to answer with. It now has a monthly product, built on flow no competitor can see, that names candidates and shows the evidence behind each one — and a client report that finally puts our franchise colour in front of accounts, as peer banks already do.</a:t>
            </a:r>
            <a:endParaRPr lang="en-US" sz="1500" dirty="0"/>
          </a:p>
        </p:txBody>
      </p:sp>
      <p:sp>
        <p:nvSpPr>
          <p:cNvPr id="6" name="Shape 4"/>
          <p:cNvSpPr/>
          <p:nvPr/>
        </p:nvSpPr>
        <p:spPr>
          <a:xfrm>
            <a:off x="777240" y="3429000"/>
            <a:ext cx="2514600" cy="1188720"/>
          </a:xfrm>
          <a:prstGeom prst="roundRect">
            <a:avLst>
              <a:gd name="adj" fmla="val 3846"/>
            </a:avLst>
          </a:prstGeom>
          <a:solidFill>
            <a:srgbClr val="0B3E7E"/>
          </a:solidFill>
          <a:ln/>
        </p:spPr>
      </p:sp>
      <p:sp>
        <p:nvSpPr>
          <p:cNvPr id="7" name="Text 5"/>
          <p:cNvSpPr/>
          <p:nvPr/>
        </p:nvSpPr>
        <p:spPr>
          <a:xfrm>
            <a:off x="978408" y="3566160"/>
            <a:ext cx="2103120" cy="256032"/>
          </a:xfrm>
          <a:prstGeom prst="rect">
            <a:avLst/>
          </a:prstGeom>
          <a:noFill/>
          <a:ln/>
        </p:spPr>
        <p:txBody>
          <a:bodyPr wrap="square" lIns="0" tIns="0" rIns="0" bIns="0" rtlCol="0" anchor="t"/>
          <a:lstStyle/>
          <a:p>
            <a:pPr indent="0" marL="0">
              <a:buNone/>
            </a:pPr>
            <a:r>
              <a:rPr lang="en-US" sz="1100" b="1" spc="100" kern="0" dirty="0">
                <a:solidFill>
                  <a:srgbClr val="0088CE"/>
                </a:solidFill>
                <a:latin typeface="Calibri" pitchFamily="34" charset="0"/>
                <a:ea typeface="Calibri" pitchFamily="34" charset="-122"/>
                <a:cs typeface="Calibri" pitchFamily="34" charset="-120"/>
              </a:rPr>
              <a:t>INTERNAL</a:t>
            </a:r>
            <a:endParaRPr lang="en-US" sz="1100" dirty="0"/>
          </a:p>
        </p:txBody>
      </p:sp>
      <p:sp>
        <p:nvSpPr>
          <p:cNvPr id="8" name="Text 6"/>
          <p:cNvSpPr/>
          <p:nvPr/>
        </p:nvSpPr>
        <p:spPr>
          <a:xfrm>
            <a:off x="978408" y="3858768"/>
            <a:ext cx="2148840" cy="713232"/>
          </a:xfrm>
          <a:prstGeom prst="rect">
            <a:avLst/>
          </a:prstGeom>
          <a:noFill/>
          <a:ln/>
        </p:spPr>
        <p:txBody>
          <a:bodyPr wrap="square" lIns="0" tIns="0" rIns="0" bIns="0" rtlCol="0" anchor="t"/>
          <a:lstStyle/>
          <a:p>
            <a:pPr indent="0" marL="0">
              <a:lnSpc>
                <a:spcPts val="1200"/>
              </a:lnSpc>
              <a:buNone/>
            </a:pPr>
            <a:r>
              <a:rPr lang="en-US" sz="950" dirty="0">
                <a:solidFill>
                  <a:srgbClr val="D6E6F5"/>
                </a:solidFill>
                <a:latin typeface="Calibri" pitchFamily="34" charset="0"/>
                <a:ea typeface="Calibri" pitchFamily="34" charset="-122"/>
                <a:cs typeface="Calibri" pitchFamily="34" charset="-120"/>
              </a:rPr>
              <a:t>A dashboard the floor opens before a client call, with notionals and every window.</a:t>
            </a:r>
            <a:endParaRPr lang="en-US" sz="950" dirty="0"/>
          </a:p>
        </p:txBody>
      </p:sp>
      <p:sp>
        <p:nvSpPr>
          <p:cNvPr id="9" name="Shape 7"/>
          <p:cNvSpPr/>
          <p:nvPr/>
        </p:nvSpPr>
        <p:spPr>
          <a:xfrm>
            <a:off x="3493008" y="3429000"/>
            <a:ext cx="2514600" cy="1188720"/>
          </a:xfrm>
          <a:prstGeom prst="roundRect">
            <a:avLst>
              <a:gd name="adj" fmla="val 3846"/>
            </a:avLst>
          </a:prstGeom>
          <a:solidFill>
            <a:srgbClr val="0B3E7E"/>
          </a:solidFill>
          <a:ln/>
        </p:spPr>
      </p:sp>
      <p:sp>
        <p:nvSpPr>
          <p:cNvPr id="10" name="Text 8"/>
          <p:cNvSpPr/>
          <p:nvPr/>
        </p:nvSpPr>
        <p:spPr>
          <a:xfrm>
            <a:off x="3694176" y="3566160"/>
            <a:ext cx="2103120" cy="256032"/>
          </a:xfrm>
          <a:prstGeom prst="rect">
            <a:avLst/>
          </a:prstGeom>
          <a:noFill/>
          <a:ln/>
        </p:spPr>
        <p:txBody>
          <a:bodyPr wrap="square" lIns="0" tIns="0" rIns="0" bIns="0" rtlCol="0" anchor="t"/>
          <a:lstStyle/>
          <a:p>
            <a:pPr indent="0" marL="0">
              <a:buNone/>
            </a:pPr>
            <a:r>
              <a:rPr lang="en-US" sz="1100" b="1" spc="100" kern="0" dirty="0">
                <a:solidFill>
                  <a:srgbClr val="0088CE"/>
                </a:solidFill>
                <a:latin typeface="Calibri" pitchFamily="34" charset="0"/>
                <a:ea typeface="Calibri" pitchFamily="34" charset="-122"/>
                <a:cs typeface="Calibri" pitchFamily="34" charset="-120"/>
              </a:rPr>
              <a:t>EXTERNAL</a:t>
            </a:r>
            <a:endParaRPr lang="en-US" sz="1100" dirty="0"/>
          </a:p>
        </p:txBody>
      </p:sp>
      <p:sp>
        <p:nvSpPr>
          <p:cNvPr id="11" name="Text 9"/>
          <p:cNvSpPr/>
          <p:nvPr/>
        </p:nvSpPr>
        <p:spPr>
          <a:xfrm>
            <a:off x="3694176" y="3858768"/>
            <a:ext cx="2148840" cy="713232"/>
          </a:xfrm>
          <a:prstGeom prst="rect">
            <a:avLst/>
          </a:prstGeom>
          <a:noFill/>
          <a:ln/>
        </p:spPr>
        <p:txBody>
          <a:bodyPr wrap="square" lIns="0" tIns="0" rIns="0" bIns="0" rtlCol="0" anchor="t"/>
          <a:lstStyle/>
          <a:p>
            <a:pPr indent="0" marL="0">
              <a:lnSpc>
                <a:spcPts val="1200"/>
              </a:lnSpc>
              <a:buNone/>
            </a:pPr>
            <a:r>
              <a:rPr lang="en-US" sz="950" dirty="0">
                <a:solidFill>
                  <a:srgbClr val="D6E6F5"/>
                </a:solidFill>
                <a:latin typeface="Calibri" pitchFamily="34" charset="0"/>
                <a:ea typeface="Calibri" pitchFamily="34" charset="-122"/>
                <a:cs typeface="Calibri" pitchFamily="34" charset="-120"/>
              </a:rPr>
              <a:t>An automated monthly report, qualitative and ready for distribution.</a:t>
            </a:r>
            <a:endParaRPr lang="en-US" sz="950" dirty="0"/>
          </a:p>
        </p:txBody>
      </p:sp>
      <p:sp>
        <p:nvSpPr>
          <p:cNvPr id="12" name="Shape 10"/>
          <p:cNvSpPr/>
          <p:nvPr/>
        </p:nvSpPr>
        <p:spPr>
          <a:xfrm>
            <a:off x="6208776" y="3429000"/>
            <a:ext cx="2514600" cy="1188720"/>
          </a:xfrm>
          <a:prstGeom prst="roundRect">
            <a:avLst>
              <a:gd name="adj" fmla="val 3846"/>
            </a:avLst>
          </a:prstGeom>
          <a:solidFill>
            <a:srgbClr val="0B3E7E"/>
          </a:solidFill>
          <a:ln/>
        </p:spPr>
      </p:sp>
      <p:sp>
        <p:nvSpPr>
          <p:cNvPr id="13" name="Text 11"/>
          <p:cNvSpPr/>
          <p:nvPr/>
        </p:nvSpPr>
        <p:spPr>
          <a:xfrm>
            <a:off x="6409944" y="3566160"/>
            <a:ext cx="2103120" cy="256032"/>
          </a:xfrm>
          <a:prstGeom prst="rect">
            <a:avLst/>
          </a:prstGeom>
          <a:noFill/>
          <a:ln/>
        </p:spPr>
        <p:txBody>
          <a:bodyPr wrap="square" lIns="0" tIns="0" rIns="0" bIns="0" rtlCol="0" anchor="t"/>
          <a:lstStyle/>
          <a:p>
            <a:pPr indent="0" marL="0">
              <a:buNone/>
            </a:pPr>
            <a:r>
              <a:rPr lang="en-US" sz="1100" b="1" spc="100" kern="0" dirty="0">
                <a:solidFill>
                  <a:srgbClr val="0088CE"/>
                </a:solidFill>
                <a:latin typeface="Calibri" pitchFamily="34" charset="0"/>
                <a:ea typeface="Calibri" pitchFamily="34" charset="-122"/>
                <a:cs typeface="Calibri" pitchFamily="34" charset="-120"/>
              </a:rPr>
              <a:t>EVIDENCE</a:t>
            </a:r>
            <a:endParaRPr lang="en-US" sz="1100" dirty="0"/>
          </a:p>
        </p:txBody>
      </p:sp>
      <p:sp>
        <p:nvSpPr>
          <p:cNvPr id="14" name="Text 12"/>
          <p:cNvSpPr/>
          <p:nvPr/>
        </p:nvSpPr>
        <p:spPr>
          <a:xfrm>
            <a:off x="6409944" y="3858768"/>
            <a:ext cx="2148840" cy="713232"/>
          </a:xfrm>
          <a:prstGeom prst="rect">
            <a:avLst/>
          </a:prstGeom>
          <a:noFill/>
          <a:ln/>
        </p:spPr>
        <p:txBody>
          <a:bodyPr wrap="square" lIns="0" tIns="0" rIns="0" bIns="0" rtlCol="0" anchor="t"/>
          <a:lstStyle/>
          <a:p>
            <a:pPr indent="0" marL="0">
              <a:lnSpc>
                <a:spcPts val="1200"/>
              </a:lnSpc>
              <a:buNone/>
            </a:pPr>
            <a:r>
              <a:rPr lang="en-US" sz="950" dirty="0">
                <a:solidFill>
                  <a:srgbClr val="D6E6F5"/>
                </a:solidFill>
                <a:latin typeface="Calibri" pitchFamily="34" charset="0"/>
                <a:ea typeface="Calibri" pitchFamily="34" charset="-122"/>
                <a:cs typeface="Calibri" pitchFamily="34" charset="-120"/>
              </a:rPr>
              <a:t>Six scenarios in which the tool answered a question the floor could not.</a:t>
            </a:r>
            <a:endParaRPr lang="en-US" sz="950" dirty="0"/>
          </a:p>
        </p:txBody>
      </p:sp>
      <p:sp>
        <p:nvSpPr>
          <p:cNvPr id="15" name="Shape 13"/>
          <p:cNvSpPr/>
          <p:nvPr/>
        </p:nvSpPr>
        <p:spPr>
          <a:xfrm>
            <a:off x="8924544" y="3429000"/>
            <a:ext cx="2514600" cy="1188720"/>
          </a:xfrm>
          <a:prstGeom prst="roundRect">
            <a:avLst>
              <a:gd name="adj" fmla="val 3846"/>
            </a:avLst>
          </a:prstGeom>
          <a:solidFill>
            <a:srgbClr val="0B3E7E"/>
          </a:solidFill>
          <a:ln/>
        </p:spPr>
      </p:sp>
      <p:sp>
        <p:nvSpPr>
          <p:cNvPr id="16" name="Text 14"/>
          <p:cNvSpPr/>
          <p:nvPr/>
        </p:nvSpPr>
        <p:spPr>
          <a:xfrm>
            <a:off x="9125712" y="3566160"/>
            <a:ext cx="2103120" cy="256032"/>
          </a:xfrm>
          <a:prstGeom prst="rect">
            <a:avLst/>
          </a:prstGeom>
          <a:noFill/>
          <a:ln/>
        </p:spPr>
        <p:txBody>
          <a:bodyPr wrap="square" lIns="0" tIns="0" rIns="0" bIns="0" rtlCol="0" anchor="t"/>
          <a:lstStyle/>
          <a:p>
            <a:pPr indent="0" marL="0">
              <a:buNone/>
            </a:pPr>
            <a:r>
              <a:rPr lang="en-US" sz="1100" b="1" spc="100" kern="0" dirty="0">
                <a:solidFill>
                  <a:srgbClr val="0088CE"/>
                </a:solidFill>
                <a:latin typeface="Calibri" pitchFamily="34" charset="0"/>
                <a:ea typeface="Calibri" pitchFamily="34" charset="-122"/>
                <a:cs typeface="Calibri" pitchFamily="34" charset="-120"/>
              </a:rPr>
              <a:t>HONESTY</a:t>
            </a:r>
            <a:endParaRPr lang="en-US" sz="1100" dirty="0"/>
          </a:p>
        </p:txBody>
      </p:sp>
      <p:sp>
        <p:nvSpPr>
          <p:cNvPr id="17" name="Text 15"/>
          <p:cNvSpPr/>
          <p:nvPr/>
        </p:nvSpPr>
        <p:spPr>
          <a:xfrm>
            <a:off x="9125712" y="3858768"/>
            <a:ext cx="2148840" cy="713232"/>
          </a:xfrm>
          <a:prstGeom prst="rect">
            <a:avLst/>
          </a:prstGeom>
          <a:noFill/>
          <a:ln/>
        </p:spPr>
        <p:txBody>
          <a:bodyPr wrap="square" lIns="0" tIns="0" rIns="0" bIns="0" rtlCol="0" anchor="t"/>
          <a:lstStyle/>
          <a:p>
            <a:pPr indent="0" marL="0">
              <a:lnSpc>
                <a:spcPts val="1200"/>
              </a:lnSpc>
              <a:buNone/>
            </a:pPr>
            <a:r>
              <a:rPr lang="en-US" sz="950" dirty="0">
                <a:solidFill>
                  <a:srgbClr val="D6E6F5"/>
                </a:solidFill>
                <a:latin typeface="Calibri" pitchFamily="34" charset="0"/>
                <a:ea typeface="Calibri" pitchFamily="34" charset="-122"/>
                <a:cs typeface="Calibri" pitchFamily="34" charset="-120"/>
              </a:rPr>
              <a:t>Candidates rather than verdicts, with the limitations stated up front.</a:t>
            </a:r>
            <a:endParaRPr lang="en-US" sz="950" dirty="0"/>
          </a:p>
        </p:txBody>
      </p:sp>
      <p:sp>
        <p:nvSpPr>
          <p:cNvPr id="18" name="Shape 16"/>
          <p:cNvSpPr/>
          <p:nvPr/>
        </p:nvSpPr>
        <p:spPr>
          <a:xfrm>
            <a:off x="777240" y="4892040"/>
            <a:ext cx="10698480" cy="868680"/>
          </a:xfrm>
          <a:prstGeom prst="roundRect">
            <a:avLst>
              <a:gd name="adj" fmla="val 5263"/>
            </a:avLst>
          </a:prstGeom>
          <a:solidFill>
            <a:srgbClr val="12406F"/>
          </a:solidFill>
          <a:ln/>
        </p:spPr>
      </p:sp>
      <p:sp>
        <p:nvSpPr>
          <p:cNvPr id="19" name="Text 17"/>
          <p:cNvSpPr/>
          <p:nvPr/>
        </p:nvSpPr>
        <p:spPr>
          <a:xfrm>
            <a:off x="1051560" y="5056632"/>
            <a:ext cx="10149840" cy="566928"/>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The ask: run the monthly report to two or three accounts for one cycle, schedule the refresh two business days after month-end, and give me thirty minutes of desk feedback on its wording.</a:t>
            </a:r>
            <a:endParaRPr lang="en-US" sz="1300" dirty="0"/>
          </a:p>
        </p:txBody>
      </p:sp>
      <p:sp>
        <p:nvSpPr>
          <p:cNvPr id="20" name="Text 18"/>
          <p:cNvSpPr/>
          <p:nvPr/>
        </p:nvSpPr>
        <p:spPr>
          <a:xfrm>
            <a:off x="777240" y="5989320"/>
            <a:ext cx="10881360" cy="274320"/>
          </a:xfrm>
          <a:prstGeom prst="rect">
            <a:avLst/>
          </a:prstGeom>
          <a:noFill/>
          <a:ln/>
        </p:spPr>
        <p:txBody>
          <a:bodyPr wrap="square" lIns="0" tIns="0" rIns="0" bIns="0" rtlCol="0" anchor="t"/>
          <a:lstStyle/>
          <a:p>
            <a:pPr indent="0" marL="0">
              <a:buNone/>
            </a:pPr>
            <a:r>
              <a:rPr lang="en-US" sz="1100" dirty="0">
                <a:solidFill>
                  <a:srgbClr val="D6E6F5"/>
                </a:solidFill>
                <a:latin typeface="Calibri" pitchFamily="34" charset="0"/>
                <a:ea typeface="Calibri" pitchFamily="34" charset="-122"/>
                <a:cs typeface="Calibri" pitchFamily="34" charset="-120"/>
              </a:rPr>
              <a:t>Thank you — the live tool is one click away.    Shuyun Lyu · HT Sales Trading · Citi Markets Hong Kong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D72"/>
        </a:solidFill>
      </p:bgPr>
    </p:bg>
    <p:spTree>
      <p:nvGrpSpPr>
        <p:cNvPr id="1" name=""/>
        <p:cNvGrpSpPr/>
        <p:nvPr/>
      </p:nvGrpSpPr>
      <p:grpSpPr>
        <a:xfrm>
          <a:off x="0" y="0"/>
          <a:ext cx="0" cy="0"/>
          <a:chOff x="0" y="0"/>
          <a:chExt cx="0" cy="0"/>
        </a:xfrm>
      </p:grpSpPr>
      <p:sp>
        <p:nvSpPr>
          <p:cNvPr id="2" name="Text 0"/>
          <p:cNvSpPr/>
          <p:nvPr/>
        </p:nvSpPr>
        <p:spPr>
          <a:xfrm>
            <a:off x="777240" y="2377440"/>
            <a:ext cx="10881360" cy="4572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APPENDIX</a:t>
            </a:r>
            <a:endParaRPr lang="en-US" sz="3400" dirty="0"/>
          </a:p>
        </p:txBody>
      </p:sp>
      <p:sp>
        <p:nvSpPr>
          <p:cNvPr id="3" name="Shape 1"/>
          <p:cNvSpPr/>
          <p:nvPr/>
        </p:nvSpPr>
        <p:spPr>
          <a:xfrm>
            <a:off x="804672" y="3017520"/>
            <a:ext cx="2926080" cy="0"/>
          </a:xfrm>
          <a:prstGeom prst="line">
            <a:avLst/>
          </a:prstGeom>
          <a:noFill/>
          <a:ln w="25400">
            <a:solidFill>
              <a:srgbClr val="0088CE"/>
            </a:solidFill>
            <a:prstDash val="solid"/>
          </a:ln>
        </p:spPr>
      </p:sp>
      <p:sp>
        <p:nvSpPr>
          <p:cNvPr id="4" name="Text 2"/>
          <p:cNvSpPr/>
          <p:nvPr/>
        </p:nvSpPr>
        <p:spPr>
          <a:xfrm>
            <a:off x="777240" y="3246120"/>
            <a:ext cx="10515600" cy="365760"/>
          </a:xfrm>
          <a:prstGeom prst="rect">
            <a:avLst/>
          </a:prstGeom>
          <a:noFill/>
          <a:ln/>
        </p:spPr>
        <p:txBody>
          <a:bodyPr wrap="square" lIns="0" tIns="0" rIns="0" bIns="0" rtlCol="0" anchor="t"/>
          <a:lstStyle/>
          <a:p>
            <a:pPr indent="0" marL="0">
              <a:buNone/>
            </a:pPr>
            <a:r>
              <a:rPr lang="en-US" sz="1500" i="1" dirty="0">
                <a:solidFill>
                  <a:srgbClr val="D6E6F5"/>
                </a:solidFill>
                <a:latin typeface="Calibri" pitchFamily="34" charset="0"/>
                <a:ea typeface="Calibri" pitchFamily="34" charset="-122"/>
                <a:cs typeface="Calibri" pitchFamily="34" charset="-120"/>
              </a:rPr>
              <a:t>Technical process, data treatment, report generation, and market references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A</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How the data was assembled and cleaned</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201400" cy="914400"/>
        </p:xfrm>
        <a:graphic>
          <a:graphicData uri="http://schemas.openxmlformats.org/drawingml/2006/table">
            <a:tbl>
              <a:tblPr/>
              <a:tblGrid>
                <a:gridCol w="2011680"/>
                <a:gridCol w="5577840"/>
                <a:gridCol w="361188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WHAT WAS DONE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Ingestion</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CTA line-by-line extract, the two aggregate CSVs, the southbound SQLite database and Bloomberg fields are read by dedicated reader functions.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 single entry point per source makes a schema change a one-line fix.</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Universe filtering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describe exclusions applied: ETFs, warrants, dual counters, any minimum-size threshold]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Keeps the name-level screens focused on single stocks that clients actually discuss.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Identifier mapping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how RIC / Bloomberg ticker / HK code are reconciled across the four sources]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Without one canonical key, southbound and Bloomberg cannot be joined to our flow.</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Currency and scaling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Southbound net flow is held in HKD and converted with a live USDHKD rate, falling back to 7.78 if unavailable.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Keeps the two flow feeds directly comparable on one axis.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Missing-data policy</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Bloomberg fields are cached to disk; anything unavailable renders as not-available and is never back-filled or interpolated.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 blank cell is honest; an invented number is not, and clients see this file.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Validation</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reconciliation checks run, e.g. sector totals against desk blotter, month coverage assertions]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Catches a half-loaded month before a report is generated.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B</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Metric definitions, Bloomberg fields and window treatment</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201400" cy="914400"/>
        </p:xfrm>
        <a:graphic>
          <a:graphicData uri="http://schemas.openxmlformats.org/drawingml/2006/table">
            <a:tbl>
              <a:tblPr/>
              <a:tblGrid>
                <a:gridCol w="1920240"/>
                <a:gridCol w="1965960"/>
                <a:gridCol w="2651760"/>
                <a:gridCol w="2743200"/>
                <a:gridCol w="192024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BLOOMBERG FIELD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FORMULA</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MULTI-MONTH WINDOW</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SINGLE MONTH</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RSI 14D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RSI_14D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monthly series value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last non-null month in the window</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that month's value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SI shares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SHORT_SELL_NUM_SHARES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monthly level feeding the metrics below</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monthly series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same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SI notional (USDmn)</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 PX_LAST, USDHKD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(SI × price) ÷ (1e6 × USDHKD)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average across selected months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one-month value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Short interest (% float)</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 EQY_FLOAT</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SI ÷ (float × 1e6) × 100</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average across selected months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one-month value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Days-to-cover</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 VOLUME_AVG_30D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SI ÷ ADV30</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9A4141"/>
                          </a:solidFill>
                          <a:latin typeface="Calibri" pitchFamily="34" charset="0"/>
                          <a:ea typeface="Calibri" pitchFamily="34" charset="-122"/>
                          <a:cs typeface="Calibri" pitchFamily="34" charset="-120"/>
                        </a:rPr>
                        <a:t>latest available, not window-based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9A4141"/>
                          </a:solidFill>
                          <a:latin typeface="Calibri" pitchFamily="34" charset="0"/>
                          <a:ea typeface="Calibri" pitchFamily="34" charset="-122"/>
                          <a:cs typeface="Calibri" pitchFamily="34" charset="-120"/>
                        </a:rPr>
                        <a:t>latest available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SI shares change (%)</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SHORT_SELL_NUM_SHARES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(SI_end ÷ SI_ref − 1) × 100</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last month in window against the month before it started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selected month against prior month</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Price change (%)</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PX_LAST</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(PX_end ÷ PX_ref − 1) × 100</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end of window against the pre-window anchor</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selected month against prior month</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892040"/>
            <a:ext cx="11201400" cy="1325880"/>
          </a:xfrm>
          <a:prstGeom prst="roundRect">
            <a:avLst>
              <a:gd name="adj" fmla="val 2759"/>
            </a:avLst>
          </a:prstGeom>
          <a:solidFill>
            <a:srgbClr val="EDF3F9"/>
          </a:solidFill>
          <a:ln w="9525">
            <a:solidFill>
              <a:srgbClr val="DCE4EC"/>
            </a:solidFill>
            <a:prstDash val="solid"/>
          </a:ln>
        </p:spPr>
      </p:sp>
      <p:sp>
        <p:nvSpPr>
          <p:cNvPr id="7" name="Text 4"/>
          <p:cNvSpPr/>
          <p:nvPr/>
        </p:nvSpPr>
        <p:spPr>
          <a:xfrm>
            <a:off x="777240" y="5010912"/>
            <a:ext cx="4572000" cy="219456"/>
          </a:xfrm>
          <a:prstGeom prst="rect">
            <a:avLst/>
          </a:prstGeom>
          <a:noFill/>
          <a:ln/>
        </p:spPr>
        <p:txBody>
          <a:bodyPr wrap="square" lIns="0" tIns="0" rIns="0" bIns="0" rtlCol="0" anchor="t"/>
          <a:lstStyle/>
          <a:p>
            <a:pPr indent="0" marL="0">
              <a:buNone/>
            </a:pPr>
            <a:r>
              <a:rPr lang="en-US" sz="950" b="1" spc="100" kern="0" dirty="0">
                <a:solidFill>
                  <a:srgbClr val="0088CE"/>
                </a:solidFill>
                <a:latin typeface="Calibri" pitchFamily="34" charset="0"/>
                <a:ea typeface="Calibri" pitchFamily="34" charset="-122"/>
                <a:cs typeface="Calibri" pitchFamily="34" charset="-120"/>
              </a:rPr>
              <a:t>THREE POINTS OF DISCIPLINE</a:t>
            </a:r>
            <a:endParaRPr lang="en-US" sz="950" dirty="0"/>
          </a:p>
        </p:txBody>
      </p:sp>
      <p:sp>
        <p:nvSpPr>
          <p:cNvPr id="8" name="Text 5"/>
          <p:cNvSpPr/>
          <p:nvPr/>
        </p:nvSpPr>
        <p:spPr>
          <a:xfrm>
            <a:off x="777240" y="5266944"/>
            <a:ext cx="10607040" cy="868680"/>
          </a:xfrm>
          <a:prstGeom prst="rect">
            <a:avLst/>
          </a:prstGeom>
          <a:noFill/>
          <a:ln/>
        </p:spPr>
        <p:txBody>
          <a:bodyPr wrap="square" lIns="0" tIns="0" rIns="0" bIns="0" rtlCol="0" anchor="t"/>
          <a:lstStyle/>
          <a:p>
            <a:pPr indent="0" marL="0">
              <a:lnSpc>
                <a:spcPts val="1400"/>
              </a:lnSpc>
              <a:buNone/>
            </a:pPr>
            <a:r>
              <a:rPr lang="en-US" sz="1050" dirty="0">
                <a:solidFill>
                  <a:srgbClr val="1A2733"/>
                </a:solidFill>
                <a:latin typeface="Calibri" pitchFamily="34" charset="0"/>
                <a:ea typeface="Calibri" pitchFamily="34" charset="-122"/>
                <a:cs typeface="Calibri" pitchFamily="34" charset="-120"/>
              </a:rPr>
              <a:t>Short interest is a level rather than a flow, so the change metric compares two points in time and is never summed across days. Days-to-cover is the one metric that reports the latest available reading rather than the selected window, and is labelled accordingly. Free float is a periodically revised vendor estimate that excludes strategic holdings, so where float estimates are unstable — recent listings, heavily state-owned names — days-to-cover is the more reliable of the two exit measures.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C</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How the client report is generated inside the script</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502920" y="1280160"/>
            <a:ext cx="5394960" cy="914400"/>
          </a:xfrm>
          <a:prstGeom prst="roundRect">
            <a:avLst>
              <a:gd name="adj" fmla="val 4000"/>
            </a:avLst>
          </a:prstGeom>
          <a:solidFill>
            <a:srgbClr val="EDF3F9"/>
          </a:solidFill>
          <a:ln w="9525">
            <a:solidFill>
              <a:srgbClr val="DCE4EC"/>
            </a:solidFill>
            <a:prstDash val="solid"/>
          </a:ln>
        </p:spPr>
      </p:sp>
      <p:sp>
        <p:nvSpPr>
          <p:cNvPr id="6" name="Text 4"/>
          <p:cNvSpPr/>
          <p:nvPr/>
        </p:nvSpPr>
        <p:spPr>
          <a:xfrm>
            <a:off x="731520" y="1389888"/>
            <a:ext cx="4937760" cy="256032"/>
          </a:xfrm>
          <a:prstGeom prst="rect">
            <a:avLst/>
          </a:prstGeom>
          <a:noFill/>
          <a:ln/>
        </p:spPr>
        <p:txBody>
          <a:bodyPr wrap="square" lIns="0" tIns="0" rIns="0" bIns="0" rtlCol="0" anchor="t"/>
          <a:lstStyle/>
          <a:p>
            <a:pPr indent="0" marL="0">
              <a:buNone/>
            </a:pPr>
            <a:r>
              <a:rPr lang="en-US" sz="1150" b="1" spc="60" kern="0" dirty="0">
                <a:solidFill>
                  <a:srgbClr val="0088CE"/>
                </a:solidFill>
                <a:latin typeface="Calibri" pitchFamily="34" charset="0"/>
                <a:ea typeface="Calibri" pitchFamily="34" charset="-122"/>
                <a:cs typeface="Calibri" pitchFamily="34" charset="-120"/>
              </a:rPr>
              <a:t>1 · SELECT MONTH</a:t>
            </a:r>
            <a:endParaRPr lang="en-US" sz="1150" dirty="0"/>
          </a:p>
        </p:txBody>
      </p:sp>
      <p:sp>
        <p:nvSpPr>
          <p:cNvPr id="7" name="Text 5"/>
          <p:cNvSpPr/>
          <p:nvPr/>
        </p:nvSpPr>
        <p:spPr>
          <a:xfrm>
            <a:off x="731520" y="1664208"/>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The reporting month defaults to the most recent completed month, and the twelve-month window rolls forward with it.</a:t>
            </a:r>
            <a:endParaRPr lang="en-US" sz="1000" dirty="0"/>
          </a:p>
        </p:txBody>
      </p:sp>
      <p:sp>
        <p:nvSpPr>
          <p:cNvPr id="8" name="Shape 6"/>
          <p:cNvSpPr/>
          <p:nvPr/>
        </p:nvSpPr>
        <p:spPr>
          <a:xfrm>
            <a:off x="502920" y="2304288"/>
            <a:ext cx="5394960" cy="914400"/>
          </a:xfrm>
          <a:prstGeom prst="roundRect">
            <a:avLst>
              <a:gd name="adj" fmla="val 4000"/>
            </a:avLst>
          </a:prstGeom>
          <a:solidFill>
            <a:srgbClr val="EDF3F9"/>
          </a:solidFill>
          <a:ln w="9525">
            <a:solidFill>
              <a:srgbClr val="DCE4EC"/>
            </a:solidFill>
            <a:prstDash val="solid"/>
          </a:ln>
        </p:spPr>
      </p:sp>
      <p:sp>
        <p:nvSpPr>
          <p:cNvPr id="9" name="Text 7"/>
          <p:cNvSpPr/>
          <p:nvPr/>
        </p:nvSpPr>
        <p:spPr>
          <a:xfrm>
            <a:off x="731520" y="2414016"/>
            <a:ext cx="4937760" cy="256032"/>
          </a:xfrm>
          <a:prstGeom prst="rect">
            <a:avLst/>
          </a:prstGeom>
          <a:noFill/>
          <a:ln/>
        </p:spPr>
        <p:txBody>
          <a:bodyPr wrap="square" lIns="0" tIns="0" rIns="0" bIns="0" rtlCol="0" anchor="t"/>
          <a:lstStyle/>
          <a:p>
            <a:pPr indent="0" marL="0">
              <a:buNone/>
            </a:pPr>
            <a:r>
              <a:rPr lang="en-US" sz="1150" b="1" spc="60" kern="0" dirty="0">
                <a:solidFill>
                  <a:srgbClr val="0088CE"/>
                </a:solidFill>
                <a:latin typeface="Calibri" pitchFamily="34" charset="0"/>
                <a:ea typeface="Calibri" pitchFamily="34" charset="-122"/>
                <a:cs typeface="Calibri" pitchFamily="34" charset="-120"/>
              </a:rPr>
              <a:t>2 · COMPUTE FACTS</a:t>
            </a:r>
            <a:endParaRPr lang="en-US" sz="1150" dirty="0"/>
          </a:p>
        </p:txBody>
      </p:sp>
      <p:sp>
        <p:nvSpPr>
          <p:cNvPr id="10" name="Text 8"/>
          <p:cNvSpPr/>
          <p:nvPr/>
        </p:nvSpPr>
        <p:spPr>
          <a:xfrm>
            <a:off x="731520" y="2688336"/>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Sector, cohort and single-name metrics are calculated once and reused by both outputs, so the dashboard and the report can never disagree.</a:t>
            </a:r>
            <a:endParaRPr lang="en-US" sz="1000" dirty="0"/>
          </a:p>
        </p:txBody>
      </p:sp>
      <p:sp>
        <p:nvSpPr>
          <p:cNvPr id="11" name="Shape 9"/>
          <p:cNvSpPr/>
          <p:nvPr/>
        </p:nvSpPr>
        <p:spPr>
          <a:xfrm>
            <a:off x="502920" y="3328416"/>
            <a:ext cx="5394960" cy="914400"/>
          </a:xfrm>
          <a:prstGeom prst="roundRect">
            <a:avLst>
              <a:gd name="adj" fmla="val 4000"/>
            </a:avLst>
          </a:prstGeom>
          <a:solidFill>
            <a:srgbClr val="EDF3F9"/>
          </a:solidFill>
          <a:ln w="9525">
            <a:solidFill>
              <a:srgbClr val="DCE4EC"/>
            </a:solidFill>
            <a:prstDash val="solid"/>
          </a:ln>
        </p:spPr>
      </p:sp>
      <p:sp>
        <p:nvSpPr>
          <p:cNvPr id="12" name="Text 10"/>
          <p:cNvSpPr/>
          <p:nvPr/>
        </p:nvSpPr>
        <p:spPr>
          <a:xfrm>
            <a:off x="731520" y="3438144"/>
            <a:ext cx="4937760" cy="256032"/>
          </a:xfrm>
          <a:prstGeom prst="rect">
            <a:avLst/>
          </a:prstGeom>
          <a:noFill/>
          <a:ln/>
        </p:spPr>
        <p:txBody>
          <a:bodyPr wrap="square" lIns="0" tIns="0" rIns="0" bIns="0" rtlCol="0" anchor="t"/>
          <a:lstStyle/>
          <a:p>
            <a:pPr indent="0" marL="0">
              <a:buNone/>
            </a:pPr>
            <a:r>
              <a:rPr lang="en-US" sz="1150" b="1" spc="60" kern="0" dirty="0">
                <a:solidFill>
                  <a:srgbClr val="0088CE"/>
                </a:solidFill>
                <a:latin typeface="Calibri" pitchFamily="34" charset="0"/>
                <a:ea typeface="Calibri" pitchFamily="34" charset="-122"/>
                <a:cs typeface="Calibri" pitchFamily="34" charset="-120"/>
              </a:rPr>
              <a:t>3 · WRITE COMMENTARY</a:t>
            </a:r>
            <a:endParaRPr lang="en-US" sz="1150" dirty="0"/>
          </a:p>
        </p:txBody>
      </p:sp>
      <p:sp>
        <p:nvSpPr>
          <p:cNvPr id="13" name="Text 11"/>
          <p:cNvSpPr/>
          <p:nvPr/>
        </p:nvSpPr>
        <p:spPr>
          <a:xfrm>
            <a:off x="731520" y="3712464"/>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Four rule-based layers fill fixed templates from those computed values: the executive paragraph, the rotation commentary, and the two quadrant commentaries.</a:t>
            </a:r>
            <a:endParaRPr lang="en-US" sz="1000" dirty="0"/>
          </a:p>
        </p:txBody>
      </p:sp>
      <p:sp>
        <p:nvSpPr>
          <p:cNvPr id="14" name="Shape 12"/>
          <p:cNvSpPr/>
          <p:nvPr/>
        </p:nvSpPr>
        <p:spPr>
          <a:xfrm>
            <a:off x="502920" y="4352544"/>
            <a:ext cx="5394960" cy="914400"/>
          </a:xfrm>
          <a:prstGeom prst="roundRect">
            <a:avLst>
              <a:gd name="adj" fmla="val 4000"/>
            </a:avLst>
          </a:prstGeom>
          <a:solidFill>
            <a:srgbClr val="EDF3F9"/>
          </a:solidFill>
          <a:ln w="9525">
            <a:solidFill>
              <a:srgbClr val="DCE4EC"/>
            </a:solidFill>
            <a:prstDash val="solid"/>
          </a:ln>
        </p:spPr>
      </p:sp>
      <p:sp>
        <p:nvSpPr>
          <p:cNvPr id="15" name="Text 13"/>
          <p:cNvSpPr/>
          <p:nvPr/>
        </p:nvSpPr>
        <p:spPr>
          <a:xfrm>
            <a:off x="731520" y="4462272"/>
            <a:ext cx="4937760" cy="256032"/>
          </a:xfrm>
          <a:prstGeom prst="rect">
            <a:avLst/>
          </a:prstGeom>
          <a:noFill/>
          <a:ln/>
        </p:spPr>
        <p:txBody>
          <a:bodyPr wrap="square" lIns="0" tIns="0" rIns="0" bIns="0" rtlCol="0" anchor="t"/>
          <a:lstStyle/>
          <a:p>
            <a:pPr indent="0" marL="0">
              <a:buNone/>
            </a:pPr>
            <a:r>
              <a:rPr lang="en-US" sz="1150" b="1" spc="60" kern="0" dirty="0">
                <a:solidFill>
                  <a:srgbClr val="0088CE"/>
                </a:solidFill>
                <a:latin typeface="Calibri" pitchFamily="34" charset="0"/>
                <a:ea typeface="Calibri" pitchFamily="34" charset="-122"/>
                <a:cs typeface="Calibri" pitchFamily="34" charset="-120"/>
              </a:rPr>
              <a:t>4 · RENDER AND SEND</a:t>
            </a:r>
            <a:endParaRPr lang="en-US" sz="1150" dirty="0"/>
          </a:p>
        </p:txBody>
      </p:sp>
      <p:sp>
        <p:nvSpPr>
          <p:cNvPr id="16" name="Text 14"/>
          <p:cNvSpPr/>
          <p:nvPr/>
        </p:nvSpPr>
        <p:spPr>
          <a:xfrm>
            <a:off x="731520" y="4736592"/>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Charts and tables are written into a self-contained HTML file sized for an Outlook body, with no external dependencies.</a:t>
            </a:r>
            <a:endParaRPr lang="en-US" sz="1000" dirty="0"/>
          </a:p>
        </p:txBody>
      </p:sp>
      <p:sp>
        <p:nvSpPr>
          <p:cNvPr id="17" name="Shape 15"/>
          <p:cNvSpPr/>
          <p:nvPr/>
        </p:nvSpPr>
        <p:spPr>
          <a:xfrm>
            <a:off x="6172200" y="1280160"/>
            <a:ext cx="5550408" cy="4023360"/>
          </a:xfrm>
          <a:prstGeom prst="roundRect">
            <a:avLst>
              <a:gd name="adj" fmla="val 909"/>
            </a:avLst>
          </a:prstGeom>
          <a:solidFill>
            <a:srgbClr val="F5F8FA"/>
          </a:solidFill>
          <a:ln w="9525">
            <a:solidFill>
              <a:srgbClr val="DCE4EC"/>
            </a:solidFill>
            <a:prstDash val="solid"/>
          </a:ln>
        </p:spPr>
      </p:sp>
      <p:sp>
        <p:nvSpPr>
          <p:cNvPr id="18" name="Text 16"/>
          <p:cNvSpPr/>
          <p:nvPr/>
        </p:nvSpPr>
        <p:spPr>
          <a:xfrm>
            <a:off x="6400800" y="1417320"/>
            <a:ext cx="5120640" cy="256032"/>
          </a:xfrm>
          <a:prstGeom prst="rect">
            <a:avLst/>
          </a:prstGeom>
          <a:noFill/>
          <a:ln/>
        </p:spPr>
        <p:txBody>
          <a:bodyPr wrap="square" lIns="0" tIns="0" rIns="0" bIns="0" rtlCol="0" anchor="t"/>
          <a:lstStyle/>
          <a:p>
            <a:pPr indent="0" marL="0">
              <a:buNone/>
            </a:pPr>
            <a:r>
              <a:rPr lang="en-US" sz="1100" b="1" spc="100" kern="0" dirty="0">
                <a:solidFill>
                  <a:srgbClr val="002D72"/>
                </a:solidFill>
                <a:latin typeface="Calibri" pitchFamily="34" charset="0"/>
                <a:ea typeface="Calibri" pitchFamily="34" charset="-122"/>
                <a:cs typeface="Calibri" pitchFamily="34" charset="-120"/>
              </a:rPr>
              <a:t>THE FOUR COMMENTARY LAYERS</a:t>
            </a:r>
            <a:endParaRPr lang="en-US" sz="1100" dirty="0"/>
          </a:p>
        </p:txBody>
      </p:sp>
      <p:sp>
        <p:nvSpPr>
          <p:cNvPr id="19" name="Text 17"/>
          <p:cNvSpPr/>
          <p:nvPr/>
        </p:nvSpPr>
        <p:spPr>
          <a:xfrm>
            <a:off x="6400800" y="1783080"/>
            <a:ext cx="5120640" cy="256032"/>
          </a:xfrm>
          <a:prstGeom prst="rect">
            <a:avLst/>
          </a:prstGeom>
          <a:noFill/>
          <a:ln/>
        </p:spPr>
        <p:txBody>
          <a:bodyPr wrap="square" lIns="0" tIns="0" rIns="0" bIns="0" rtlCol="0" anchor="t"/>
          <a:lstStyle/>
          <a:p>
            <a:pPr indent="0" marL="0">
              <a:buNone/>
            </a:pPr>
            <a:r>
              <a:rPr lang="en-US" sz="1050" b="1" dirty="0">
                <a:solidFill>
                  <a:srgbClr val="0088CE"/>
                </a:solidFill>
                <a:latin typeface="Calibri" pitchFamily="34" charset="0"/>
                <a:ea typeface="Calibri" pitchFamily="34" charset="-122"/>
                <a:cs typeface="Calibri" pitchFamily="34" charset="-120"/>
              </a:rPr>
              <a:t>A · Executive paragraph</a:t>
            </a:r>
            <a:endParaRPr lang="en-US" sz="1050" dirty="0"/>
          </a:p>
        </p:txBody>
      </p:sp>
      <p:sp>
        <p:nvSpPr>
          <p:cNvPr id="20" name="Text 18"/>
          <p:cNvSpPr/>
          <p:nvPr/>
        </p:nvSpPr>
        <p:spPr>
          <a:xfrm>
            <a:off x="6400800" y="2039112"/>
            <a:ext cx="5120640" cy="621792"/>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Ranks sectors by net flow, counts how many are net-bought and net-sold, identifies the leading buy and sell tilt, and states each client cohort's side and ratio.</a:t>
            </a:r>
            <a:endParaRPr lang="en-US" sz="950" dirty="0"/>
          </a:p>
        </p:txBody>
      </p:sp>
      <p:sp>
        <p:nvSpPr>
          <p:cNvPr id="21" name="Text 19"/>
          <p:cNvSpPr/>
          <p:nvPr/>
        </p:nvSpPr>
        <p:spPr>
          <a:xfrm>
            <a:off x="6400800" y="2679192"/>
            <a:ext cx="5120640" cy="256032"/>
          </a:xfrm>
          <a:prstGeom prst="rect">
            <a:avLst/>
          </a:prstGeom>
          <a:noFill/>
          <a:ln/>
        </p:spPr>
        <p:txBody>
          <a:bodyPr wrap="square" lIns="0" tIns="0" rIns="0" bIns="0" rtlCol="0" anchor="t"/>
          <a:lstStyle/>
          <a:p>
            <a:pPr indent="0" marL="0">
              <a:buNone/>
            </a:pPr>
            <a:r>
              <a:rPr lang="en-US" sz="1050" b="1" dirty="0">
                <a:solidFill>
                  <a:srgbClr val="0088CE"/>
                </a:solidFill>
                <a:latin typeface="Calibri" pitchFamily="34" charset="0"/>
                <a:ea typeface="Calibri" pitchFamily="34" charset="-122"/>
                <a:cs typeface="Calibri" pitchFamily="34" charset="-120"/>
              </a:rPr>
              <a:t>B · Rotation commentary</a:t>
            </a:r>
            <a:endParaRPr lang="en-US" sz="1050" dirty="0"/>
          </a:p>
        </p:txBody>
      </p:sp>
      <p:sp>
        <p:nvSpPr>
          <p:cNvPr id="22" name="Text 20"/>
          <p:cNvSpPr/>
          <p:nvPr/>
        </p:nvSpPr>
        <p:spPr>
          <a:xfrm>
            <a:off x="6400800" y="2935224"/>
            <a:ext cx="5120640" cy="621792"/>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Compares the current month with the previous one: breadth change, full direction reversals, the largest non-flip swing, categories still building, and easing selling pressure.</a:t>
            </a:r>
            <a:endParaRPr lang="en-US" sz="950" dirty="0"/>
          </a:p>
        </p:txBody>
      </p:sp>
      <p:sp>
        <p:nvSpPr>
          <p:cNvPr id="23" name="Text 21"/>
          <p:cNvSpPr/>
          <p:nvPr/>
        </p:nvSpPr>
        <p:spPr>
          <a:xfrm>
            <a:off x="6400800" y="3575304"/>
            <a:ext cx="5120640" cy="256032"/>
          </a:xfrm>
          <a:prstGeom prst="rect">
            <a:avLst/>
          </a:prstGeom>
          <a:noFill/>
          <a:ln/>
        </p:spPr>
        <p:txBody>
          <a:bodyPr wrap="square" lIns="0" tIns="0" rIns="0" bIns="0" rtlCol="0" anchor="t"/>
          <a:lstStyle/>
          <a:p>
            <a:pPr indent="0" marL="0">
              <a:buNone/>
            </a:pPr>
            <a:r>
              <a:rPr lang="en-US" sz="1050" b="1" dirty="0">
                <a:solidFill>
                  <a:srgbClr val="0088CE"/>
                </a:solidFill>
                <a:latin typeface="Calibri" pitchFamily="34" charset="0"/>
                <a:ea typeface="Calibri" pitchFamily="34" charset="-122"/>
                <a:cs typeface="Calibri" pitchFamily="34" charset="-120"/>
              </a:rPr>
              <a:t>C · Price versus flow</a:t>
            </a:r>
            <a:endParaRPr lang="en-US" sz="1050" dirty="0"/>
          </a:p>
        </p:txBody>
      </p:sp>
      <p:sp>
        <p:nvSpPr>
          <p:cNvPr id="24" name="Text 22"/>
          <p:cNvSpPr/>
          <p:nvPr/>
        </p:nvSpPr>
        <p:spPr>
          <a:xfrm>
            <a:off x="6400800" y="3831336"/>
            <a:ext cx="5120640" cy="621792"/>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Places each name into buy-up, buy-down, sell-up or sell-down, keeps the largest three per quadrant, and writes the interpretation for the quadrants present.</a:t>
            </a:r>
            <a:endParaRPr lang="en-US" sz="950" dirty="0"/>
          </a:p>
        </p:txBody>
      </p:sp>
      <p:sp>
        <p:nvSpPr>
          <p:cNvPr id="25" name="Text 23"/>
          <p:cNvSpPr/>
          <p:nvPr/>
        </p:nvSpPr>
        <p:spPr>
          <a:xfrm>
            <a:off x="6400800" y="4471416"/>
            <a:ext cx="5120640" cy="256032"/>
          </a:xfrm>
          <a:prstGeom prst="rect">
            <a:avLst/>
          </a:prstGeom>
          <a:noFill/>
          <a:ln/>
        </p:spPr>
        <p:txBody>
          <a:bodyPr wrap="square" lIns="0" tIns="0" rIns="0" bIns="0" rtlCol="0" anchor="t"/>
          <a:lstStyle/>
          <a:p>
            <a:pPr indent="0" marL="0">
              <a:buNone/>
            </a:pPr>
            <a:r>
              <a:rPr lang="en-US" sz="1050" b="1" dirty="0">
                <a:solidFill>
                  <a:srgbClr val="0088CE"/>
                </a:solidFill>
                <a:latin typeface="Calibri" pitchFamily="34" charset="0"/>
                <a:ea typeface="Calibri" pitchFamily="34" charset="-122"/>
                <a:cs typeface="Calibri" pitchFamily="34" charset="-120"/>
              </a:rPr>
              <a:t>D · Citi versus southbound</a:t>
            </a:r>
            <a:endParaRPr lang="en-US" sz="1050" dirty="0"/>
          </a:p>
        </p:txBody>
      </p:sp>
      <p:sp>
        <p:nvSpPr>
          <p:cNvPr id="26" name="Text 24"/>
          <p:cNvSpPr/>
          <p:nvPr/>
        </p:nvSpPr>
        <p:spPr>
          <a:xfrm>
            <a:off x="6400800" y="4727448"/>
            <a:ext cx="5120640" cy="621792"/>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Places each name into both-buy, both-sell, we-buy-they-sell or they-buy-we-sell, keeps the largest three per quadrant, and flags crowding and divergence.</a:t>
            </a:r>
            <a:endParaRPr lang="en-US" sz="950" dirty="0"/>
          </a:p>
        </p:txBody>
      </p:sp>
      <p:sp>
        <p:nvSpPr>
          <p:cNvPr id="27" name="Shape 25"/>
          <p:cNvSpPr/>
          <p:nvPr/>
        </p:nvSpPr>
        <p:spPr>
          <a:xfrm>
            <a:off x="502920" y="5440680"/>
            <a:ext cx="11201400" cy="777240"/>
          </a:xfrm>
          <a:prstGeom prst="roundRect">
            <a:avLst>
              <a:gd name="adj" fmla="val 4706"/>
            </a:avLst>
          </a:prstGeom>
          <a:solidFill>
            <a:srgbClr val="EDF3F9"/>
          </a:solidFill>
          <a:ln/>
        </p:spPr>
      </p:sp>
      <p:sp>
        <p:nvSpPr>
          <p:cNvPr id="28" name="Text 26"/>
          <p:cNvSpPr/>
          <p:nvPr/>
        </p:nvSpPr>
        <p:spPr>
          <a:xfrm>
            <a:off x="822960" y="558698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The commentary is algorithmic template generation, not probabilistic language generation: identical inputs always produce identical wording, which is what makes the text auditable before it is sent to a client.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D</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Known issues, assumptions and further work</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201400" cy="914400"/>
        </p:xfrm>
        <a:graphic>
          <a:graphicData uri="http://schemas.openxmlformats.org/drawingml/2006/table">
            <a:tbl>
              <a:tblPr/>
              <a:tblGrid>
                <a:gridCol w="2743200"/>
                <a:gridCol w="4572000"/>
                <a:gridCol w="388620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ITEM</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PLANNED TREATMENT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Percent change across a sign flip</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 category moving from net-sell to net-buy produces a percentage that has no interpretation.</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Suppress the figure and label the move as a reversal instead.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Direction-aware swing wording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The largest-swing sentence uses one phrase regardless of whether conviction improved or faded.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Branch the wording on the sign of the change.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Retail cohort weighting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Retail is the smallest bucket and its swings can dominate a chart axis.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Retain for completeness, label as smallest bucket, exclude from the signal.</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Feed overlap</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Onshore institutions may trade through both our franchise and Connect.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Footnote same-direction readings; contradictions remain conservative.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Dual-listed names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ADR line rotation is invisible to Hong Kong line flow]</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describe intended overlay if pursued]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Further work</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your own list: scheduling, alerting, additional metrics]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E · REFERENCES</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Market events cited in this deck</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Text 3"/>
          <p:cNvSpPr/>
          <p:nvPr/>
        </p:nvSpPr>
        <p:spPr>
          <a:xfrm>
            <a:off x="502920" y="1207008"/>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Hang Seng four-year high; October 2025 rare-earth and tariff shock</a:t>
            </a:r>
            <a:endParaRPr lang="en-US" sz="900" dirty="0"/>
          </a:p>
        </p:txBody>
      </p:sp>
      <p:sp>
        <p:nvSpPr>
          <p:cNvPr id="6" name="Text 4">
            <a:hlinkClick r:id="rId1" tooltip=""/>
          </p:cNvPr>
          <p:cNvSpPr/>
          <p:nvPr/>
        </p:nvSpPr>
        <p:spPr>
          <a:xfrm>
            <a:off x="5989320" y="1207008"/>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https://markets.financialcontent.com/stocks/article/marketminute-2025-10-13-hong-kongs-hang-seng-plunges-below-26000-amidst-resurgent-us-china-trade-tensions</a:t>
            </a:r>
            <a:endParaRPr lang="en-US" sz="750" dirty="0"/>
          </a:p>
        </p:txBody>
      </p:sp>
      <p:sp>
        <p:nvSpPr>
          <p:cNvPr id="7" name="Text 5"/>
          <p:cNvSpPr/>
          <p:nvPr/>
        </p:nvSpPr>
        <p:spPr>
          <a:xfrm>
            <a:off x="502920" y="1536192"/>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Busan truce and suspension of rare-earth export controls</a:t>
            </a:r>
            <a:endParaRPr lang="en-US" sz="900" dirty="0"/>
          </a:p>
        </p:txBody>
      </p:sp>
      <p:sp>
        <p:nvSpPr>
          <p:cNvPr id="8" name="Text 6">
            <a:hlinkClick r:id="rId2" tooltip=""/>
          </p:cNvPr>
          <p:cNvSpPr/>
          <p:nvPr/>
        </p:nvSpPr>
        <p:spPr>
          <a:xfrm>
            <a:off x="5989320" y="1536192"/>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https://www.thompsonhinesmartrade.com/2025/11/u-s-and-china-reach-deal-to-ease-trade-tensions/</a:t>
            </a:r>
            <a:endParaRPr lang="en-US" sz="750" dirty="0"/>
          </a:p>
        </p:txBody>
      </p:sp>
      <p:sp>
        <p:nvSpPr>
          <p:cNvPr id="9" name="Text 7"/>
          <p:cNvSpPr/>
          <p:nvPr/>
        </p:nvSpPr>
        <p:spPr>
          <a:xfrm>
            <a:off x="502920" y="1865376"/>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US-Iran war: Brent crude rising roughly 51% during March</a:t>
            </a:r>
            <a:endParaRPr lang="en-US" sz="900" dirty="0"/>
          </a:p>
        </p:txBody>
      </p:sp>
      <p:sp>
        <p:nvSpPr>
          <p:cNvPr id="10" name="Text 8">
            <a:hlinkClick r:id="rId3" tooltip=""/>
          </p:cNvPr>
          <p:cNvSpPr/>
          <p:nvPr/>
        </p:nvSpPr>
        <p:spPr>
          <a:xfrm>
            <a:off x="5989320" y="1865376"/>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https://www.cnbc.com/2026/04/21/oil-price-iran-war-middle-east.html</a:t>
            </a:r>
            <a:endParaRPr lang="en-US" sz="750" dirty="0"/>
          </a:p>
        </p:txBody>
      </p:sp>
      <p:sp>
        <p:nvSpPr>
          <p:cNvPr id="11" name="Text 9"/>
          <p:cNvSpPr/>
          <p:nvPr/>
        </p:nvSpPr>
        <p:spPr>
          <a:xfrm>
            <a:off x="502920" y="2194560"/>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Oil round-tripping to pre-war levels by early July</a:t>
            </a:r>
            <a:endParaRPr lang="en-US" sz="900" dirty="0"/>
          </a:p>
        </p:txBody>
      </p:sp>
      <p:sp>
        <p:nvSpPr>
          <p:cNvPr id="12" name="Text 10">
            <a:hlinkClick r:id="rId4" tooltip=""/>
          </p:cNvPr>
          <p:cNvSpPr/>
          <p:nvPr/>
        </p:nvSpPr>
        <p:spPr>
          <a:xfrm>
            <a:off x="5989320" y="2194560"/>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https://www.aljazeera.com/news/2026/7/8/oil-prices-surge-as-us-strikes-iran-reversing-fall-to-pre-war-levels</a:t>
            </a:r>
            <a:endParaRPr lang="en-US" sz="750" dirty="0"/>
          </a:p>
        </p:txBody>
      </p:sp>
      <p:sp>
        <p:nvSpPr>
          <p:cNvPr id="13" name="Text 11"/>
          <p:cNvSpPr/>
          <p:nvPr/>
        </p:nvSpPr>
        <p:spPr>
          <a:xfrm>
            <a:off x="502920" y="2523744"/>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June AI-chip rout: Hang Seng at 22,672, seventh weekly loss</a:t>
            </a:r>
            <a:endParaRPr lang="en-US" sz="900" dirty="0"/>
          </a:p>
        </p:txBody>
      </p:sp>
      <p:sp>
        <p:nvSpPr>
          <p:cNvPr id="14" name="Text 12">
            <a:hlinkClick r:id="rId5" tooltip=""/>
          </p:cNvPr>
          <p:cNvSpPr/>
          <p:nvPr/>
        </p:nvSpPr>
        <p:spPr>
          <a:xfrm>
            <a:off x="5989320" y="2523744"/>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https://www.bbntimes.com/companies/hong-kong-stock-exchange-weekly-review-hang-seng-falls-1-8-to-22-672-as-ai-chip-rout-and-ipo-market-uncertainty-overshadow-quarter-end-recovery-hopes</a:t>
            </a:r>
            <a:endParaRPr lang="en-US" sz="750" dirty="0"/>
          </a:p>
        </p:txBody>
      </p:sp>
      <p:sp>
        <p:nvSpPr>
          <p:cNvPr id="15" name="Text 13"/>
          <p:cNvSpPr/>
          <p:nvPr/>
        </p:nvSpPr>
        <p:spPr>
          <a:xfrm>
            <a:off x="502920" y="2852928"/>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July recovery to 25,009 and Hong Kong PMI at 52.0</a:t>
            </a:r>
            <a:endParaRPr lang="en-US" sz="900" dirty="0"/>
          </a:p>
        </p:txBody>
      </p:sp>
      <p:sp>
        <p:nvSpPr>
          <p:cNvPr id="16" name="Text 14">
            <a:hlinkClick r:id="rId6" tooltip=""/>
          </p:cNvPr>
          <p:cNvSpPr/>
          <p:nvPr/>
        </p:nvSpPr>
        <p:spPr>
          <a:xfrm>
            <a:off x="5989320" y="2852928"/>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https://www.nakitte.com/briefs/hangseng-2026-07-20/</a:t>
            </a:r>
            <a:endParaRPr lang="en-US" sz="750" dirty="0"/>
          </a:p>
        </p:txBody>
      </p:sp>
      <p:sp>
        <p:nvSpPr>
          <p:cNvPr id="17" name="Text 15"/>
          <p:cNvSpPr/>
          <p:nvPr/>
        </p:nvSpPr>
        <p:spPr>
          <a:xfrm>
            <a:off x="502920" y="3182112"/>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Kingboard Laminates' fourth copper-clad-laminate price rise of 2026</a:t>
            </a:r>
            <a:endParaRPr lang="en-US" sz="900" dirty="0"/>
          </a:p>
        </p:txBody>
      </p:sp>
      <p:sp>
        <p:nvSpPr>
          <p:cNvPr id="18" name="Text 16">
            <a:hlinkClick r:id="rId7" tooltip=""/>
          </p:cNvPr>
          <p:cNvSpPr/>
          <p:nvPr/>
        </p:nvSpPr>
        <p:spPr>
          <a:xfrm>
            <a:off x="5989320" y="3182112"/>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https://finance.biggo.com/news/5339bae1-2900-4293-94f5-1944f85805e0</a:t>
            </a:r>
            <a:endParaRPr lang="en-US" sz="750" dirty="0"/>
          </a:p>
        </p:txBody>
      </p:sp>
      <p:sp>
        <p:nvSpPr>
          <p:cNvPr id="19" name="Text 17"/>
          <p:cNvSpPr/>
          <p:nvPr/>
        </p:nvSpPr>
        <p:spPr>
          <a:xfrm>
            <a:off x="502920" y="3511296"/>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Southbound buying over HK$5bn of Tencent across three sessions</a:t>
            </a:r>
            <a:endParaRPr lang="en-US" sz="900" dirty="0"/>
          </a:p>
        </p:txBody>
      </p:sp>
      <p:sp>
        <p:nvSpPr>
          <p:cNvPr id="20" name="Text 18">
            <a:hlinkClick r:id="rId8" tooltip=""/>
          </p:cNvPr>
          <p:cNvSpPr/>
          <p:nvPr/>
        </p:nvSpPr>
        <p:spPr>
          <a:xfrm>
            <a:off x="5989320" y="3511296"/>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https://finance.biggo.com/news/580fb11a-3543-498f-94d9-72f8ae24cb5d</a:t>
            </a:r>
            <a:endParaRPr lang="en-US" sz="750" dirty="0"/>
          </a:p>
        </p:txBody>
      </p:sp>
      <p:sp>
        <p:nvSpPr>
          <p:cNvPr id="21" name="Text 19"/>
          <p:cNvSpPr/>
          <p:nvPr/>
        </p:nvSpPr>
        <p:spPr>
          <a:xfrm>
            <a:off x="502920" y="3840480"/>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AIA down 6.6% on reports of a 20% offshore-policy levy, 6 August</a:t>
            </a:r>
            <a:endParaRPr lang="en-US" sz="900" dirty="0"/>
          </a:p>
        </p:txBody>
      </p:sp>
      <p:sp>
        <p:nvSpPr>
          <p:cNvPr id="22" name="Text 20">
            <a:hlinkClick r:id="rId9" tooltip=""/>
          </p:cNvPr>
          <p:cNvSpPr/>
          <p:nvPr/>
        </p:nvSpPr>
        <p:spPr>
          <a:xfrm>
            <a:off x="5989320" y="3840480"/>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https://www.scmp.com/business/banking-finance/article/3363106/shares-major-hong-kong-insurance-finance-firms-tumble-following-report-20-levy</a:t>
            </a:r>
            <a:endParaRPr lang="en-US" sz="750" dirty="0"/>
          </a:p>
        </p:txBody>
      </p:sp>
      <p:sp>
        <p:nvSpPr>
          <p:cNvPr id="23" name="Text 21"/>
          <p:cNvSpPr/>
          <p:nvPr/>
        </p:nvSpPr>
        <p:spPr>
          <a:xfrm>
            <a:off x="502920" y="4169664"/>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Record China biotech out-licensing, including CSPC and AstraZeneca</a:t>
            </a:r>
            <a:endParaRPr lang="en-US" sz="900" dirty="0"/>
          </a:p>
        </p:txBody>
      </p:sp>
      <p:sp>
        <p:nvSpPr>
          <p:cNvPr id="24" name="Text 22">
            <a:hlinkClick r:id="rId10" tooltip=""/>
          </p:cNvPr>
          <p:cNvSpPr/>
          <p:nvPr/>
        </p:nvSpPr>
        <p:spPr>
          <a:xfrm>
            <a:off x="5989320" y="4169664"/>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https://www.drugdiscoverytrends.com/chinese-firms-landed-6-of-26-major-pharma-deals-in-16-months-worth-53-billion/</a:t>
            </a:r>
            <a:endParaRPr lang="en-US" sz="750" dirty="0"/>
          </a:p>
        </p:txBody>
      </p:sp>
      <p:sp>
        <p:nvSpPr>
          <p:cNvPr id="25" name="Text 23"/>
          <p:cNvSpPr/>
          <p:nvPr/>
        </p:nvSpPr>
        <p:spPr>
          <a:xfrm>
            <a:off x="502920" y="4498848"/>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Meituan first-quarter loss narrowing as the delivery subsidy war cooled</a:t>
            </a:r>
            <a:endParaRPr lang="en-US" sz="900" dirty="0"/>
          </a:p>
        </p:txBody>
      </p:sp>
      <p:sp>
        <p:nvSpPr>
          <p:cNvPr id="26" name="Text 24">
            <a:hlinkClick r:id="rId11" tooltip=""/>
          </p:cNvPr>
          <p:cNvSpPr/>
          <p:nvPr/>
        </p:nvSpPr>
        <p:spPr>
          <a:xfrm>
            <a:off x="5989320" y="4498848"/>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https://insideretail.asia/2026/06/02/meituan-posts-another-loss-but-says-food-delivery-wars-are-beginning-to-abate/</a:t>
            </a:r>
            <a:endParaRPr lang="en-US" sz="750" dirty="0"/>
          </a:p>
        </p:txBody>
      </p:sp>
      <p:sp>
        <p:nvSpPr>
          <p:cNvPr id="27" name="Text 25"/>
          <p:cNvSpPr/>
          <p:nvPr/>
        </p:nvSpPr>
        <p:spPr>
          <a:xfrm>
            <a:off x="502920" y="4828032"/>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May-June short base fuelling July's counter-trend rally</a:t>
            </a:r>
            <a:endParaRPr lang="en-US" sz="900" dirty="0"/>
          </a:p>
        </p:txBody>
      </p:sp>
      <p:sp>
        <p:nvSpPr>
          <p:cNvPr id="28" name="Text 26">
            <a:hlinkClick r:id="rId12" tooltip=""/>
          </p:cNvPr>
          <p:cNvSpPr/>
          <p:nvPr/>
        </p:nvSpPr>
        <p:spPr>
          <a:xfrm>
            <a:off x="5989320" y="4828032"/>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https://www.moomoo.com/community/feed/prince-when-the-hang-seng-index-breaks-through-the-bull-117018511147013</a:t>
            </a:r>
            <a:endParaRPr lang="en-US" sz="750" dirty="0"/>
          </a:p>
        </p:txBody>
      </p:sp>
      <p:sp>
        <p:nvSpPr>
          <p:cNvPr id="29" name="Text 27"/>
          <p:cNvSpPr/>
          <p:nvPr/>
        </p:nvSpPr>
        <p:spPr>
          <a:xfrm>
            <a:off x="502920" y="5157216"/>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CXMT: Asia's largest 2026 IPO (US$8.6bn); +466% Shanghai debut, 27 July</a:t>
            </a:r>
            <a:endParaRPr lang="en-US" sz="900" dirty="0"/>
          </a:p>
        </p:txBody>
      </p:sp>
      <p:sp>
        <p:nvSpPr>
          <p:cNvPr id="30" name="Text 28">
            <a:hlinkClick r:id="rId13" tooltip=""/>
          </p:cNvPr>
          <p:cNvSpPr/>
          <p:nvPr/>
        </p:nvSpPr>
        <p:spPr>
          <a:xfrm>
            <a:off x="5989320" y="5157216"/>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https://www.cnbc.com/2026/07/27/cxmt-china-market-debut-chipmaker-ipo.html  ·  reuters via money.usnews.com 26 Jul</a:t>
            </a:r>
            <a:endParaRPr lang="en-US" sz="750" dirty="0"/>
          </a:p>
        </p:txBody>
      </p:sp>
      <p:sp>
        <p:nvSpPr>
          <p:cNvPr id="31" name="Text 29"/>
          <p:cNvSpPr/>
          <p:nvPr/>
        </p:nvSpPr>
        <p:spPr>
          <a:xfrm>
            <a:off x="502920" y="5486400"/>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Mid-July profit-taking in overheated AI names; HSI −1.78% to 24,562</a:t>
            </a:r>
            <a:endParaRPr lang="en-US" sz="900" dirty="0"/>
          </a:p>
        </p:txBody>
      </p:sp>
      <p:sp>
        <p:nvSpPr>
          <p:cNvPr id="32" name="Text 30">
            <a:hlinkClick r:id="rId14" tooltip=""/>
          </p:cNvPr>
          <p:cNvSpPr/>
          <p:nvPr/>
        </p:nvSpPr>
        <p:spPr>
          <a:xfrm>
            <a:off x="5989320" y="5486400"/>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https://finance.biggo.com/news/71a28029-87b9-4d81-b421-2187b5ba0b12</a:t>
            </a:r>
            <a:endParaRPr lang="en-US" sz="750" dirty="0"/>
          </a:p>
        </p:txBody>
      </p:sp>
      <p:sp>
        <p:nvSpPr>
          <p:cNvPr id="33" name="Text 31"/>
          <p:cNvSpPr/>
          <p:nvPr/>
        </p:nvSpPr>
        <p:spPr>
          <a:xfrm>
            <a:off x="502920" y="5815584"/>
            <a:ext cx="5394960" cy="219456"/>
          </a:xfrm>
          <a:prstGeom prst="rect">
            <a:avLst/>
          </a:prstGeom>
          <a:noFill/>
          <a:ln/>
        </p:spPr>
        <p:txBody>
          <a:bodyPr wrap="square" lIns="0" tIns="0" rIns="0" bIns="0" rtlCol="0" anchor="t"/>
          <a:lstStyle/>
          <a:p>
            <a:pPr indent="0" marL="0">
              <a:buNone/>
            </a:pPr>
            <a:r>
              <a:rPr lang="en-US" sz="900" b="1" dirty="0">
                <a:solidFill>
                  <a:srgbClr val="002D72"/>
                </a:solidFill>
                <a:latin typeface="Calibri" pitchFamily="34" charset="0"/>
                <a:ea typeface="Calibri" pitchFamily="34" charset="-122"/>
                <a:cs typeface="Calibri" pitchFamily="34" charset="-120"/>
              </a:rPr>
              <a:t>Chip/tech profit-taking while staples &amp; financials rose; UBS: earnings trend intact</a:t>
            </a:r>
            <a:endParaRPr lang="en-US" sz="900" dirty="0"/>
          </a:p>
        </p:txBody>
      </p:sp>
      <p:sp>
        <p:nvSpPr>
          <p:cNvPr id="34" name="Text 32">
            <a:hlinkClick r:id="rId15" tooltip=""/>
          </p:cNvPr>
          <p:cNvSpPr/>
          <p:nvPr/>
        </p:nvSpPr>
        <p:spPr>
          <a:xfrm>
            <a:off x="5989320" y="5815584"/>
            <a:ext cx="5733288" cy="219456"/>
          </a:xfrm>
          <a:prstGeom prst="rect">
            <a:avLst/>
          </a:prstGeom>
          <a:noFill/>
          <a:ln/>
        </p:spPr>
        <p:txBody>
          <a:bodyPr wrap="square" lIns="0" tIns="0" rIns="0" bIns="0" rtlCol="0" anchor="ctr"/>
          <a:lstStyle/>
          <a:p>
            <a:pPr indent="0" marL="0">
              <a:buNone/>
            </a:pPr>
            <a:r>
              <a:rPr lang="en-US" sz="750" u="sng" dirty="0">
                <a:solidFill>
                  <a:srgbClr val="0088CE"/>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https://www.brecorder.com/news/40431305/china-hk-stocks-close-down-on-chip-and-tech-profit-taking</a:t>
            </a:r>
            <a:endParaRPr lang="en-US" sz="750" dirty="0"/>
          </a:p>
        </p:txBody>
      </p:sp>
      <p:sp>
        <p:nvSpPr>
          <p:cNvPr id="35" name="Text 33"/>
          <p:cNvSpPr/>
          <p:nvPr/>
        </p:nvSpPr>
        <p:spPr>
          <a:xfrm>
            <a:off x="502920" y="6400800"/>
            <a:ext cx="11155680" cy="256032"/>
          </a:xfrm>
          <a:prstGeom prst="rect">
            <a:avLst/>
          </a:prstGeom>
          <a:noFill/>
          <a:ln/>
        </p:spPr>
        <p:txBody>
          <a:bodyPr wrap="square" lIns="0" tIns="0" rIns="0" bIns="0" rtlCol="0" anchor="t"/>
          <a:lstStyle/>
          <a:p>
            <a:pPr indent="0" marL="0">
              <a:buNone/>
            </a:pPr>
            <a:r>
              <a:rPr lang="en-US" sz="900" i="1" dirty="0">
                <a:solidFill>
                  <a:srgbClr val="63737F"/>
                </a:solidFill>
                <a:latin typeface="Calibri" pitchFamily="34" charset="0"/>
                <a:ea typeface="Calibri" pitchFamily="34" charset="-122"/>
                <a:cs typeface="Calibri" pitchFamily="34" charset="-120"/>
              </a:rPr>
              <a:t>All sources are publicly available and were verified when this deck was prepared. Flow figures are Citi franchise data and are not sourced externally.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2026-08-13T23:28:48Z</dcterms:created>
  <dcterms:modified xsi:type="dcterms:W3CDTF">2026-08-13T23:28:48Z</dcterms:modified>
</cp:coreProperties>
</file>