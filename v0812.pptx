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 come up in almost every client conversation: what's crowded, how are investors positioned, and what does the rotation look like. This project turns our own franchise flow into a monthly product that answers all three. The body of the session is six short case studies — each one uses exactly one panel of the tool, on one real market situation, so by the end you'll have seen every screen do a real job. Everything is directional and qualitative — no position sizes anywhere — which is precisely what makes it safe to put in front of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deal with the hardest question first, because it decides whether the project makes sense at all: does this answer 'what is crowded'? Here's the honest premise. Nobody can measure crowding — holdings are unobservable. Our own research crowding score is the right question with a stale answer — a model on filings, describing last quarter. Vendor products are the same. So a tool claiming to MEASURE crowding would be false precision, and the desk doesn't need a meter — because what a sales trading desk actually sells is color. Positioning color: directional, named, timely, and better-evidenced than anyone else's. The monitor applies a working test to every name — agreement between our franchise and southbound, a narrow exit measured by short interest and days-to-cover, and stretch measured by RSI. Each leg observable, monthly. Together they produce a shortlist with evidence: 'both feeds are buying it, the exit is four days wide, the tape is stretched' is a sentence you can defend on a client call. A score of seven-point-three is not. That is the aim: a monthly tool, backed by our own flow, producing defensible positioning color.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this is why the critique 'flow alone isn't sufficient' is built into the design — flow never stands alone here. Three evidence sources, each insufficient by itself. Our own flow: HT and PT line-by-line, EE at aggregate under its compliance boundary — alone it's one franchise's slice with no read on the street. The mainland bid: per-stock southbound from one internal source — alone it can't tell you whether the street is with us. And the short base and tape from Bloomberg — alone it describes the exit with no flow to confirm who's pushing. The product is the join: three screens that never met — blotter, Connect terminal, Bloomberg tab — now one screen, any window, always stamped. The method is triangulation: one imperfect signal is anecdote; three imperfect signals agreeing is color you can send to a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product on one slide: seven panels, each owning one question. The exec summary writes the month; the master table shows our lean against the mainland's; the name tables carry stretch, crowding and payoff per row; the divergence monitor shows where we're fighting the tape; the consensus map answers what's crowded; the trajectory panels separate trend from blip; and the client panel answers who's doing it. The six cases that follow use each of these exactly once — moving from the twelve-month regime, to the June-July rotation, to July's standout names. And because it's a live tool, every claim I make is a screen we can open on the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one — the regime, using the trajectory panels. The direction strip is the whole story: net selling in ten of twelve months, deepest in January at the war onset and June in the chip rout; the cumulative trajectory is a staircase down that never recovers. Now hold that against the tape: a four-year high above twenty-seven thousand in October [https://markets.financialcontent.com/stocks/article/marketminute-2025-10-13-hong-kongs-hang-seng-plunges-below-26000-amidst-resurgent-us-china-trade-tensions], the tariff shock and truce, the Iran war with Brent up fifty-one percent in March [https://www.cnbc.com/2026/04/21/oil-price-iran-war-middle-east.html], the June chip rout to 22,672 [https://www.bbntimes.com/companies/hong-kong-stock-exchange-weekly-review-hang-seng-falls-1-8-to-22-672-as-ai-chip-rout-and-ipo-market-uncertainty-overshadow-quarter-end-recovery-hopes], and July's squeeze to 25,009 [https://www.nakitte.com/briefs/hangseng-2026-07-20/]. Institutions sold through every leg, up and down. The client answer on the right is the regime call this single panel produces: the rally is mainland-sponsored; institutions are already out; re-entry is fuel.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two answers the rotation question with the master table run on two windows, plus the two-month comparison panel. It's a mirror flip. Cons Disc: from the biggest sell at one-point-four-five to a buy — and southbound flips with us — the consumption-repair trade as PMI hit fifty-two and the subsidy war cooled [https://www.nakitte.com/briefs/hk-2026-07-06/, https://insideretail.asia/2026/06/02/meituan-posts-another-loss-but-says-food-delivery-wars-are-beginning-to-abate/]. Comm Svc is the star: we BOUGHT it in June while the mainland sold — then in July we flip to sell at exactly the moment southbound turns six-point-nine-to-one buyer. That's a hand-off — distribution into strength — and only a tool holding both feeds can see it. Materials: a seventeen-to-one mainland stampede we didn't join. Energy: we re-enter after the war premium round-tripped. Utilities: defensive conviction doubled against mainland selling. Breadth widened from three to five sectors, and the exec summary's own language shifts from 'rotation, watch for crowding' to 'split tape — selection matters as much as direction.'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three: the client panel, and the trick is to read it as a regime signal rather than a table. June: hedge funds one-twenty-three sell, long-only one-sixteen sell — the exec summary auto-writes 'fast and real money aligned, both institutional cohorts on the same side.' Both selling means no natural buyer — which is exactly why June's bounces faded. July: they split — HF still selling, long-only makes its first, tiny net buy at one-oh-one, timed at the breakout — and the tool writes 'tactical and strategic views disagree, typical of a contested level rather than a trend.' Notice retail: bought the June dip, sold the July rip — the mirror of long-only. And across the full year all three buckets are net sellers, which is the client-side proof of case one's regime call. Alignment says trend; divergence says contested. That one sentence is the panel's entire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four is the direct answer to the manager's first question — what is crowded — using the consensus map once, on July. Four lists. Consensus long, one-ninety-six names, is THE crowded list: both feeds buying — Iluvatar so crowded both share classes make the top five, Kuaishou, CSPC after its record AstraZeneca licensing deal [https://www.drugdiscoverytrends.com/chinese-firms-landed-6-of-26-major-pharma-deals-in-16-months-worth-53-billion/], Tencent as the consensus core. Distribution: institutions handing the AI new-listing froth — Knowledge Atlas, Z AI, the kind of name that jumped thirty-six percent in a session [https://www.thestandard.com.hk/finance/article/337795/Hong-Kong-stocks-close-lower-Zhipu-AI-surges-36pc] — and the rebounding platforms to the mainland bid. Contrarian: our differentiated hardware book. Exit: old economy, China Life — sold weeks before August's tax headlines [https://www.scmp.com/business/banking-finance/article/3363106/shares-major-hong-kong-insurance-finance-firms-tumble-following-report-20-levy] — and, beautifully, the conglomerate parents of the very pure-plays we bought opposite: Laminates versus Holdings, Hua Hong Semi versus Grace. Discipline: consensus long is the shortlist, not the verdict — confirm the narrow exit with SI and days-to-cover in the name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five is the newest panel — the tape check. Every name plots by which side we were on against how price moved; the two 'fighting the tape' corners are auto-boxed and ranked. We-buy-price-falling: Kingboard, Sunny Optical, Laopu, CATL, Sigenergy — is that conviction or knife-catching? For Kingboard it reads as buying the CCL-supercycle pullback, with the fourth price hike of the year landing July 6 [https://finance.biggo.com/news/5339bae1-2900-4293-94f5-1944f85805e0]. And Laopu is the honest counter-example: bought into weakness, then down twenty-four percent on its July 28 profit alert [https://www.bloomberg.com/news/articles/2026-07-28/chinese-luxury-jeweler-sheds-2-1-billion-on-66-growth-outlook] — the monitor surfaces debates, it doesn't guarantee answers, and saying that builds trust. We-sell-price-rising: AIA, NetEase, Alibaba, Trip.com, Li Ning. AIA is the print of the year — sold into a rising tape weeks before the August 6 twenty-percent levy reports [https://www.scmp.com/business/banking-finance/article/3363106/shares-major-hong-kong-insurance-finance-firms-tumble-following-report-20-levy]. And note NetEase and Alibaba appear here AND in case four's distribution list — two independent panels agreeing is exactly what a robust signal looks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six: the name tables — and the point is that one row is a complete briefing. Take the number-one row of the number-one bought sector: Meituan. RSI forty-eight — unstretched. Short interest five-nine of float — a real bear base. Days-to-cover four-seven — a several-day exit. Price-vs-flow plus thirty-five, Aligned — the position is being paid. And on the map it's contrarian — we're buying against the mainland. That's a thirty-second client story straight off one row: institutions re-entering against the crowd, into a short base, with the tape confirming — the market paying the 'delivery war is cooling' view as Q1 losses narrowed after regulators stepped in [https://finance.biggo.com/news/Rmz5hZ4BoQmpnl36VR9T, https://insideretail.asia/2026/06/02/meituan-posts-another-loss-but-says-food-delivery-wars-are-beginning-to-abate/]. Two more flags from the same tables: Yadea and Laopu as the squeeze conditions — high SI, long exit, price moving against the shorts — and the RSI extremes the table colour-flags itself: iDreamSky at twenty-five sold into oversold, Shenzhou at twenty-six as June's consumer capitulation print. Every highlighted cell is the next client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here is the deliverable itself — because the aim was never a dashboard, it was a monthly product that gives clients positioning color. This is the July edition, five lines. Regime: institutions out ten of twelve months into a rising tape — mainland-sponsored rally, re-entry is fuel. Rotation: the mirror flip — consumer bought by both feeds, platforms handed to the southbound bid. Crowded: the consensus longs, the crowded shorts with a live bid, and the pure-play-versus-parent split. Cohorts: hedge funds selling into long-only's first buy — contested, not a trend. Watch: the sold-into-strength list, which last month led the insurer tax headline by weeks. Three properties make it a product: every line traces to a panel we've just seen; it's client-sendable by construction because there isn't a notional anywhere in it; and it regenerates monthly in minutes, with the exec summary writing the first draft itself. This page is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— does it add value now? Judge it against the three questions. What's crowded: the consensus map gives four ranked, refreshable lists, confirmed against short interest and days-to-cover. How are investors positioned: light and getting lighter, mainland-sponsored, with the cohort panel telling you whether the tape is trend or contested. What's the rotation: the two-month comparison plus the southbound column — the mirror flip and the hand-off. Beyond the answers, it's dual-use by design: internally it's the morning paragraph and the idea list; externally, because it's directional-only, the identical file can go to a client — differentiated color with zero disclosure risk. Efficiency: any window in about a minute, context pre-joined on every row, and every seat quoting the same screen. And the moat stands: only we can watch southbound against our own franchise.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housekeeping slides in one. It runs itself: files drop, one command, cached Bloomberg so reruns are free, and out comes a single self-contained HTML that opens offline — about fifteen minutes a month at steady state, with a T+2 scheduler and a weekly one-page cut as the next steps. And the boundaries, stated before anyone asks: our flow is a sample and crowded is a disciplined proxy, never a measured overweight; EE joins at aggregate only for compliance, so sector-by-client-type is unanswerable, full stop; the feeds overlap, so the same-sign quadrants are overlap-sensitive while the contrarian and distribution reads are conservative; and directional-only cuts both ways — the very feature that makes it client-safe means it can't size risk internally, and rotation into ADR lines is invisible to HK-line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close: six cases, seven panels, and the three questions answered on sight. Crowded — named, in four live lists, with the exit-friction discipline. Positioning — called: institutions out for twelve straight months of an up market, sponsorship southbound, and the cohort panel separating trend from contested. Rotation — seen first, in the mirror flip and the Comm Svc hand-off that only a two-feed tool can show. And proof it leads rather than lags: AIA before the tax headline, Energy before oil's round-trip completed, the squeeze flags before the covering. The ask is small: pilot the Monthly Client Review with two or three accounts for one cycle, schedule the T+2 refresh, and thirty minutes of feedback to tune the language. Thank you — and the live tool is one click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03504"/>
            <a:ext cx="128016" cy="128016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603504"/>
            <a:ext cx="128016" cy="12801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603504"/>
            <a:ext cx="128016" cy="128016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60350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MARKETS HONG KONG · HT SALES TRADING · INTERNSHIP FINAL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crowded — and who is on the other side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676656" y="2212848"/>
            <a:ext cx="2834640" cy="64008"/>
          </a:xfrm>
          <a:prstGeom prst="roundRect">
            <a:avLst>
              <a:gd name="adj" fmla="val 42857"/>
            </a:avLst>
          </a:prstGeom>
          <a:solidFill>
            <a:srgbClr val="D9261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3230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&amp; Positioning Monitor — a monthly client review built on the desk's own franchise flow. Not a crowding score: positioning color, with evidence.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0B3E7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40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1330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with evidence — not a crowding meter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370332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14549B"/>
          </a:solidFill>
          <a:ln w="15875">
            <a:solidFill>
              <a:srgbClr val="008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840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CASES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7720" y="41330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 used once — 12M regime → Jun/Jul rotation → July names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370332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0B3E7E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3840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RUN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66760" y="41330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desk keeps it, and how it runs itself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cash equities · Aug-25 – Jul-26 · directional &amp; qualitative only — no position sizes disclosed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Shuyun Lyu ·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 — ANSWERED BEFORE ANYONE ASKS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can measure crowding — so we sell evidence, not a score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5486400" cy="2651760"/>
          </a:xfrm>
          <a:prstGeom prst="roundRect">
            <a:avLst>
              <a:gd name="adj" fmla="val 2069"/>
            </a:avLst>
          </a:prstGeom>
          <a:solidFill>
            <a:srgbClr val="D8E6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61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4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TRUTH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591056"/>
            <a:ext cx="4983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are unobservable — no dataset on earth says who is overweight a name today. </a:t>
            </a:r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Research's crowding score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right question with a stale answer: a model on filings and fund data, describing last quarter, not this month's book. Vendor products are the same. Every desk answer today is one seat's anecdote. </a:t>
            </a:r>
            <a:pPr indent="0" marL="0">
              <a:buNone/>
            </a:pPr>
            <a:r>
              <a:rPr lang="en-US" sz="1250" b="1" i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tool that claims to measure crowding is false precision — the desk doesn't need a meter.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115568"/>
            <a:ext cx="5486400" cy="2651760"/>
          </a:xfrm>
          <a:prstGeom prst="roundRect">
            <a:avLst>
              <a:gd name="adj" fmla="val 2069"/>
            </a:avLst>
          </a:prstGeom>
          <a:solidFill>
            <a:srgbClr val="F2F5F8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261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SALES TRADING DESK ACTUALLY SELLS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0" y="1591056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color: </a:t>
            </a:r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directional, named, timely — and better-evidenced than anyone else's, because it's built on flow only this desk can see. The working test the monitor applies to every name: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10528" y="2459736"/>
            <a:ext cx="128016" cy="12801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1" name="Text 9"/>
          <p:cNvSpPr/>
          <p:nvPr/>
        </p:nvSpPr>
        <p:spPr>
          <a:xfrm>
            <a:off x="6729984" y="239572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our franchise + southbound on the same side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10528" y="2898648"/>
            <a:ext cx="128016" cy="128016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6729984" y="28346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EXIT 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short interest % of float · days-to-cover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10528" y="33375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729984" y="327355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RSI 14D at the period end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11201400" cy="1051560"/>
          </a:xfrm>
          <a:prstGeom prst="roundRect">
            <a:avLst>
              <a:gd name="adj" fmla="val 5217"/>
            </a:avLst>
          </a:prstGeom>
          <a:solidFill>
            <a:srgbClr val="EAF0F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leg is observable, monthly. Together they produce not a score but a shortlist with evidence — 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“both feeds are buying it, the exit is four days wide, and the tape is stretched” is a sentence a salesperson can defend on a client call. A score of 7.3 is not.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" y="52120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aim, stated plainly:  </a:t>
            </a:r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monthly-updated tool, backed by the flow data on this desk, that gives every seat defensible positioning color for clients. Everything that follows is judged against that aim — not against a measurement standard nobody can meet.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alone can't carry the story — so it never stands alone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611880" cy="2514600"/>
          </a:xfrm>
          <a:prstGeom prst="roundRect">
            <a:avLst>
              <a:gd name="adj" fmla="val 2182"/>
            </a:avLst>
          </a:prstGeom>
          <a:solidFill>
            <a:srgbClr val="F2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353312"/>
            <a:ext cx="128016" cy="128016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2618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627632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 + PT line-by-line (CTA); EE at sector × month and client × month aggregate — a compliance boundary. Buckets: HF (+PE) · Long-only · Retail.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28529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Alone: no read on the street — one franchise's slice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143000"/>
            <a:ext cx="3611880" cy="2514600"/>
          </a:xfrm>
          <a:prstGeom prst="roundRect">
            <a:avLst>
              <a:gd name="adj" fmla="val 2182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353312"/>
            <a:ext cx="128016" cy="12801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2618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MAINLAND BID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5152" y="1627632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Per-stock Southbound Connect net, one internal source — the marginal buyer in HK, joined to every name we trade.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5152" y="28529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Alone: can't say whether the street is with us or against 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75320" y="1143000"/>
            <a:ext cx="3611880" cy="2514600"/>
          </a:xfrm>
          <a:prstGeom prst="roundRect">
            <a:avLst>
              <a:gd name="adj" fmla="val 2182"/>
            </a:avLst>
          </a:prstGeom>
          <a:solidFill>
            <a:srgbClr val="F2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531352" y="1353312"/>
            <a:ext cx="128016" cy="128016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8750808" y="12618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BASE &amp; TAPE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31352" y="1627632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interest % of float, days-to-cover on 30D ADV, RSI 14D, price-vs-flow — Bloomberg, cached per name.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31352" y="285292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Alone: describes the exit, with no flow to confirm who's pushing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24728" y="3794760"/>
            <a:ext cx="502920" cy="384048"/>
          </a:xfrm>
          <a:prstGeom prst="downArrow">
            <a:avLst/>
          </a:prstGeom>
          <a:solidFill>
            <a:srgbClr val="D8E6F2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297680"/>
            <a:ext cx="11201400" cy="1600200"/>
          </a:xfrm>
          <a:prstGeom prst="roundRect">
            <a:avLst>
              <a:gd name="adj" fmla="val 3429"/>
            </a:avLst>
          </a:prstGeom>
          <a:solidFill>
            <a:srgbClr val="D8E6F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62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monthly, in one screen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809744"/>
            <a:ext cx="1056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screens that never met — the blotter, the Connect terminal, the Bloomberg tab — now one product, recomputed for any window inside Aug-25 → Jul-26 and stamped with its period. Triangulation is the method: </a:t>
            </a:r>
            <a:pPr indent="0" marL="0">
              <a:buNone/>
            </a:pPr>
            <a:r>
              <a:rPr lang="en-US" sz="13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imperfect signal is anecdote; three imperfect signals agreeing is color you can send.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IN ONE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panels, seven questions — six cases ahead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22376" y="1243584"/>
            <a:ext cx="128016" cy="128016"/>
          </a:xfrm>
          <a:prstGeom prst="ellipse">
            <a:avLst/>
          </a:prstGeom>
          <a:solidFill>
            <a:srgbClr val="002D72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1161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00600" y="1188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22376" y="14630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the month in three bullets” — sector rotation, single-name positioning vs southbound, client behaviour. Auto-written per window.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115568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37376" y="1243584"/>
            <a:ext cx="128016" cy="12801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1" name="Text 9"/>
          <p:cNvSpPr/>
          <p:nvPr/>
        </p:nvSpPr>
        <p:spPr>
          <a:xfrm>
            <a:off x="6656832" y="1161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Positioning Master Table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0" y="11887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37376" y="14630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the book leaning — and is the mainland with us?” Buy/sell ratio + direction + weight + southbound ratio, side by side.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" y="2450592"/>
            <a:ext cx="128016" cy="12801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" y="23682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Most-Traded Names (leading sectors)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395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" y="267004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names carry it — with what stretch (RSI), crowding (SI, DTC) and payoff (price-vs-flow)?”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322576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7376" y="2450592"/>
            <a:ext cx="128016" cy="128016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6656832" y="23682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Price-vs-Flow Divergence Monitor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0" y="23957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37376" y="267004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are we fighting the tape?” We-buy-price-falling vs we-sell-price-rising — ranked, named.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529584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376" y="3657600"/>
            <a:ext cx="128016" cy="128016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941832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Franchise-vs-Southbound Consensus Map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602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" y="387705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crowded?” Four quadrants: consensus long / distribution / contrarian / consensus exit.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529584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7376" y="3657600"/>
            <a:ext cx="128016" cy="128016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31" name="Text 29"/>
          <p:cNvSpPr/>
          <p:nvPr/>
        </p:nvSpPr>
        <p:spPr>
          <a:xfrm>
            <a:off x="6656832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Trajectories &amp; Two-Month Comparison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0" y="3602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1–2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37376" y="387705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“Trend or blip — and what rotated?” Monthly direction, cumulative paths, any-two-months sector compare.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736592"/>
            <a:ext cx="5440680" cy="109728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/>
        </p:spPr>
      </p:sp>
      <p:sp>
        <p:nvSpPr>
          <p:cNvPr id="35" name="Shape 33"/>
          <p:cNvSpPr/>
          <p:nvPr/>
        </p:nvSpPr>
        <p:spPr>
          <a:xfrm>
            <a:off x="722376" y="4864608"/>
            <a:ext cx="128016" cy="128016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36" name="Text 34"/>
          <p:cNvSpPr/>
          <p:nvPr/>
        </p:nvSpPr>
        <p:spPr>
          <a:xfrm>
            <a:off x="941832" y="4782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Client-Type Positioning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8097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2376" y="508406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is doing it?” HF vs Long-only vs Retail ratios and signals, expandable to sub-types.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1208" y="5852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08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the cases:  the 12-month regime → the Jun→Jul rotation → July's standout names. Every claim is a screen the audience can open live.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· MORNING CALL, SWF CLIENT — “WHO IS ACTUALLY SPONSORING THIS RALLY?”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months of tape up — twelve months of institutions out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18320" y="1280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Aug-25 → Jul-26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" y="10789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net flow direction — our franchise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566928" cy="457200"/>
          </a:xfrm>
          <a:prstGeom prst="roundRect">
            <a:avLst>
              <a:gd name="adj" fmla="val 4000"/>
            </a:avLst>
          </a:prstGeom>
          <a:solidFill>
            <a:srgbClr val="C4161C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99616" y="1984248"/>
            <a:ext cx="566928" cy="256032"/>
          </a:xfrm>
          <a:prstGeom prst="roundRect">
            <a:avLst>
              <a:gd name="adj" fmla="val 7143"/>
            </a:avLst>
          </a:prstGeom>
          <a:solidFill>
            <a:srgbClr val="0088CE"/>
          </a:solidFill>
          <a:ln/>
        </p:spPr>
      </p:sp>
      <p:sp>
        <p:nvSpPr>
          <p:cNvPr id="9" name="Text 7"/>
          <p:cNvSpPr/>
          <p:nvPr/>
        </p:nvSpPr>
        <p:spPr>
          <a:xfrm>
            <a:off x="1426464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32304" y="2240280"/>
            <a:ext cx="566928" cy="384048"/>
          </a:xfrm>
          <a:prstGeom prst="roundRect">
            <a:avLst>
              <a:gd name="adj" fmla="val 4762"/>
            </a:avLst>
          </a:prstGeom>
          <a:solidFill>
            <a:srgbClr val="C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2359152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64992" y="2240280"/>
            <a:ext cx="566928" cy="411480"/>
          </a:xfrm>
          <a:prstGeom prst="roundRect">
            <a:avLst>
              <a:gd name="adj" fmla="val 4444"/>
            </a:avLst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2240280"/>
            <a:ext cx="566928" cy="274320"/>
          </a:xfrm>
          <a:prstGeom prst="roundRect">
            <a:avLst>
              <a:gd name="adj" fmla="val 6667"/>
            </a:avLst>
          </a:prstGeom>
          <a:solidFill>
            <a:srgbClr val="C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4224528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30368" y="2240280"/>
            <a:ext cx="566928" cy="658368"/>
          </a:xfrm>
          <a:prstGeom prst="roundRect">
            <a:avLst>
              <a:gd name="adj" fmla="val 3226"/>
            </a:avLst>
          </a:prstGeom>
          <a:solidFill>
            <a:srgbClr val="C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5157216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63056" y="2240280"/>
            <a:ext cx="566928" cy="411480"/>
          </a:xfrm>
          <a:prstGeom prst="roundRect">
            <a:avLst>
              <a:gd name="adj" fmla="val 4444"/>
            </a:avLst>
          </a:prstGeom>
          <a:solidFill>
            <a:srgbClr val="C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6089904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95744" y="2240280"/>
            <a:ext cx="566928" cy="146304"/>
          </a:xfrm>
          <a:prstGeom prst="roundRect">
            <a:avLst>
              <a:gd name="adj" fmla="val 12500"/>
            </a:avLst>
          </a:prstGeom>
          <a:solidFill>
            <a:srgbClr val="C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7022592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28432" y="1874520"/>
            <a:ext cx="566928" cy="365760"/>
          </a:xfrm>
          <a:prstGeom prst="roundRect">
            <a:avLst>
              <a:gd name="adj" fmla="val 5000"/>
            </a:avLst>
          </a:prstGeom>
          <a:solidFill>
            <a:srgbClr val="0088CE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961120" y="2240280"/>
            <a:ext cx="566928" cy="91440"/>
          </a:xfrm>
          <a:prstGeom prst="roundRect">
            <a:avLst>
              <a:gd name="adj" fmla="val 20000"/>
            </a:avLst>
          </a:prstGeom>
          <a:solidFill>
            <a:srgbClr val="C7D0D8"/>
          </a:solidFill>
          <a:ln/>
        </p:spPr>
      </p:sp>
      <p:sp>
        <p:nvSpPr>
          <p:cNvPr id="25" name="Text 23"/>
          <p:cNvSpPr/>
          <p:nvPr/>
        </p:nvSpPr>
        <p:spPr>
          <a:xfrm>
            <a:off x="8887968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893808" y="2240280"/>
            <a:ext cx="566928" cy="603504"/>
          </a:xfrm>
          <a:prstGeom prst="roundRect">
            <a:avLst>
              <a:gd name="adj" fmla="val 3226"/>
            </a:avLst>
          </a:prstGeom>
          <a:solidFill>
            <a:srgbClr val="C4161C"/>
          </a:solidFill>
          <a:ln/>
        </p:spPr>
      </p:sp>
      <p:sp>
        <p:nvSpPr>
          <p:cNvPr id="27" name="Text 25"/>
          <p:cNvSpPr/>
          <p:nvPr/>
        </p:nvSpPr>
        <p:spPr>
          <a:xfrm>
            <a:off x="9820656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826496" y="2240280"/>
            <a:ext cx="566928" cy="182880"/>
          </a:xfrm>
          <a:prstGeom prst="roundRect">
            <a:avLst>
              <a:gd name="adj" fmla="val 10000"/>
            </a:avLst>
          </a:prstGeom>
          <a:solidFill>
            <a:srgbClr val="C4161C"/>
          </a:solidFill>
          <a:ln/>
        </p:spPr>
      </p:sp>
      <p:sp>
        <p:nvSpPr>
          <p:cNvPr id="29" name="Text 27"/>
          <p:cNvSpPr/>
          <p:nvPr/>
        </p:nvSpPr>
        <p:spPr>
          <a:xfrm>
            <a:off x="10753344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2240280"/>
            <a:ext cx="11247120" cy="0"/>
          </a:xfrm>
          <a:prstGeom prst="line">
            <a:avLst/>
          </a:prstGeom>
          <a:noFill/>
          <a:ln w="12700">
            <a:solidFill>
              <a:srgbClr val="C7D0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33101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selling in 10 of 12 months · deepest: Jan-26 (war onset) and Jun-26 (chip rout) · net buying only Sep-25 &amp; Apr-26 · cumulative trajectory: a staircase down, never recovered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379476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D8E6F2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TAPE DID MEANWHILE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4261104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4-yr high &gt;27,000 (early Oct-25) → rare-earth / 100%-tariff shock &amp; Busan truce → US–Iran war from late Feb (Brent +51% in March) → mid-Jun AI-chip rout to 22,672 (7th straight weekly loss) → July squeeze to 25,009. </a:t>
            </a:r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every leg — up and down — the franchise stayed a net seller.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379476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2F5F8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ANSWER THIS PRODUCES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4261104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“Institutional positioning in HK is light and got lighter all year — this rally is not institution-sponsored. The structural bid is southbound. So the depth of any selloff depends on the mainland bid holding, not on institutions, who are already out — and any institutional re-entry is fresh fuel, not late chasing.” </a:t>
            </a:r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chart, one regime call.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1208" y="608990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WORKED:  </a:t>
            </a:r>
            <a:pPr indent="0" marL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H1-26 bounce faded while the cohorts stayed aligned sellers — the regime call held for twelve straight months, until real money returned in July.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1208" y="638251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used: Monthly Net Flow Direction + Cumulative Flow Trajectory vs Aug-25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69280" y="63825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Tape: financialcontent.com · cnbc.com · bbntimes.com · nakitte.com — URLs in notes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· LONG-ONLY CLIENT — “WHAT GOT FUNDED OUT OF WHAT SINCE JUNE?”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→ Jul: a mirror flip — and a hand-off to the mainland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18320" y="1280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Jun-26 vs Jul-26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2014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143000"/>
                <a:gridCol w="1143000"/>
                <a:gridCol w="1051560"/>
                <a:gridCol w="1051560"/>
                <a:gridCol w="5577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·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· JUL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 · JUN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 · JUL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 DISC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1.45x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1.13x Buy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5.26x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5C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1.22x Buy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 repair: both sides flip to buy as PMI hits 52.0 and the delivery-subsidy war cools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 SVC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1.35x Buy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1.24x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1.78x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5C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6.91x Buy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hand-off: we bought when mainland sold; we sell as mainland chases the rebound — distribution into strength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1.39x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1.04x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1.76x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5C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17.49x Buy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mainland stampede we didn't join — the widest single disagreement on the board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1.31x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1.57x Buy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55C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1.10x Buy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1.49x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War-premium round-trip: we re-enter after oil's slide back toward pre-war; mainland exits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2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1.10x Buy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5C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2.09x Buy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2.31x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2.77x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Defensive conviction doubled — held against mainland selling both months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892040"/>
            <a:ext cx="11201400" cy="1325880"/>
          </a:xfrm>
          <a:prstGeom prst="roundRect">
            <a:avLst>
              <a:gd name="adj" fmla="val 4138"/>
            </a:avLst>
          </a:prstGeom>
          <a:solidFill>
            <a:srgbClr val="D8E6F2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074920"/>
            <a:ext cx="10561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3 of 11 → 5 of 11 sectors net-bought, and the exec summary's own language turns from “rotation into Comm Svc, watch for crowding” to “split tape — selection matters as much as direction.”  </a:t>
            </a:r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isn't one number: it's who rotated first and who followed. The Comm Svc hand-off — we exit exactly as the mainland arrives — is the single most important read of the summer, and only a two-feed tool can see it. </a:t>
            </a:r>
            <a:pPr indent="0" marL="0">
              <a:buNone/>
            </a:pPr>
            <a:r>
              <a:rPr lang="en-US" sz="1250" i="1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the consumer names bought were paid at once — Meituan +35%, JD +28%, BYD +30% over the window — while the handed-off platforms stalled into the mainland bid.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21208" y="638251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used: Sector Positioning Master Table (two windows) + Sector Flow Comparison — Any Two Months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669280" y="63825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52.0 / retail +4.8%: nakitte.com · subsidy-war cooling: biggo.com, insideretail.asia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· DESK HEAD, PRE-OPEN — “IS THIS SQUEEZE REAL MONEY OR JUST COVERING?”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says trend — divergence says contested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18320" y="1280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 · Jun-26 · Jul-26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6583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17320"/>
                <a:gridCol w="1371600"/>
                <a:gridCol w="14173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12M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JUN-26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JUL-26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7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 (HF + PE)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1.11x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1.23x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1.16x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1.02x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1.16x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5C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1.01x Buy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2D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(PB · corp · FO)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1.20x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55C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1.23x Buy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1.29x Sell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2918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bought the June dip — then sold the July rip. Long-only did the opposite: sold the dip, made its first (small) net buy at the breakout.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360920" y="1188720"/>
            <a:ext cx="4343400" cy="2148840"/>
          </a:xfrm>
          <a:prstGeom prst="roundRect">
            <a:avLst>
              <a:gd name="adj" fmla="val 2553"/>
            </a:avLst>
          </a:prstGeom>
          <a:solidFill>
            <a:srgbClr val="FBEAEA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0" y="1335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— ALIGNMENT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89520" y="164592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“Fast and real money aligned — both institutional cohorts are on the same side.”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selling = no natural buyer. It's why June's bounces kept fading. Alignment confirms the trend.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60920" y="3520440"/>
            <a:ext cx="4343400" cy="2148840"/>
          </a:xfrm>
          <a:prstGeom prst="roundRect">
            <a:avLst>
              <a:gd name="adj" fmla="val 2553"/>
            </a:avLst>
          </a:prstGeom>
          <a:solidFill>
            <a:srgbClr val="E7F2EA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3666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— DIVERGENCE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0" y="397764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“Hedge funds are selling into long-only buying — tactical and strategic views disagree, typical of a contested level rather than a trend.”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tool's own line — auto-written. Real money's first buy in months, timed at the breakout.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4114800"/>
            <a:ext cx="6583680" cy="1783080"/>
          </a:xfrm>
          <a:prstGeom prst="roundRect">
            <a:avLst>
              <a:gd name="adj" fmla="val 3077"/>
            </a:avLst>
          </a:prstGeom>
          <a:solidFill>
            <a:srgbClr val="F2F5F8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297680"/>
            <a:ext cx="6080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panel turns “who's buying?” into a regime signal:  </a:t>
            </a:r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fast money and real money sell together, respect the trend — rallies lack sponsorship. When they split, the level is contested — exactly what July's squeeze against soft global tapes felt like from the seat. And over the full year, all three buckets net sellers: the regime slide's client-side proof.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1208" y="6035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WORKED:  </a:t>
            </a:r>
            <a:pPr indent="0" marL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June’s “aligned selling” preceded the fading bounces; July’s divergence marked the contested breakout — both lines auto-written before the fact, not narrated after.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21208" y="638251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used: Client-Type Positioning (+ monthly &amp; cumulative by bucket)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 · PLATFORM QUANT CLIENT — “WHAT'S CROWDED? NAMES, NOT A SCORE”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Consensus Map answers it in four lists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18320" y="1280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880360" cy="2103120"/>
          </a:xfrm>
          <a:prstGeom prst="rect">
            <a:avLst/>
          </a:prstGeom>
          <a:solidFill>
            <a:srgbClr val="FDF6E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CONTRARIAN · 205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59105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Kingboard Laminates · Xiaomi–B · Hua Hong Semi · Lenovo · Meituan–B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23957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differentiated book — we buy what the mainland distributes. The AI-hardware conviction lives here.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1188720"/>
            <a:ext cx="2880360" cy="2103120"/>
          </a:xfrm>
          <a:prstGeom prst="rect">
            <a:avLst/>
          </a:prstGeom>
          <a:solidFill>
            <a:srgbClr val="E7F2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LONG · 196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93592" y="159105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Shanghai Iluvatar (both lines) · Kuaishou · CSPC Pharma · Tencent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93592" y="23957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crowded longs — both feeds buying. Concentrated enough that one name's two share classes both make the list.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2880360" cy="2103120"/>
          </a:xfrm>
          <a:prstGeom prst="rect">
            <a:avLst/>
          </a:prstGeom>
          <a:solidFill>
            <a:srgbClr val="EDF1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EXIT · 69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69417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Yangtze Optical Fibre · China Petroleum · Kingboard Holdings · Hua Hong Grace · China Life–H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3232" y="4498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de-risking — old economy, the insurer, and the conglomerate parents of the very names bought opposite.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29000" y="3291840"/>
            <a:ext cx="2880360" cy="2103120"/>
          </a:xfrm>
          <a:prstGeom prst="rect">
            <a:avLst/>
          </a:prstGeom>
          <a:solidFill>
            <a:srgbClr val="FBEA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· 110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93592" y="369417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Atlas · Z AI · NetEase · Alibaba · Gigadevice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93592" y="449884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buys, we sell — institutions hand the AI new-listing froth and rebounding platforms to the mainland bid.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546811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franchise: selling ← → buying (vertical) · Southbound market-wide: selling ← → buying (horizontal)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1271016"/>
            <a:ext cx="128016" cy="12801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11704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= agreement + narrow exit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76288" y="14630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long is the candidate list; confirm the exit with the name tables' SI and DTC columns. Both-feeds-buying alone isn't the verdict — it's the shortlist.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2871216"/>
            <a:ext cx="128016" cy="128016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26" name="Text 24"/>
          <p:cNvSpPr/>
          <p:nvPr/>
        </p:nvSpPr>
        <p:spPr>
          <a:xfrm>
            <a:off x="6876288" y="27706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macro fits each list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76288" y="30632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Longs: the AI new-listing frenzy (a fresh AI listing jumped 36% in a single July session) and CSPC's record licensing deal. Exit: China Life sold weeks before August's offshore-policy tax headlines. The lists mirror the tape.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29400" y="447141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6876288" y="4370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pure-play vs parent split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76288" y="46634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Kingboard Laminates sits contrarian-bought while parent Kingboard Holdings sits in consensus exit; Hua Hong Semi bought vs Hua Hong Grace exited. The market pays for the pure-play — a trade idea generated by the map itself.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" y="601675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WORKED:  </a:t>
            </a:r>
            <a:pPr indent="0" marL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June’s consensus-long list (Kingboard Laminates, BOC-H) became July’s leadership; the exit list’s China Life preceded August’s tax hit — the lists led, the tape followed.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" y="638251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used: Franchise-versus-Southbound Consensus Map (Jul-26)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0" y="63825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listing +36%: thestandard.com.hk · CSPC–AZ deal: drugdiscoverytrends.com · insurer tax: scmp.com / bloomberg.com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5 · INTERNAL REVIEW — “WHERE ARE WE FIGHTING THE TAPE, AND WHY?”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franchise is fighting the tape — named, ranked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18320" y="1280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94960" cy="2377440"/>
          </a:xfrm>
          <a:prstGeom prst="rect">
            <a:avLst/>
          </a:prstGeom>
          <a:solidFill>
            <a:srgbClr val="FAFBFC"/>
          </a:solidFill>
          <a:ln w="12700">
            <a:solidFill>
              <a:srgbClr val="C7D0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54019" y="1234440"/>
            <a:ext cx="0" cy="2377440"/>
          </a:xfrm>
          <a:prstGeom prst="line">
            <a:avLst/>
          </a:prstGeom>
          <a:noFill/>
          <a:ln w="9525">
            <a:solidFill>
              <a:srgbClr val="C7D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23160"/>
            <a:ext cx="5394960" cy="0"/>
          </a:xfrm>
          <a:prstGeom prst="line">
            <a:avLst/>
          </a:prstGeom>
          <a:noFill/>
          <a:ln w="9525">
            <a:solidFill>
              <a:srgbClr val="C7D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6035" y="1614830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9" name="Shape 7"/>
          <p:cNvSpPr/>
          <p:nvPr/>
        </p:nvSpPr>
        <p:spPr>
          <a:xfrm>
            <a:off x="1627632" y="1805026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0" name="Shape 8"/>
          <p:cNvSpPr/>
          <p:nvPr/>
        </p:nvSpPr>
        <p:spPr>
          <a:xfrm>
            <a:off x="2059229" y="1567282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1" name="Shape 9"/>
          <p:cNvSpPr/>
          <p:nvPr/>
        </p:nvSpPr>
        <p:spPr>
          <a:xfrm>
            <a:off x="2328977" y="1947672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2" name="Shape 10"/>
          <p:cNvSpPr/>
          <p:nvPr/>
        </p:nvSpPr>
        <p:spPr>
          <a:xfrm>
            <a:off x="2598725" y="1709928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2422" y="1876349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3084271" y="1519733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3515868" y="1757477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3785616" y="1947672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7" name="Shape 15"/>
          <p:cNvSpPr/>
          <p:nvPr/>
        </p:nvSpPr>
        <p:spPr>
          <a:xfrm>
            <a:off x="4055364" y="1662379"/>
            <a:ext cx="100584" cy="100584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8" name="Shape 16"/>
          <p:cNvSpPr/>
          <p:nvPr/>
        </p:nvSpPr>
        <p:spPr>
          <a:xfrm>
            <a:off x="3515868" y="2803550"/>
            <a:ext cx="100584" cy="100584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9" name="Shape 17"/>
          <p:cNvSpPr/>
          <p:nvPr/>
        </p:nvSpPr>
        <p:spPr>
          <a:xfrm>
            <a:off x="3785616" y="2993746"/>
            <a:ext cx="100584" cy="100584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0" name="Shape 18"/>
          <p:cNvSpPr/>
          <p:nvPr/>
        </p:nvSpPr>
        <p:spPr>
          <a:xfrm>
            <a:off x="3947465" y="2660904"/>
            <a:ext cx="100584" cy="100584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1" name="Shape 19"/>
          <p:cNvSpPr/>
          <p:nvPr/>
        </p:nvSpPr>
        <p:spPr>
          <a:xfrm>
            <a:off x="4163263" y="2898648"/>
            <a:ext cx="100584" cy="100584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2" name="Shape 20"/>
          <p:cNvSpPr/>
          <p:nvPr/>
        </p:nvSpPr>
        <p:spPr>
          <a:xfrm>
            <a:off x="4325112" y="3088843"/>
            <a:ext cx="100584" cy="100584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3" name="Shape 21"/>
          <p:cNvSpPr/>
          <p:nvPr/>
        </p:nvSpPr>
        <p:spPr>
          <a:xfrm>
            <a:off x="4486961" y="2756002"/>
            <a:ext cx="100584" cy="100584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6709" y="2946197"/>
            <a:ext cx="100584" cy="100584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6457" y="2660904"/>
            <a:ext cx="100584" cy="100584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5296205" y="2898648"/>
            <a:ext cx="100584" cy="100584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5565953" y="3088843"/>
            <a:ext cx="100584" cy="100584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12801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buy ↑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" y="33375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sell 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price fell    price rose 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8404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“fighting the tape” corners are auto-boxed and ranked by the size of our net flow: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123444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EDF3F9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13716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BUY, PRICE FALLING — accumulation into weakness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46520" y="16642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Kingboard Laminates · Sunny Optical · Laopu Gold · CATL–H · Sigenergy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1975104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adds or knife-catching? Kingboard = buying the CCL-supercycle pullback (4th price hike of the year landed Jul 6). Laopu = the honest counter-example: bought into weakness, then −24% on its Jul-28 profit alert — </a:t>
            </a:r>
            <a:pPr indent="0" marL="0">
              <a:buNone/>
            </a:pPr>
            <a:r>
              <a:rPr lang="en-US" sz="1050" b="1" i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 surfaces the debate; it doesn't guarantee the answer.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0" y="370332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BEAEA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38404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SELL, PRICE RISING — distribution into strength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46520" y="413308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 · NetEase · Alibaba · Trip.com · Li 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46520" y="4443984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Profit-taking or early information? AIA was sold into a rising tape </a:t>
            </a:r>
            <a:pPr indent="0" marL="0">
              <a:buNone/>
            </a:pPr>
            <a:r>
              <a:rPr lang="en-US" sz="1050" b="1" i="1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before</a:t>
            </a:r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Aug-6 reports of a 20% mainland levy on offshore policies hit the sector — the clearest “flow led the news” print of the year. NetEase and Alibaba sold straight into the southbound bid (see Case 4's distribution list — the panels agree).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38912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F2F5F8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5720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panel exists:  </a:t>
            </a:r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dot in these corners is a conversation — an add, a trim, or a client call. It converts raw flow into the salesperson's question: are we being paid for this position, and if not, why are we still in it?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21208" y="607161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WORKED:  </a:t>
            </a:r>
            <a:pPr indent="0" marL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sell-into-strength box held AIA weeks before the Aug-6 levy reports — and where the buy-into-weakness box aged badly (Laopu), its own SI column had flagged the risk.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1208" y="638251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used: Price-versus-Flow Divergence Monitor (Jul-26)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69280" y="63825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Kingboard hike: biggo.com · Laopu −24%: bloomberg.com · AIA levy: scmp.com / bloomberg.com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6 · SALES TRADER, 2 MIN BEFORE A CALL — “GIVE ME 30 SECONDS ON MEITUAN”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row is a briefing: Meituan, and two flags beside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18320" y="1280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201400" cy="1828800"/>
          </a:xfrm>
          <a:prstGeom prst="roundRect">
            <a:avLst>
              <a:gd name="adj" fmla="val 3000"/>
            </a:avLst>
          </a:prstGeom>
          <a:solidFill>
            <a:srgbClr val="D8E6F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ROW OF THE #1 BOUGHT SECTOR — MEITUAN–B (3690.HK), CONS DISC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14D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1865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stretched — room to run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35224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interest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35224" y="1865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5.9% of float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35224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bear position…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93208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Days-to-cover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93208" y="1865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4.75x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93208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…with a several-day exit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251192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flow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51192" y="1865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+35.0% Aligned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51192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is being paid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09176" y="1627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map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409176" y="18653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Contrarian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09176" y="2194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buy, mainland sells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1208" y="310896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30-second client story, straight off one row:  </a:t>
            </a:r>
            <a:pPr indent="0" marL="0">
              <a:buNone/>
            </a:pPr>
            <a:r>
              <a:rPr lang="en-US" sz="125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“Institutions are re-entering Meituan against the mainland, unstretched, into a real short base, and the tape is confirming — the market is paying the ‘delivery war is cooling’ view: Q1 losses narrowed sharply after regulators reined the subsidy war in.”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DF6E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7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1 — CROWDED SHORTS BEING CARRIED HIGHER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370832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Yadea: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7.2%, DTC 8.95x, +20.4% Aligned — a nine-day exit door with the price already moving against the shorts. </a:t>
            </a:r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Laopu: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13.9% — the most-shorted name on the page — with our clients on the bid. The squeeze condition, read off two columns.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931920"/>
            <a:ext cx="5486400" cy="2103120"/>
          </a:xfrm>
          <a:prstGeom prst="roundRect">
            <a:avLst>
              <a:gd name="adj" fmla="val 2609"/>
            </a:avLst>
          </a:prstGeom>
          <a:solidFill>
            <a:srgbClr val="FBEAEA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2 — EXTREMES THE TABLE HIGHLIGHTS ITSELF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370832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iDreamSky RSI 25.4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sold into deep-oversold (Jul); </a:t>
            </a:r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Shenzhou RSI 25.9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capitulation print of June's consumer selling. The tool colour-flags RSI extremes automatically — every highlighted cell is either a capitulation to fade or a warning to heed, and either way it's the next client call.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" y="608990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WORKED:  </a:t>
            </a:r>
            <a:pPr indent="0" marL="0">
              <a:buNone/>
            </a:pPr>
            <a:r>
              <a:rPr lang="en-US" sz="9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row’s read — unstretched, real short base, being paid — was July’s consumer playbook in one line; the flags (Yadea squeeze, RSI-25 capitulations) each resolved in the flagged direction within weeks.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1208" y="638251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used: Most-Traded Names in the Leading Sectors (both top-10 tables)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0" y="63825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Subsidy war cooling / Q1 loss narrowing: biggo.com · caixinglobal.com · insideretail.asia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 — WHAT ACTUALLY GOES TO CLIENTS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monthly positioning color, ready to send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418320" y="1280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 edition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75895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15568"/>
            <a:ext cx="7589520" cy="457200"/>
          </a:xfrm>
          <a:prstGeom prst="rect">
            <a:avLst/>
          </a:prstGeom>
          <a:solidFill>
            <a:srgbClr val="002D72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572768"/>
            <a:ext cx="7589520" cy="41148"/>
          </a:xfrm>
          <a:prstGeom prst="rect">
            <a:avLst/>
          </a:prstGeom>
          <a:solidFill>
            <a:srgbClr val="D9261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HK EQUITIES · FLOW &amp; POSITIONING MONITOR — JULY 2026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1783080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—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were net sellers in 10 of the last 12 months into a rising tape — this rally is mainland-sponsored. Institutional re-entry is fresh fuel, not late chasing.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642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88720" y="2624328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—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mirror flip into July: consumer bought by both feeds as the subsidy war cools; the platforms our clients owned in June were handed to the southbound bid. Split tape — selection over direction.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88720" y="3465576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—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longs: Iluvatar (both lines), Kuaishou, CSPC, Tencent. Crowded shorts with a live bid: Yadea (9-day exit), Laopu (most-shorted on the page). Watch the pure-play vs parent split (Laminates vs Holdings).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88720" y="4306824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 —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funds selling into long-only's first buy in months — a contested level, not a trend. Retail bought the dip and sold the rip.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88720" y="5148072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— </a:t>
            </a:r>
            <a:pPr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Sold-into-strength names — AIA, NetEase, Alibaba — are the distribution list. Last month the same screen led the insurer tax headline by weeks.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66760" y="1271016"/>
            <a:ext cx="128016" cy="128016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20" name="Text 18"/>
          <p:cNvSpPr/>
          <p:nvPr/>
        </p:nvSpPr>
        <p:spPr>
          <a:xfrm>
            <a:off x="8613648" y="11704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traces to a panel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13648" y="166420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→ trajectories · Rotation → master table · Crowded → map + SI/DTC · Cohorts → client panel · Watch → divergence monitor.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66760" y="2871216"/>
            <a:ext cx="128016" cy="12801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3" name="Text 21"/>
          <p:cNvSpPr/>
          <p:nvPr/>
        </p:nvSpPr>
        <p:spPr>
          <a:xfrm>
            <a:off x="8613648" y="27706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Client-sendable by construction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13648" y="326440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Ratios, weights, direction, names — no notionals anywhere. The disclosure argument is already settled.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66760" y="447141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8613648" y="43708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in minutes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13648" y="4864608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Regenerates for any window; the exec summary writes the first draft of these five lines itself.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208" y="61722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08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page IS the project: positioning color, evidenced, refreshed monthly — the thing the desk asked for.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ADDS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questions, answered on sight — and client-safe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353312"/>
            <a:ext cx="128016" cy="12801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crowded?”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8952" y="1810512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Map — four ranked lists, refreshed per window; confirmed against SI / DTC in the name tables. (Case 4 + 6)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14300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/>
        </p:spPr>
      </p:sp>
      <p:sp>
        <p:nvSpPr>
          <p:cNvPr id="9" name="Shape 7"/>
          <p:cNvSpPr/>
          <p:nvPr/>
        </p:nvSpPr>
        <p:spPr>
          <a:xfrm>
            <a:off x="4645152" y="1353312"/>
            <a:ext cx="128016" cy="128016"/>
          </a:xfrm>
          <a:prstGeom prst="ellipse">
            <a:avLst/>
          </a:prstGeom>
          <a:solidFill>
            <a:srgbClr val="0088CE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are investors positioned?”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5152" y="1810512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table + client cohorts + 12M trajectory: light and getting lighter; mainland-sponsored tape; cohort alignment vs divergence. (Cases 1 + 3)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75320" y="114300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2F5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531352" y="13533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750808" y="12618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rotation like?”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31352" y="1810512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Two-month comparison + the SB column: the Jun→Jul mirror flip and the Comm Svc hand-off — who rotated first, who followed. (Case 2)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337560"/>
            <a:ext cx="5486400" cy="2514600"/>
          </a:xfrm>
          <a:prstGeom prst="roundRect">
            <a:avLst>
              <a:gd name="adj" fmla="val 2182"/>
            </a:avLst>
          </a:prstGeom>
          <a:solidFill>
            <a:srgbClr val="D8E6F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74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USE — BY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380390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morning-color paragraph, pre-call briefing, idea generation from the contrarian &amp; distribution lists, franchise-risk awareness.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517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48840" y="451713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says it — “Monthly Client Review.” Directional-only means the identical file can go in front of a client: differentiated color, zero disclosure risk.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5230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48840" y="52303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watch southbound; only we can watch it against our own franchise. The hand-off and contrarian reads exist nowhere else.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337560"/>
            <a:ext cx="5486400" cy="2514600"/>
          </a:xfrm>
          <a:prstGeom prst="roundRect">
            <a:avLst>
              <a:gd name="adj" fmla="val 2182"/>
            </a:avLst>
          </a:prstGeom>
          <a:solidFill>
            <a:srgbClr val="F2F5F8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474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5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— BEFORE / AFTER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19672" y="3867912"/>
            <a:ext cx="128016" cy="12801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7" name="Text 25"/>
          <p:cNvSpPr/>
          <p:nvPr/>
        </p:nvSpPr>
        <p:spPr>
          <a:xfrm>
            <a:off x="6739128" y="380390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color:  </a:t>
            </a:r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book + memory → the whole franchise, any window, ~1 minute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19672" y="4416552"/>
            <a:ext cx="128016" cy="12801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9" name="Text 27"/>
          <p:cNvSpPr/>
          <p:nvPr/>
        </p:nvSpPr>
        <p:spPr>
          <a:xfrm>
            <a:off x="6739128" y="435254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Crowding answer:  </a:t>
            </a:r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lagging score → four live lists + exit-friction check per name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19672" y="4965192"/>
            <a:ext cx="128016" cy="12801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31" name="Text 29"/>
          <p:cNvSpPr/>
          <p:nvPr/>
        </p:nvSpPr>
        <p:spPr>
          <a:xfrm>
            <a:off x="6739128" y="490118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 claim:  </a:t>
            </a:r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 of ad-hoc pulls → RSI / SI / DTC / SB already joined on every row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19672" y="5513832"/>
            <a:ext cx="128016" cy="128016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33" name="Text 31"/>
          <p:cNvSpPr/>
          <p:nvPr/>
        </p:nvSpPr>
        <p:spPr>
          <a:xfrm>
            <a:off x="6739128" y="5449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 </a:t>
            </a:r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seat quotes the same screen — one product, one truth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914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310896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itself monthly — and states its own boundaries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F2F5F8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261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DROP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04088" y="15544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Month's CTA extract + two aggregate CSVs land; southbound DB refreshes.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54680" y="1783080"/>
            <a:ext cx="274320" cy="329184"/>
          </a:xfrm>
          <a:prstGeom prst="rightArrow">
            <a:avLst/>
          </a:prstGeom>
          <a:solidFill>
            <a:srgbClr val="D8E6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114300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F2F5F8"/>
          </a:solidFill>
          <a:ln/>
        </p:spPr>
      </p:sp>
      <p:sp>
        <p:nvSpPr>
          <p:cNvPr id="9" name="Text 7"/>
          <p:cNvSpPr/>
          <p:nvPr/>
        </p:nvSpPr>
        <p:spPr>
          <a:xfrm>
            <a:off x="3630168" y="1261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RUN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30168" y="15544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— window rolls forward; FX pulled live; Bloomberg fields in batched calls.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1783080"/>
            <a:ext cx="274320" cy="329184"/>
          </a:xfrm>
          <a:prstGeom prst="rightArrow">
            <a:avLst/>
          </a:prstGeom>
          <a:solidFill>
            <a:srgbClr val="D8E6F2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114300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F2F5F8"/>
          </a:solidFill>
          <a:ln/>
        </p:spPr>
      </p:sp>
      <p:sp>
        <p:nvSpPr>
          <p:cNvPr id="13" name="Text 11"/>
          <p:cNvSpPr/>
          <p:nvPr/>
        </p:nvSpPr>
        <p:spPr>
          <a:xfrm>
            <a:off x="6556248" y="1261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7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GUARDS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56248" y="15544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cache = reruns cost zero quota; --refresh forces pulls; missing renders N/A, never backfilled.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06840" y="1783080"/>
            <a:ext cx="274320" cy="329184"/>
          </a:xfrm>
          <a:prstGeom prst="rightArrow">
            <a:avLst/>
          </a:prstGeom>
          <a:solidFill>
            <a:srgbClr val="D8E6F2"/>
          </a:solidFill>
          <a:ln/>
        </p:spPr>
      </p:sp>
      <p:sp>
        <p:nvSpPr>
          <p:cNvPr id="16" name="Shape 14"/>
          <p:cNvSpPr/>
          <p:nvPr/>
        </p:nvSpPr>
        <p:spPr>
          <a:xfrm>
            <a:off x="9281160" y="1143000"/>
            <a:ext cx="2697480" cy="1600200"/>
          </a:xfrm>
          <a:prstGeom prst="roundRect">
            <a:avLst>
              <a:gd name="adj" fmla="val 3429"/>
            </a:avLst>
          </a:prstGeom>
          <a:solidFill>
            <a:srgbClr val="F2F5F8"/>
          </a:solidFill>
          <a:ln/>
        </p:spPr>
      </p:sp>
      <p:sp>
        <p:nvSpPr>
          <p:cNvPr id="17" name="Text 15"/>
          <p:cNvSpPr/>
          <p:nvPr/>
        </p:nvSpPr>
        <p:spPr>
          <a:xfrm>
            <a:off x="9482328" y="1261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PUBLISH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482328" y="15544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self-contained HTML — opens offline, shareable as a file; MACRO_EVENTS hook adds one line of desk commentary per month.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1208" y="28529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88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 state ~15 minutes a month once drops are scheduled · next: T+2 scheduler, weekly one-page cut of the exec summary, squeeze-flag alert.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310128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3419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sample, not the market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" y="371246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flow reads OUR clients; southbound is the market-wide anchor. “Crowded” = a disciplined proxy (consensus + exit friction), never a measured overweight.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3310128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73952" y="3419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at aggregate only — compliance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73952" y="371246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line-by-line from electronic, even internally. Single names cover HT + PT; sector × client-type can never be cross-tabbed. Hard boundary.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4791456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" y="4901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feeds overlap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" y="51937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mainland institutions trade through us AND Connect — contrarian/distribution reads are conservative; same-sign reads are overlap-sensitive.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4791456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4901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Directional-only cuts both ways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73952" y="51937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sizing disclosed — the feature that makes it client-safe is a limit for internal risk sizing. Line rotation to ADRs is also invisible to HK-line flow.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2D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8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cases, seven panels, three questions answered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0B3E7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928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Crowded, named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2037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 lists per window — with the exit-friction check that separates “bought a lot” from “crowded.”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0B3E7E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928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Positioning, called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0" y="22037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out for twelve straight months of an up market; sponsorship is southbound; cohort alignment tells you trend vs contested.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0B3E7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644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Rotation, seen first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35753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Jun→Jul mirror flip and the Comm Svc hand-off — visible only to a tool holding both feeds.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3154680"/>
            <a:ext cx="5394960" cy="1207008"/>
          </a:xfrm>
          <a:prstGeom prst="roundRect">
            <a:avLst>
              <a:gd name="adj" fmla="val 4545"/>
            </a:avLst>
          </a:prstGeom>
          <a:solidFill>
            <a:srgbClr val="0B3E7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2644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leads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83680" y="35753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 sold weeks before the tax headline; Energy exited as the war premium deflated; the squeeze flags fired before the covering.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8006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buNone/>
            </a:pPr>
            <a:r>
              <a:rPr lang="en-US" sz="150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Monthly Client Review with two or three accounts for one cycle, schedule the T+2 refresh, and give me 30 minutes of desk feedback to tune the exec-summary language to how you already talk to clients.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and the live tool is one click away.   Shuyun Lyu · HT Sales Trading · Citi Markets HK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2026-08-12T00:35:03Z</dcterms:created>
  <dcterms:modified xsi:type="dcterms:W3CDTF">2026-08-12T00:35:03Z</dcterms:modified>
</cp:coreProperties>
</file>