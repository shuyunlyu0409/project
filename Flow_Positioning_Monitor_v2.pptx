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002D72"/>
                </a:solidFill>
                <a:latin typeface="Calibri"/>
              </a:defRPr>
            </a:pPr>
            <a:r>
              <a:rPr sz="1050" b="0" i="0" u="none" strike="noStrike">
                <a:solidFill>
                  <a:srgbClr val="002D72"/>
                </a:solidFill>
                <a:latin typeface="Calibri"/>
              </a:rPr>
              <a:t>Our buy/sell ratio, signed (buy=+, sell=−; e.g. 1.45x Sell = −0.45)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Jun-26</c:v>
                </c:pt>
              </c:strCache>
            </c:strRef>
          </c:tx>
          <c:spPr>
            <a:solidFill>
              <a:srgbClr val="002D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CONS DISC</c:v>
                  </c:pt>
                  <c:pt idx="1">
                    <c:v>COMM SVC</c:v>
                  </c:pt>
                  <c:pt idx="2">
                    <c:v>MATERIALS</c:v>
                  </c:pt>
                  <c:pt idx="3">
                    <c:v>ENERGY</c:v>
                  </c:pt>
                  <c:pt idx="4">
                    <c:v>UTILITIES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-0.45</c:v>
                </c:pt>
                <c:pt idx="1">
                  <c:v>0.35</c:v>
                </c:pt>
                <c:pt idx="2">
                  <c:v>-0.39</c:v>
                </c:pt>
                <c:pt idx="3">
                  <c:v>-0.31</c:v>
                </c:pt>
                <c:pt idx="4">
                  <c:v>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Jul-26</c:v>
                </c:pt>
              </c:strCache>
            </c:strRef>
          </c:tx>
          <c:spPr>
            <a:solidFill>
              <a:srgbClr val="0088C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CONS DISC</c:v>
                  </c:pt>
                  <c:pt idx="1">
                    <c:v>COMM SVC</c:v>
                  </c:pt>
                  <c:pt idx="2">
                    <c:v>MATERIALS</c:v>
                  </c:pt>
                  <c:pt idx="3">
                    <c:v>ENERGY</c:v>
                  </c:pt>
                  <c:pt idx="4">
                    <c:v>UTILITIES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0.13</c:v>
                </c:pt>
                <c:pt idx="1">
                  <c:v>-0.24</c:v>
                </c:pt>
                <c:pt idx="2">
                  <c:v>-0.04</c:v>
                </c:pt>
                <c:pt idx="3">
                  <c:v>0.57</c:v>
                </c:pt>
                <c:pt idx="4">
                  <c:v>1.09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A6B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-0.6"/>
        </c:scaling>
        <c:delete val="0"/>
        <c:axPos val="l"/>
        <c:majorGridlines>
          <c:spPr>
            <a:ln w="6350" cap="flat">
              <a:solidFill>
                <a:srgbClr val="E3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A6B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2D72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002D72"/>
                </a:solidFill>
                <a:latin typeface="Calibri"/>
              </a:rPr>
              <a:t>Buy/sell ratio, signed (sell=−): the pair across horizons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HF</c:v>
                </c:pt>
              </c:strCache>
            </c:strRef>
          </c:tx>
          <c:spPr>
            <a:solidFill>
              <a:srgbClr val="002D72"/>
            </a:solidFill>
            <a:effectLst/>
          </c:spPr>
          <c:invertIfNegative val="0"/>
          <c:dLbls>
            <c:numFmt formatCode="0.00;−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Full 12M</c:v>
                  </c:pt>
                  <c:pt idx="1">
                    <c:v>Jun-26</c:v>
                  </c:pt>
                  <c:pt idx="2">
                    <c:v>Jul-26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-0.11</c:v>
                </c:pt>
                <c:pt idx="1">
                  <c:v>-0.23</c:v>
                </c:pt>
                <c:pt idx="2">
                  <c:v>-0.16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Long-only</c:v>
                </c:pt>
              </c:strCache>
            </c:strRef>
          </c:tx>
          <c:spPr>
            <a:solidFill>
              <a:srgbClr val="1E7A46"/>
            </a:solidFill>
            <a:effectLst/>
          </c:spPr>
          <c:invertIfNegative val="0"/>
          <c:dLbls>
            <c:numFmt formatCode="0.00;−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Full 12M</c:v>
                  </c:pt>
                  <c:pt idx="1">
                    <c:v>Jun-26</c:v>
                  </c:pt>
                  <c:pt idx="2">
                    <c:v>Jul-26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-0.02</c:v>
                </c:pt>
                <c:pt idx="1">
                  <c:v>-0.16</c:v>
                </c:pt>
                <c:pt idx="2">
                  <c:v>0.01</c:v>
                </c:pt>
              </c:numCache>
            </c:numRef>
          </c:val>
        </c:ser>
        <c:dLbls>
          <c:numFmt formatCode="0.00;−0.00" sourceLinked="0"/>
          <c:txPr>
            <a:bodyPr/>
            <a:lstStyle/>
            <a:p>
              <a:pPr>
                <a:defRPr b="0" i="0" strike="noStrike" sz="900" u="none">
                  <a:solidFill>
                    <a:srgbClr val="1A27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6B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"/>
          <c:min val="-0.3"/>
        </c:scaling>
        <c:delete val="0"/>
        <c:axPos val="l"/>
        <c:majorGridlines>
          <c:spPr>
            <a:ln w="6350" cap="flat">
              <a:solidFill>
                <a:srgbClr val="E3E9EF"/>
              </a:solidFill>
              <a:prstDash val="solid"/>
              <a:round/>
            </a:ln>
          </c:spPr>
        </c:majorGridlines>
        <c:numFmt formatCode="0.00;−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A6B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D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 MARKETS HK · HT SALES TRADING · INTERNSHIP FINAL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 &amp; Positioning Monitor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76656" y="2148840"/>
            <a:ext cx="2834640" cy="64008"/>
          </a:xfrm>
          <a:prstGeom prst="roundRect">
            <a:avLst>
              <a:gd name="adj" fmla="val 42857"/>
            </a:avLst>
          </a:prstGeom>
          <a:solidFill>
            <a:srgbClr val="D926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774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color for clients, from flow only this desk can see — monthly, directional, evidenced.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749040"/>
            <a:ext cx="1463040" cy="868680"/>
          </a:xfrm>
          <a:prstGeom prst="roundRect">
            <a:avLst>
              <a:gd name="adj" fmla="val 6316"/>
            </a:avLst>
          </a:prstGeom>
          <a:solidFill>
            <a:srgbClr val="0B3E7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8221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8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41148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21992" y="3749040"/>
            <a:ext cx="1463040" cy="868680"/>
          </a:xfrm>
          <a:prstGeom prst="roundRect">
            <a:avLst>
              <a:gd name="adj" fmla="val 6316"/>
            </a:avLst>
          </a:prstGeom>
          <a:solidFill>
            <a:srgbClr val="0B3E7E"/>
          </a:solidFill>
          <a:ln/>
        </p:spPr>
      </p:sp>
      <p:sp>
        <p:nvSpPr>
          <p:cNvPr id="10" name="Text 8"/>
          <p:cNvSpPr/>
          <p:nvPr/>
        </p:nvSpPr>
        <p:spPr>
          <a:xfrm>
            <a:off x="2359152" y="38221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8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359152" y="41148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03904" y="3749040"/>
            <a:ext cx="1463040" cy="868680"/>
          </a:xfrm>
          <a:prstGeom prst="roundRect">
            <a:avLst>
              <a:gd name="adj" fmla="val 6316"/>
            </a:avLst>
          </a:prstGeom>
          <a:solidFill>
            <a:srgbClr val="0B3E7E"/>
          </a:solidFill>
          <a:ln/>
        </p:spPr>
      </p:sp>
      <p:sp>
        <p:nvSpPr>
          <p:cNvPr id="13" name="Text 11"/>
          <p:cNvSpPr/>
          <p:nvPr/>
        </p:nvSpPr>
        <p:spPr>
          <a:xfrm>
            <a:off x="3941064" y="38221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8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41064" y="41148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HTML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85816" y="3749040"/>
            <a:ext cx="1463040" cy="868680"/>
          </a:xfrm>
          <a:prstGeom prst="roundRect">
            <a:avLst>
              <a:gd name="adj" fmla="val 6316"/>
            </a:avLst>
          </a:prstGeom>
          <a:solidFill>
            <a:srgbClr val="14549B"/>
          </a:solidFill>
          <a:ln/>
        </p:spPr>
      </p:sp>
      <p:sp>
        <p:nvSpPr>
          <p:cNvPr id="16" name="Text 14"/>
          <p:cNvSpPr/>
          <p:nvPr/>
        </p:nvSpPr>
        <p:spPr>
          <a:xfrm>
            <a:off x="5522976" y="38221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8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522976" y="41148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Applications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967728" y="3749040"/>
            <a:ext cx="1463040" cy="868680"/>
          </a:xfrm>
          <a:prstGeom prst="roundRect">
            <a:avLst>
              <a:gd name="adj" fmla="val 6316"/>
            </a:avLst>
          </a:prstGeom>
          <a:solidFill>
            <a:srgbClr val="0B3E7E"/>
          </a:solidFill>
          <a:ln/>
        </p:spPr>
      </p:sp>
      <p:sp>
        <p:nvSpPr>
          <p:cNvPr id="19" name="Text 17"/>
          <p:cNvSpPr/>
          <p:nvPr/>
        </p:nvSpPr>
        <p:spPr>
          <a:xfrm>
            <a:off x="7104888" y="38221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8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04888" y="41148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549640" y="3749040"/>
            <a:ext cx="1463040" cy="868680"/>
          </a:xfrm>
          <a:prstGeom prst="roundRect">
            <a:avLst>
              <a:gd name="adj" fmla="val 6316"/>
            </a:avLst>
          </a:prstGeom>
          <a:solidFill>
            <a:srgbClr val="0B3E7E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0" y="38221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8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86800" y="41148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131552" y="3749040"/>
            <a:ext cx="1463040" cy="868680"/>
          </a:xfrm>
          <a:prstGeom prst="roundRect">
            <a:avLst>
              <a:gd name="adj" fmla="val 6316"/>
            </a:avLst>
          </a:prstGeom>
          <a:solidFill>
            <a:srgbClr val="0B3E7E"/>
          </a:solidFill>
          <a:ln/>
        </p:spPr>
      </p:sp>
      <p:sp>
        <p:nvSpPr>
          <p:cNvPr id="25" name="Text 23"/>
          <p:cNvSpPr/>
          <p:nvPr/>
        </p:nvSpPr>
        <p:spPr>
          <a:xfrm>
            <a:off x="10268712" y="38221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8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268712" y="41148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 cash equities · Aug-25 – Jul-26 · Shuyun Lyu · 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9144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MOTIVATION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gaps this project was built to close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611880" cy="2377440"/>
          </a:xfrm>
          <a:prstGeom prst="roundRect">
            <a:avLst>
              <a:gd name="adj" fmla="val 2308"/>
            </a:avLst>
          </a:prstGeom>
          <a:solidFill>
            <a:srgbClr val="F2F5F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463040"/>
            <a:ext cx="128016" cy="128016"/>
          </a:xfrm>
          <a:prstGeom prst="ellipse">
            <a:avLst/>
          </a:prstGeom>
          <a:solidFill>
            <a:srgbClr val="0088C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716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keep asking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crowded? How is the street positioned? What rotated?” — answered today by one seat's memory.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234440"/>
            <a:ext cx="3611880" cy="2377440"/>
          </a:xfrm>
          <a:prstGeom prst="roundRect">
            <a:avLst>
              <a:gd name="adj" fmla="val 2308"/>
            </a:avLst>
          </a:prstGeom>
          <a:solidFill>
            <a:srgbClr val="F2F5F8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1463040"/>
            <a:ext cx="128016" cy="128016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3716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measurement exists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63440" y="20116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Holdings are unobservable. Research's crowding score = a model on stale filings. Vendors: same.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75320" y="1234440"/>
            <a:ext cx="3611880" cy="2377440"/>
          </a:xfrm>
          <a:prstGeom prst="roundRect">
            <a:avLst>
              <a:gd name="adj" fmla="val 2308"/>
            </a:avLst>
          </a:prstGeom>
          <a:solidFill>
            <a:srgbClr val="F2F5F8"/>
          </a:solidFill>
          <a:ln/>
        </p:spPr>
      </p:sp>
      <p:sp>
        <p:nvSpPr>
          <p:cNvPr id="13" name="Shape 11"/>
          <p:cNvSpPr/>
          <p:nvPr/>
        </p:nvSpPr>
        <p:spPr>
          <a:xfrm>
            <a:off x="8549640" y="146304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0" y="13716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floor's SI report isn't enough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549640" y="20116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Bloomberg most-shorted list = the street's short base with NO flow in it. It can't say who is pushing.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977640"/>
            <a:ext cx="11201400" cy="1371600"/>
          </a:xfrm>
          <a:prstGeom prst="roundRect">
            <a:avLst>
              <a:gd name="adj" fmla="val 4000"/>
            </a:avLst>
          </a:prstGeom>
          <a:solidFill>
            <a:srgbClr val="D6E6F5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160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aim is NOT another screen — it is the join: 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55371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street's short base × our own franchise flow × the mainland's flow, in one monthly product that gives every seat defensible positioning color for clients.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9144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MAIN OBJECTIVE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 potential crowding by contradiction — never declare 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105156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Most-traded ≠ crowded: the market can go the other way, and the same name can carry opposite flows across desks and markets. So the test: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D6E6F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CONTRADICTION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flow vs price · our flow vs southbound — the outlier finder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813048" y="2286000"/>
            <a:ext cx="310896" cy="310896"/>
          </a:xfrm>
          <a:prstGeom prst="plus">
            <a:avLst/>
          </a:prstGeom>
          <a:solidFill>
            <a:srgbClr val="D6E6F5"/>
          </a:solidFill>
          <a:ln/>
        </p:spPr>
      </p:sp>
      <p:sp>
        <p:nvSpPr>
          <p:cNvPr id="9" name="Shape 7"/>
          <p:cNvSpPr/>
          <p:nvPr/>
        </p:nvSpPr>
        <p:spPr>
          <a:xfrm>
            <a:off x="420624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2F5F8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1828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NARROW EXIT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434840" y="219456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interest % float · days-to-cover — can the crowd leave?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516368" y="2286000"/>
            <a:ext cx="310896" cy="310896"/>
          </a:xfrm>
          <a:prstGeom prst="plus">
            <a:avLst/>
          </a:prstGeom>
          <a:solidFill>
            <a:srgbClr val="D6E6F5"/>
          </a:solidFill>
          <a:ln/>
        </p:spPr>
      </p:sp>
      <p:sp>
        <p:nvSpPr>
          <p:cNvPr id="13" name="Shape 11"/>
          <p:cNvSpPr/>
          <p:nvPr/>
        </p:nvSpPr>
        <p:spPr>
          <a:xfrm>
            <a:off x="790956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2F5F8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1828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7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STRETCH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138160" y="219456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14D — is the tape already extended?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52160" y="3429000"/>
            <a:ext cx="457200" cy="365760"/>
          </a:xfrm>
          <a:prstGeom prst="downArrow">
            <a:avLst/>
          </a:prstGeom>
          <a:solidFill>
            <a:srgbClr val="D6E6F5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3931920"/>
            <a:ext cx="11201400" cy="1051560"/>
          </a:xfrm>
          <a:prstGeom prst="roundRect">
            <a:avLst>
              <a:gd name="adj" fmla="val 5217"/>
            </a:avLst>
          </a:prstGeom>
          <a:solidFill>
            <a:srgbClr val="E7F2E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160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a watch-list of CANDIDATES with evidence — “both feeds disagree, the exit is 8 days wide, RSI 60” — a sentence a salesperson can defend. Never a score, never a verdict.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21208" y="52120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applications prove it: (1) rotation across horizons · (2) contradiction names checked for squeeze · (3) HF vs Long-only behaviour — our own data, no one else can build it.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9144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DATA → HTML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inputs, one engine, one self-contained monthly HTML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3931920" cy="859536"/>
          </a:xfrm>
          <a:prstGeom prst="roundRect">
            <a:avLst>
              <a:gd name="adj" fmla="val 6383"/>
            </a:avLst>
          </a:prstGeom>
          <a:solidFill>
            <a:srgbClr val="F2F5F8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52728"/>
            <a:ext cx="118872" cy="118872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188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line-by-line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47218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HT+PT tickets: name, side, month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112264"/>
            <a:ext cx="3931920" cy="859536"/>
          </a:xfrm>
          <a:prstGeom prst="roundRect">
            <a:avLst>
              <a:gd name="adj" fmla="val 6383"/>
            </a:avLst>
          </a:prstGeom>
          <a:solidFill>
            <a:srgbClr val="F2F5F8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221992"/>
            <a:ext cx="118872" cy="118872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1579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 aggregate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44144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sector×month, client×month only (compliance)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081528"/>
            <a:ext cx="3931920" cy="859536"/>
          </a:xfrm>
          <a:prstGeom prst="roundRect">
            <a:avLst>
              <a:gd name="adj" fmla="val 6383"/>
            </a:avLst>
          </a:prstGeom>
          <a:solidFill>
            <a:srgbClr val="F2F5F8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191256"/>
            <a:ext cx="118872" cy="118872"/>
          </a:xfrm>
          <a:prstGeom prst="ellipse">
            <a:avLst/>
          </a:prstGeom>
          <a:solidFill>
            <a:srgbClr val="0088CE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3127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Southbound DB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41071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per-stock Connect net, one source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4050792"/>
            <a:ext cx="3931920" cy="859536"/>
          </a:xfrm>
          <a:prstGeom prst="roundRect">
            <a:avLst>
              <a:gd name="adj" fmla="val 6383"/>
            </a:avLst>
          </a:prstGeom>
          <a:solidFill>
            <a:srgbClr val="F2F5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4160520"/>
            <a:ext cx="118872" cy="118872"/>
          </a:xfrm>
          <a:prstGeom prst="ellipse">
            <a:avLst/>
          </a:prstGeom>
          <a:solidFill>
            <a:srgbClr val="0088CE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" y="40965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37997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· SI % float · DTC · price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5020056"/>
            <a:ext cx="3931920" cy="859536"/>
          </a:xfrm>
          <a:prstGeom prst="roundRect">
            <a:avLst>
              <a:gd name="adj" fmla="val 6383"/>
            </a:avLst>
          </a:prstGeom>
          <a:solidFill>
            <a:srgbClr val="F2F5F8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5129784"/>
            <a:ext cx="118872" cy="11887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88" y="50657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53492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HF(+PE) · Long-only · Retail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17720" y="3108960"/>
            <a:ext cx="457200" cy="411480"/>
          </a:xfrm>
          <a:prstGeom prst="rightArrow">
            <a:avLst/>
          </a:prstGeom>
          <a:solidFill>
            <a:srgbClr val="D6E6F5"/>
          </a:solidFill>
          <a:ln/>
        </p:spPr>
      </p:sp>
      <p:sp>
        <p:nvSpPr>
          <p:cNvPr id="25" name="Shape 23"/>
          <p:cNvSpPr/>
          <p:nvPr/>
        </p:nvSpPr>
        <p:spPr>
          <a:xfrm>
            <a:off x="5212080" y="1463040"/>
            <a:ext cx="3291840" cy="4206240"/>
          </a:xfrm>
          <a:prstGeom prst="roundRect">
            <a:avLst>
              <a:gd name="adj" fmla="val 1667"/>
            </a:avLst>
          </a:prstGeom>
          <a:solidFill>
            <a:srgbClr val="0B3E7E"/>
          </a:solidFill>
          <a:ln/>
        </p:spPr>
      </p:sp>
      <p:sp>
        <p:nvSpPr>
          <p:cNvPr id="26" name="Text 24"/>
          <p:cNvSpPr/>
          <p:nvPr/>
        </p:nvSpPr>
        <p:spPr>
          <a:xfrm>
            <a:off x="5440680" y="1645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ENGINE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40680" y="201168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Net = Buy − Sell − SS; ratios, weights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40680" y="269748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Any window Aug-25→Jul-26, period-stamped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40680" y="338328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Per-name join: Citi × SB × Bloomberg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40680" y="406908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Exec summary auto-writes the month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40680" y="475488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BBG disk-cached · N/A never backfilled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641080" y="3108960"/>
            <a:ext cx="457200" cy="411480"/>
          </a:xfrm>
          <a:prstGeom prst="rightArrow">
            <a:avLst/>
          </a:prstGeom>
          <a:solidFill>
            <a:srgbClr val="D6E6F5"/>
          </a:solidFill>
          <a:ln/>
        </p:spPr>
      </p:sp>
      <p:sp>
        <p:nvSpPr>
          <p:cNvPr id="33" name="Shape 31"/>
          <p:cNvSpPr/>
          <p:nvPr/>
        </p:nvSpPr>
        <p:spPr>
          <a:xfrm>
            <a:off x="9235440" y="1463040"/>
            <a:ext cx="2468880" cy="4206240"/>
          </a:xfrm>
          <a:prstGeom prst="roundRect">
            <a:avLst>
              <a:gd name="adj" fmla="val 2222"/>
            </a:avLst>
          </a:prstGeom>
          <a:solidFill>
            <a:srgbClr val="D6E6F5"/>
          </a:solidFill>
          <a:ln/>
        </p:spPr>
      </p:sp>
      <p:sp>
        <p:nvSpPr>
          <p:cNvPr id="34" name="Text 32"/>
          <p:cNvSpPr/>
          <p:nvPr/>
        </p:nvSpPr>
        <p:spPr>
          <a:xfrm>
            <a:off x="9464040" y="1645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HTML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464040" y="2011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Exec summary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464040" y="25786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Sector master + SB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464040" y="314553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Name tables (RSI/SI/DTC)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464040" y="371246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Price-vs-flow monitor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464040" y="42793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Consensus map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464040" y="4846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Client cohorts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21208" y="5943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&amp; qualitative only in the client build — notionals live only in the internal build.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9144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APPLICATION 1A — ROTATION ACROSS THE 12M HORIZON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flow: net seller in 10 of 12 months of a rising tape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2377440"/>
            <a:ext cx="566928" cy="457200"/>
          </a:xfrm>
          <a:prstGeom prst="roundRect">
            <a:avLst>
              <a:gd name="adj" fmla="val 4000"/>
            </a:avLst>
          </a:prstGeom>
          <a:solidFill>
            <a:srgbClr val="C4161C"/>
          </a:solidFill>
          <a:ln/>
        </p:spPr>
      </p:sp>
      <p:sp>
        <p:nvSpPr>
          <p:cNvPr id="5" name="Text 3"/>
          <p:cNvSpPr/>
          <p:nvPr/>
        </p:nvSpPr>
        <p:spPr>
          <a:xfrm>
            <a:off x="493776" y="32004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499616" y="2121408"/>
            <a:ext cx="566928" cy="256032"/>
          </a:xfrm>
          <a:prstGeom prst="roundRect">
            <a:avLst>
              <a:gd name="adj" fmla="val 7143"/>
            </a:avLst>
          </a:prstGeom>
          <a:solidFill>
            <a:srgbClr val="0088CE"/>
          </a:solidFill>
          <a:ln/>
        </p:spPr>
      </p:sp>
      <p:sp>
        <p:nvSpPr>
          <p:cNvPr id="7" name="Text 5"/>
          <p:cNvSpPr/>
          <p:nvPr/>
        </p:nvSpPr>
        <p:spPr>
          <a:xfrm>
            <a:off x="1426464" y="32004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32304" y="2377440"/>
            <a:ext cx="566928" cy="384048"/>
          </a:xfrm>
          <a:prstGeom prst="roundRect">
            <a:avLst>
              <a:gd name="adj" fmla="val 4762"/>
            </a:avLst>
          </a:prstGeom>
          <a:solidFill>
            <a:srgbClr val="C4161C"/>
          </a:solidFill>
          <a:ln/>
        </p:spPr>
      </p:sp>
      <p:sp>
        <p:nvSpPr>
          <p:cNvPr id="9" name="Text 7"/>
          <p:cNvSpPr/>
          <p:nvPr/>
        </p:nvSpPr>
        <p:spPr>
          <a:xfrm>
            <a:off x="2359152" y="32004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64992" y="2377440"/>
            <a:ext cx="566928" cy="411480"/>
          </a:xfrm>
          <a:prstGeom prst="roundRect">
            <a:avLst>
              <a:gd name="adj" fmla="val 4444"/>
            </a:avLst>
          </a:prstGeom>
          <a:solidFill>
            <a:srgbClr val="C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32004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97680" y="2377440"/>
            <a:ext cx="566928" cy="274320"/>
          </a:xfrm>
          <a:prstGeom prst="roundRect">
            <a:avLst>
              <a:gd name="adj" fmla="val 6667"/>
            </a:avLst>
          </a:prstGeom>
          <a:solidFill>
            <a:srgbClr val="C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4224528" y="32004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30368" y="2377440"/>
            <a:ext cx="566928" cy="658368"/>
          </a:xfrm>
          <a:prstGeom prst="roundRect">
            <a:avLst>
              <a:gd name="adj" fmla="val 3226"/>
            </a:avLst>
          </a:prstGeom>
          <a:solidFill>
            <a:srgbClr val="C4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5157216" y="32004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63056" y="2377440"/>
            <a:ext cx="566928" cy="411480"/>
          </a:xfrm>
          <a:prstGeom prst="roundRect">
            <a:avLst>
              <a:gd name="adj" fmla="val 4444"/>
            </a:avLst>
          </a:prstGeom>
          <a:solidFill>
            <a:srgbClr val="C4161C"/>
          </a:solidFill>
          <a:ln/>
        </p:spPr>
      </p:sp>
      <p:sp>
        <p:nvSpPr>
          <p:cNvPr id="17" name="Text 15"/>
          <p:cNvSpPr/>
          <p:nvPr/>
        </p:nvSpPr>
        <p:spPr>
          <a:xfrm>
            <a:off x="6089904" y="32004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095744" y="2377440"/>
            <a:ext cx="566928" cy="146304"/>
          </a:xfrm>
          <a:prstGeom prst="roundRect">
            <a:avLst>
              <a:gd name="adj" fmla="val 12500"/>
            </a:avLst>
          </a:prstGeom>
          <a:solidFill>
            <a:srgbClr val="C4161C"/>
          </a:solidFill>
          <a:ln/>
        </p:spPr>
      </p:sp>
      <p:sp>
        <p:nvSpPr>
          <p:cNvPr id="19" name="Text 17"/>
          <p:cNvSpPr/>
          <p:nvPr/>
        </p:nvSpPr>
        <p:spPr>
          <a:xfrm>
            <a:off x="7022592" y="32004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028432" y="2011680"/>
            <a:ext cx="566928" cy="365760"/>
          </a:xfrm>
          <a:prstGeom prst="roundRect">
            <a:avLst>
              <a:gd name="adj" fmla="val 5000"/>
            </a:avLst>
          </a:prstGeom>
          <a:solidFill>
            <a:srgbClr val="0088CE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0" y="32004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961120" y="2377440"/>
            <a:ext cx="566928" cy="91440"/>
          </a:xfrm>
          <a:prstGeom prst="roundRect">
            <a:avLst>
              <a:gd name="adj" fmla="val 20000"/>
            </a:avLst>
          </a:prstGeom>
          <a:solidFill>
            <a:srgbClr val="C7D0D8"/>
          </a:solidFill>
          <a:ln/>
        </p:spPr>
      </p:sp>
      <p:sp>
        <p:nvSpPr>
          <p:cNvPr id="23" name="Text 21"/>
          <p:cNvSpPr/>
          <p:nvPr/>
        </p:nvSpPr>
        <p:spPr>
          <a:xfrm>
            <a:off x="8887968" y="32004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893808" y="2377440"/>
            <a:ext cx="566928" cy="603504"/>
          </a:xfrm>
          <a:prstGeom prst="roundRect">
            <a:avLst>
              <a:gd name="adj" fmla="val 3226"/>
            </a:avLst>
          </a:prstGeom>
          <a:solidFill>
            <a:srgbClr val="C4161C"/>
          </a:solidFill>
          <a:ln/>
        </p:spPr>
      </p:sp>
      <p:sp>
        <p:nvSpPr>
          <p:cNvPr id="25" name="Text 23"/>
          <p:cNvSpPr/>
          <p:nvPr/>
        </p:nvSpPr>
        <p:spPr>
          <a:xfrm>
            <a:off x="9820656" y="32004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826496" y="2377440"/>
            <a:ext cx="566928" cy="182880"/>
          </a:xfrm>
          <a:prstGeom prst="roundRect">
            <a:avLst>
              <a:gd name="adj" fmla="val 10000"/>
            </a:avLst>
          </a:prstGeom>
          <a:solidFill>
            <a:srgbClr val="C4161C"/>
          </a:solidFill>
          <a:ln/>
        </p:spPr>
      </p:sp>
      <p:sp>
        <p:nvSpPr>
          <p:cNvPr id="27" name="Text 25"/>
          <p:cNvSpPr/>
          <p:nvPr/>
        </p:nvSpPr>
        <p:spPr>
          <a:xfrm>
            <a:off x="10753344" y="32004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2377440"/>
            <a:ext cx="11247120" cy="0"/>
          </a:xfrm>
          <a:prstGeom prst="line">
            <a:avLst/>
          </a:prstGeom>
          <a:noFill/>
          <a:ln w="12700">
            <a:solidFill>
              <a:srgbClr val="C7D0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3749040"/>
            <a:ext cx="5486400" cy="2194560"/>
          </a:xfrm>
          <a:prstGeom prst="roundRect">
            <a:avLst>
              <a:gd name="adj" fmla="val 2500"/>
            </a:avLst>
          </a:prstGeom>
          <a:solidFill>
            <a:srgbClr val="D6E6F5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3886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TAPE MEANWHILE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" y="420624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4-yr high &gt;27,000 (Oct) → tariff shock &amp; truce → Iran war (Brent +51% in Mar) → Jun chip rout 22,672 → Jul squeeze 25,009. We sold every leg — up and down.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3749040"/>
            <a:ext cx="5486400" cy="2194560"/>
          </a:xfrm>
          <a:prstGeom prst="roundRect">
            <a:avLst>
              <a:gd name="adj" fmla="val 2500"/>
            </a:avLst>
          </a:prstGeom>
          <a:solidFill>
            <a:srgbClr val="F2F5F8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3886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5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COLOR THIS PRODUCES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92240" y="420624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“Institutional positioning is light and got lighter — the rally is mainland-sponsored. Re-entry is fresh fuel, not chasing.” Deepest sells: Jan (war) &amp; Jun (rout); buys only Sep &amp; Apr.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9144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APPLICATION 1B — ROTATION, JUN → JUL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mirror flip — and the hand-off to the mainland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43000"/>
          <a:ext cx="58521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46520" y="1188720"/>
            <a:ext cx="5257800" cy="109728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/>
        </p:spPr>
      </p:sp>
      <p:sp>
        <p:nvSpPr>
          <p:cNvPr id="6" name="Text 3"/>
          <p:cNvSpPr/>
          <p:nvPr/>
        </p:nvSpPr>
        <p:spPr>
          <a:xfrm>
            <a:off x="6675120" y="12618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 DISC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675120" y="153619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1.45x Sell → 1.13x Buy; SB flips too — consumption repair (PMI 52, subsidy war cools)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46520" y="2395728"/>
            <a:ext cx="5257800" cy="109728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/>
        </p:spPr>
      </p:sp>
      <p:sp>
        <p:nvSpPr>
          <p:cNvPr id="9" name="Text 6"/>
          <p:cNvSpPr/>
          <p:nvPr/>
        </p:nvSpPr>
        <p:spPr>
          <a:xfrm>
            <a:off x="6675120" y="2468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 SVC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75120" y="27432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1.35x Buy → 1.24x Sell while SB flips 1.78x Sell → 6.91x Buy — we hand the platforms to the mainland bid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46520" y="3602736"/>
            <a:ext cx="5257800" cy="109728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/>
        </p:spPr>
      </p:sp>
      <p:sp>
        <p:nvSpPr>
          <p:cNvPr id="12" name="Text 9"/>
          <p:cNvSpPr/>
          <p:nvPr/>
        </p:nvSpPr>
        <p:spPr>
          <a:xfrm>
            <a:off x="6675120" y="36758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7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675120" y="395020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 17.49x Buy vs our 1.04x Sell — a stampede we didn't join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446520" y="4809744"/>
            <a:ext cx="5257800" cy="109728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/>
        </p:spPr>
      </p:sp>
      <p:sp>
        <p:nvSpPr>
          <p:cNvPr id="15" name="Text 12"/>
          <p:cNvSpPr/>
          <p:nvPr/>
        </p:nvSpPr>
        <p:spPr>
          <a:xfrm>
            <a:off x="6675120" y="488289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 / ENERGY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675120" y="5157216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conviction doubled (2.09x); Energy re-entered after oil's round-trip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21208" y="6080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3/11 → 5/11 · only a two-feed tool can see the hand-off.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9144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APPLICATION 2A — CONTRADICTION: OUR FLOW VS PRICE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outliers off the divergence monitor — then check the exit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120640" cy="2194560"/>
          </a:xfrm>
          <a:prstGeom prst="rect">
            <a:avLst/>
          </a:prstGeom>
          <a:solidFill>
            <a:srgbClr val="FAFBFC"/>
          </a:solidFill>
          <a:ln w="12700">
            <a:solidFill>
              <a:srgbClr val="C7D0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11373" y="1234440"/>
            <a:ext cx="0" cy="2194560"/>
          </a:xfrm>
          <a:prstGeom prst="line">
            <a:avLst/>
          </a:prstGeom>
          <a:noFill/>
          <a:ln w="9525">
            <a:solidFill>
              <a:srgbClr val="C7D0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31720"/>
            <a:ext cx="5120640" cy="0"/>
          </a:xfrm>
          <a:prstGeom prst="line">
            <a:avLst/>
          </a:prstGeom>
          <a:noFill/>
          <a:ln w="9525">
            <a:solidFill>
              <a:srgbClr val="C7D0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16736" y="1673352"/>
            <a:ext cx="109728" cy="109728"/>
          </a:xfrm>
          <a:prstGeom prst="ellipse">
            <a:avLst/>
          </a:prstGeom>
          <a:solidFill>
            <a:srgbClr val="0088CE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0" y="1892808"/>
            <a:ext cx="109728" cy="109728"/>
          </a:xfrm>
          <a:prstGeom prst="ellipse">
            <a:avLst/>
          </a:prstGeom>
          <a:solidFill>
            <a:srgbClr val="0088CE"/>
          </a:solidFill>
          <a:ln/>
        </p:spPr>
      </p:sp>
      <p:sp>
        <p:nvSpPr>
          <p:cNvPr id="9" name="Shape 7"/>
          <p:cNvSpPr/>
          <p:nvPr/>
        </p:nvSpPr>
        <p:spPr>
          <a:xfrm>
            <a:off x="2340864" y="1563624"/>
            <a:ext cx="109728" cy="109728"/>
          </a:xfrm>
          <a:prstGeom prst="ellipse">
            <a:avLst/>
          </a:prstGeom>
          <a:solidFill>
            <a:srgbClr val="0088CE"/>
          </a:solidFill>
          <a:ln/>
        </p:spPr>
      </p:sp>
      <p:sp>
        <p:nvSpPr>
          <p:cNvPr id="10" name="Shape 8"/>
          <p:cNvSpPr/>
          <p:nvPr/>
        </p:nvSpPr>
        <p:spPr>
          <a:xfrm>
            <a:off x="2699309" y="1848917"/>
            <a:ext cx="109728" cy="109728"/>
          </a:xfrm>
          <a:prstGeom prst="ellipse">
            <a:avLst/>
          </a:prstGeom>
          <a:solidFill>
            <a:srgbClr val="0088CE"/>
          </a:solidFill>
          <a:ln/>
        </p:spPr>
      </p:sp>
      <p:sp>
        <p:nvSpPr>
          <p:cNvPr id="11" name="Shape 9"/>
          <p:cNvSpPr/>
          <p:nvPr/>
        </p:nvSpPr>
        <p:spPr>
          <a:xfrm>
            <a:off x="3621024" y="2726741"/>
            <a:ext cx="109728" cy="109728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2" name="Shape 10"/>
          <p:cNvSpPr/>
          <p:nvPr/>
        </p:nvSpPr>
        <p:spPr>
          <a:xfrm>
            <a:off x="4133088" y="2880360"/>
            <a:ext cx="109728" cy="109728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3" name="Shape 11"/>
          <p:cNvSpPr/>
          <p:nvPr/>
        </p:nvSpPr>
        <p:spPr>
          <a:xfrm>
            <a:off x="4645152" y="2595067"/>
            <a:ext cx="109728" cy="109728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4" name="Shape 12"/>
          <p:cNvSpPr/>
          <p:nvPr/>
        </p:nvSpPr>
        <p:spPr>
          <a:xfrm>
            <a:off x="5157216" y="2814523"/>
            <a:ext cx="109728" cy="109728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28930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buy ↑ / price fell ←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74720" y="313639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sell ↓ / price rose →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5120640" cy="2286000"/>
          </a:xfrm>
          <a:prstGeom prst="roundRect">
            <a:avLst>
              <a:gd name="adj" fmla="val 2400"/>
            </a:avLst>
          </a:prstGeom>
          <a:solidFill>
            <a:srgbClr val="EDF3F9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840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KINGBOARD LAMINATES — we buy, price falling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7240" y="4160520"/>
            <a:ext cx="4709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52 · SI 1–2% · DTC ~2x → NOT a squeeze setup — exit is wide. Read: conviction add into the CCL-supercycle pullback (4th price hike Jul 6). Evidence says accumulation, not crowding.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89320" y="1234440"/>
            <a:ext cx="5715000" cy="2194560"/>
          </a:xfrm>
          <a:prstGeom prst="roundRect">
            <a:avLst>
              <a:gd name="adj" fmla="val 2500"/>
            </a:avLst>
          </a:prstGeom>
          <a:solidFill>
            <a:srgbClr val="FBEAEA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13716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 — we sell, price rising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17920" y="1691640"/>
            <a:ext cx="5257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into strength weeks before the Aug-6 20% offshore-policy levy reports hit the sector. The contradiction WAS the information — flow led the news. No SI screen could surface it.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89320" y="3703320"/>
            <a:ext cx="5715000" cy="2286000"/>
          </a:xfrm>
          <a:prstGeom prst="roundRect">
            <a:avLst>
              <a:gd name="adj" fmla="val 2400"/>
            </a:avLst>
          </a:prstGeom>
          <a:solidFill>
            <a:srgbClr val="F2F5F8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38404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MISS — LAOPU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17920" y="4160520"/>
            <a:ext cx="5257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 into weakness, then −24% on its Jul-28 profit alert. But its own row had flagged SI 13.9% — highest on the page. The monitor surfaces debates with evidence; it doesn't guarantee answers. Saying so is what makes the rest credible.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9144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APPLICATION 2B — CONTRADICTION: OUR FLOW VS SOUTHBOUND, CHECKED FOR SQUEEZE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Meituan vs NetEase — mirror contradictions, opposite verdicts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5440680" cy="4206240"/>
          </a:xfrm>
          <a:prstGeom prst="roundRect">
            <a:avLst>
              <a:gd name="adj" fmla="val 1304"/>
            </a:avLst>
          </a:prstGeom>
          <a:solidFill>
            <a:srgbClr val="E7F2E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533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MEITUAN-B — we buy, SB sells (contrarian)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41832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RSI 48.7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41832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unstretched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83280" y="182880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3547872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5.9%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47872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short base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77240" y="288036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41832" y="2971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DTC 4.75x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41832" y="3337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several-day exit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83280" y="288036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3547872" y="2971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+35.0% Aligned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47872" y="3337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paid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77240" y="406908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squeeze-assisted long — franchise re-entering as the subsidy war cools, short base helping our side. Candidate, evidenced.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1188720"/>
            <a:ext cx="5440680" cy="4206240"/>
          </a:xfrm>
          <a:prstGeom prst="roundRect">
            <a:avLst>
              <a:gd name="adj" fmla="val 1304"/>
            </a:avLst>
          </a:prstGeom>
          <a:solidFill>
            <a:srgbClr val="FBEAEA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13533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NETEASE — SB buys, we sell (distribution)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92240" y="182880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656832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RSI 60.0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56832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warmest on the page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098280" y="182880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9262872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5.3%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62872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shorts present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92240" y="288036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656832" y="2971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DTC 8.59x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656832" y="3337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8-day exit door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098280" y="288036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9262872" y="2971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+2.7% Against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262872" y="3337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 vs our side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92240" y="406908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crowding candidate on the mainland side — one-sided bid at a narrow door. Monitored, not called.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1208" y="56235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Surfaced by CONTRADICTION, not volume — which is exactly what the floor's daily SI report cannot do.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9144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APPLICATION 3 — THE CROWN JEWEL: HF VS LONG-ONLY (RETAIL EXCLUDED AS NOISE)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HF is the trend. Long-only is the turn.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56692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63640" y="1188720"/>
            <a:ext cx="5440680" cy="1463040"/>
          </a:xfrm>
          <a:prstGeom prst="roundRect">
            <a:avLst>
              <a:gd name="adj" fmla="val 3750"/>
            </a:avLst>
          </a:prstGeom>
          <a:solidFill>
            <a:srgbClr val="F2F5F8"/>
          </a:solidFill>
          <a:ln/>
        </p:spPr>
      </p:sp>
      <p:sp>
        <p:nvSpPr>
          <p:cNvPr id="6" name="Text 3"/>
          <p:cNvSpPr/>
          <p:nvPr/>
        </p:nvSpPr>
        <p:spPr>
          <a:xfrm>
            <a:off x="6510528" y="12801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— one-way de-grosser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510528" y="1591056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seller in nearly every month; cumulative line steps DOWN all year. Structural risk-off = the regime.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263640" y="2761488"/>
            <a:ext cx="5440680" cy="1463040"/>
          </a:xfrm>
          <a:prstGeom prst="roundRect">
            <a:avLst>
              <a:gd name="adj" fmla="val 3750"/>
            </a:avLst>
          </a:prstGeom>
          <a:solidFill>
            <a:srgbClr val="F2F5F8"/>
          </a:solidFill>
          <a:ln/>
        </p:spPr>
      </p:sp>
      <p:sp>
        <p:nvSpPr>
          <p:cNvPr id="9" name="Text 6"/>
          <p:cNvSpPr/>
          <p:nvPr/>
        </p:nvSpPr>
        <p:spPr>
          <a:xfrm>
            <a:off x="6510528" y="28529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— round-trips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10528" y="3163824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Accumulated the war lows (Mar–Apr), funded out in June's rout, returned at July's breakout — its 1.01x Buy is real money's first buy in months, timed at the level.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4334256"/>
            <a:ext cx="5440680" cy="1463040"/>
          </a:xfrm>
          <a:prstGeom prst="roundRect">
            <a:avLst>
              <a:gd name="adj" fmla="val 3750"/>
            </a:avLst>
          </a:prstGeom>
          <a:solidFill>
            <a:srgbClr val="F2F5F8"/>
          </a:solidFill>
          <a:ln/>
        </p:spPr>
      </p:sp>
      <p:sp>
        <p:nvSpPr>
          <p:cNvPr id="12" name="Text 9"/>
          <p:cNvSpPr/>
          <p:nvPr/>
        </p:nvSpPr>
        <p:spPr>
          <a:xfrm>
            <a:off x="6510528" y="442569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510528" y="4736592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HF for regime, LO for inflection. Aligned (Jun) = no natural buyer, bounces fade. Diverging (Jul) = contested level. Built from OUR tickets alone — no vendor can print this pair.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21208" y="60350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granular to names by design (compliance) — but the behaviour of the pair is the most defensible value-add in the project.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9144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VALUE ADD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engine, two products — internal depth, external color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5486400" cy="4206240"/>
          </a:xfrm>
          <a:prstGeom prst="roundRect">
            <a:avLst>
              <a:gd name="adj" fmla="val 1304"/>
            </a:avLst>
          </a:prstGeom>
          <a:solidFill>
            <a:srgbClr val="D6E6F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5331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full dashboard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04672" y="1828800"/>
            <a:ext cx="109728" cy="109728"/>
          </a:xfrm>
          <a:prstGeom prst="ellipse">
            <a:avLst/>
          </a:prstGeom>
          <a:solidFill>
            <a:srgbClr val="0088CE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373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Notionals INCLUDED — sizing &amp; franchise-risk context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04672" y="2697480"/>
            <a:ext cx="109728" cy="109728"/>
          </a:xfrm>
          <a:prstGeom prst="ellipse">
            <a:avLst/>
          </a:prstGeom>
          <a:solidFill>
            <a:srgbClr val="0088CE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6060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window in ~1 min; RSI/SI/DTC/SB pre-joined per row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" y="3566160"/>
            <a:ext cx="109728" cy="109728"/>
          </a:xfrm>
          <a:prstGeom prst="ellipse">
            <a:avLst/>
          </a:prstGeom>
          <a:solidFill>
            <a:srgbClr val="0088CE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4747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generation: contrarian &amp; distribution lists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" y="4434840"/>
            <a:ext cx="109728" cy="109728"/>
          </a:xfrm>
          <a:prstGeom prst="ellipse">
            <a:avLst/>
          </a:prstGeom>
          <a:solidFill>
            <a:srgbClr val="0088CE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3434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Pre-call briefing: one row = a 30-second story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5486400" cy="4206240"/>
          </a:xfrm>
          <a:prstGeom prst="roundRect">
            <a:avLst>
              <a:gd name="adj" fmla="val 1304"/>
            </a:avLst>
          </a:prstGeom>
          <a:solidFill>
            <a:srgbClr val="E7F2EA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35331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— monthly client review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19672" y="1828800"/>
            <a:ext cx="109728" cy="109728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17373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&amp; qualitative ONLY — no notionals: disclosure settled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19672" y="2697480"/>
            <a:ext cx="109728" cy="109728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26060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sendable lines auto-drafted: regime · rotation · candidates · cohorts · watch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19672" y="3566160"/>
            <a:ext cx="109728" cy="109728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34747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color no competitor can copy (two-feed join)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19672" y="4434840"/>
            <a:ext cx="109728" cy="109728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43434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file opens offline — email as-is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1208" y="56692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moat: anyone can watch southbound; only we can watch it against our own franchise.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9144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AUTOMATION — LONG-TERM USE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itself monthly in ~15 minutes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2697480" cy="1828800"/>
          </a:xfrm>
          <a:prstGeom prst="roundRect">
            <a:avLst>
              <a:gd name="adj" fmla="val 3000"/>
            </a:avLst>
          </a:prstGeom>
          <a:solidFill>
            <a:srgbClr val="F2F5F8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DROP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04088" y="17373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+ 2 aggregate CSVs land; SB DB refreshes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54680" y="2011680"/>
            <a:ext cx="274320" cy="329184"/>
          </a:xfrm>
          <a:prstGeom prst="rightArrow">
            <a:avLst/>
          </a:prstGeom>
          <a:solidFill>
            <a:srgbClr val="D6E6F5"/>
          </a:solidFill>
          <a:ln/>
        </p:spPr>
      </p:sp>
      <p:sp>
        <p:nvSpPr>
          <p:cNvPr id="8" name="Shape 6"/>
          <p:cNvSpPr/>
          <p:nvPr/>
        </p:nvSpPr>
        <p:spPr>
          <a:xfrm>
            <a:off x="3429000" y="1280160"/>
            <a:ext cx="2697480" cy="1828800"/>
          </a:xfrm>
          <a:prstGeom prst="roundRect">
            <a:avLst>
              <a:gd name="adj" fmla="val 3000"/>
            </a:avLst>
          </a:prstGeom>
          <a:solidFill>
            <a:srgbClr val="F2F5F8"/>
          </a:solidFill>
          <a:ln/>
        </p:spPr>
      </p:sp>
      <p:sp>
        <p:nvSpPr>
          <p:cNvPr id="9" name="Text 7"/>
          <p:cNvSpPr/>
          <p:nvPr/>
        </p:nvSpPr>
        <p:spPr>
          <a:xfrm>
            <a:off x="3630168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RUN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30168" y="17373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command; window rolls; FX live; BBG batched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80760" y="2011680"/>
            <a:ext cx="274320" cy="329184"/>
          </a:xfrm>
          <a:prstGeom prst="rightArrow">
            <a:avLst/>
          </a:prstGeom>
          <a:solidFill>
            <a:srgbClr val="D6E6F5"/>
          </a:solidFill>
          <a:ln/>
        </p:spPr>
      </p:sp>
      <p:sp>
        <p:nvSpPr>
          <p:cNvPr id="12" name="Shape 10"/>
          <p:cNvSpPr/>
          <p:nvPr/>
        </p:nvSpPr>
        <p:spPr>
          <a:xfrm>
            <a:off x="6355080" y="1280160"/>
            <a:ext cx="2697480" cy="1828800"/>
          </a:xfrm>
          <a:prstGeom prst="roundRect">
            <a:avLst>
              <a:gd name="adj" fmla="val 3000"/>
            </a:avLst>
          </a:prstGeom>
          <a:solidFill>
            <a:srgbClr val="F2F5F8"/>
          </a:solidFill>
          <a:ln/>
        </p:spPr>
      </p:sp>
      <p:sp>
        <p:nvSpPr>
          <p:cNvPr id="13" name="Text 11"/>
          <p:cNvSpPr/>
          <p:nvPr/>
        </p:nvSpPr>
        <p:spPr>
          <a:xfrm>
            <a:off x="6556248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7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GUARDS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56248" y="17373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cache = zero re-quota; missing → N/A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06840" y="2011680"/>
            <a:ext cx="274320" cy="329184"/>
          </a:xfrm>
          <a:prstGeom prst="rightArrow">
            <a:avLst/>
          </a:prstGeom>
          <a:solidFill>
            <a:srgbClr val="D6E6F5"/>
          </a:solidFill>
          <a:ln/>
        </p:spPr>
      </p:sp>
      <p:sp>
        <p:nvSpPr>
          <p:cNvPr id="16" name="Shape 14"/>
          <p:cNvSpPr/>
          <p:nvPr/>
        </p:nvSpPr>
        <p:spPr>
          <a:xfrm>
            <a:off x="9281160" y="1280160"/>
            <a:ext cx="2697480" cy="1828800"/>
          </a:xfrm>
          <a:prstGeom prst="roundRect">
            <a:avLst>
              <a:gd name="adj" fmla="val 3000"/>
            </a:avLst>
          </a:prstGeom>
          <a:solidFill>
            <a:srgbClr val="F2F5F8"/>
          </a:solidFill>
          <a:ln/>
        </p:spPr>
      </p:sp>
      <p:sp>
        <p:nvSpPr>
          <p:cNvPr id="17" name="Text 15"/>
          <p:cNvSpPr/>
          <p:nvPr/>
        </p:nvSpPr>
        <p:spPr>
          <a:xfrm>
            <a:off x="9482328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PUBLISH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482328" y="17373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HTML + client note; MACRO_EVENTS one-liner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566160"/>
            <a:ext cx="11201400" cy="2194560"/>
          </a:xfrm>
          <a:prstGeom prst="roundRect">
            <a:avLst>
              <a:gd name="adj" fmla="val 2500"/>
            </a:avLst>
          </a:prstGeom>
          <a:solidFill>
            <a:srgbClr val="F2F5F8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730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50392" y="4160520"/>
            <a:ext cx="100584" cy="100584"/>
          </a:xfrm>
          <a:prstGeom prst="ellipse">
            <a:avLst/>
          </a:prstGeom>
          <a:solidFill>
            <a:srgbClr val="0088CE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4078224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T+2 scheduler on month-end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50392" y="4572000"/>
            <a:ext cx="100584" cy="100584"/>
          </a:xfrm>
          <a:prstGeom prst="ellipse">
            <a:avLst/>
          </a:prstGeom>
          <a:solidFill>
            <a:srgbClr val="0088CE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4489704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one-page cut of the exec summary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50392" y="4983480"/>
            <a:ext cx="100584" cy="100584"/>
          </a:xfrm>
          <a:prstGeom prst="ellipse">
            <a:avLst/>
          </a:prstGeom>
          <a:solidFill>
            <a:srgbClr val="0088CE"/>
          </a:solidFill>
          <a:ln/>
        </p:spPr>
      </p:sp>
      <p:sp>
        <p:nvSpPr>
          <p:cNvPr id="26" name="Text 24"/>
          <p:cNvSpPr/>
          <p:nvPr/>
        </p:nvSpPr>
        <p:spPr>
          <a:xfrm>
            <a:off x="1051560" y="4901184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 new name enters the contradiction watch-list → desk ping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50392" y="5394960"/>
            <a:ext cx="100584" cy="100584"/>
          </a:xfrm>
          <a:prstGeom prst="ellipse">
            <a:avLst/>
          </a:prstGeom>
          <a:solidFill>
            <a:srgbClr val="0088CE"/>
          </a:solidFill>
          <a:ln/>
        </p:spPr>
      </p:sp>
      <p:sp>
        <p:nvSpPr>
          <p:cNvPr id="28" name="Text 26"/>
          <p:cNvSpPr/>
          <p:nvPr/>
        </p:nvSpPr>
        <p:spPr>
          <a:xfrm>
            <a:off x="1051560" y="5312664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 MACRO_EVENTS from the desk's monthly review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9144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LIMITATIONS &amp; IMPROVEMENT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Stated before anyone asks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" y="13441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sample, not the market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58952" y="16459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flow reads OUR clients; SB is the market anchor. Candidates, never verdicts.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17920" y="1234440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/>
        </p:spPr>
      </p:sp>
      <p:sp>
        <p:nvSpPr>
          <p:cNvPr id="8" name="Text 6"/>
          <p:cNvSpPr/>
          <p:nvPr/>
        </p:nvSpPr>
        <p:spPr>
          <a:xfrm>
            <a:off x="6473952" y="13441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 aggregate only — compliance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73952" y="16459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sector × client cross-tab; single names = HT+PT. Hard boundary.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743200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28529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overlap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58952" y="31546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 institutions trade via us AND Connect — same-sign reads are overlap-sensitive.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2743200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/>
        </p:spPr>
      </p:sp>
      <p:sp>
        <p:nvSpPr>
          <p:cNvPr id="14" name="Text 12"/>
          <p:cNvSpPr/>
          <p:nvPr/>
        </p:nvSpPr>
        <p:spPr>
          <a:xfrm>
            <a:off x="6473952" y="28529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Directional-only cuts both ways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73952" y="31546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Client-safe, but can't size risk; ADR line-rotation invisible to HK flow. Improve: ADR overlay, verdict thresholds tuned with the desk.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4434840"/>
            <a:ext cx="11201400" cy="1371600"/>
          </a:xfrm>
          <a:prstGeom prst="roundRect">
            <a:avLst>
              <a:gd name="adj" fmla="val 4000"/>
            </a:avLst>
          </a:prstGeom>
          <a:solidFill>
            <a:srgbClr val="002D72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663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pilot the monthly client note with 2–3 accounts for one cycle · schedule the T+2 refresh · 30 min of desk feedback on the verdict language.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53218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the live tool is one click away.  Shuyun Lyu · HT Sales Trading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2026-08-12T03:18:02Z</dcterms:created>
  <dcterms:modified xsi:type="dcterms:W3CDTF">2026-08-12T03:18:02Z</dcterms:modified>
</cp:coreProperties>
</file>