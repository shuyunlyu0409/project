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charts/chart1.xml" ContentType="application/vnd.openxmlformats-officedocument.drawingml.chart+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Lst>
  <p:notesMasterIdLst>
    <p:notesMasterId r:id="rId13"/>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notesMaster" Target="notesMasters/notesMaster1.xml"/><Relationship Id="rId14" Type="http://schemas.openxmlformats.org/officeDocument/2006/relationships/presProps" Target="presProps.xml"/><Relationship Id="rId15" Type="http://schemas.openxmlformats.org/officeDocument/2006/relationships/viewProps" Target="viewProps.xml"/><Relationship Id="rId16" Type="http://schemas.openxmlformats.org/officeDocument/2006/relationships/theme" Target="theme/theme1.xml"/><Relationship Id="rId17"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bar"/>
        <c:grouping val="clustered"/>
        <c:varyColors val="0"/>
        <c:ser>
          <c:idx val="0"/>
          <c:order val="0"/>
          <c:tx>
            <c:strRef>
              <c:f>Sheet1!$B$1</c:f>
              <c:strCache>
                <c:ptCount val="1"/>
                <c:pt idx="0">
                  <c:v>% naming it a top-four feature</c:v>
                </c:pt>
              </c:strCache>
            </c:strRef>
          </c:tx>
          <c:spPr>
            <a:solidFill>
              <a:srgbClr val="056DAE"/>
            </a:solidFill>
            <a:effectLst/>
          </c:spPr>
          <c:invertIfNegative val="0"/>
          <c:dLbls>
            <c:numFmt formatCode="0.0&quot;%&quot;" sourceLinked="0"/>
            <c:txPr>
              <a:bodyPr/>
              <a:lstStyle/>
              <a:p>
                <a:pPr>
                  <a:defRPr b="0" i="0" strike="noStrike" sz="850" u="none">
                    <a:solidFill>
                      <a:srgbClr val="3F5265"/>
                    </a:solidFill>
                    <a:latin typeface="Calibri"/>
                  </a:defRPr>
                </a:pPr>
              </a:p>
            </c:txPr>
            <c:showLegendKey val="0"/>
            <c:showVal val="1"/>
            <c:showCatName val="0"/>
            <c:showSerName val="0"/>
            <c:showPercent val="0"/>
            <c:showBubbleSize val="0"/>
            <c:showLeaderLines val="0"/>
          </c:dLbls>
          <c:cat>
            <c:multiLvlStrRef>
              <c:f>Sheet1!$A$2:$A$11</c:f>
              <c:multiLvlStrCache>
                <c:ptCount val="10"/>
                <c:lvl>
                  <c:pt idx="0">
                    <c:v>FIX capabilities</c:v>
                  </c:pt>
                  <c:pt idx="1">
                    <c:v>Global coverage</c:v>
                  </c:pt>
                  <c:pt idx="2">
                    <c:v>Low latency</c:v>
                  </c:pt>
                  <c:pt idx="3">
                    <c:v>Breadth of algo options</c:v>
                  </c:pt>
                  <c:pt idx="4">
                    <c:v>Breadth of asset coverage</c:v>
                  </c:pt>
                  <c:pt idx="5">
                    <c:v>Number of broker connections</c:v>
                  </c:pt>
                  <c:pt idx="6">
                    <c:v>Integration with OMS</c:v>
                  </c:pt>
                  <c:pt idx="7">
                    <c:v>Client service</c:v>
                  </c:pt>
                  <c:pt idx="8">
                    <c:v>Connectivity and integration</c:v>
                  </c:pt>
                  <c:pt idx="9">
                    <c:v>Ease of use</c:v>
                  </c:pt>
                </c:lvl>
              </c:multiLvlStrCache>
            </c:multiLvlStrRef>
          </c:cat>
          <c:val>
            <c:numRef>
              <c:f>Sheet1!$B$2:$B$11</c:f>
              <c:numCache>
                <c:formatCode>General</c:formatCode>
                <c:ptCount val="10"/>
                <c:pt idx="0">
                  <c:v>16.3</c:v>
                </c:pt>
                <c:pt idx="1">
                  <c:v>22</c:v>
                </c:pt>
                <c:pt idx="2">
                  <c:v>24.4</c:v>
                </c:pt>
                <c:pt idx="3">
                  <c:v>26.4</c:v>
                </c:pt>
                <c:pt idx="4">
                  <c:v>28.6</c:v>
                </c:pt>
                <c:pt idx="5">
                  <c:v>37.7</c:v>
                </c:pt>
                <c:pt idx="6">
                  <c:v>38.5</c:v>
                </c:pt>
                <c:pt idx="7">
                  <c:v>42.7</c:v>
                </c:pt>
                <c:pt idx="8">
                  <c:v>44</c:v>
                </c:pt>
                <c:pt idx="9">
                  <c:v>63.7</c:v>
                </c:pt>
              </c:numCache>
            </c:numRef>
          </c:val>
        </c:ser>
        <c:dLbls>
          <c:numFmt formatCode="0.0&quot;%&quot;" sourceLinked="0"/>
          <c:txPr>
            <a:bodyPr/>
            <a:lstStyle/>
            <a:p>
              <a:pPr>
                <a:defRPr b="0" i="0" strike="noStrike" sz="850" u="none">
                  <a:solidFill>
                    <a:srgbClr val="3F5265"/>
                  </a:solidFill>
                  <a:latin typeface="Calibri"/>
                </a:defRPr>
              </a:pPr>
            </a:p>
          </c:txPr>
          <c:showLegendKey val="0"/>
          <c:showVal val="1"/>
          <c:showCatName val="0"/>
          <c:showSerName val="0"/>
          <c:showPercent val="0"/>
          <c:showBubbleSize val="0"/>
          <c:showLeaderLines val="0"/>
        </c:dLbls>
        <c:gapWidth val="32"/>
        <c:overlap val="0"/>
        <c:axId val="2094734554"/>
        <c:axId val="2094734552"/>
        <c:axId val="2094734556"/>
      </c:barChart>
      <c:catAx>
        <c:axId val="2094734554"/>
        <c:scaling>
          <c:orientation val="minMax"/>
        </c:scaling>
        <c:delete val="0"/>
        <c:axPos val="l"/>
        <c:numFmt formatCode="General" sourceLinked="1"/>
        <c:majorTickMark val="out"/>
        <c:minorTickMark val="none"/>
        <c:tickLblPos val="nextTo"/>
        <c:spPr>
          <a:ln w="12700" cap="flat">
            <a:noFill/>
            <a:prstDash val="solid"/>
            <a:round/>
          </a:ln>
        </c:spPr>
        <c:txPr>
          <a:bodyPr/>
          <a:lstStyle/>
          <a:p>
            <a:pPr>
              <a:defRPr sz="950" b="0" i="0" u="none" strike="noStrike">
                <a:solidFill>
                  <a:srgbClr val="002D72"/>
                </a:solidFill>
                <a:latin typeface="Calibri"/>
              </a:defRPr>
            </a:pPr>
            <a:endParaRPr lang="en-US"/>
          </a:p>
        </c:txPr>
        <c:crossAx val="2094734552"/>
        <c:crosses val="autoZero"/>
        <c:auto val="1"/>
        <c:lblAlgn val="ctr"/>
        <c:noMultiLvlLbl val="1"/>
      </c:catAx>
      <c:valAx>
        <c:axId val="2094734552"/>
        <c:scaling>
          <c:orientation val="minMax"/>
          <c:max val="80"/>
        </c:scaling>
        <c:delete val="0"/>
        <c:axPos val="b"/>
        <c:majorGridlines>
          <c:spPr>
            <a:ln w="6350" cap="flat">
              <a:solidFill>
                <a:srgbClr val="D6E4F0"/>
              </a:solidFill>
              <a:prstDash val="solid"/>
              <a:round/>
            </a:ln>
          </c:spPr>
        </c:majorGridlines>
        <c:numFmt formatCode="General" sourceLinked="0"/>
        <c:majorTickMark val="out"/>
        <c:minorTickMark val="none"/>
        <c:tickLblPos val="low"/>
        <c:spPr>
          <a:ln w="12700" cap="flat">
            <a:noFill/>
            <a:prstDash val="solid"/>
            <a:round/>
          </a:ln>
        </c:spPr>
        <c:txPr>
          <a:bodyPr/>
          <a:lstStyle/>
          <a:p>
            <a:pPr>
              <a:defRPr sz="800" b="0" i="0" u="none" strike="noStrike">
                <a:solidFill>
                  <a:srgbClr val="7A8A99"/>
                </a:solidFill>
                <a:latin typeface="Calibri"/>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items in the brief require internal data: the certified connectivity list and Citi-specific client counts. Page 4 provides the vendor universe and a completion template for the first; page 5 answers the popularity question using public market data. Neither substitutes for TECH confirmation.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02D72"/>
        </a:solidFill>
      </p:bgPr>
    </p:bg>
    <p:spTree>
      <p:nvGrpSpPr>
        <p:cNvPr id="1" name=""/>
        <p:cNvGrpSpPr/>
        <p:nvPr/>
      </p:nvGrpSpPr>
      <p:grpSpPr>
        <a:xfrm>
          <a:off x="0" y="0"/>
          <a:ext cx="0" cy="0"/>
          <a:chOff x="0" y="0"/>
          <a:chExt cx="0" cy="0"/>
        </a:xfrm>
      </p:grpSpPr>
      <p:sp>
        <p:nvSpPr>
          <p:cNvPr id="2" name="Shape 0"/>
          <p:cNvSpPr/>
          <p:nvPr/>
        </p:nvSpPr>
        <p:spPr>
          <a:xfrm>
            <a:off x="9966960" y="-1737360"/>
            <a:ext cx="4754880" cy="4754880"/>
          </a:xfrm>
          <a:prstGeom prst="ellipse">
            <a:avLst/>
          </a:prstGeom>
          <a:solidFill>
            <a:srgbClr val="0A3D82"/>
          </a:solidFill>
          <a:ln w="12700">
            <a:solidFill>
              <a:srgbClr val="333333"/>
            </a:solidFill>
            <a:prstDash val="solid"/>
          </a:ln>
        </p:spPr>
      </p:sp>
      <p:sp>
        <p:nvSpPr>
          <p:cNvPr id="3" name="Shape 1"/>
          <p:cNvSpPr/>
          <p:nvPr/>
        </p:nvSpPr>
        <p:spPr>
          <a:xfrm>
            <a:off x="457200" y="1389888"/>
            <a:ext cx="1371600" cy="45720"/>
          </a:xfrm>
          <a:prstGeom prst="rect">
            <a:avLst/>
          </a:prstGeom>
          <a:solidFill>
            <a:srgbClr val="D9261C"/>
          </a:solidFill>
          <a:ln w="12700">
            <a:solidFill>
              <a:srgbClr val="333333"/>
            </a:solidFill>
            <a:prstDash val="solid"/>
          </a:ln>
        </p:spPr>
      </p:sp>
      <p:sp>
        <p:nvSpPr>
          <p:cNvPr id="4" name="Text 2"/>
          <p:cNvSpPr/>
          <p:nvPr/>
        </p:nvSpPr>
        <p:spPr>
          <a:xfrm>
            <a:off x="457200" y="987552"/>
            <a:ext cx="8229600" cy="237744"/>
          </a:xfrm>
          <a:prstGeom prst="rect">
            <a:avLst/>
          </a:prstGeom>
          <a:noFill/>
          <a:ln/>
        </p:spPr>
        <p:txBody>
          <a:bodyPr wrap="square" lIns="0" tIns="0" rIns="0" bIns="0" rtlCol="0" anchor="ctr"/>
          <a:lstStyle/>
          <a:p>
            <a:pPr indent="0" marL="0">
              <a:buNone/>
            </a:pPr>
            <a:r>
              <a:rPr lang="en-US" sz="1050" b="1" spc="150" kern="0" dirty="0">
                <a:solidFill>
                  <a:srgbClr val="056DAE"/>
                </a:solidFill>
                <a:latin typeface="Calibri" pitchFamily="34" charset="0"/>
                <a:ea typeface="Calibri" pitchFamily="34" charset="-122"/>
                <a:cs typeface="Calibri" pitchFamily="34" charset="-120"/>
              </a:rPr>
              <a:t>INTERNAL SALES GUIDANCE — DRAFT</a:t>
            </a:r>
            <a:endParaRPr lang="en-US" sz="1050" dirty="0"/>
          </a:p>
        </p:txBody>
      </p:sp>
      <p:sp>
        <p:nvSpPr>
          <p:cNvPr id="5" name="Text 3"/>
          <p:cNvSpPr/>
          <p:nvPr/>
        </p:nvSpPr>
        <p:spPr>
          <a:xfrm>
            <a:off x="457200" y="1627632"/>
            <a:ext cx="9326880" cy="713232"/>
          </a:xfrm>
          <a:prstGeom prst="rect">
            <a:avLst/>
          </a:prstGeom>
          <a:noFill/>
          <a:ln/>
        </p:spPr>
        <p:txBody>
          <a:bodyPr wrap="square" lIns="0" tIns="0" rIns="0" bIns="0" rtlCol="0" anchor="ctr"/>
          <a:lstStyle/>
          <a:p>
            <a:pPr indent="0" marL="0">
              <a:buNone/>
            </a:pPr>
            <a:r>
              <a:rPr lang="en-US" sz="3900" b="1" dirty="0">
                <a:solidFill>
                  <a:srgbClr val="FFFFFF"/>
                </a:solidFill>
                <a:latin typeface="Cambria" pitchFamily="34" charset="0"/>
                <a:ea typeface="Cambria" pitchFamily="34" charset="-122"/>
                <a:cs typeface="Cambria" pitchFamily="34" charset="-120"/>
              </a:rPr>
              <a:t>Advising Clients on EMS Selection</a:t>
            </a:r>
            <a:endParaRPr lang="en-US" sz="3900" dirty="0"/>
          </a:p>
        </p:txBody>
      </p:sp>
      <p:sp>
        <p:nvSpPr>
          <p:cNvPr id="6" name="Text 4"/>
          <p:cNvSpPr/>
          <p:nvPr/>
        </p:nvSpPr>
        <p:spPr>
          <a:xfrm>
            <a:off x="457200" y="2395728"/>
            <a:ext cx="8961120" cy="822960"/>
          </a:xfrm>
          <a:prstGeom prst="rect">
            <a:avLst/>
          </a:prstGeom>
          <a:noFill/>
          <a:ln/>
        </p:spPr>
        <p:txBody>
          <a:bodyPr wrap="square" lIns="0" tIns="0" rIns="0" bIns="0" rtlCol="0" anchor="ctr"/>
          <a:lstStyle/>
          <a:p>
            <a:pPr indent="0" marL="0">
              <a:lnSpc>
                <a:spcPts val="2000"/>
              </a:lnSpc>
              <a:buNone/>
            </a:pPr>
            <a:r>
              <a:rPr lang="en-US" sz="1350" dirty="0">
                <a:solidFill>
                  <a:srgbClr val="D6E4F0"/>
                </a:solidFill>
                <a:latin typeface="Calibri" pitchFamily="34" charset="0"/>
                <a:ea typeface="Calibri" pitchFamily="34" charset="-122"/>
                <a:cs typeface="Calibri" pitchFamily="34" charset="-120"/>
              </a:rPr>
              <a:t>Guidance for Platform Sales on the execution management system market: vendor coverage and connectivity, relative adoption, buy-side selection criteria, and recommended approach by client type</a:t>
            </a:r>
            <a:endParaRPr lang="en-US" sz="1350" dirty="0"/>
          </a:p>
        </p:txBody>
      </p:sp>
      <p:sp>
        <p:nvSpPr>
          <p:cNvPr id="7" name="Shape 5"/>
          <p:cNvSpPr/>
          <p:nvPr/>
        </p:nvSpPr>
        <p:spPr>
          <a:xfrm>
            <a:off x="457200" y="3456432"/>
            <a:ext cx="8961120" cy="1243584"/>
          </a:xfrm>
          <a:prstGeom prst="roundRect">
            <a:avLst>
              <a:gd name="adj" fmla="val 3676"/>
            </a:avLst>
          </a:prstGeom>
          <a:solidFill>
            <a:srgbClr val="0A3D82"/>
          </a:solidFill>
          <a:ln w="9525">
            <a:solidFill>
              <a:srgbClr val="1E5A9E"/>
            </a:solidFill>
            <a:prstDash val="solid"/>
          </a:ln>
        </p:spPr>
      </p:sp>
      <p:sp>
        <p:nvSpPr>
          <p:cNvPr id="8" name="Text 6"/>
          <p:cNvSpPr/>
          <p:nvPr/>
        </p:nvSpPr>
        <p:spPr>
          <a:xfrm>
            <a:off x="694944" y="3584448"/>
            <a:ext cx="8503920" cy="237744"/>
          </a:xfrm>
          <a:prstGeom prst="rect">
            <a:avLst/>
          </a:prstGeom>
          <a:noFill/>
          <a:ln/>
        </p:spPr>
        <p:txBody>
          <a:bodyPr wrap="square" lIns="0" tIns="0" rIns="0" bIns="0" rtlCol="0" anchor="ctr"/>
          <a:lstStyle/>
          <a:p>
            <a:pPr indent="0" marL="0">
              <a:buNone/>
            </a:pPr>
            <a:r>
              <a:rPr lang="en-US" sz="1150" b="1" dirty="0">
                <a:solidFill>
                  <a:srgbClr val="056DAE"/>
                </a:solidFill>
                <a:latin typeface="Calibri" pitchFamily="34" charset="0"/>
                <a:ea typeface="Calibri" pitchFamily="34" charset="-122"/>
                <a:cs typeface="Calibri" pitchFamily="34" charset="-120"/>
              </a:rPr>
              <a:t>Principal conclusion</a:t>
            </a:r>
            <a:endParaRPr lang="en-US" sz="1150" dirty="0"/>
          </a:p>
        </p:txBody>
      </p:sp>
      <p:sp>
        <p:nvSpPr>
          <p:cNvPr id="9" name="Text 7"/>
          <p:cNvSpPr/>
          <p:nvPr/>
        </p:nvSpPr>
        <p:spPr>
          <a:xfrm>
            <a:off x="694944" y="3858768"/>
            <a:ext cx="8503920" cy="731520"/>
          </a:xfrm>
          <a:prstGeom prst="rect">
            <a:avLst/>
          </a:prstGeom>
          <a:noFill/>
          <a:ln/>
        </p:spPr>
        <p:txBody>
          <a:bodyPr wrap="square" lIns="0" tIns="0" rIns="0" bIns="0" rtlCol="0" anchor="ctr"/>
          <a:lstStyle/>
          <a:p>
            <a:pPr indent="0" marL="0">
              <a:lnSpc>
                <a:spcPts val="1600"/>
              </a:lnSpc>
              <a:buNone/>
            </a:pPr>
            <a:r>
              <a:rPr lang="en-US" sz="1150" dirty="0">
                <a:solidFill>
                  <a:srgbClr val="FFFFFF"/>
                </a:solidFill>
                <a:latin typeface="Calibri" pitchFamily="34" charset="0"/>
                <a:ea typeface="Calibri" pitchFamily="34" charset="-122"/>
                <a:cs typeface="Calibri" pitchFamily="34" charset="-120"/>
              </a:rPr>
              <a:t>88% of buy-side desks report no plans to replace their EMS and 86% no intention of adding one. Advisory effort is therefore best directed at improving Citi's position within the platform a client already operates, rather than at influencing platform selection itself.</a:t>
            </a:r>
            <a:endParaRPr lang="en-US" sz="1150" dirty="0"/>
          </a:p>
        </p:txBody>
      </p:sp>
      <p:sp>
        <p:nvSpPr>
          <p:cNvPr id="10" name="Text 8"/>
          <p:cNvSpPr/>
          <p:nvPr/>
        </p:nvSpPr>
        <p:spPr>
          <a:xfrm>
            <a:off x="457200" y="4956048"/>
            <a:ext cx="10607040" cy="914400"/>
          </a:xfrm>
          <a:prstGeom prst="rect">
            <a:avLst/>
          </a:prstGeom>
          <a:noFill/>
          <a:ln/>
        </p:spPr>
        <p:txBody>
          <a:bodyPr wrap="square" lIns="0" tIns="0" rIns="0" bIns="0" rtlCol="0" anchor="t"/>
          <a:lstStyle/>
          <a:p>
            <a:pPr indent="0" marL="0">
              <a:lnSpc>
                <a:spcPts val="1430"/>
              </a:lnSpc>
              <a:spcAft>
                <a:spcPts val="300"/>
              </a:spcAft>
              <a:buNone/>
            </a:pPr>
            <a:r>
              <a:rPr lang="en-US" sz="1100" b="1" dirty="0">
                <a:solidFill>
                  <a:srgbClr val="056DAE"/>
                </a:solidFill>
                <a:latin typeface="Calibri" pitchFamily="34" charset="0"/>
                <a:ea typeface="Calibri" pitchFamily="34" charset="-122"/>
                <a:cs typeface="Calibri" pitchFamily="34" charset="-120"/>
              </a:rPr>
              <a:t>Prepared for  </a:t>
            </a:r>
            <a:pPr indent="0" marL="0">
              <a:lnSpc>
                <a:spcPts val="1430"/>
              </a:lnSpc>
              <a:spcAft>
                <a:spcPts val="300"/>
              </a:spcAft>
              <a:buNone/>
            </a:pPr>
            <a:r>
              <a:rPr lang="en-US" sz="1100" dirty="0">
                <a:solidFill>
                  <a:srgbClr val="D6E4F0"/>
                </a:solidFill>
                <a:latin typeface="Calibri" pitchFamily="34" charset="0"/>
                <a:ea typeface="Calibri" pitchFamily="34" charset="-122"/>
                <a:cs typeface="Calibri" pitchFamily="34" charset="-120"/>
              </a:rPr>
              <a:t>APAC Platform Sales — Quantitative Investment Solutions, Markets Hong Kong</a:t>
            </a:r>
            <a:endParaRPr lang="en-US" sz="1100" dirty="0"/>
          </a:p>
          <a:p>
            <a:pPr indent="0" marL="0">
              <a:lnSpc>
                <a:spcPts val="1430"/>
              </a:lnSpc>
              <a:spcAft>
                <a:spcPts val="300"/>
              </a:spcAft>
              <a:buNone/>
            </a:pPr>
            <a:r>
              <a:rPr lang="en-US" sz="1100" b="1" dirty="0">
                <a:solidFill>
                  <a:srgbClr val="056DAE"/>
                </a:solidFill>
                <a:latin typeface="Calibri" pitchFamily="34" charset="0"/>
                <a:ea typeface="Calibri" pitchFamily="34" charset="-122"/>
                <a:cs typeface="Calibri" pitchFamily="34" charset="-120"/>
              </a:rPr>
              <a:t>Evidence base  </a:t>
            </a:r>
            <a:pPr indent="0" marL="0">
              <a:lnSpc>
                <a:spcPts val="1430"/>
              </a:lnSpc>
              <a:spcAft>
                <a:spcPts val="300"/>
              </a:spcAft>
              <a:buNone/>
            </a:pPr>
            <a:r>
              <a:rPr lang="en-US" sz="1100" dirty="0">
                <a:solidFill>
                  <a:srgbClr val="D6E4F0"/>
                </a:solidFill>
                <a:latin typeface="Calibri" pitchFamily="34" charset="0"/>
                <a:ea typeface="Calibri" pitchFamily="34" charset="-122"/>
                <a:cs typeface="Calibri" pitchFamily="34" charset="-120"/>
              </a:rPr>
              <a:t>The TRADE Execution Management Systems Survey 2025 and 2024; Crisil Coalition Greenwich; vendor disclosures. References at p11</a:t>
            </a:r>
            <a:endParaRPr lang="en-US" sz="1100" dirty="0"/>
          </a:p>
        </p:txBody>
      </p:sp>
      <p:sp>
        <p:nvSpPr>
          <p:cNvPr id="11" name="Text 9"/>
          <p:cNvSpPr/>
          <p:nvPr/>
        </p:nvSpPr>
        <p:spPr>
          <a:xfrm>
            <a:off x="457200" y="5943600"/>
            <a:ext cx="10607040" cy="292608"/>
          </a:xfrm>
          <a:prstGeom prst="rect">
            <a:avLst/>
          </a:prstGeom>
          <a:noFill/>
          <a:ln/>
        </p:spPr>
        <p:txBody>
          <a:bodyPr wrap="square" lIns="0" tIns="0" rIns="0" bIns="0" rtlCol="0" anchor="ctr"/>
          <a:lstStyle/>
          <a:p>
            <a:pPr indent="0" marL="0">
              <a:buNone/>
            </a:pPr>
            <a:r>
              <a:rPr lang="en-US" sz="950" i="1" dirty="0">
                <a:solidFill>
                  <a:srgbClr val="7A8A99"/>
                </a:solidFill>
                <a:latin typeface="Calibri" pitchFamily="34" charset="0"/>
                <a:ea typeface="Calibri" pitchFamily="34" charset="-122"/>
                <a:cs typeface="Calibri" pitchFamily="34" charset="-120"/>
              </a:rPr>
              <a:t>July 2026. All figures public as at that date. This document contains no non-public Citi or client information; items requiring internal confirmation are identified at p4 and p11.</a:t>
            </a:r>
            <a:endParaRPr lang="en-US" sz="9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457200" y="237744"/>
            <a:ext cx="11274552" cy="219456"/>
          </a:xfrm>
          <a:prstGeom prst="rect">
            <a:avLst/>
          </a:prstGeom>
          <a:noFill/>
          <a:ln/>
        </p:spPr>
        <p:txBody>
          <a:bodyPr wrap="square" lIns="0" tIns="0" rIns="0" bIns="0" rtlCol="0" anchor="ctr"/>
          <a:lstStyle/>
          <a:p>
            <a:pPr indent="0" marL="0">
              <a:buNone/>
            </a:pPr>
            <a:r>
              <a:rPr lang="en-US" sz="1000" b="1" spc="140" kern="0" dirty="0">
                <a:solidFill>
                  <a:srgbClr val="056DAE"/>
                </a:solidFill>
                <a:latin typeface="Calibri" pitchFamily="34" charset="0"/>
                <a:ea typeface="Calibri" pitchFamily="34" charset="-122"/>
                <a:cs typeface="Calibri" pitchFamily="34" charset="-120"/>
              </a:rPr>
              <a:t>SUMMARY OF CONCLUSIONS</a:t>
            </a:r>
            <a:endParaRPr lang="en-US" sz="1000" dirty="0"/>
          </a:p>
        </p:txBody>
      </p:sp>
      <p:sp>
        <p:nvSpPr>
          <p:cNvPr id="3" name="Text 1"/>
          <p:cNvSpPr/>
          <p:nvPr/>
        </p:nvSpPr>
        <p:spPr>
          <a:xfrm>
            <a:off x="457200" y="457200"/>
            <a:ext cx="11274552" cy="512064"/>
          </a:xfrm>
          <a:prstGeom prst="rect">
            <a:avLst/>
          </a:prstGeom>
          <a:noFill/>
          <a:ln/>
        </p:spPr>
        <p:txBody>
          <a:bodyPr wrap="square" lIns="0" tIns="0" rIns="0" bIns="0" rtlCol="0" anchor="t"/>
          <a:lstStyle/>
          <a:p>
            <a:pPr indent="0" marL="0">
              <a:buNone/>
            </a:pPr>
            <a:r>
              <a:rPr lang="en-US" sz="2500" b="1" dirty="0">
                <a:solidFill>
                  <a:srgbClr val="002D72"/>
                </a:solidFill>
                <a:latin typeface="Cambria" pitchFamily="34" charset="0"/>
                <a:ea typeface="Cambria" pitchFamily="34" charset="-122"/>
                <a:cs typeface="Cambria" pitchFamily="34" charset="-120"/>
              </a:rPr>
              <a:t>Executive summary</a:t>
            </a:r>
            <a:endParaRPr lang="en-US" sz="2500" dirty="0"/>
          </a:p>
        </p:txBody>
      </p:sp>
      <p:sp>
        <p:nvSpPr>
          <p:cNvPr id="4" name="Text 2"/>
          <p:cNvSpPr/>
          <p:nvPr/>
        </p:nvSpPr>
        <p:spPr>
          <a:xfrm>
            <a:off x="1078992" y="914400"/>
            <a:ext cx="2194560" cy="182880"/>
          </a:xfrm>
          <a:prstGeom prst="rect">
            <a:avLst/>
          </a:prstGeom>
          <a:noFill/>
          <a:ln/>
        </p:spPr>
        <p:txBody>
          <a:bodyPr wrap="square" lIns="0" tIns="0" rIns="0" bIns="0" rtlCol="0" anchor="ctr"/>
          <a:lstStyle/>
          <a:p>
            <a:pPr indent="0" marL="0">
              <a:buNone/>
            </a:pPr>
            <a:r>
              <a:rPr lang="en-US" sz="750" b="1" spc="80" kern="0" dirty="0">
                <a:solidFill>
                  <a:srgbClr val="7A8A99"/>
                </a:solidFill>
                <a:latin typeface="Calibri" pitchFamily="34" charset="0"/>
                <a:ea typeface="Calibri" pitchFamily="34" charset="-122"/>
                <a:cs typeface="Calibri" pitchFamily="34" charset="-120"/>
              </a:rPr>
              <a:t>OBSERVATION</a:t>
            </a:r>
            <a:endParaRPr lang="en-US" sz="750" dirty="0"/>
          </a:p>
        </p:txBody>
      </p:sp>
      <p:sp>
        <p:nvSpPr>
          <p:cNvPr id="5" name="Text 3"/>
          <p:cNvSpPr/>
          <p:nvPr/>
        </p:nvSpPr>
        <p:spPr>
          <a:xfrm>
            <a:off x="5779008" y="914400"/>
            <a:ext cx="2194560" cy="182880"/>
          </a:xfrm>
          <a:prstGeom prst="rect">
            <a:avLst/>
          </a:prstGeom>
          <a:noFill/>
          <a:ln/>
        </p:spPr>
        <p:txBody>
          <a:bodyPr wrap="square" lIns="0" tIns="0" rIns="0" bIns="0" rtlCol="0" anchor="ctr"/>
          <a:lstStyle/>
          <a:p>
            <a:pPr indent="0" marL="0">
              <a:buNone/>
            </a:pPr>
            <a:r>
              <a:rPr lang="en-US" sz="750" b="1" spc="80" kern="0" dirty="0">
                <a:solidFill>
                  <a:srgbClr val="7A8A99"/>
                </a:solidFill>
                <a:latin typeface="Calibri" pitchFamily="34" charset="0"/>
                <a:ea typeface="Calibri" pitchFamily="34" charset="-122"/>
                <a:cs typeface="Calibri" pitchFamily="34" charset="-120"/>
              </a:rPr>
              <a:t>SUPPORTING EVIDENCE</a:t>
            </a:r>
            <a:endParaRPr lang="en-US" sz="750" dirty="0"/>
          </a:p>
        </p:txBody>
      </p:sp>
      <p:sp>
        <p:nvSpPr>
          <p:cNvPr id="6" name="Text 4"/>
          <p:cNvSpPr/>
          <p:nvPr/>
        </p:nvSpPr>
        <p:spPr>
          <a:xfrm>
            <a:off x="9290304" y="914400"/>
            <a:ext cx="2194560" cy="182880"/>
          </a:xfrm>
          <a:prstGeom prst="rect">
            <a:avLst/>
          </a:prstGeom>
          <a:noFill/>
          <a:ln/>
        </p:spPr>
        <p:txBody>
          <a:bodyPr wrap="square" lIns="0" tIns="0" rIns="0" bIns="0" rtlCol="0" anchor="ctr"/>
          <a:lstStyle/>
          <a:p>
            <a:pPr indent="0" marL="0">
              <a:buNone/>
            </a:pPr>
            <a:r>
              <a:rPr lang="en-US" sz="750" b="1" spc="80" kern="0" dirty="0">
                <a:solidFill>
                  <a:srgbClr val="7A8A99"/>
                </a:solidFill>
                <a:latin typeface="Calibri" pitchFamily="34" charset="0"/>
                <a:ea typeface="Calibri" pitchFamily="34" charset="-122"/>
                <a:cs typeface="Calibri" pitchFamily="34" charset="-120"/>
              </a:rPr>
              <a:t>IMPLICATION FOR ADVISORY</a:t>
            </a:r>
            <a:endParaRPr lang="en-US" sz="750" dirty="0"/>
          </a:p>
        </p:txBody>
      </p:sp>
      <p:sp>
        <p:nvSpPr>
          <p:cNvPr id="7" name="Shape 5"/>
          <p:cNvSpPr/>
          <p:nvPr/>
        </p:nvSpPr>
        <p:spPr>
          <a:xfrm>
            <a:off x="457200" y="1133856"/>
            <a:ext cx="11274552" cy="932688"/>
          </a:xfrm>
          <a:prstGeom prst="roundRect">
            <a:avLst>
              <a:gd name="adj" fmla="val 4902"/>
            </a:avLst>
          </a:prstGeom>
          <a:solidFill>
            <a:srgbClr val="EAF1F8"/>
          </a:solidFill>
          <a:ln w="9525">
            <a:solidFill>
              <a:srgbClr val="D6E4F0"/>
            </a:solidFill>
            <a:prstDash val="solid"/>
          </a:ln>
        </p:spPr>
      </p:sp>
      <p:sp>
        <p:nvSpPr>
          <p:cNvPr id="8" name="Shape 6"/>
          <p:cNvSpPr/>
          <p:nvPr/>
        </p:nvSpPr>
        <p:spPr>
          <a:xfrm>
            <a:off x="676656" y="1280160"/>
            <a:ext cx="292608" cy="292608"/>
          </a:xfrm>
          <a:prstGeom prst="ellipse">
            <a:avLst/>
          </a:prstGeom>
          <a:solidFill>
            <a:srgbClr val="002D72"/>
          </a:solidFill>
          <a:ln w="12700">
            <a:solidFill>
              <a:srgbClr val="333333"/>
            </a:solidFill>
            <a:prstDash val="solid"/>
          </a:ln>
        </p:spPr>
      </p:sp>
      <p:sp>
        <p:nvSpPr>
          <p:cNvPr id="9" name="Text 7"/>
          <p:cNvSpPr/>
          <p:nvPr/>
        </p:nvSpPr>
        <p:spPr>
          <a:xfrm>
            <a:off x="676656" y="1280160"/>
            <a:ext cx="292608" cy="292608"/>
          </a:xfrm>
          <a:prstGeom prst="rect">
            <a:avLst/>
          </a:prstGeom>
          <a:noFill/>
          <a:ln/>
        </p:spPr>
        <p:txBody>
          <a:bodyPr wrap="square" lIns="0" tIns="0" rIns="0" bIns="0" rtlCol="0" anchor="ctr"/>
          <a:lstStyle/>
          <a:p>
            <a:pPr algn="ctr" indent="0" marL="0">
              <a:buNone/>
            </a:pPr>
            <a:r>
              <a:rPr lang="en-US" sz="1150" b="1" dirty="0">
                <a:solidFill>
                  <a:srgbClr val="FFFFFF"/>
                </a:solidFill>
                <a:latin typeface="Calibri" pitchFamily="34" charset="0"/>
                <a:ea typeface="Calibri" pitchFamily="34" charset="-122"/>
                <a:cs typeface="Calibri" pitchFamily="34" charset="-120"/>
              </a:rPr>
              <a:t>1</a:t>
            </a:r>
            <a:endParaRPr lang="en-US" sz="1150" dirty="0"/>
          </a:p>
        </p:txBody>
      </p:sp>
      <p:sp>
        <p:nvSpPr>
          <p:cNvPr id="10" name="Text 8"/>
          <p:cNvSpPr/>
          <p:nvPr/>
        </p:nvSpPr>
        <p:spPr>
          <a:xfrm>
            <a:off x="1078992" y="1252728"/>
            <a:ext cx="4572000" cy="713232"/>
          </a:xfrm>
          <a:prstGeom prst="rect">
            <a:avLst/>
          </a:prstGeom>
          <a:noFill/>
          <a:ln/>
        </p:spPr>
        <p:txBody>
          <a:bodyPr wrap="square" lIns="0" tIns="0" rIns="0" bIns="0" rtlCol="0" anchor="t"/>
          <a:lstStyle/>
          <a:p>
            <a:pPr indent="0" marL="0">
              <a:lnSpc>
                <a:spcPts val="1400"/>
              </a:lnSpc>
              <a:buNone/>
            </a:pPr>
            <a:r>
              <a:rPr lang="en-US" sz="1100" b="1" dirty="0">
                <a:solidFill>
                  <a:srgbClr val="002D72"/>
                </a:solidFill>
                <a:latin typeface="Calibri" pitchFamily="34" charset="0"/>
                <a:ea typeface="Calibri" pitchFamily="34" charset="-122"/>
                <a:cs typeface="Calibri" pitchFamily="34" charset="-120"/>
              </a:rPr>
              <a:t>Advisory value lies within the incumbent platform, not in replacing it</a:t>
            </a:r>
            <a:endParaRPr lang="en-US" sz="1100" dirty="0"/>
          </a:p>
        </p:txBody>
      </p:sp>
      <p:sp>
        <p:nvSpPr>
          <p:cNvPr id="11" name="Text 9"/>
          <p:cNvSpPr/>
          <p:nvPr/>
        </p:nvSpPr>
        <p:spPr>
          <a:xfrm>
            <a:off x="5779008" y="1261872"/>
            <a:ext cx="3246120" cy="713232"/>
          </a:xfrm>
          <a:prstGeom prst="rect">
            <a:avLst/>
          </a:prstGeom>
          <a:noFill/>
          <a:ln/>
        </p:spPr>
        <p:txBody>
          <a:bodyPr wrap="square" lIns="0" tIns="0" rIns="0" bIns="0" rtlCol="0" anchor="t"/>
          <a:lstStyle/>
          <a:p>
            <a:pPr indent="0" marL="0">
              <a:lnSpc>
                <a:spcPts val="1120"/>
              </a:lnSpc>
              <a:buNone/>
            </a:pPr>
            <a:r>
              <a:rPr lang="en-US" sz="860" dirty="0">
                <a:solidFill>
                  <a:srgbClr val="3F5265"/>
                </a:solidFill>
                <a:latin typeface="Calibri" pitchFamily="34" charset="0"/>
                <a:ea typeface="Calibri" pitchFamily="34" charset="-122"/>
                <a:cs typeface="Calibri" pitchFamily="34" charset="-120"/>
              </a:rPr>
              <a:t>86% of desks report no interest in adding an EMS and 88% no plans to replace theirs. Migration risk, rather than product deficiency, is the binding constraint.</a:t>
            </a:r>
            <a:endParaRPr lang="en-US" sz="860" dirty="0"/>
          </a:p>
        </p:txBody>
      </p:sp>
      <p:sp>
        <p:nvSpPr>
          <p:cNvPr id="12" name="Shape 10"/>
          <p:cNvSpPr/>
          <p:nvPr/>
        </p:nvSpPr>
        <p:spPr>
          <a:xfrm>
            <a:off x="9144000" y="1280160"/>
            <a:ext cx="32004" cy="640080"/>
          </a:xfrm>
          <a:prstGeom prst="rect">
            <a:avLst/>
          </a:prstGeom>
          <a:solidFill>
            <a:srgbClr val="D9261C"/>
          </a:solidFill>
          <a:ln w="12700">
            <a:solidFill>
              <a:srgbClr val="333333"/>
            </a:solidFill>
            <a:prstDash val="solid"/>
          </a:ln>
        </p:spPr>
      </p:sp>
      <p:sp>
        <p:nvSpPr>
          <p:cNvPr id="13" name="Text 11"/>
          <p:cNvSpPr/>
          <p:nvPr/>
        </p:nvSpPr>
        <p:spPr>
          <a:xfrm>
            <a:off x="9290304" y="1261872"/>
            <a:ext cx="2331720" cy="713232"/>
          </a:xfrm>
          <a:prstGeom prst="rect">
            <a:avLst/>
          </a:prstGeom>
          <a:noFill/>
          <a:ln/>
        </p:spPr>
        <p:txBody>
          <a:bodyPr wrap="square" lIns="0" tIns="0" rIns="0" bIns="0" rtlCol="0" anchor="t"/>
          <a:lstStyle/>
          <a:p>
            <a:pPr indent="0" marL="0">
              <a:lnSpc>
                <a:spcPts val="1120"/>
              </a:lnSpc>
              <a:buNone/>
            </a:pPr>
            <a:r>
              <a:rPr lang="en-US" sz="860" b="1" dirty="0">
                <a:solidFill>
                  <a:srgbClr val="002D72"/>
                </a:solidFill>
                <a:latin typeface="Calibri" pitchFamily="34" charset="0"/>
                <a:ea typeface="Calibri" pitchFamily="34" charset="-122"/>
                <a:cs typeface="Calibri" pitchFamily="34" charset="-120"/>
              </a:rPr>
              <a:t>Direct the conversation to algo-wheel eligibility, broker coverage and connectivity within the existing system.</a:t>
            </a:r>
            <a:endParaRPr lang="en-US" sz="860" dirty="0"/>
          </a:p>
        </p:txBody>
      </p:sp>
      <p:sp>
        <p:nvSpPr>
          <p:cNvPr id="14" name="Shape 12"/>
          <p:cNvSpPr/>
          <p:nvPr/>
        </p:nvSpPr>
        <p:spPr>
          <a:xfrm>
            <a:off x="457200" y="2139696"/>
            <a:ext cx="11274552" cy="932688"/>
          </a:xfrm>
          <a:prstGeom prst="roundRect">
            <a:avLst>
              <a:gd name="adj" fmla="val 4902"/>
            </a:avLst>
          </a:prstGeom>
          <a:solidFill>
            <a:srgbClr val="FFFFFF"/>
          </a:solidFill>
          <a:ln w="9525">
            <a:solidFill>
              <a:srgbClr val="D6E4F0"/>
            </a:solidFill>
            <a:prstDash val="solid"/>
          </a:ln>
        </p:spPr>
      </p:sp>
      <p:sp>
        <p:nvSpPr>
          <p:cNvPr id="15" name="Shape 13"/>
          <p:cNvSpPr/>
          <p:nvPr/>
        </p:nvSpPr>
        <p:spPr>
          <a:xfrm>
            <a:off x="676656" y="2286000"/>
            <a:ext cx="292608" cy="292608"/>
          </a:xfrm>
          <a:prstGeom prst="ellipse">
            <a:avLst/>
          </a:prstGeom>
          <a:solidFill>
            <a:srgbClr val="002D72"/>
          </a:solidFill>
          <a:ln w="12700">
            <a:solidFill>
              <a:srgbClr val="333333"/>
            </a:solidFill>
            <a:prstDash val="solid"/>
          </a:ln>
        </p:spPr>
      </p:sp>
      <p:sp>
        <p:nvSpPr>
          <p:cNvPr id="16" name="Text 14"/>
          <p:cNvSpPr/>
          <p:nvPr/>
        </p:nvSpPr>
        <p:spPr>
          <a:xfrm>
            <a:off x="676656" y="2286000"/>
            <a:ext cx="292608" cy="292608"/>
          </a:xfrm>
          <a:prstGeom prst="rect">
            <a:avLst/>
          </a:prstGeom>
          <a:noFill/>
          <a:ln/>
        </p:spPr>
        <p:txBody>
          <a:bodyPr wrap="square" lIns="0" tIns="0" rIns="0" bIns="0" rtlCol="0" anchor="ctr"/>
          <a:lstStyle/>
          <a:p>
            <a:pPr algn="ctr" indent="0" marL="0">
              <a:buNone/>
            </a:pPr>
            <a:r>
              <a:rPr lang="en-US" sz="1150" b="1" dirty="0">
                <a:solidFill>
                  <a:srgbClr val="FFFFFF"/>
                </a:solidFill>
                <a:latin typeface="Calibri" pitchFamily="34" charset="0"/>
                <a:ea typeface="Calibri" pitchFamily="34" charset="-122"/>
                <a:cs typeface="Calibri" pitchFamily="34" charset="-120"/>
              </a:rPr>
              <a:t>2</a:t>
            </a:r>
            <a:endParaRPr lang="en-US" sz="1150" dirty="0"/>
          </a:p>
        </p:txBody>
      </p:sp>
      <p:sp>
        <p:nvSpPr>
          <p:cNvPr id="17" name="Text 15"/>
          <p:cNvSpPr/>
          <p:nvPr/>
        </p:nvSpPr>
        <p:spPr>
          <a:xfrm>
            <a:off x="1078992" y="2258568"/>
            <a:ext cx="4572000" cy="713232"/>
          </a:xfrm>
          <a:prstGeom prst="rect">
            <a:avLst/>
          </a:prstGeom>
          <a:noFill/>
          <a:ln/>
        </p:spPr>
        <p:txBody>
          <a:bodyPr wrap="square" lIns="0" tIns="0" rIns="0" bIns="0" rtlCol="0" anchor="t"/>
          <a:lstStyle/>
          <a:p>
            <a:pPr indent="0" marL="0">
              <a:lnSpc>
                <a:spcPts val="1400"/>
              </a:lnSpc>
              <a:buNone/>
            </a:pPr>
            <a:r>
              <a:rPr lang="en-US" sz="1100" b="1" dirty="0">
                <a:solidFill>
                  <a:srgbClr val="002D72"/>
                </a:solidFill>
                <a:latin typeface="Calibri" pitchFamily="34" charset="0"/>
                <a:ea typeface="Calibri" pitchFamily="34" charset="-122"/>
                <a:cs typeface="Calibri" pitchFamily="34" charset="-120"/>
              </a:rPr>
              <a:t>Buy-side satisfaction declined across the market in 2025, with cost the principal concern</a:t>
            </a:r>
            <a:endParaRPr lang="en-US" sz="1100" dirty="0"/>
          </a:p>
        </p:txBody>
      </p:sp>
      <p:sp>
        <p:nvSpPr>
          <p:cNvPr id="18" name="Text 16"/>
          <p:cNvSpPr/>
          <p:nvPr/>
        </p:nvSpPr>
        <p:spPr>
          <a:xfrm>
            <a:off x="5779008" y="2267712"/>
            <a:ext cx="3246120" cy="713232"/>
          </a:xfrm>
          <a:prstGeom prst="rect">
            <a:avLst/>
          </a:prstGeom>
          <a:noFill/>
          <a:ln/>
        </p:spPr>
        <p:txBody>
          <a:bodyPr wrap="square" lIns="0" tIns="0" rIns="0" bIns="0" rtlCol="0" anchor="t"/>
          <a:lstStyle/>
          <a:p>
            <a:pPr indent="0" marL="0">
              <a:lnSpc>
                <a:spcPts val="1120"/>
              </a:lnSpc>
              <a:buNone/>
            </a:pPr>
            <a:r>
              <a:rPr lang="en-US" sz="860" dirty="0">
                <a:solidFill>
                  <a:srgbClr val="3F5265"/>
                </a:solidFill>
                <a:latin typeface="Calibri" pitchFamily="34" charset="0"/>
                <a:ea typeface="Calibri" pitchFamily="34" charset="-122"/>
                <a:cs typeface="Calibri" pitchFamily="34" charset="-120"/>
              </a:rPr>
              <a:t>The survey average fell to 5.71, the largest single-year decline since 2014. Cost of operation fell furthest at −0.46, while the proportion of desks operating two systems rose from 23% to 32%.</a:t>
            </a:r>
            <a:endParaRPr lang="en-US" sz="860" dirty="0"/>
          </a:p>
        </p:txBody>
      </p:sp>
      <p:sp>
        <p:nvSpPr>
          <p:cNvPr id="19" name="Shape 17"/>
          <p:cNvSpPr/>
          <p:nvPr/>
        </p:nvSpPr>
        <p:spPr>
          <a:xfrm>
            <a:off x="9144000" y="2286000"/>
            <a:ext cx="32004" cy="640080"/>
          </a:xfrm>
          <a:prstGeom prst="rect">
            <a:avLst/>
          </a:prstGeom>
          <a:solidFill>
            <a:srgbClr val="D9261C"/>
          </a:solidFill>
          <a:ln w="12700">
            <a:solidFill>
              <a:srgbClr val="333333"/>
            </a:solidFill>
            <a:prstDash val="solid"/>
          </a:ln>
        </p:spPr>
      </p:sp>
      <p:sp>
        <p:nvSpPr>
          <p:cNvPr id="20" name="Text 18"/>
          <p:cNvSpPr/>
          <p:nvPr/>
        </p:nvSpPr>
        <p:spPr>
          <a:xfrm>
            <a:off x="9290304" y="2267712"/>
            <a:ext cx="2331720" cy="713232"/>
          </a:xfrm>
          <a:prstGeom prst="rect">
            <a:avLst/>
          </a:prstGeom>
          <a:noFill/>
          <a:ln/>
        </p:spPr>
        <p:txBody>
          <a:bodyPr wrap="square" lIns="0" tIns="0" rIns="0" bIns="0" rtlCol="0" anchor="t"/>
          <a:lstStyle/>
          <a:p>
            <a:pPr indent="0" marL="0">
              <a:lnSpc>
                <a:spcPts val="1120"/>
              </a:lnSpc>
              <a:buNone/>
            </a:pPr>
            <a:r>
              <a:rPr lang="en-US" sz="860" b="1" dirty="0">
                <a:solidFill>
                  <a:srgbClr val="002D72"/>
                </a:solidFill>
                <a:latin typeface="Calibri" pitchFamily="34" charset="0"/>
                <a:ea typeface="Calibri" pitchFamily="34" charset="-122"/>
                <a:cs typeface="Calibri" pitchFamily="34" charset="-120"/>
              </a:rPr>
              <a:t>Clients are funding additional platforms while rating value less favourably. Consolidation is a receptive topic.</a:t>
            </a:r>
            <a:endParaRPr lang="en-US" sz="860" dirty="0"/>
          </a:p>
        </p:txBody>
      </p:sp>
      <p:sp>
        <p:nvSpPr>
          <p:cNvPr id="21" name="Shape 19"/>
          <p:cNvSpPr/>
          <p:nvPr/>
        </p:nvSpPr>
        <p:spPr>
          <a:xfrm>
            <a:off x="457200" y="3145536"/>
            <a:ext cx="11274552" cy="932688"/>
          </a:xfrm>
          <a:prstGeom prst="roundRect">
            <a:avLst>
              <a:gd name="adj" fmla="val 4902"/>
            </a:avLst>
          </a:prstGeom>
          <a:solidFill>
            <a:srgbClr val="EAF1F8"/>
          </a:solidFill>
          <a:ln w="9525">
            <a:solidFill>
              <a:srgbClr val="D6E4F0"/>
            </a:solidFill>
            <a:prstDash val="solid"/>
          </a:ln>
        </p:spPr>
      </p:sp>
      <p:sp>
        <p:nvSpPr>
          <p:cNvPr id="22" name="Shape 20"/>
          <p:cNvSpPr/>
          <p:nvPr/>
        </p:nvSpPr>
        <p:spPr>
          <a:xfrm>
            <a:off x="676656" y="3291840"/>
            <a:ext cx="292608" cy="292608"/>
          </a:xfrm>
          <a:prstGeom prst="ellipse">
            <a:avLst/>
          </a:prstGeom>
          <a:solidFill>
            <a:srgbClr val="002D72"/>
          </a:solidFill>
          <a:ln w="12700">
            <a:solidFill>
              <a:srgbClr val="333333"/>
            </a:solidFill>
            <a:prstDash val="solid"/>
          </a:ln>
        </p:spPr>
      </p:sp>
      <p:sp>
        <p:nvSpPr>
          <p:cNvPr id="23" name="Text 21"/>
          <p:cNvSpPr/>
          <p:nvPr/>
        </p:nvSpPr>
        <p:spPr>
          <a:xfrm>
            <a:off x="676656" y="3291840"/>
            <a:ext cx="292608" cy="292608"/>
          </a:xfrm>
          <a:prstGeom prst="rect">
            <a:avLst/>
          </a:prstGeom>
          <a:noFill/>
          <a:ln/>
        </p:spPr>
        <p:txBody>
          <a:bodyPr wrap="square" lIns="0" tIns="0" rIns="0" bIns="0" rtlCol="0" anchor="ctr"/>
          <a:lstStyle/>
          <a:p>
            <a:pPr algn="ctr" indent="0" marL="0">
              <a:buNone/>
            </a:pPr>
            <a:r>
              <a:rPr lang="en-US" sz="1150" b="1" dirty="0">
                <a:solidFill>
                  <a:srgbClr val="FFFFFF"/>
                </a:solidFill>
                <a:latin typeface="Calibri" pitchFamily="34" charset="0"/>
                <a:ea typeface="Calibri" pitchFamily="34" charset="-122"/>
                <a:cs typeface="Calibri" pitchFamily="34" charset="-120"/>
              </a:rPr>
              <a:t>3</a:t>
            </a:r>
            <a:endParaRPr lang="en-US" sz="1150" dirty="0"/>
          </a:p>
        </p:txBody>
      </p:sp>
      <p:sp>
        <p:nvSpPr>
          <p:cNvPr id="24" name="Text 22"/>
          <p:cNvSpPr/>
          <p:nvPr/>
        </p:nvSpPr>
        <p:spPr>
          <a:xfrm>
            <a:off x="1078992" y="3264408"/>
            <a:ext cx="4572000" cy="713232"/>
          </a:xfrm>
          <a:prstGeom prst="rect">
            <a:avLst/>
          </a:prstGeom>
          <a:noFill/>
          <a:ln/>
        </p:spPr>
        <p:txBody>
          <a:bodyPr wrap="square" lIns="0" tIns="0" rIns="0" bIns="0" rtlCol="0" anchor="t"/>
          <a:lstStyle/>
          <a:p>
            <a:pPr indent="0" marL="0">
              <a:lnSpc>
                <a:spcPts val="1400"/>
              </a:lnSpc>
              <a:buNone/>
            </a:pPr>
            <a:r>
              <a:rPr lang="en-US" sz="1100" b="1" dirty="0">
                <a:solidFill>
                  <a:srgbClr val="002D72"/>
                </a:solidFill>
                <a:latin typeface="Calibri" pitchFamily="34" charset="0"/>
                <a:ea typeface="Calibri" pitchFamily="34" charset="-122"/>
                <a:cs typeface="Calibri" pitchFamily="34" charset="-120"/>
              </a:rPr>
              <a:t>Four vendors performed above the market average; one improved year on year</a:t>
            </a:r>
            <a:endParaRPr lang="en-US" sz="1100" dirty="0"/>
          </a:p>
        </p:txBody>
      </p:sp>
      <p:sp>
        <p:nvSpPr>
          <p:cNvPr id="25" name="Text 23"/>
          <p:cNvSpPr/>
          <p:nvPr/>
        </p:nvSpPr>
        <p:spPr>
          <a:xfrm>
            <a:off x="5779008" y="3273552"/>
            <a:ext cx="3246120" cy="713232"/>
          </a:xfrm>
          <a:prstGeom prst="rect">
            <a:avLst/>
          </a:prstGeom>
          <a:noFill/>
          <a:ln/>
        </p:spPr>
        <p:txBody>
          <a:bodyPr wrap="square" lIns="0" tIns="0" rIns="0" bIns="0" rtlCol="0" anchor="t"/>
          <a:lstStyle/>
          <a:p>
            <a:pPr indent="0" marL="0">
              <a:lnSpc>
                <a:spcPts val="1120"/>
              </a:lnSpc>
              <a:buNone/>
            </a:pPr>
            <a:r>
              <a:rPr lang="en-US" sz="860" dirty="0">
                <a:solidFill>
                  <a:srgbClr val="3F5265"/>
                </a:solidFill>
                <a:latin typeface="Calibri" pitchFamily="34" charset="0"/>
                <a:ea typeface="Calibri" pitchFamily="34" charset="-122"/>
                <a:cs typeface="Calibri" pitchFamily="34" charset="-120"/>
              </a:rPr>
              <a:t>Virtu Triton 6.33, LSEG TORA 5.99, Neovest 5.98 and FlexTrade 5.92 all exceeded the 5.71 average. FlexTrade was the only profiled vendor to record an improvement.</a:t>
            </a:r>
            <a:endParaRPr lang="en-US" sz="860" dirty="0"/>
          </a:p>
        </p:txBody>
      </p:sp>
      <p:sp>
        <p:nvSpPr>
          <p:cNvPr id="26" name="Shape 24"/>
          <p:cNvSpPr/>
          <p:nvPr/>
        </p:nvSpPr>
        <p:spPr>
          <a:xfrm>
            <a:off x="9144000" y="3291840"/>
            <a:ext cx="32004" cy="640080"/>
          </a:xfrm>
          <a:prstGeom prst="rect">
            <a:avLst/>
          </a:prstGeom>
          <a:solidFill>
            <a:srgbClr val="D9261C"/>
          </a:solidFill>
          <a:ln w="12700">
            <a:solidFill>
              <a:srgbClr val="333333"/>
            </a:solidFill>
            <a:prstDash val="solid"/>
          </a:ln>
        </p:spPr>
      </p:sp>
      <p:sp>
        <p:nvSpPr>
          <p:cNvPr id="27" name="Text 25"/>
          <p:cNvSpPr/>
          <p:nvPr/>
        </p:nvSpPr>
        <p:spPr>
          <a:xfrm>
            <a:off x="9290304" y="3273552"/>
            <a:ext cx="2331720" cy="713232"/>
          </a:xfrm>
          <a:prstGeom prst="rect">
            <a:avLst/>
          </a:prstGeom>
          <a:noFill/>
          <a:ln/>
        </p:spPr>
        <p:txBody>
          <a:bodyPr wrap="square" lIns="0" tIns="0" rIns="0" bIns="0" rtlCol="0" anchor="t"/>
          <a:lstStyle/>
          <a:p>
            <a:pPr indent="0" marL="0">
              <a:lnSpc>
                <a:spcPts val="1120"/>
              </a:lnSpc>
              <a:buNone/>
            </a:pPr>
            <a:r>
              <a:rPr lang="en-US" sz="860" b="1" dirty="0">
                <a:solidFill>
                  <a:srgbClr val="002D72"/>
                </a:solidFill>
                <a:latin typeface="Calibri" pitchFamily="34" charset="0"/>
                <a:ea typeface="Calibri" pitchFamily="34" charset="-122"/>
                <a:cs typeface="Calibri" pitchFamily="34" charset="-120"/>
              </a:rPr>
              <a:t>These constitute the defensible shortlist where a client is genuinely evaluating alternatives.</a:t>
            </a:r>
            <a:endParaRPr lang="en-US" sz="860" dirty="0"/>
          </a:p>
        </p:txBody>
      </p:sp>
      <p:sp>
        <p:nvSpPr>
          <p:cNvPr id="28" name="Shape 26"/>
          <p:cNvSpPr/>
          <p:nvPr/>
        </p:nvSpPr>
        <p:spPr>
          <a:xfrm>
            <a:off x="457200" y="4151376"/>
            <a:ext cx="11274552" cy="932688"/>
          </a:xfrm>
          <a:prstGeom prst="roundRect">
            <a:avLst>
              <a:gd name="adj" fmla="val 4902"/>
            </a:avLst>
          </a:prstGeom>
          <a:solidFill>
            <a:srgbClr val="FFFFFF"/>
          </a:solidFill>
          <a:ln w="9525">
            <a:solidFill>
              <a:srgbClr val="D6E4F0"/>
            </a:solidFill>
            <a:prstDash val="solid"/>
          </a:ln>
        </p:spPr>
      </p:sp>
      <p:sp>
        <p:nvSpPr>
          <p:cNvPr id="29" name="Shape 27"/>
          <p:cNvSpPr/>
          <p:nvPr/>
        </p:nvSpPr>
        <p:spPr>
          <a:xfrm>
            <a:off x="676656" y="4297680"/>
            <a:ext cx="292608" cy="292608"/>
          </a:xfrm>
          <a:prstGeom prst="ellipse">
            <a:avLst/>
          </a:prstGeom>
          <a:solidFill>
            <a:srgbClr val="002D72"/>
          </a:solidFill>
          <a:ln w="12700">
            <a:solidFill>
              <a:srgbClr val="333333"/>
            </a:solidFill>
            <a:prstDash val="solid"/>
          </a:ln>
        </p:spPr>
      </p:sp>
      <p:sp>
        <p:nvSpPr>
          <p:cNvPr id="30" name="Text 28"/>
          <p:cNvSpPr/>
          <p:nvPr/>
        </p:nvSpPr>
        <p:spPr>
          <a:xfrm>
            <a:off x="676656" y="4297680"/>
            <a:ext cx="292608" cy="292608"/>
          </a:xfrm>
          <a:prstGeom prst="rect">
            <a:avLst/>
          </a:prstGeom>
          <a:noFill/>
          <a:ln/>
        </p:spPr>
        <p:txBody>
          <a:bodyPr wrap="square" lIns="0" tIns="0" rIns="0" bIns="0" rtlCol="0" anchor="ctr"/>
          <a:lstStyle/>
          <a:p>
            <a:pPr algn="ctr" indent="0" marL="0">
              <a:buNone/>
            </a:pPr>
            <a:r>
              <a:rPr lang="en-US" sz="1150" b="1" dirty="0">
                <a:solidFill>
                  <a:srgbClr val="FFFFFF"/>
                </a:solidFill>
                <a:latin typeface="Calibri" pitchFamily="34" charset="0"/>
                <a:ea typeface="Calibri" pitchFamily="34" charset="-122"/>
                <a:cs typeface="Calibri" pitchFamily="34" charset="-120"/>
              </a:rPr>
              <a:t>4</a:t>
            </a:r>
            <a:endParaRPr lang="en-US" sz="1150" dirty="0"/>
          </a:p>
        </p:txBody>
      </p:sp>
      <p:sp>
        <p:nvSpPr>
          <p:cNvPr id="31" name="Text 29"/>
          <p:cNvSpPr/>
          <p:nvPr/>
        </p:nvSpPr>
        <p:spPr>
          <a:xfrm>
            <a:off x="1078992" y="4270248"/>
            <a:ext cx="4572000" cy="713232"/>
          </a:xfrm>
          <a:prstGeom prst="rect">
            <a:avLst/>
          </a:prstGeom>
          <a:noFill/>
          <a:ln/>
        </p:spPr>
        <p:txBody>
          <a:bodyPr wrap="square" lIns="0" tIns="0" rIns="0" bIns="0" rtlCol="0" anchor="t"/>
          <a:lstStyle/>
          <a:p>
            <a:pPr indent="0" marL="0">
              <a:lnSpc>
                <a:spcPts val="1400"/>
              </a:lnSpc>
              <a:buNone/>
            </a:pPr>
            <a:r>
              <a:rPr lang="en-US" sz="1100" b="1" dirty="0">
                <a:solidFill>
                  <a:srgbClr val="002D72"/>
                </a:solidFill>
                <a:latin typeface="Calibri" pitchFamily="34" charset="0"/>
                <a:ea typeface="Calibri" pitchFamily="34" charset="-122"/>
                <a:cs typeface="Calibri" pitchFamily="34" charset="-120"/>
              </a:rPr>
              <a:t>The principal capability gap is asset coverage rather than equities execution</a:t>
            </a:r>
            <a:endParaRPr lang="en-US" sz="1100" dirty="0"/>
          </a:p>
        </p:txBody>
      </p:sp>
      <p:sp>
        <p:nvSpPr>
          <p:cNvPr id="32" name="Text 30"/>
          <p:cNvSpPr/>
          <p:nvPr/>
        </p:nvSpPr>
        <p:spPr>
          <a:xfrm>
            <a:off x="5779008" y="4279392"/>
            <a:ext cx="3246120" cy="713232"/>
          </a:xfrm>
          <a:prstGeom prst="rect">
            <a:avLst/>
          </a:prstGeom>
          <a:noFill/>
          <a:ln/>
        </p:spPr>
        <p:txBody>
          <a:bodyPr wrap="square" lIns="0" tIns="0" rIns="0" bIns="0" rtlCol="0" anchor="t"/>
          <a:lstStyle/>
          <a:p>
            <a:pPr indent="0" marL="0">
              <a:lnSpc>
                <a:spcPts val="1120"/>
              </a:lnSpc>
              <a:buNone/>
            </a:pPr>
            <a:r>
              <a:rPr lang="en-US" sz="860" dirty="0">
                <a:solidFill>
                  <a:srgbClr val="3F5265"/>
                </a:solidFill>
                <a:latin typeface="Calibri" pitchFamily="34" charset="0"/>
                <a:ea typeface="Calibri" pitchFamily="34" charset="-122"/>
                <a:cs typeface="Calibri" pitchFamily="34" charset="-120"/>
              </a:rPr>
              <a:t>91% of desks trade equities through their EMS, against 52% for FX and 49% for fixed income. Breadth of asset coverage was the fastest-rising selection criterion, up 8.9 points.</a:t>
            </a:r>
            <a:endParaRPr lang="en-US" sz="860" dirty="0"/>
          </a:p>
        </p:txBody>
      </p:sp>
      <p:sp>
        <p:nvSpPr>
          <p:cNvPr id="33" name="Shape 31"/>
          <p:cNvSpPr/>
          <p:nvPr/>
        </p:nvSpPr>
        <p:spPr>
          <a:xfrm>
            <a:off x="9144000" y="4297680"/>
            <a:ext cx="32004" cy="640080"/>
          </a:xfrm>
          <a:prstGeom prst="rect">
            <a:avLst/>
          </a:prstGeom>
          <a:solidFill>
            <a:srgbClr val="D9261C"/>
          </a:solidFill>
          <a:ln w="12700">
            <a:solidFill>
              <a:srgbClr val="333333"/>
            </a:solidFill>
            <a:prstDash val="solid"/>
          </a:ln>
        </p:spPr>
      </p:sp>
      <p:sp>
        <p:nvSpPr>
          <p:cNvPr id="34" name="Text 32"/>
          <p:cNvSpPr/>
          <p:nvPr/>
        </p:nvSpPr>
        <p:spPr>
          <a:xfrm>
            <a:off x="9290304" y="4279392"/>
            <a:ext cx="2331720" cy="713232"/>
          </a:xfrm>
          <a:prstGeom prst="rect">
            <a:avLst/>
          </a:prstGeom>
          <a:noFill/>
          <a:ln/>
        </p:spPr>
        <p:txBody>
          <a:bodyPr wrap="square" lIns="0" tIns="0" rIns="0" bIns="0" rtlCol="0" anchor="t"/>
          <a:lstStyle/>
          <a:p>
            <a:pPr indent="0" marL="0">
              <a:lnSpc>
                <a:spcPts val="1120"/>
              </a:lnSpc>
              <a:buNone/>
            </a:pPr>
            <a:r>
              <a:rPr lang="en-US" sz="860" b="1" dirty="0">
                <a:solidFill>
                  <a:srgbClr val="002D72"/>
                </a:solidFill>
                <a:latin typeface="Calibri" pitchFamily="34" charset="0"/>
                <a:ea typeface="Calibri" pitchFamily="34" charset="-122"/>
                <a:cs typeface="Calibri" pitchFamily="34" charset="-120"/>
              </a:rPr>
              <a:t>Citi's FX, rates and credit franchises address a documented gap and provide a substantive basis for engagement.</a:t>
            </a:r>
            <a:endParaRPr lang="en-US" sz="860" dirty="0"/>
          </a:p>
        </p:txBody>
      </p:sp>
      <p:sp>
        <p:nvSpPr>
          <p:cNvPr id="35" name="Shape 33"/>
          <p:cNvSpPr/>
          <p:nvPr/>
        </p:nvSpPr>
        <p:spPr>
          <a:xfrm>
            <a:off x="457200" y="5157216"/>
            <a:ext cx="11274552" cy="932688"/>
          </a:xfrm>
          <a:prstGeom prst="roundRect">
            <a:avLst>
              <a:gd name="adj" fmla="val 4902"/>
            </a:avLst>
          </a:prstGeom>
          <a:solidFill>
            <a:srgbClr val="EAF1F8"/>
          </a:solidFill>
          <a:ln w="9525">
            <a:solidFill>
              <a:srgbClr val="D6E4F0"/>
            </a:solidFill>
            <a:prstDash val="solid"/>
          </a:ln>
        </p:spPr>
      </p:sp>
      <p:sp>
        <p:nvSpPr>
          <p:cNvPr id="36" name="Shape 34"/>
          <p:cNvSpPr/>
          <p:nvPr/>
        </p:nvSpPr>
        <p:spPr>
          <a:xfrm>
            <a:off x="676656" y="5303520"/>
            <a:ext cx="292608" cy="292608"/>
          </a:xfrm>
          <a:prstGeom prst="ellipse">
            <a:avLst/>
          </a:prstGeom>
          <a:solidFill>
            <a:srgbClr val="056DAE"/>
          </a:solidFill>
          <a:ln w="12700">
            <a:solidFill>
              <a:srgbClr val="333333"/>
            </a:solidFill>
            <a:prstDash val="solid"/>
          </a:ln>
        </p:spPr>
      </p:sp>
      <p:sp>
        <p:nvSpPr>
          <p:cNvPr id="37" name="Text 35"/>
          <p:cNvSpPr/>
          <p:nvPr/>
        </p:nvSpPr>
        <p:spPr>
          <a:xfrm>
            <a:off x="676656" y="5303520"/>
            <a:ext cx="292608" cy="292608"/>
          </a:xfrm>
          <a:prstGeom prst="rect">
            <a:avLst/>
          </a:prstGeom>
          <a:noFill/>
          <a:ln/>
        </p:spPr>
        <p:txBody>
          <a:bodyPr wrap="square" lIns="0" tIns="0" rIns="0" bIns="0" rtlCol="0" anchor="ctr"/>
          <a:lstStyle/>
          <a:p>
            <a:pPr algn="ctr" indent="0" marL="0">
              <a:buNone/>
            </a:pPr>
            <a:r>
              <a:rPr lang="en-US" sz="1150" b="1" dirty="0">
                <a:solidFill>
                  <a:srgbClr val="FFFFFF"/>
                </a:solidFill>
                <a:latin typeface="Calibri" pitchFamily="34" charset="0"/>
                <a:ea typeface="Calibri" pitchFamily="34" charset="-122"/>
                <a:cs typeface="Calibri" pitchFamily="34" charset="-120"/>
              </a:rPr>
              <a:t>5</a:t>
            </a:r>
            <a:endParaRPr lang="en-US" sz="1150" dirty="0"/>
          </a:p>
        </p:txBody>
      </p:sp>
      <p:sp>
        <p:nvSpPr>
          <p:cNvPr id="38" name="Text 36"/>
          <p:cNvSpPr/>
          <p:nvPr/>
        </p:nvSpPr>
        <p:spPr>
          <a:xfrm>
            <a:off x="1078992" y="5276088"/>
            <a:ext cx="4572000" cy="713232"/>
          </a:xfrm>
          <a:prstGeom prst="rect">
            <a:avLst/>
          </a:prstGeom>
          <a:noFill/>
          <a:ln/>
        </p:spPr>
        <p:txBody>
          <a:bodyPr wrap="square" lIns="0" tIns="0" rIns="0" bIns="0" rtlCol="0" anchor="t"/>
          <a:lstStyle/>
          <a:p>
            <a:pPr indent="0" marL="0">
              <a:lnSpc>
                <a:spcPts val="1400"/>
              </a:lnSpc>
              <a:buNone/>
            </a:pPr>
            <a:r>
              <a:rPr lang="en-US" sz="1100" b="1" dirty="0">
                <a:solidFill>
                  <a:srgbClr val="002D72"/>
                </a:solidFill>
                <a:latin typeface="Calibri" pitchFamily="34" charset="0"/>
                <a:ea typeface="Calibri" pitchFamily="34" charset="-122"/>
                <a:cs typeface="Calibri" pitchFamily="34" charset="-120"/>
              </a:rPr>
              <a:t>Regional weighting materially changes the relevant vendor set in APAC</a:t>
            </a:r>
            <a:endParaRPr lang="en-US" sz="1100" dirty="0"/>
          </a:p>
        </p:txBody>
      </p:sp>
      <p:sp>
        <p:nvSpPr>
          <p:cNvPr id="39" name="Text 37"/>
          <p:cNvSpPr/>
          <p:nvPr/>
        </p:nvSpPr>
        <p:spPr>
          <a:xfrm>
            <a:off x="5779008" y="5285232"/>
            <a:ext cx="3246120" cy="713232"/>
          </a:xfrm>
          <a:prstGeom prst="rect">
            <a:avLst/>
          </a:prstGeom>
          <a:noFill/>
          <a:ln/>
        </p:spPr>
        <p:txBody>
          <a:bodyPr wrap="square" lIns="0" tIns="0" rIns="0" bIns="0" rtlCol="0" anchor="t"/>
          <a:lstStyle/>
          <a:p>
            <a:pPr indent="0" marL="0">
              <a:lnSpc>
                <a:spcPts val="1120"/>
              </a:lnSpc>
              <a:buNone/>
            </a:pPr>
            <a:r>
              <a:rPr lang="en-US" sz="860" dirty="0">
                <a:solidFill>
                  <a:srgbClr val="3F5265"/>
                </a:solidFill>
                <a:latin typeface="Calibri" pitchFamily="34" charset="0"/>
                <a:ea typeface="Calibri" pitchFamily="34" charset="-122"/>
                <a:cs typeface="Calibri" pitchFamily="34" charset="-120"/>
              </a:rPr>
              <a:t>LSEG TORA draws 68% of its rated users from APAC and Neovest 40%; both exceeded the survey average. The highest-rated vendor, Virtu Triton, is 81% North American.</a:t>
            </a:r>
            <a:endParaRPr lang="en-US" sz="860" dirty="0"/>
          </a:p>
        </p:txBody>
      </p:sp>
      <p:sp>
        <p:nvSpPr>
          <p:cNvPr id="40" name="Shape 38"/>
          <p:cNvSpPr/>
          <p:nvPr/>
        </p:nvSpPr>
        <p:spPr>
          <a:xfrm>
            <a:off x="9144000" y="5303520"/>
            <a:ext cx="32004" cy="640080"/>
          </a:xfrm>
          <a:prstGeom prst="rect">
            <a:avLst/>
          </a:prstGeom>
          <a:solidFill>
            <a:srgbClr val="D9261C"/>
          </a:solidFill>
          <a:ln w="12700">
            <a:solidFill>
              <a:srgbClr val="333333"/>
            </a:solidFill>
            <a:prstDash val="solid"/>
          </a:ln>
        </p:spPr>
      </p:sp>
      <p:sp>
        <p:nvSpPr>
          <p:cNvPr id="41" name="Text 39"/>
          <p:cNvSpPr/>
          <p:nvPr/>
        </p:nvSpPr>
        <p:spPr>
          <a:xfrm>
            <a:off x="9290304" y="5285232"/>
            <a:ext cx="2331720" cy="713232"/>
          </a:xfrm>
          <a:prstGeom prst="rect">
            <a:avLst/>
          </a:prstGeom>
          <a:noFill/>
          <a:ln/>
        </p:spPr>
        <p:txBody>
          <a:bodyPr wrap="square" lIns="0" tIns="0" rIns="0" bIns="0" rtlCol="0" anchor="t"/>
          <a:lstStyle/>
          <a:p>
            <a:pPr indent="0" marL="0">
              <a:lnSpc>
                <a:spcPts val="1120"/>
              </a:lnSpc>
              <a:buNone/>
            </a:pPr>
            <a:r>
              <a:rPr lang="en-US" sz="860" b="1" dirty="0">
                <a:solidFill>
                  <a:srgbClr val="002D72"/>
                </a:solidFill>
                <a:latin typeface="Calibri" pitchFamily="34" charset="0"/>
                <a:ea typeface="Calibri" pitchFamily="34" charset="-122"/>
                <a:cs typeface="Calibri" pitchFamily="34" charset="-120"/>
              </a:rPr>
              <a:t>Prioritise fluency in TORA and Neovest for Hong Kong coverage. TORA's weakest-moving category is breadth of broker algorithms.</a:t>
            </a:r>
            <a:endParaRPr lang="en-US" sz="860" dirty="0"/>
          </a:p>
        </p:txBody>
      </p:sp>
      <p:sp>
        <p:nvSpPr>
          <p:cNvPr id="42" name="Text 40"/>
          <p:cNvSpPr/>
          <p:nvPr/>
        </p:nvSpPr>
        <p:spPr>
          <a:xfrm>
            <a:off x="457200" y="6291072"/>
            <a:ext cx="11274552" cy="512064"/>
          </a:xfrm>
          <a:prstGeom prst="rect">
            <a:avLst/>
          </a:prstGeom>
          <a:noFill/>
          <a:ln/>
        </p:spPr>
        <p:txBody>
          <a:bodyPr wrap="square" lIns="0" tIns="0" rIns="0" bIns="0" rtlCol="0" anchor="t"/>
          <a:lstStyle/>
          <a:p>
            <a:pPr indent="0" marL="0">
              <a:lnSpc>
                <a:spcPts val="1060"/>
              </a:lnSpc>
              <a:buNone/>
            </a:pPr>
            <a:r>
              <a:rPr lang="en-US" sz="830" dirty="0">
                <a:solidFill>
                  <a:srgbClr val="7A8A99"/>
                </a:solidFill>
                <a:latin typeface="Calibri" pitchFamily="34" charset="0"/>
                <a:ea typeface="Calibri" pitchFamily="34" charset="-122"/>
                <a:cs typeface="Calibri" pitchFamily="34" charset="-120"/>
              </a:rPr>
              <a:t>Evidence drawn from The TRADE, Execution Management Systems Survey 2025 (published October 2025; analysis by Datos Insights) unless otherwise indicated. Full references and methodology at p11.</a:t>
            </a:r>
            <a:endParaRPr lang="en-US" sz="83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457200" y="237744"/>
            <a:ext cx="11274552" cy="219456"/>
          </a:xfrm>
          <a:prstGeom prst="rect">
            <a:avLst/>
          </a:prstGeom>
          <a:noFill/>
          <a:ln/>
        </p:spPr>
        <p:txBody>
          <a:bodyPr wrap="square" lIns="0" tIns="0" rIns="0" bIns="0" rtlCol="0" anchor="ctr"/>
          <a:lstStyle/>
          <a:p>
            <a:pPr indent="0" marL="0">
              <a:buNone/>
            </a:pPr>
            <a:r>
              <a:rPr lang="en-US" sz="1000" b="1" spc="140" kern="0" dirty="0">
                <a:solidFill>
                  <a:srgbClr val="056DAE"/>
                </a:solidFill>
                <a:latin typeface="Calibri" pitchFamily="34" charset="0"/>
                <a:ea typeface="Calibri" pitchFamily="34" charset="-122"/>
                <a:cs typeface="Calibri" pitchFamily="34" charset="-120"/>
              </a:rPr>
              <a:t>FRAMEWORK</a:t>
            </a:r>
            <a:endParaRPr lang="en-US" sz="1000" dirty="0"/>
          </a:p>
        </p:txBody>
      </p:sp>
      <p:sp>
        <p:nvSpPr>
          <p:cNvPr id="3" name="Text 1"/>
          <p:cNvSpPr/>
          <p:nvPr/>
        </p:nvSpPr>
        <p:spPr>
          <a:xfrm>
            <a:off x="457200" y="457200"/>
            <a:ext cx="11274552" cy="512064"/>
          </a:xfrm>
          <a:prstGeom prst="rect">
            <a:avLst/>
          </a:prstGeom>
          <a:noFill/>
          <a:ln/>
        </p:spPr>
        <p:txBody>
          <a:bodyPr wrap="square" lIns="0" tIns="0" rIns="0" bIns="0" rtlCol="0" anchor="t"/>
          <a:lstStyle/>
          <a:p>
            <a:pPr indent="0" marL="0">
              <a:buNone/>
            </a:pPr>
            <a:r>
              <a:rPr lang="en-US" sz="2500" b="1" dirty="0">
                <a:solidFill>
                  <a:srgbClr val="002D72"/>
                </a:solidFill>
                <a:latin typeface="Cambria" pitchFamily="34" charset="0"/>
                <a:ea typeface="Cambria" pitchFamily="34" charset="-122"/>
                <a:cs typeface="Cambria" pitchFamily="34" charset="-120"/>
              </a:rPr>
              <a:t>Establishing what the client operates</a:t>
            </a:r>
            <a:endParaRPr lang="en-US" sz="2500" dirty="0"/>
          </a:p>
        </p:txBody>
      </p:sp>
      <p:sp>
        <p:nvSpPr>
          <p:cNvPr id="4" name="Text 2"/>
          <p:cNvSpPr/>
          <p:nvPr/>
        </p:nvSpPr>
        <p:spPr>
          <a:xfrm>
            <a:off x="457200" y="969264"/>
            <a:ext cx="11274552" cy="420624"/>
          </a:xfrm>
          <a:prstGeom prst="rect">
            <a:avLst/>
          </a:prstGeom>
          <a:noFill/>
          <a:ln/>
        </p:spPr>
        <p:txBody>
          <a:bodyPr wrap="square" lIns="0" tIns="0" rIns="0" bIns="0" rtlCol="0" anchor="ctr"/>
          <a:lstStyle/>
          <a:p>
            <a:pPr indent="0" marL="0">
              <a:lnSpc>
                <a:spcPts val="1400"/>
              </a:lnSpc>
              <a:buNone/>
            </a:pPr>
            <a:r>
              <a:rPr lang="en-US" sz="1100" dirty="0">
                <a:solidFill>
                  <a:srgbClr val="3F5265"/>
                </a:solidFill>
                <a:latin typeface="Calibri" pitchFamily="34" charset="0"/>
                <a:ea typeface="Calibri" pitchFamily="34" charset="-122"/>
                <a:cs typeface="Calibri" pitchFamily="34" charset="-120"/>
              </a:rPr>
              <a:t>These three terms are used inconsistently by clients. Determining which applies — and which function owns the decision — establishes whether Citi is reached through a vendor certification or through the order management system.</a:t>
            </a:r>
            <a:endParaRPr lang="en-US" sz="1100" dirty="0"/>
          </a:p>
        </p:txBody>
      </p:sp>
      <p:sp>
        <p:nvSpPr>
          <p:cNvPr id="5" name="Shape 3"/>
          <p:cNvSpPr/>
          <p:nvPr/>
        </p:nvSpPr>
        <p:spPr>
          <a:xfrm>
            <a:off x="457200" y="1426464"/>
            <a:ext cx="3639312" cy="1965960"/>
          </a:xfrm>
          <a:prstGeom prst="roundRect">
            <a:avLst>
              <a:gd name="adj" fmla="val 2326"/>
            </a:avLst>
          </a:prstGeom>
          <a:solidFill>
            <a:srgbClr val="EAF1F8"/>
          </a:solidFill>
          <a:ln w="9525">
            <a:solidFill>
              <a:srgbClr val="D6E4F0"/>
            </a:solidFill>
            <a:prstDash val="solid"/>
          </a:ln>
        </p:spPr>
      </p:sp>
      <p:sp>
        <p:nvSpPr>
          <p:cNvPr id="6" name="Shape 4"/>
          <p:cNvSpPr/>
          <p:nvPr/>
        </p:nvSpPr>
        <p:spPr>
          <a:xfrm>
            <a:off x="658368" y="1572768"/>
            <a:ext cx="475488" cy="475488"/>
          </a:xfrm>
          <a:prstGeom prst="ellipse">
            <a:avLst/>
          </a:prstGeom>
          <a:solidFill>
            <a:srgbClr val="002D72"/>
          </a:solidFill>
          <a:ln w="12700">
            <a:solidFill>
              <a:srgbClr val="333333"/>
            </a:solidFill>
            <a:prstDash val="solid"/>
          </a:ln>
        </p:spPr>
      </p:sp>
      <p:sp>
        <p:nvSpPr>
          <p:cNvPr id="7" name="Text 5"/>
          <p:cNvSpPr/>
          <p:nvPr/>
        </p:nvSpPr>
        <p:spPr>
          <a:xfrm>
            <a:off x="658368" y="1572768"/>
            <a:ext cx="475488" cy="475488"/>
          </a:xfrm>
          <a:prstGeom prst="rect">
            <a:avLst/>
          </a:prstGeom>
          <a:noFill/>
          <a:ln/>
        </p:spPr>
        <p:txBody>
          <a:bodyPr wrap="square" lIns="0" tIns="0" rIns="0" bIns="0" rtlCol="0" anchor="ctr"/>
          <a:lstStyle/>
          <a:p>
            <a:pPr algn="ctr" indent="0" marL="0">
              <a:buNone/>
            </a:pPr>
            <a:r>
              <a:rPr lang="en-US" sz="1150" b="1" dirty="0">
                <a:solidFill>
                  <a:srgbClr val="FFFFFF"/>
                </a:solidFill>
                <a:latin typeface="Calibri" pitchFamily="34" charset="0"/>
                <a:ea typeface="Calibri" pitchFamily="34" charset="-122"/>
                <a:cs typeface="Calibri" pitchFamily="34" charset="-120"/>
              </a:rPr>
              <a:t>OMS</a:t>
            </a:r>
            <a:endParaRPr lang="en-US" sz="1150" dirty="0"/>
          </a:p>
        </p:txBody>
      </p:sp>
      <p:sp>
        <p:nvSpPr>
          <p:cNvPr id="8" name="Text 6"/>
          <p:cNvSpPr/>
          <p:nvPr/>
        </p:nvSpPr>
        <p:spPr>
          <a:xfrm>
            <a:off x="1243584" y="1591056"/>
            <a:ext cx="2670048" cy="438912"/>
          </a:xfrm>
          <a:prstGeom prst="rect">
            <a:avLst/>
          </a:prstGeom>
          <a:noFill/>
          <a:ln/>
        </p:spPr>
        <p:txBody>
          <a:bodyPr wrap="square" lIns="0" tIns="0" rIns="0" bIns="0" rtlCol="0" anchor="ctr"/>
          <a:lstStyle/>
          <a:p>
            <a:pPr indent="0" marL="0">
              <a:buNone/>
            </a:pPr>
            <a:r>
              <a:rPr lang="en-US" sz="1200" b="1" dirty="0">
                <a:solidFill>
                  <a:srgbClr val="002D72"/>
                </a:solidFill>
                <a:latin typeface="Calibri" pitchFamily="34" charset="0"/>
                <a:ea typeface="Calibri" pitchFamily="34" charset="-122"/>
                <a:cs typeface="Calibri" pitchFamily="34" charset="-120"/>
              </a:rPr>
              <a:t>Order Management System</a:t>
            </a:r>
            <a:endParaRPr lang="en-US" sz="1200" dirty="0"/>
          </a:p>
        </p:txBody>
      </p:sp>
      <p:sp>
        <p:nvSpPr>
          <p:cNvPr id="9" name="Text 7"/>
          <p:cNvSpPr/>
          <p:nvPr/>
        </p:nvSpPr>
        <p:spPr>
          <a:xfrm>
            <a:off x="658368" y="2139696"/>
            <a:ext cx="3236976" cy="1152144"/>
          </a:xfrm>
          <a:prstGeom prst="rect">
            <a:avLst/>
          </a:prstGeom>
          <a:noFill/>
          <a:ln/>
        </p:spPr>
        <p:txBody>
          <a:bodyPr wrap="square" lIns="0" tIns="0" rIns="0" bIns="0" rtlCol="0" anchor="t"/>
          <a:lstStyle/>
          <a:p>
            <a:pPr marL="342900" indent="-342900">
              <a:lnSpc>
                <a:spcPts val="1162"/>
              </a:lnSpc>
              <a:spcAft>
                <a:spcPts val="350"/>
              </a:spcAft>
              <a:buSzPct val="100000"/>
              <a:buChar char="•"/>
            </a:pPr>
            <a:r>
              <a:rPr lang="en-US" sz="880" dirty="0">
                <a:solidFill>
                  <a:srgbClr val="3F5265"/>
                </a:solidFill>
                <a:latin typeface="Calibri" pitchFamily="34" charset="0"/>
                <a:ea typeface="Calibri" pitchFamily="34" charset="-122"/>
                <a:cs typeface="Calibri" pitchFamily="34" charset="-120"/>
              </a:rPr>
              <a:t>Owns the order lifecycle: modelling, allocation, compliance rules, books and records</a:t>
            </a:r>
            <a:endParaRPr lang="en-US" sz="880" dirty="0"/>
          </a:p>
          <a:p>
            <a:pPr marL="342900" indent="-342900">
              <a:lnSpc>
                <a:spcPts val="1162"/>
              </a:lnSpc>
              <a:spcAft>
                <a:spcPts val="350"/>
              </a:spcAft>
              <a:buSzPct val="100000"/>
              <a:buChar char="•"/>
            </a:pPr>
            <a:r>
              <a:rPr lang="en-US" sz="880" dirty="0">
                <a:solidFill>
                  <a:srgbClr val="3F5265"/>
                </a:solidFill>
                <a:latin typeface="Calibri" pitchFamily="34" charset="0"/>
                <a:ea typeface="Calibri" pitchFamily="34" charset="-122"/>
                <a:cs typeface="Calibri" pitchFamily="34" charset="-120"/>
              </a:rPr>
              <a:t>Anchored to the portfolio manager and the compliance function</a:t>
            </a:r>
            <a:endParaRPr lang="en-US" sz="880" dirty="0"/>
          </a:p>
          <a:p>
            <a:pPr marL="342900" indent="-342900">
              <a:lnSpc>
                <a:spcPts val="1162"/>
              </a:lnSpc>
              <a:spcAft>
                <a:spcPts val="350"/>
              </a:spcAft>
              <a:buSzPct val="100000"/>
              <a:buChar char="•"/>
            </a:pPr>
            <a:r>
              <a:rPr lang="en-US" sz="880" dirty="0">
                <a:solidFill>
                  <a:srgbClr val="3F5265"/>
                </a:solidFill>
                <a:latin typeface="Calibri" pitchFamily="34" charset="0"/>
                <a:ea typeface="Calibri" pitchFamily="34" charset="-122"/>
                <a:cs typeface="Calibri" pitchFamily="34" charset="-120"/>
              </a:rPr>
              <a:t>Charles River, Bloomberg AIM, SimCorp, Eze OMS, BlackRock Aladdin</a:t>
            </a:r>
            <a:endParaRPr lang="en-US" sz="880" dirty="0"/>
          </a:p>
        </p:txBody>
      </p:sp>
      <p:sp>
        <p:nvSpPr>
          <p:cNvPr id="10" name="Shape 8"/>
          <p:cNvSpPr/>
          <p:nvPr/>
        </p:nvSpPr>
        <p:spPr>
          <a:xfrm>
            <a:off x="4270248" y="1426464"/>
            <a:ext cx="3639312" cy="1965960"/>
          </a:xfrm>
          <a:prstGeom prst="roundRect">
            <a:avLst>
              <a:gd name="adj" fmla="val 2326"/>
            </a:avLst>
          </a:prstGeom>
          <a:solidFill>
            <a:srgbClr val="E3F0F9"/>
          </a:solidFill>
          <a:ln w="9525">
            <a:solidFill>
              <a:srgbClr val="D6E4F0"/>
            </a:solidFill>
            <a:prstDash val="solid"/>
          </a:ln>
        </p:spPr>
      </p:sp>
      <p:sp>
        <p:nvSpPr>
          <p:cNvPr id="11" name="Shape 9"/>
          <p:cNvSpPr/>
          <p:nvPr/>
        </p:nvSpPr>
        <p:spPr>
          <a:xfrm>
            <a:off x="4471416" y="1572768"/>
            <a:ext cx="475488" cy="475488"/>
          </a:xfrm>
          <a:prstGeom prst="ellipse">
            <a:avLst/>
          </a:prstGeom>
          <a:solidFill>
            <a:srgbClr val="056DAE"/>
          </a:solidFill>
          <a:ln w="12700">
            <a:solidFill>
              <a:srgbClr val="333333"/>
            </a:solidFill>
            <a:prstDash val="solid"/>
          </a:ln>
        </p:spPr>
      </p:sp>
      <p:sp>
        <p:nvSpPr>
          <p:cNvPr id="12" name="Text 10"/>
          <p:cNvSpPr/>
          <p:nvPr/>
        </p:nvSpPr>
        <p:spPr>
          <a:xfrm>
            <a:off x="4471416" y="1572768"/>
            <a:ext cx="475488" cy="475488"/>
          </a:xfrm>
          <a:prstGeom prst="rect">
            <a:avLst/>
          </a:prstGeom>
          <a:noFill/>
          <a:ln/>
        </p:spPr>
        <p:txBody>
          <a:bodyPr wrap="square" lIns="0" tIns="0" rIns="0" bIns="0" rtlCol="0" anchor="ctr"/>
          <a:lstStyle/>
          <a:p>
            <a:pPr algn="ctr" indent="0" marL="0">
              <a:buNone/>
            </a:pPr>
            <a:r>
              <a:rPr lang="en-US" sz="1150" b="1" dirty="0">
                <a:solidFill>
                  <a:srgbClr val="FFFFFF"/>
                </a:solidFill>
                <a:latin typeface="Calibri" pitchFamily="34" charset="0"/>
                <a:ea typeface="Calibri" pitchFamily="34" charset="-122"/>
                <a:cs typeface="Calibri" pitchFamily="34" charset="-120"/>
              </a:rPr>
              <a:t>EMS</a:t>
            </a:r>
            <a:endParaRPr lang="en-US" sz="1150" dirty="0"/>
          </a:p>
        </p:txBody>
      </p:sp>
      <p:sp>
        <p:nvSpPr>
          <p:cNvPr id="13" name="Text 11"/>
          <p:cNvSpPr/>
          <p:nvPr/>
        </p:nvSpPr>
        <p:spPr>
          <a:xfrm>
            <a:off x="5056632" y="1591056"/>
            <a:ext cx="2670048" cy="438912"/>
          </a:xfrm>
          <a:prstGeom prst="rect">
            <a:avLst/>
          </a:prstGeom>
          <a:noFill/>
          <a:ln/>
        </p:spPr>
        <p:txBody>
          <a:bodyPr wrap="square" lIns="0" tIns="0" rIns="0" bIns="0" rtlCol="0" anchor="ctr"/>
          <a:lstStyle/>
          <a:p>
            <a:pPr indent="0" marL="0">
              <a:buNone/>
            </a:pPr>
            <a:r>
              <a:rPr lang="en-US" sz="1200" b="1" dirty="0">
                <a:solidFill>
                  <a:srgbClr val="002D72"/>
                </a:solidFill>
                <a:latin typeface="Calibri" pitchFamily="34" charset="0"/>
                <a:ea typeface="Calibri" pitchFamily="34" charset="-122"/>
                <a:cs typeface="Calibri" pitchFamily="34" charset="-120"/>
              </a:rPr>
              <a:t>Execution Management System</a:t>
            </a:r>
            <a:endParaRPr lang="en-US" sz="1200" dirty="0"/>
          </a:p>
        </p:txBody>
      </p:sp>
      <p:sp>
        <p:nvSpPr>
          <p:cNvPr id="14" name="Text 12"/>
          <p:cNvSpPr/>
          <p:nvPr/>
        </p:nvSpPr>
        <p:spPr>
          <a:xfrm>
            <a:off x="4471416" y="2139696"/>
            <a:ext cx="3236976" cy="1152144"/>
          </a:xfrm>
          <a:prstGeom prst="rect">
            <a:avLst/>
          </a:prstGeom>
          <a:noFill/>
          <a:ln/>
        </p:spPr>
        <p:txBody>
          <a:bodyPr wrap="square" lIns="0" tIns="0" rIns="0" bIns="0" rtlCol="0" anchor="t"/>
          <a:lstStyle/>
          <a:p>
            <a:pPr marL="342900" indent="-342900">
              <a:lnSpc>
                <a:spcPts val="1162"/>
              </a:lnSpc>
              <a:spcAft>
                <a:spcPts val="350"/>
              </a:spcAft>
              <a:buSzPct val="100000"/>
              <a:buChar char="•"/>
            </a:pPr>
            <a:r>
              <a:rPr lang="en-US" sz="880" dirty="0">
                <a:solidFill>
                  <a:srgbClr val="3F5265"/>
                </a:solidFill>
                <a:latin typeface="Calibri" pitchFamily="34" charset="0"/>
                <a:ea typeface="Calibri" pitchFamily="34" charset="-122"/>
                <a:cs typeface="Calibri" pitchFamily="34" charset="-120"/>
              </a:rPr>
              <a:t>Owns the route to market: broker algorithms, DMA, venue access, transaction cost analysis</a:t>
            </a:r>
            <a:endParaRPr lang="en-US" sz="880" dirty="0"/>
          </a:p>
          <a:p>
            <a:pPr marL="342900" indent="-342900">
              <a:lnSpc>
                <a:spcPts val="1162"/>
              </a:lnSpc>
              <a:spcAft>
                <a:spcPts val="350"/>
              </a:spcAft>
              <a:buSzPct val="100000"/>
              <a:buChar char="•"/>
            </a:pPr>
            <a:r>
              <a:rPr lang="en-US" sz="880" dirty="0">
                <a:solidFill>
                  <a:srgbClr val="3F5265"/>
                </a:solidFill>
                <a:latin typeface="Calibri" pitchFamily="34" charset="0"/>
                <a:ea typeface="Calibri" pitchFamily="34" charset="-122"/>
                <a:cs typeface="Calibri" pitchFamily="34" charset="-120"/>
              </a:rPr>
              <a:t>Anchored to the trader; this is where Citi's algorithms and venues are presented</a:t>
            </a:r>
            <a:endParaRPr lang="en-US" sz="880" dirty="0"/>
          </a:p>
          <a:p>
            <a:pPr marL="342900" indent="-342900">
              <a:lnSpc>
                <a:spcPts val="1162"/>
              </a:lnSpc>
              <a:spcAft>
                <a:spcPts val="350"/>
              </a:spcAft>
              <a:buSzPct val="100000"/>
              <a:buChar char="•"/>
            </a:pPr>
            <a:r>
              <a:rPr lang="en-US" sz="880" dirty="0">
                <a:solidFill>
                  <a:srgbClr val="3F5265"/>
                </a:solidFill>
                <a:latin typeface="Calibri" pitchFamily="34" charset="0"/>
                <a:ea typeface="Calibri" pitchFamily="34" charset="-122"/>
                <a:cs typeface="Calibri" pitchFamily="34" charset="-120"/>
              </a:rPr>
              <a:t>Virtu Triton, FlexTRADER, Bloomberg EMSX, LSEG TORA, Instinet Newport</a:t>
            </a:r>
            <a:endParaRPr lang="en-US" sz="880" dirty="0"/>
          </a:p>
        </p:txBody>
      </p:sp>
      <p:sp>
        <p:nvSpPr>
          <p:cNvPr id="15" name="Shape 13"/>
          <p:cNvSpPr/>
          <p:nvPr/>
        </p:nvSpPr>
        <p:spPr>
          <a:xfrm>
            <a:off x="8083296" y="1426464"/>
            <a:ext cx="3639312" cy="1965960"/>
          </a:xfrm>
          <a:prstGeom prst="roundRect">
            <a:avLst>
              <a:gd name="adj" fmla="val 2326"/>
            </a:avLst>
          </a:prstGeom>
          <a:solidFill>
            <a:srgbClr val="EAF1F8"/>
          </a:solidFill>
          <a:ln w="9525">
            <a:solidFill>
              <a:srgbClr val="D6E4F0"/>
            </a:solidFill>
            <a:prstDash val="solid"/>
          </a:ln>
        </p:spPr>
      </p:sp>
      <p:sp>
        <p:nvSpPr>
          <p:cNvPr id="16" name="Shape 14"/>
          <p:cNvSpPr/>
          <p:nvPr/>
        </p:nvSpPr>
        <p:spPr>
          <a:xfrm>
            <a:off x="8284464" y="1572768"/>
            <a:ext cx="475488" cy="475488"/>
          </a:xfrm>
          <a:prstGeom prst="ellipse">
            <a:avLst/>
          </a:prstGeom>
          <a:solidFill>
            <a:srgbClr val="002D72"/>
          </a:solidFill>
          <a:ln w="12700">
            <a:solidFill>
              <a:srgbClr val="333333"/>
            </a:solidFill>
            <a:prstDash val="solid"/>
          </a:ln>
        </p:spPr>
      </p:sp>
      <p:sp>
        <p:nvSpPr>
          <p:cNvPr id="17" name="Text 15"/>
          <p:cNvSpPr/>
          <p:nvPr/>
        </p:nvSpPr>
        <p:spPr>
          <a:xfrm>
            <a:off x="8284464" y="1572768"/>
            <a:ext cx="475488" cy="475488"/>
          </a:xfrm>
          <a:prstGeom prst="rect">
            <a:avLst/>
          </a:prstGeom>
          <a:noFill/>
          <a:ln/>
        </p:spPr>
        <p:txBody>
          <a:bodyPr wrap="square" lIns="0" tIns="0" rIns="0" bIns="0" rtlCol="0" anchor="ctr"/>
          <a:lstStyle/>
          <a:p>
            <a:pPr algn="ctr" indent="0" marL="0">
              <a:buNone/>
            </a:pPr>
            <a:r>
              <a:rPr lang="en-US" sz="1150" b="1" dirty="0">
                <a:solidFill>
                  <a:srgbClr val="FFFFFF"/>
                </a:solidFill>
                <a:latin typeface="Calibri" pitchFamily="34" charset="0"/>
                <a:ea typeface="Calibri" pitchFamily="34" charset="-122"/>
                <a:cs typeface="Calibri" pitchFamily="34" charset="-120"/>
              </a:rPr>
              <a:t>OEMS</a:t>
            </a:r>
            <a:endParaRPr lang="en-US" sz="1150" dirty="0"/>
          </a:p>
        </p:txBody>
      </p:sp>
      <p:sp>
        <p:nvSpPr>
          <p:cNvPr id="18" name="Text 16"/>
          <p:cNvSpPr/>
          <p:nvPr/>
        </p:nvSpPr>
        <p:spPr>
          <a:xfrm>
            <a:off x="8869680" y="1591056"/>
            <a:ext cx="2670048" cy="438912"/>
          </a:xfrm>
          <a:prstGeom prst="rect">
            <a:avLst/>
          </a:prstGeom>
          <a:noFill/>
          <a:ln/>
        </p:spPr>
        <p:txBody>
          <a:bodyPr wrap="square" lIns="0" tIns="0" rIns="0" bIns="0" rtlCol="0" anchor="ctr"/>
          <a:lstStyle/>
          <a:p>
            <a:pPr indent="0" marL="0">
              <a:buNone/>
            </a:pPr>
            <a:r>
              <a:rPr lang="en-US" sz="1200" b="1" dirty="0">
                <a:solidFill>
                  <a:srgbClr val="002D72"/>
                </a:solidFill>
                <a:latin typeface="Calibri" pitchFamily="34" charset="0"/>
                <a:ea typeface="Calibri" pitchFamily="34" charset="-122"/>
                <a:cs typeface="Calibri" pitchFamily="34" charset="-120"/>
              </a:rPr>
              <a:t>Combined</a:t>
            </a:r>
            <a:endParaRPr lang="en-US" sz="1200" dirty="0"/>
          </a:p>
        </p:txBody>
      </p:sp>
      <p:sp>
        <p:nvSpPr>
          <p:cNvPr id="19" name="Text 17"/>
          <p:cNvSpPr/>
          <p:nvPr/>
        </p:nvSpPr>
        <p:spPr>
          <a:xfrm>
            <a:off x="8284464" y="2139696"/>
            <a:ext cx="3236976" cy="1152144"/>
          </a:xfrm>
          <a:prstGeom prst="rect">
            <a:avLst/>
          </a:prstGeom>
          <a:noFill/>
          <a:ln/>
        </p:spPr>
        <p:txBody>
          <a:bodyPr wrap="square" lIns="0" tIns="0" rIns="0" bIns="0" rtlCol="0" anchor="t"/>
          <a:lstStyle/>
          <a:p>
            <a:pPr marL="342900" indent="-342900">
              <a:lnSpc>
                <a:spcPts val="1162"/>
              </a:lnSpc>
              <a:spcAft>
                <a:spcPts val="350"/>
              </a:spcAft>
              <a:buSzPct val="100000"/>
              <a:buChar char="•"/>
            </a:pPr>
            <a:r>
              <a:rPr lang="en-US" sz="880" dirty="0">
                <a:solidFill>
                  <a:srgbClr val="3F5265"/>
                </a:solidFill>
                <a:latin typeface="Calibri" pitchFamily="34" charset="0"/>
                <a:ea typeface="Calibri" pitchFamily="34" charset="-122"/>
                <a:cs typeface="Calibri" pitchFamily="34" charset="-120"/>
              </a:rPr>
              <a:t>A single blotter, vendor and contract, with fewer integration dependencies</a:t>
            </a:r>
            <a:endParaRPr lang="en-US" sz="880" dirty="0"/>
          </a:p>
          <a:p>
            <a:pPr marL="342900" indent="-342900">
              <a:lnSpc>
                <a:spcPts val="1162"/>
              </a:lnSpc>
              <a:spcAft>
                <a:spcPts val="350"/>
              </a:spcAft>
              <a:buSzPct val="100000"/>
              <a:buChar char="•"/>
            </a:pPr>
            <a:r>
              <a:rPr lang="en-US" sz="880" dirty="0">
                <a:solidFill>
                  <a:srgbClr val="3F5265"/>
                </a:solidFill>
                <a:latin typeface="Calibri" pitchFamily="34" charset="0"/>
                <a:ea typeface="Calibri" pitchFamily="34" charset="-122"/>
                <a:cs typeface="Calibri" pitchFamily="34" charset="-120"/>
              </a:rPr>
              <a:t>Favoured by fund launches and smaller managers; resisted by larger desks</a:t>
            </a:r>
            <a:endParaRPr lang="en-US" sz="880" dirty="0"/>
          </a:p>
          <a:p>
            <a:pPr marL="342900" indent="-342900">
              <a:lnSpc>
                <a:spcPts val="1162"/>
              </a:lnSpc>
              <a:spcAft>
                <a:spcPts val="350"/>
              </a:spcAft>
              <a:buSzPct val="100000"/>
              <a:buChar char="•"/>
            </a:pPr>
            <a:r>
              <a:rPr lang="en-US" sz="880" dirty="0">
                <a:solidFill>
                  <a:srgbClr val="3F5265"/>
                </a:solidFill>
                <a:latin typeface="Calibri" pitchFamily="34" charset="0"/>
                <a:ea typeface="Calibri" pitchFamily="34" charset="-122"/>
                <a:cs typeface="Calibri" pitchFamily="34" charset="-120"/>
              </a:rPr>
              <a:t>FlexONE, TS Imagine TradeSmart, Enfusion, Charles River Trader</a:t>
            </a:r>
            <a:endParaRPr lang="en-US" sz="880" dirty="0"/>
          </a:p>
        </p:txBody>
      </p:sp>
      <p:sp>
        <p:nvSpPr>
          <p:cNvPr id="20" name="Shape 18"/>
          <p:cNvSpPr/>
          <p:nvPr/>
        </p:nvSpPr>
        <p:spPr>
          <a:xfrm>
            <a:off x="457200" y="3566160"/>
            <a:ext cx="5541264" cy="2651760"/>
          </a:xfrm>
          <a:prstGeom prst="roundRect">
            <a:avLst>
              <a:gd name="adj" fmla="val 1724"/>
            </a:avLst>
          </a:prstGeom>
          <a:solidFill>
            <a:srgbClr val="FFFFFF"/>
          </a:solidFill>
          <a:ln w="9525">
            <a:solidFill>
              <a:srgbClr val="D6E4F0"/>
            </a:solidFill>
            <a:prstDash val="solid"/>
          </a:ln>
        </p:spPr>
      </p:sp>
      <p:sp>
        <p:nvSpPr>
          <p:cNvPr id="21" name="Text 19"/>
          <p:cNvSpPr/>
          <p:nvPr/>
        </p:nvSpPr>
        <p:spPr>
          <a:xfrm>
            <a:off x="676656" y="3694176"/>
            <a:ext cx="5120640" cy="237744"/>
          </a:xfrm>
          <a:prstGeom prst="rect">
            <a:avLst/>
          </a:prstGeom>
          <a:noFill/>
          <a:ln/>
        </p:spPr>
        <p:txBody>
          <a:bodyPr wrap="square" lIns="0" tIns="0" rIns="0" bIns="0" rtlCol="0" anchor="ctr"/>
          <a:lstStyle/>
          <a:p>
            <a:pPr indent="0" marL="0">
              <a:buNone/>
            </a:pPr>
            <a:r>
              <a:rPr lang="en-US" sz="1200" b="1" dirty="0">
                <a:solidFill>
                  <a:srgbClr val="002D72"/>
                </a:solidFill>
                <a:latin typeface="Calibri" pitchFamily="34" charset="0"/>
                <a:ea typeface="Calibri" pitchFamily="34" charset="-122"/>
                <a:cs typeface="Calibri" pitchFamily="34" charset="-120"/>
              </a:rPr>
              <a:t>Convergence has not occurred, and the separation is deliberate</a:t>
            </a:r>
            <a:endParaRPr lang="en-US" sz="1200" dirty="0"/>
          </a:p>
        </p:txBody>
      </p:sp>
      <p:sp>
        <p:nvSpPr>
          <p:cNvPr id="22" name="Text 20"/>
          <p:cNvSpPr/>
          <p:nvPr/>
        </p:nvSpPr>
        <p:spPr>
          <a:xfrm>
            <a:off x="676656" y="3968496"/>
            <a:ext cx="5120640" cy="219456"/>
          </a:xfrm>
          <a:prstGeom prst="rect">
            <a:avLst/>
          </a:prstGeom>
          <a:noFill/>
          <a:ln/>
        </p:spPr>
        <p:txBody>
          <a:bodyPr wrap="square" lIns="0" tIns="0" rIns="0" bIns="0" rtlCol="0" anchor="ctr"/>
          <a:lstStyle/>
          <a:p>
            <a:pPr indent="0" marL="0">
              <a:buNone/>
            </a:pPr>
            <a:r>
              <a:rPr lang="en-US" sz="950" dirty="0">
                <a:solidFill>
                  <a:srgbClr val="7A8A99"/>
                </a:solidFill>
                <a:latin typeface="Calibri" pitchFamily="34" charset="0"/>
                <a:ea typeface="Calibri" pitchFamily="34" charset="-122"/>
                <a:cs typeface="Calibri" pitchFamily="34" charset="-120"/>
              </a:rPr>
              <a:t>Among North American buy-side equity traders:</a:t>
            </a:r>
            <a:endParaRPr lang="en-US" sz="950" dirty="0"/>
          </a:p>
        </p:txBody>
      </p:sp>
      <p:sp>
        <p:nvSpPr>
          <p:cNvPr id="23" name="Text 21"/>
          <p:cNvSpPr/>
          <p:nvPr/>
        </p:nvSpPr>
        <p:spPr>
          <a:xfrm>
            <a:off x="676656" y="4261104"/>
            <a:ext cx="658368" cy="274320"/>
          </a:xfrm>
          <a:prstGeom prst="rect">
            <a:avLst/>
          </a:prstGeom>
          <a:noFill/>
          <a:ln/>
        </p:spPr>
        <p:txBody>
          <a:bodyPr wrap="square" lIns="0" tIns="0" rIns="0" bIns="0" rtlCol="0" anchor="ctr"/>
          <a:lstStyle/>
          <a:p>
            <a:pPr algn="r" indent="0" marL="0">
              <a:buNone/>
            </a:pPr>
            <a:r>
              <a:rPr lang="en-US" sz="1500" b="1" dirty="0">
                <a:solidFill>
                  <a:srgbClr val="056DAE"/>
                </a:solidFill>
                <a:latin typeface="Cambria" pitchFamily="34" charset="0"/>
                <a:ea typeface="Cambria" pitchFamily="34" charset="-122"/>
                <a:cs typeface="Cambria" pitchFamily="34" charset="-120"/>
              </a:rPr>
              <a:t>58%</a:t>
            </a:r>
            <a:endParaRPr lang="en-US" sz="1500" dirty="0"/>
          </a:p>
        </p:txBody>
      </p:sp>
      <p:sp>
        <p:nvSpPr>
          <p:cNvPr id="24" name="Text 22"/>
          <p:cNvSpPr/>
          <p:nvPr/>
        </p:nvSpPr>
        <p:spPr>
          <a:xfrm>
            <a:off x="1444752" y="4288536"/>
            <a:ext cx="4352544" cy="384048"/>
          </a:xfrm>
          <a:prstGeom prst="rect">
            <a:avLst/>
          </a:prstGeom>
          <a:noFill/>
          <a:ln/>
        </p:spPr>
        <p:txBody>
          <a:bodyPr wrap="square" lIns="0" tIns="0" rIns="0" bIns="0" rtlCol="0" anchor="t"/>
          <a:lstStyle/>
          <a:p>
            <a:pPr indent="0" marL="0">
              <a:lnSpc>
                <a:spcPts val="1150"/>
              </a:lnSpc>
              <a:buNone/>
            </a:pPr>
            <a:r>
              <a:rPr lang="en-US" sz="930" dirty="0">
                <a:solidFill>
                  <a:srgbClr val="3F5265"/>
                </a:solidFill>
                <a:latin typeface="Calibri" pitchFamily="34" charset="0"/>
                <a:ea typeface="Calibri" pitchFamily="34" charset="-122"/>
                <a:cs typeface="Calibri" pitchFamily="34" charset="-120"/>
              </a:rPr>
              <a:t>operate a separate OMS and EMS by choice, citing control, flexibility and configurability</a:t>
            </a:r>
            <a:endParaRPr lang="en-US" sz="930" dirty="0"/>
          </a:p>
        </p:txBody>
      </p:sp>
      <p:sp>
        <p:nvSpPr>
          <p:cNvPr id="25" name="Text 23"/>
          <p:cNvSpPr/>
          <p:nvPr/>
        </p:nvSpPr>
        <p:spPr>
          <a:xfrm>
            <a:off x="676656" y="4718304"/>
            <a:ext cx="658368" cy="274320"/>
          </a:xfrm>
          <a:prstGeom prst="rect">
            <a:avLst/>
          </a:prstGeom>
          <a:noFill/>
          <a:ln/>
        </p:spPr>
        <p:txBody>
          <a:bodyPr wrap="square" lIns="0" tIns="0" rIns="0" bIns="0" rtlCol="0" anchor="ctr"/>
          <a:lstStyle/>
          <a:p>
            <a:pPr algn="r" indent="0" marL="0">
              <a:buNone/>
            </a:pPr>
            <a:r>
              <a:rPr lang="en-US" sz="1500" b="1" dirty="0">
                <a:solidFill>
                  <a:srgbClr val="056DAE"/>
                </a:solidFill>
                <a:latin typeface="Cambria" pitchFamily="34" charset="0"/>
                <a:ea typeface="Cambria" pitchFamily="34" charset="-122"/>
                <a:cs typeface="Cambria" pitchFamily="34" charset="-120"/>
              </a:rPr>
              <a:t>28%</a:t>
            </a:r>
            <a:endParaRPr lang="en-US" sz="1500" dirty="0"/>
          </a:p>
        </p:txBody>
      </p:sp>
      <p:sp>
        <p:nvSpPr>
          <p:cNvPr id="26" name="Text 24"/>
          <p:cNvSpPr/>
          <p:nvPr/>
        </p:nvSpPr>
        <p:spPr>
          <a:xfrm>
            <a:off x="1444752" y="4745736"/>
            <a:ext cx="4352544" cy="384048"/>
          </a:xfrm>
          <a:prstGeom prst="rect">
            <a:avLst/>
          </a:prstGeom>
          <a:noFill/>
          <a:ln/>
        </p:spPr>
        <p:txBody>
          <a:bodyPr wrap="square" lIns="0" tIns="0" rIns="0" bIns="0" rtlCol="0" anchor="t"/>
          <a:lstStyle/>
          <a:p>
            <a:pPr indent="0" marL="0">
              <a:lnSpc>
                <a:spcPts val="1150"/>
              </a:lnSpc>
              <a:buNone/>
            </a:pPr>
            <a:r>
              <a:rPr lang="en-US" sz="930" dirty="0">
                <a:solidFill>
                  <a:srgbClr val="3F5265"/>
                </a:solidFill>
                <a:latin typeface="Calibri" pitchFamily="34" charset="0"/>
                <a:ea typeface="Calibri" pitchFamily="34" charset="-122"/>
                <a:cs typeface="Calibri" pitchFamily="34" charset="-120"/>
              </a:rPr>
              <a:t>operate a combined OEMS</a:t>
            </a:r>
            <a:endParaRPr lang="en-US" sz="930" dirty="0"/>
          </a:p>
        </p:txBody>
      </p:sp>
      <p:sp>
        <p:nvSpPr>
          <p:cNvPr id="27" name="Text 25"/>
          <p:cNvSpPr/>
          <p:nvPr/>
        </p:nvSpPr>
        <p:spPr>
          <a:xfrm>
            <a:off x="676656" y="5175504"/>
            <a:ext cx="658368" cy="274320"/>
          </a:xfrm>
          <a:prstGeom prst="rect">
            <a:avLst/>
          </a:prstGeom>
          <a:noFill/>
          <a:ln/>
        </p:spPr>
        <p:txBody>
          <a:bodyPr wrap="square" lIns="0" tIns="0" rIns="0" bIns="0" rtlCol="0" anchor="ctr"/>
          <a:lstStyle/>
          <a:p>
            <a:pPr algn="r" indent="0" marL="0">
              <a:buNone/>
            </a:pPr>
            <a:r>
              <a:rPr lang="en-US" sz="1500" b="1" dirty="0">
                <a:solidFill>
                  <a:srgbClr val="056DAE"/>
                </a:solidFill>
                <a:latin typeface="Cambria" pitchFamily="34" charset="0"/>
                <a:ea typeface="Cambria" pitchFamily="34" charset="-122"/>
                <a:cs typeface="Cambria" pitchFamily="34" charset="-120"/>
              </a:rPr>
              <a:t>8%</a:t>
            </a:r>
            <a:endParaRPr lang="en-US" sz="1500" dirty="0"/>
          </a:p>
        </p:txBody>
      </p:sp>
      <p:sp>
        <p:nvSpPr>
          <p:cNvPr id="28" name="Text 26"/>
          <p:cNvSpPr/>
          <p:nvPr/>
        </p:nvSpPr>
        <p:spPr>
          <a:xfrm>
            <a:off x="1444752" y="5202936"/>
            <a:ext cx="4352544" cy="384048"/>
          </a:xfrm>
          <a:prstGeom prst="rect">
            <a:avLst/>
          </a:prstGeom>
          <a:noFill/>
          <a:ln/>
        </p:spPr>
        <p:txBody>
          <a:bodyPr wrap="square" lIns="0" tIns="0" rIns="0" bIns="0" rtlCol="0" anchor="t"/>
          <a:lstStyle/>
          <a:p>
            <a:pPr indent="0" marL="0">
              <a:lnSpc>
                <a:spcPts val="1150"/>
              </a:lnSpc>
              <a:buNone/>
            </a:pPr>
            <a:r>
              <a:rPr lang="en-US" sz="930" dirty="0">
                <a:solidFill>
                  <a:srgbClr val="3F5265"/>
                </a:solidFill>
                <a:latin typeface="Calibri" pitchFamily="34" charset="0"/>
                <a:ea typeface="Calibri" pitchFamily="34" charset="-122"/>
                <a:cs typeface="Calibri" pitchFamily="34" charset="-120"/>
              </a:rPr>
              <a:t>operate an OMS only</a:t>
            </a:r>
            <a:endParaRPr lang="en-US" sz="930" dirty="0"/>
          </a:p>
        </p:txBody>
      </p:sp>
      <p:sp>
        <p:nvSpPr>
          <p:cNvPr id="29" name="Text 27"/>
          <p:cNvSpPr/>
          <p:nvPr/>
        </p:nvSpPr>
        <p:spPr>
          <a:xfrm>
            <a:off x="676656" y="5632704"/>
            <a:ext cx="658368" cy="274320"/>
          </a:xfrm>
          <a:prstGeom prst="rect">
            <a:avLst/>
          </a:prstGeom>
          <a:noFill/>
          <a:ln/>
        </p:spPr>
        <p:txBody>
          <a:bodyPr wrap="square" lIns="0" tIns="0" rIns="0" bIns="0" rtlCol="0" anchor="ctr"/>
          <a:lstStyle/>
          <a:p>
            <a:pPr algn="r" indent="0" marL="0">
              <a:buNone/>
            </a:pPr>
            <a:r>
              <a:rPr lang="en-US" sz="1500" b="1" dirty="0">
                <a:solidFill>
                  <a:srgbClr val="056DAE"/>
                </a:solidFill>
                <a:latin typeface="Cambria" pitchFamily="34" charset="0"/>
                <a:ea typeface="Cambria" pitchFamily="34" charset="-122"/>
                <a:cs typeface="Cambria" pitchFamily="34" charset="-120"/>
              </a:rPr>
              <a:t>8%</a:t>
            </a:r>
            <a:endParaRPr lang="en-US" sz="1500" dirty="0"/>
          </a:p>
        </p:txBody>
      </p:sp>
      <p:sp>
        <p:nvSpPr>
          <p:cNvPr id="30" name="Text 28"/>
          <p:cNvSpPr/>
          <p:nvPr/>
        </p:nvSpPr>
        <p:spPr>
          <a:xfrm>
            <a:off x="1444752" y="5660136"/>
            <a:ext cx="4352544" cy="384048"/>
          </a:xfrm>
          <a:prstGeom prst="rect">
            <a:avLst/>
          </a:prstGeom>
          <a:noFill/>
          <a:ln/>
        </p:spPr>
        <p:txBody>
          <a:bodyPr wrap="square" lIns="0" tIns="0" rIns="0" bIns="0" rtlCol="0" anchor="t"/>
          <a:lstStyle/>
          <a:p>
            <a:pPr indent="0" marL="0">
              <a:lnSpc>
                <a:spcPts val="1150"/>
              </a:lnSpc>
              <a:buNone/>
            </a:pPr>
            <a:r>
              <a:rPr lang="en-US" sz="930" dirty="0">
                <a:solidFill>
                  <a:srgbClr val="3F5265"/>
                </a:solidFill>
                <a:latin typeface="Calibri" pitchFamily="34" charset="0"/>
                <a:ea typeface="Calibri" pitchFamily="34" charset="-122"/>
                <a:cs typeface="Calibri" pitchFamily="34" charset="-120"/>
              </a:rPr>
              <a:t>operate a full POEMS</a:t>
            </a:r>
            <a:endParaRPr lang="en-US" sz="930" dirty="0"/>
          </a:p>
        </p:txBody>
      </p:sp>
      <p:sp>
        <p:nvSpPr>
          <p:cNvPr id="31" name="Shape 29"/>
          <p:cNvSpPr/>
          <p:nvPr/>
        </p:nvSpPr>
        <p:spPr>
          <a:xfrm>
            <a:off x="6190488" y="3566160"/>
            <a:ext cx="5541264" cy="2651760"/>
          </a:xfrm>
          <a:prstGeom prst="roundRect">
            <a:avLst>
              <a:gd name="adj" fmla="val 1724"/>
            </a:avLst>
          </a:prstGeom>
          <a:solidFill>
            <a:srgbClr val="FBEDEC"/>
          </a:solidFill>
          <a:ln w="9525">
            <a:solidFill>
              <a:srgbClr val="F0C9C6"/>
            </a:solidFill>
            <a:prstDash val="solid"/>
          </a:ln>
        </p:spPr>
      </p:sp>
      <p:sp>
        <p:nvSpPr>
          <p:cNvPr id="32" name="Shape 30"/>
          <p:cNvSpPr/>
          <p:nvPr/>
        </p:nvSpPr>
        <p:spPr>
          <a:xfrm>
            <a:off x="6190488" y="3566160"/>
            <a:ext cx="45720" cy="2651760"/>
          </a:xfrm>
          <a:prstGeom prst="rect">
            <a:avLst/>
          </a:prstGeom>
          <a:solidFill>
            <a:srgbClr val="D9261C"/>
          </a:solidFill>
          <a:ln w="12700">
            <a:solidFill>
              <a:srgbClr val="333333"/>
            </a:solidFill>
            <a:prstDash val="solid"/>
          </a:ln>
        </p:spPr>
      </p:sp>
      <p:sp>
        <p:nvSpPr>
          <p:cNvPr id="33" name="Text 31"/>
          <p:cNvSpPr/>
          <p:nvPr/>
        </p:nvSpPr>
        <p:spPr>
          <a:xfrm>
            <a:off x="6446520" y="3694176"/>
            <a:ext cx="5120640" cy="237744"/>
          </a:xfrm>
          <a:prstGeom prst="rect">
            <a:avLst/>
          </a:prstGeom>
          <a:noFill/>
          <a:ln/>
        </p:spPr>
        <p:txBody>
          <a:bodyPr wrap="square" lIns="0" tIns="0" rIns="0" bIns="0" rtlCol="0" anchor="ctr"/>
          <a:lstStyle/>
          <a:p>
            <a:pPr indent="0" marL="0">
              <a:buNone/>
            </a:pPr>
            <a:r>
              <a:rPr lang="en-US" sz="1200" b="1" dirty="0">
                <a:solidFill>
                  <a:srgbClr val="002D72"/>
                </a:solidFill>
                <a:latin typeface="Calibri" pitchFamily="34" charset="0"/>
                <a:ea typeface="Calibri" pitchFamily="34" charset="-122"/>
                <a:cs typeface="Calibri" pitchFamily="34" charset="-120"/>
              </a:rPr>
              <a:t>Three questions to establish at the outset</a:t>
            </a:r>
            <a:endParaRPr lang="en-US" sz="1200" dirty="0"/>
          </a:p>
        </p:txBody>
      </p:sp>
      <p:sp>
        <p:nvSpPr>
          <p:cNvPr id="34" name="Shape 32"/>
          <p:cNvSpPr/>
          <p:nvPr/>
        </p:nvSpPr>
        <p:spPr>
          <a:xfrm>
            <a:off x="6446520" y="4023360"/>
            <a:ext cx="237744" cy="237744"/>
          </a:xfrm>
          <a:prstGeom prst="ellipse">
            <a:avLst/>
          </a:prstGeom>
          <a:solidFill>
            <a:srgbClr val="002D72"/>
          </a:solidFill>
          <a:ln w="12700">
            <a:solidFill>
              <a:srgbClr val="333333"/>
            </a:solidFill>
            <a:prstDash val="solid"/>
          </a:ln>
        </p:spPr>
      </p:sp>
      <p:sp>
        <p:nvSpPr>
          <p:cNvPr id="35" name="Text 33"/>
          <p:cNvSpPr/>
          <p:nvPr/>
        </p:nvSpPr>
        <p:spPr>
          <a:xfrm>
            <a:off x="6446520" y="4023360"/>
            <a:ext cx="237744" cy="237744"/>
          </a:xfrm>
          <a:prstGeom prst="rect">
            <a:avLst/>
          </a:prstGeom>
          <a:noFill/>
          <a:ln/>
        </p:spPr>
        <p:txBody>
          <a:bodyPr wrap="square" lIns="0" tIns="0" rIns="0" bIns="0" rtlCol="0" anchor="ctr"/>
          <a:lstStyle/>
          <a:p>
            <a:pPr algn="ctr" indent="0" marL="0">
              <a:buNone/>
            </a:pPr>
            <a:r>
              <a:rPr lang="en-US" sz="1150" b="1" dirty="0">
                <a:solidFill>
                  <a:srgbClr val="FFFFFF"/>
                </a:solidFill>
                <a:latin typeface="Calibri" pitchFamily="34" charset="0"/>
                <a:ea typeface="Calibri" pitchFamily="34" charset="-122"/>
                <a:cs typeface="Calibri" pitchFamily="34" charset="-120"/>
              </a:rPr>
              <a:t>1</a:t>
            </a:r>
            <a:endParaRPr lang="en-US" sz="1150" dirty="0"/>
          </a:p>
        </p:txBody>
      </p:sp>
      <p:sp>
        <p:nvSpPr>
          <p:cNvPr id="36" name="Text 34"/>
          <p:cNvSpPr/>
          <p:nvPr/>
        </p:nvSpPr>
        <p:spPr>
          <a:xfrm>
            <a:off x="6784848" y="3995928"/>
            <a:ext cx="4800600" cy="365760"/>
          </a:xfrm>
          <a:prstGeom prst="rect">
            <a:avLst/>
          </a:prstGeom>
          <a:noFill/>
          <a:ln/>
        </p:spPr>
        <p:txBody>
          <a:bodyPr wrap="square" lIns="0" tIns="0" rIns="0" bIns="0" rtlCol="0" anchor="t"/>
          <a:lstStyle/>
          <a:p>
            <a:pPr indent="0" marL="0">
              <a:lnSpc>
                <a:spcPts val="1150"/>
              </a:lnSpc>
              <a:buNone/>
            </a:pPr>
            <a:r>
              <a:rPr lang="en-US" sz="930" b="1" dirty="0">
                <a:solidFill>
                  <a:srgbClr val="002D72"/>
                </a:solidFill>
                <a:latin typeface="Calibri" pitchFamily="34" charset="0"/>
                <a:ea typeface="Calibri" pitchFamily="34" charset="-122"/>
                <a:cs typeface="Calibri" pitchFamily="34" charset="-120"/>
              </a:rPr>
              <a:t>Which system does the trader operate throughout the day, and which owns compliance and books and records?</a:t>
            </a:r>
            <a:endParaRPr lang="en-US" sz="930" dirty="0"/>
          </a:p>
        </p:txBody>
      </p:sp>
      <p:sp>
        <p:nvSpPr>
          <p:cNvPr id="37" name="Text 35"/>
          <p:cNvSpPr/>
          <p:nvPr/>
        </p:nvSpPr>
        <p:spPr>
          <a:xfrm>
            <a:off x="6784848" y="4352544"/>
            <a:ext cx="4800600" cy="347472"/>
          </a:xfrm>
          <a:prstGeom prst="rect">
            <a:avLst/>
          </a:prstGeom>
          <a:noFill/>
          <a:ln/>
        </p:spPr>
        <p:txBody>
          <a:bodyPr wrap="square" lIns="0" tIns="0" rIns="0" bIns="0" rtlCol="0" anchor="t"/>
          <a:lstStyle/>
          <a:p>
            <a:pPr indent="0" marL="0">
              <a:lnSpc>
                <a:spcPts val="1080"/>
              </a:lnSpc>
              <a:buNone/>
            </a:pPr>
            <a:r>
              <a:rPr lang="en-US" sz="870" i="1" dirty="0">
                <a:solidFill>
                  <a:srgbClr val="3F5265"/>
                </a:solidFill>
                <a:latin typeface="Calibri" pitchFamily="34" charset="0"/>
                <a:ea typeface="Calibri" pitchFamily="34" charset="-122"/>
                <a:cs typeface="Calibri" pitchFamily="34" charset="-120"/>
              </a:rPr>
              <a:t>Distinguishes the EMS discussion from the OMS discussion and identifies the decision owner.</a:t>
            </a:r>
            <a:endParaRPr lang="en-US" sz="870" dirty="0"/>
          </a:p>
        </p:txBody>
      </p:sp>
      <p:sp>
        <p:nvSpPr>
          <p:cNvPr id="38" name="Shape 36"/>
          <p:cNvSpPr/>
          <p:nvPr/>
        </p:nvSpPr>
        <p:spPr>
          <a:xfrm>
            <a:off x="6446520" y="4754880"/>
            <a:ext cx="237744" cy="237744"/>
          </a:xfrm>
          <a:prstGeom prst="ellipse">
            <a:avLst/>
          </a:prstGeom>
          <a:solidFill>
            <a:srgbClr val="002D72"/>
          </a:solidFill>
          <a:ln w="12700">
            <a:solidFill>
              <a:srgbClr val="333333"/>
            </a:solidFill>
            <a:prstDash val="solid"/>
          </a:ln>
        </p:spPr>
      </p:sp>
      <p:sp>
        <p:nvSpPr>
          <p:cNvPr id="39" name="Text 37"/>
          <p:cNvSpPr/>
          <p:nvPr/>
        </p:nvSpPr>
        <p:spPr>
          <a:xfrm>
            <a:off x="6446520" y="4754880"/>
            <a:ext cx="237744" cy="237744"/>
          </a:xfrm>
          <a:prstGeom prst="rect">
            <a:avLst/>
          </a:prstGeom>
          <a:noFill/>
          <a:ln/>
        </p:spPr>
        <p:txBody>
          <a:bodyPr wrap="square" lIns="0" tIns="0" rIns="0" bIns="0" rtlCol="0" anchor="ctr"/>
          <a:lstStyle/>
          <a:p>
            <a:pPr algn="ctr" indent="0" marL="0">
              <a:buNone/>
            </a:pPr>
            <a:r>
              <a:rPr lang="en-US" sz="1150" b="1" dirty="0">
                <a:solidFill>
                  <a:srgbClr val="FFFFFF"/>
                </a:solidFill>
                <a:latin typeface="Calibri" pitchFamily="34" charset="0"/>
                <a:ea typeface="Calibri" pitchFamily="34" charset="-122"/>
                <a:cs typeface="Calibri" pitchFamily="34" charset="-120"/>
              </a:rPr>
              <a:t>2</a:t>
            </a:r>
            <a:endParaRPr lang="en-US" sz="1150" dirty="0"/>
          </a:p>
        </p:txBody>
      </p:sp>
      <p:sp>
        <p:nvSpPr>
          <p:cNvPr id="40" name="Text 38"/>
          <p:cNvSpPr/>
          <p:nvPr/>
        </p:nvSpPr>
        <p:spPr>
          <a:xfrm>
            <a:off x="6784848" y="4727448"/>
            <a:ext cx="4800600" cy="365760"/>
          </a:xfrm>
          <a:prstGeom prst="rect">
            <a:avLst/>
          </a:prstGeom>
          <a:noFill/>
          <a:ln/>
        </p:spPr>
        <p:txBody>
          <a:bodyPr wrap="square" lIns="0" tIns="0" rIns="0" bIns="0" rtlCol="0" anchor="t"/>
          <a:lstStyle/>
          <a:p>
            <a:pPr indent="0" marL="0">
              <a:lnSpc>
                <a:spcPts val="1150"/>
              </a:lnSpc>
              <a:buNone/>
            </a:pPr>
            <a:r>
              <a:rPr lang="en-US" sz="930" b="1" dirty="0">
                <a:solidFill>
                  <a:srgbClr val="002D72"/>
                </a:solidFill>
                <a:latin typeface="Calibri" pitchFamily="34" charset="0"/>
                <a:ea typeface="Calibri" pitchFamily="34" charset="-122"/>
                <a:cs typeface="Calibri" pitchFamily="34" charset="-120"/>
              </a:rPr>
              <a:t>One EMS or two? If two, how is coverage divided — by asset class, region or desk?</a:t>
            </a:r>
            <a:endParaRPr lang="en-US" sz="930" dirty="0"/>
          </a:p>
        </p:txBody>
      </p:sp>
      <p:sp>
        <p:nvSpPr>
          <p:cNvPr id="41" name="Text 39"/>
          <p:cNvSpPr/>
          <p:nvPr/>
        </p:nvSpPr>
        <p:spPr>
          <a:xfrm>
            <a:off x="6784848" y="5084064"/>
            <a:ext cx="4800600" cy="347472"/>
          </a:xfrm>
          <a:prstGeom prst="rect">
            <a:avLst/>
          </a:prstGeom>
          <a:noFill/>
          <a:ln/>
        </p:spPr>
        <p:txBody>
          <a:bodyPr wrap="square" lIns="0" tIns="0" rIns="0" bIns="0" rtlCol="0" anchor="t"/>
          <a:lstStyle/>
          <a:p>
            <a:pPr indent="0" marL="0">
              <a:lnSpc>
                <a:spcPts val="1080"/>
              </a:lnSpc>
              <a:buNone/>
            </a:pPr>
            <a:r>
              <a:rPr lang="en-US" sz="870" i="1" dirty="0">
                <a:solidFill>
                  <a:srgbClr val="3F5265"/>
                </a:solidFill>
                <a:latin typeface="Calibri" pitchFamily="34" charset="0"/>
                <a:ea typeface="Calibri" pitchFamily="34" charset="-122"/>
                <a:cs typeface="Calibri" pitchFamily="34" charset="-120"/>
              </a:rPr>
              <a:t>55% operate one and 32% two. The second platform typically indicates where a requirement remains unmet.</a:t>
            </a:r>
            <a:endParaRPr lang="en-US" sz="870" dirty="0"/>
          </a:p>
        </p:txBody>
      </p:sp>
      <p:sp>
        <p:nvSpPr>
          <p:cNvPr id="42" name="Shape 40"/>
          <p:cNvSpPr/>
          <p:nvPr/>
        </p:nvSpPr>
        <p:spPr>
          <a:xfrm>
            <a:off x="6446520" y="5486400"/>
            <a:ext cx="237744" cy="237744"/>
          </a:xfrm>
          <a:prstGeom prst="ellipse">
            <a:avLst/>
          </a:prstGeom>
          <a:solidFill>
            <a:srgbClr val="002D72"/>
          </a:solidFill>
          <a:ln w="12700">
            <a:solidFill>
              <a:srgbClr val="333333"/>
            </a:solidFill>
            <a:prstDash val="solid"/>
          </a:ln>
        </p:spPr>
      </p:sp>
      <p:sp>
        <p:nvSpPr>
          <p:cNvPr id="43" name="Text 41"/>
          <p:cNvSpPr/>
          <p:nvPr/>
        </p:nvSpPr>
        <p:spPr>
          <a:xfrm>
            <a:off x="6446520" y="5486400"/>
            <a:ext cx="237744" cy="237744"/>
          </a:xfrm>
          <a:prstGeom prst="rect">
            <a:avLst/>
          </a:prstGeom>
          <a:noFill/>
          <a:ln/>
        </p:spPr>
        <p:txBody>
          <a:bodyPr wrap="square" lIns="0" tIns="0" rIns="0" bIns="0" rtlCol="0" anchor="ctr"/>
          <a:lstStyle/>
          <a:p>
            <a:pPr algn="ctr" indent="0" marL="0">
              <a:buNone/>
            </a:pPr>
            <a:r>
              <a:rPr lang="en-US" sz="1150" b="1" dirty="0">
                <a:solidFill>
                  <a:srgbClr val="FFFFFF"/>
                </a:solidFill>
                <a:latin typeface="Calibri" pitchFamily="34" charset="0"/>
                <a:ea typeface="Calibri" pitchFamily="34" charset="-122"/>
                <a:cs typeface="Calibri" pitchFamily="34" charset="-120"/>
              </a:rPr>
              <a:t>3</a:t>
            </a:r>
            <a:endParaRPr lang="en-US" sz="1150" dirty="0"/>
          </a:p>
        </p:txBody>
      </p:sp>
      <p:sp>
        <p:nvSpPr>
          <p:cNvPr id="44" name="Text 42"/>
          <p:cNvSpPr/>
          <p:nvPr/>
        </p:nvSpPr>
        <p:spPr>
          <a:xfrm>
            <a:off x="6784848" y="5458968"/>
            <a:ext cx="4800600" cy="365760"/>
          </a:xfrm>
          <a:prstGeom prst="rect">
            <a:avLst/>
          </a:prstGeom>
          <a:noFill/>
          <a:ln/>
        </p:spPr>
        <p:txBody>
          <a:bodyPr wrap="square" lIns="0" tIns="0" rIns="0" bIns="0" rtlCol="0" anchor="t"/>
          <a:lstStyle/>
          <a:p>
            <a:pPr indent="0" marL="0">
              <a:lnSpc>
                <a:spcPts val="1150"/>
              </a:lnSpc>
              <a:buNone/>
            </a:pPr>
            <a:r>
              <a:rPr lang="en-US" sz="930" b="1" dirty="0">
                <a:solidFill>
                  <a:srgbClr val="002D72"/>
                </a:solidFill>
                <a:latin typeface="Calibri" pitchFamily="34" charset="0"/>
                <a:ea typeface="Calibri" pitchFamily="34" charset="-122"/>
                <a:cs typeface="Calibri" pitchFamily="34" charset="-120"/>
              </a:rPr>
              <a:t>Which asset classes route through the system today, and which remain on voice or a separate platform?</a:t>
            </a:r>
            <a:endParaRPr lang="en-US" sz="930" dirty="0"/>
          </a:p>
        </p:txBody>
      </p:sp>
      <p:sp>
        <p:nvSpPr>
          <p:cNvPr id="45" name="Text 43"/>
          <p:cNvSpPr/>
          <p:nvPr/>
        </p:nvSpPr>
        <p:spPr>
          <a:xfrm>
            <a:off x="6784848" y="5815584"/>
            <a:ext cx="4800600" cy="347472"/>
          </a:xfrm>
          <a:prstGeom prst="rect">
            <a:avLst/>
          </a:prstGeom>
          <a:noFill/>
          <a:ln/>
        </p:spPr>
        <p:txBody>
          <a:bodyPr wrap="square" lIns="0" tIns="0" rIns="0" bIns="0" rtlCol="0" anchor="t"/>
          <a:lstStyle/>
          <a:p>
            <a:pPr indent="0" marL="0">
              <a:lnSpc>
                <a:spcPts val="1080"/>
              </a:lnSpc>
              <a:buNone/>
            </a:pPr>
            <a:r>
              <a:rPr lang="en-US" sz="870" i="1" dirty="0">
                <a:solidFill>
                  <a:srgbClr val="3F5265"/>
                </a:solidFill>
                <a:latin typeface="Calibri" pitchFamily="34" charset="0"/>
                <a:ea typeface="Calibri" pitchFamily="34" charset="-122"/>
                <a:cs typeface="Calibri" pitchFamily="34" charset="-120"/>
              </a:rPr>
              <a:t>Approximately half of desks do not yet trade fixed income through their EMS.</a:t>
            </a:r>
            <a:endParaRPr lang="en-US" sz="870" dirty="0"/>
          </a:p>
        </p:txBody>
      </p:sp>
      <p:sp>
        <p:nvSpPr>
          <p:cNvPr id="46" name="Text 44"/>
          <p:cNvSpPr/>
          <p:nvPr/>
        </p:nvSpPr>
        <p:spPr>
          <a:xfrm>
            <a:off x="457200" y="6291072"/>
            <a:ext cx="11274552" cy="512064"/>
          </a:xfrm>
          <a:prstGeom prst="rect">
            <a:avLst/>
          </a:prstGeom>
          <a:noFill/>
          <a:ln/>
        </p:spPr>
        <p:txBody>
          <a:bodyPr wrap="square" lIns="0" tIns="0" rIns="0" bIns="0" rtlCol="0" anchor="t"/>
          <a:lstStyle/>
          <a:p>
            <a:pPr indent="0" marL="0">
              <a:lnSpc>
                <a:spcPts val="1060"/>
              </a:lnSpc>
              <a:buNone/>
            </a:pPr>
            <a:r>
              <a:rPr lang="en-US" sz="830" dirty="0">
                <a:solidFill>
                  <a:srgbClr val="7A8A99"/>
                </a:solidFill>
                <a:latin typeface="Calibri" pitchFamily="34" charset="0"/>
                <a:ea typeface="Calibri" pitchFamily="34" charset="-122"/>
                <a:cs typeface="Calibri" pitchFamily="34" charset="-120"/>
              </a:rPr>
              <a:t>Source: Crisil Coalition Greenwich, “U.S. Equities OMS and EMS 2025: The Buy-Side View” (August 2025; 40 North American buy-side equity traders interviewed July–September 2024). Platform-count and asset-class data from The TRADE EMS Survey 2025.</a:t>
            </a:r>
            <a:endParaRPr lang="en-US" sz="83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457200" y="237744"/>
            <a:ext cx="11274552" cy="219456"/>
          </a:xfrm>
          <a:prstGeom prst="rect">
            <a:avLst/>
          </a:prstGeom>
          <a:noFill/>
          <a:ln/>
        </p:spPr>
        <p:txBody>
          <a:bodyPr wrap="square" lIns="0" tIns="0" rIns="0" bIns="0" rtlCol="0" anchor="ctr"/>
          <a:lstStyle/>
          <a:p>
            <a:pPr indent="0" marL="0">
              <a:buNone/>
            </a:pPr>
            <a:r>
              <a:rPr lang="en-US" sz="1000" b="1" spc="140" kern="0" dirty="0">
                <a:solidFill>
                  <a:srgbClr val="056DAE"/>
                </a:solidFill>
                <a:latin typeface="Calibri" pitchFamily="34" charset="0"/>
                <a:ea typeface="Calibri" pitchFamily="34" charset="-122"/>
                <a:cs typeface="Calibri" pitchFamily="34" charset="-120"/>
              </a:rPr>
              <a:t>DELIVERABLE 1</a:t>
            </a:r>
            <a:endParaRPr lang="en-US" sz="1000" dirty="0"/>
          </a:p>
        </p:txBody>
      </p:sp>
      <p:sp>
        <p:nvSpPr>
          <p:cNvPr id="3" name="Text 1"/>
          <p:cNvSpPr/>
          <p:nvPr/>
        </p:nvSpPr>
        <p:spPr>
          <a:xfrm>
            <a:off x="457200" y="457200"/>
            <a:ext cx="11274552" cy="512064"/>
          </a:xfrm>
          <a:prstGeom prst="rect">
            <a:avLst/>
          </a:prstGeom>
          <a:noFill/>
          <a:ln/>
        </p:spPr>
        <p:txBody>
          <a:bodyPr wrap="square" lIns="0" tIns="0" rIns="0" bIns="0" rtlCol="0" anchor="t"/>
          <a:lstStyle/>
          <a:p>
            <a:pPr indent="0" marL="0">
              <a:buNone/>
            </a:pPr>
            <a:r>
              <a:rPr lang="en-US" sz="2500" b="1" dirty="0">
                <a:solidFill>
                  <a:srgbClr val="002D72"/>
                </a:solidFill>
                <a:latin typeface="Cambria" pitchFamily="34" charset="0"/>
                <a:ea typeface="Cambria" pitchFamily="34" charset="-122"/>
                <a:cs typeface="Cambria" pitchFamily="34" charset="-120"/>
              </a:rPr>
              <a:t>Vendor connectivity universe and certification register</a:t>
            </a:r>
            <a:endParaRPr lang="en-US" sz="2500" dirty="0"/>
          </a:p>
        </p:txBody>
      </p:sp>
      <p:sp>
        <p:nvSpPr>
          <p:cNvPr id="4" name="Text 2"/>
          <p:cNvSpPr/>
          <p:nvPr/>
        </p:nvSpPr>
        <p:spPr>
          <a:xfrm>
            <a:off x="457200" y="896112"/>
            <a:ext cx="11274552" cy="347472"/>
          </a:xfrm>
          <a:prstGeom prst="rect">
            <a:avLst/>
          </a:prstGeom>
          <a:noFill/>
          <a:ln/>
        </p:spPr>
        <p:txBody>
          <a:bodyPr wrap="square" lIns="0" tIns="0" rIns="0" bIns="0" rtlCol="0" anchor="ctr"/>
          <a:lstStyle/>
          <a:p>
            <a:pPr indent="0" marL="0">
              <a:lnSpc>
                <a:spcPts val="1300"/>
              </a:lnSpc>
              <a:buNone/>
            </a:pPr>
            <a:r>
              <a:rPr lang="en-US" sz="1000" dirty="0">
                <a:solidFill>
                  <a:srgbClr val="3F5265"/>
                </a:solidFill>
                <a:latin typeface="Calibri" pitchFamily="34" charset="0"/>
                <a:ea typeface="Calibri" pitchFamily="34" charset="-122"/>
                <a:cs typeface="Calibri" pitchFamily="34" charset="-120"/>
              </a:rPr>
              <a:t>The vendor set a global broker is expected to support, grouped by connectivity model. Citi's certification status is internal and is not published in this document — the final column is a register for Technology to complete.</a:t>
            </a:r>
            <a:endParaRPr lang="en-US" sz="1000" dirty="0"/>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457200" y="1261872"/>
          <a:ext cx="11274552" cy="914400"/>
        </p:xfrm>
        <a:graphic>
          <a:graphicData uri="http://schemas.openxmlformats.org/drawingml/2006/table">
            <a:tbl>
              <a:tblPr/>
              <a:tblGrid>
                <a:gridCol w="1572768"/>
                <a:gridCol w="1417320"/>
                <a:gridCol w="2121408"/>
                <a:gridCol w="2816352"/>
                <a:gridCol w="2084832"/>
                <a:gridCol w="1261872"/>
              </a:tblGrid>
              <a:tr h="228600">
                <a:tc>
                  <a:txBody>
                    <a:bodyPr/>
                    <a:lstStyle/>
                    <a:p>
                      <a:pPr indent="0" marL="0">
                        <a:buNone/>
                      </a:pPr>
                      <a:r>
                        <a:rPr lang="en-US" sz="760" b="1" dirty="0">
                          <a:solidFill>
                            <a:srgbClr val="FFFFFF"/>
                          </a:solidFill>
                          <a:latin typeface="Calibri" pitchFamily="34" charset="0"/>
                          <a:ea typeface="Calibri" pitchFamily="34" charset="-122"/>
                          <a:cs typeface="Calibri" pitchFamily="34" charset="-120"/>
                        </a:rPr>
                        <a:t>Group</a:t>
                      </a:r>
                      <a:endParaRPr lang="en-US" sz="760" dirty="0">
                        <a:latin typeface="Calibri" charset="0"/>
                        <a:ea typeface="Calibri" charset="0"/>
                        <a:cs typeface="Calibri" charset="0"/>
                      </a:endParaRPr>
                    </a:p>
                  </a:txBody>
                  <a:tcPr marL="36576" marR="36576" marT="36576" marB="36576" anchor="ctr">
                    <a:lnL w="6350" cap="flat" cmpd="sng" algn="ctr">
                      <a:solidFill>
                        <a:srgbClr val="D6E4F0"/>
                      </a:solidFill>
                      <a:prstDash val="solid"/>
                      <a:round/>
                      <a:headEnd type="none" w="med" len="med"/>
                      <a:tailEnd type="none" w="med" len="med"/>
                    </a:lnL>
                    <a:lnR w="6350" cap="flat" cmpd="sng" algn="ctr">
                      <a:solidFill>
                        <a:srgbClr val="D6E4F0"/>
                      </a:solidFill>
                      <a:prstDash val="solid"/>
                      <a:round/>
                      <a:headEnd type="none" w="med" len="med"/>
                      <a:tailEnd type="none" w="med" len="med"/>
                    </a:lnR>
                    <a:lnT w="6350" cap="flat" cmpd="sng" algn="ctr">
                      <a:solidFill>
                        <a:srgbClr val="D6E4F0"/>
                      </a:solidFill>
                      <a:prstDash val="solid"/>
                      <a:round/>
                      <a:headEnd type="none" w="med" len="med"/>
                      <a:tailEnd type="none" w="med" len="med"/>
                    </a:lnT>
                    <a:lnB w="6350" cap="flat" cmpd="sng" algn="ctr">
                      <a:solidFill>
                        <a:srgbClr val="D6E4F0"/>
                      </a:solidFill>
                      <a:prstDash val="solid"/>
                      <a:round/>
                      <a:headEnd type="none" w="med" len="med"/>
                      <a:tailEnd type="none" w="med" len="med"/>
                    </a:lnB>
                    <a:solidFill>
                      <a:srgbClr val="002D72"/>
                    </a:solidFill>
                  </a:tcPr>
                </a:tc>
                <a:tc>
                  <a:txBody>
                    <a:bodyPr/>
                    <a:lstStyle/>
                    <a:p>
                      <a:pPr indent="0" marL="0">
                        <a:buNone/>
                      </a:pPr>
                      <a:r>
                        <a:rPr lang="en-US" sz="760" b="1" dirty="0">
                          <a:solidFill>
                            <a:srgbClr val="FFFFFF"/>
                          </a:solidFill>
                          <a:latin typeface="Calibri" pitchFamily="34" charset="0"/>
                          <a:ea typeface="Calibri" pitchFamily="34" charset="-122"/>
                          <a:cs typeface="Calibri" pitchFamily="34" charset="-120"/>
                        </a:rPr>
                        <a:t>Vendor</a:t>
                      </a:r>
                      <a:endParaRPr lang="en-US" sz="760" dirty="0">
                        <a:latin typeface="Calibri" charset="0"/>
                        <a:ea typeface="Calibri" charset="0"/>
                        <a:cs typeface="Calibri" charset="0"/>
                      </a:endParaRPr>
                    </a:p>
                  </a:txBody>
                  <a:tcPr marL="36576" marR="36576" marT="36576" marB="36576" anchor="ctr">
                    <a:lnL w="6350" cap="flat" cmpd="sng" algn="ctr">
                      <a:solidFill>
                        <a:srgbClr val="D6E4F0"/>
                      </a:solidFill>
                      <a:prstDash val="solid"/>
                      <a:round/>
                      <a:headEnd type="none" w="med" len="med"/>
                      <a:tailEnd type="none" w="med" len="med"/>
                    </a:lnL>
                    <a:lnR w="6350" cap="flat" cmpd="sng" algn="ctr">
                      <a:solidFill>
                        <a:srgbClr val="D6E4F0"/>
                      </a:solidFill>
                      <a:prstDash val="solid"/>
                      <a:round/>
                      <a:headEnd type="none" w="med" len="med"/>
                      <a:tailEnd type="none" w="med" len="med"/>
                    </a:lnR>
                    <a:lnT w="6350" cap="flat" cmpd="sng" algn="ctr">
                      <a:solidFill>
                        <a:srgbClr val="D6E4F0"/>
                      </a:solidFill>
                      <a:prstDash val="solid"/>
                      <a:round/>
                      <a:headEnd type="none" w="med" len="med"/>
                      <a:tailEnd type="none" w="med" len="med"/>
                    </a:lnT>
                    <a:lnB w="6350" cap="flat" cmpd="sng" algn="ctr">
                      <a:solidFill>
                        <a:srgbClr val="D6E4F0"/>
                      </a:solidFill>
                      <a:prstDash val="solid"/>
                      <a:round/>
                      <a:headEnd type="none" w="med" len="med"/>
                      <a:tailEnd type="none" w="med" len="med"/>
                    </a:lnB>
                    <a:solidFill>
                      <a:srgbClr val="002D72"/>
                    </a:solidFill>
                  </a:tcPr>
                </a:tc>
                <a:tc>
                  <a:txBody>
                    <a:bodyPr/>
                    <a:lstStyle/>
                    <a:p>
                      <a:pPr indent="0" marL="0">
                        <a:buNone/>
                      </a:pPr>
                      <a:r>
                        <a:rPr lang="en-US" sz="760" b="1" dirty="0">
                          <a:solidFill>
                            <a:srgbClr val="FFFFFF"/>
                          </a:solidFill>
                          <a:latin typeface="Calibri" pitchFamily="34" charset="0"/>
                          <a:ea typeface="Calibri" pitchFamily="34" charset="-122"/>
                          <a:cs typeface="Calibri" pitchFamily="34" charset="-120"/>
                        </a:rPr>
                        <a:t>Platform</a:t>
                      </a:r>
                      <a:endParaRPr lang="en-US" sz="760" dirty="0">
                        <a:latin typeface="Calibri" charset="0"/>
                        <a:ea typeface="Calibri" charset="0"/>
                        <a:cs typeface="Calibri" charset="0"/>
                      </a:endParaRPr>
                    </a:p>
                  </a:txBody>
                  <a:tcPr marL="36576" marR="36576" marT="36576" marB="36576" anchor="ctr">
                    <a:lnL w="6350" cap="flat" cmpd="sng" algn="ctr">
                      <a:solidFill>
                        <a:srgbClr val="D6E4F0"/>
                      </a:solidFill>
                      <a:prstDash val="solid"/>
                      <a:round/>
                      <a:headEnd type="none" w="med" len="med"/>
                      <a:tailEnd type="none" w="med" len="med"/>
                    </a:lnL>
                    <a:lnR w="6350" cap="flat" cmpd="sng" algn="ctr">
                      <a:solidFill>
                        <a:srgbClr val="D6E4F0"/>
                      </a:solidFill>
                      <a:prstDash val="solid"/>
                      <a:round/>
                      <a:headEnd type="none" w="med" len="med"/>
                      <a:tailEnd type="none" w="med" len="med"/>
                    </a:lnR>
                    <a:lnT w="6350" cap="flat" cmpd="sng" algn="ctr">
                      <a:solidFill>
                        <a:srgbClr val="D6E4F0"/>
                      </a:solidFill>
                      <a:prstDash val="solid"/>
                      <a:round/>
                      <a:headEnd type="none" w="med" len="med"/>
                      <a:tailEnd type="none" w="med" len="med"/>
                    </a:lnT>
                    <a:lnB w="6350" cap="flat" cmpd="sng" algn="ctr">
                      <a:solidFill>
                        <a:srgbClr val="D6E4F0"/>
                      </a:solidFill>
                      <a:prstDash val="solid"/>
                      <a:round/>
                      <a:headEnd type="none" w="med" len="med"/>
                      <a:tailEnd type="none" w="med" len="med"/>
                    </a:lnB>
                    <a:solidFill>
                      <a:srgbClr val="002D72"/>
                    </a:solidFill>
                  </a:tcPr>
                </a:tc>
                <a:tc>
                  <a:txBody>
                    <a:bodyPr/>
                    <a:lstStyle/>
                    <a:p>
                      <a:pPr indent="0" marL="0">
                        <a:buNone/>
                      </a:pPr>
                      <a:r>
                        <a:rPr lang="en-US" sz="760" b="1" dirty="0">
                          <a:solidFill>
                            <a:srgbClr val="FFFFFF"/>
                          </a:solidFill>
                          <a:latin typeface="Calibri" pitchFamily="34" charset="0"/>
                          <a:ea typeface="Calibri" pitchFamily="34" charset="-122"/>
                          <a:cs typeface="Calibri" pitchFamily="34" charset="-120"/>
                        </a:rPr>
                        <a:t>Connectivity model</a:t>
                      </a:r>
                      <a:endParaRPr lang="en-US" sz="760" dirty="0">
                        <a:latin typeface="Calibri" charset="0"/>
                        <a:ea typeface="Calibri" charset="0"/>
                        <a:cs typeface="Calibri" charset="0"/>
                      </a:endParaRPr>
                    </a:p>
                  </a:txBody>
                  <a:tcPr marL="36576" marR="36576" marT="36576" marB="36576" anchor="ctr">
                    <a:lnL w="6350" cap="flat" cmpd="sng" algn="ctr">
                      <a:solidFill>
                        <a:srgbClr val="D6E4F0"/>
                      </a:solidFill>
                      <a:prstDash val="solid"/>
                      <a:round/>
                      <a:headEnd type="none" w="med" len="med"/>
                      <a:tailEnd type="none" w="med" len="med"/>
                    </a:lnL>
                    <a:lnR w="6350" cap="flat" cmpd="sng" algn="ctr">
                      <a:solidFill>
                        <a:srgbClr val="D6E4F0"/>
                      </a:solidFill>
                      <a:prstDash val="solid"/>
                      <a:round/>
                      <a:headEnd type="none" w="med" len="med"/>
                      <a:tailEnd type="none" w="med" len="med"/>
                    </a:lnR>
                    <a:lnT w="6350" cap="flat" cmpd="sng" algn="ctr">
                      <a:solidFill>
                        <a:srgbClr val="D6E4F0"/>
                      </a:solidFill>
                      <a:prstDash val="solid"/>
                      <a:round/>
                      <a:headEnd type="none" w="med" len="med"/>
                      <a:tailEnd type="none" w="med" len="med"/>
                    </a:lnT>
                    <a:lnB w="6350" cap="flat" cmpd="sng" algn="ctr">
                      <a:solidFill>
                        <a:srgbClr val="D6E4F0"/>
                      </a:solidFill>
                      <a:prstDash val="solid"/>
                      <a:round/>
                      <a:headEnd type="none" w="med" len="med"/>
                      <a:tailEnd type="none" w="med" len="med"/>
                    </a:lnB>
                    <a:solidFill>
                      <a:srgbClr val="002D72"/>
                    </a:solidFill>
                  </a:tcPr>
                </a:tc>
                <a:tc>
                  <a:txBody>
                    <a:bodyPr/>
                    <a:lstStyle/>
                    <a:p>
                      <a:pPr indent="0" marL="0">
                        <a:buNone/>
                      </a:pPr>
                      <a:r>
                        <a:rPr lang="en-US" sz="760" b="1" dirty="0">
                          <a:solidFill>
                            <a:srgbClr val="FFFFFF"/>
                          </a:solidFill>
                          <a:latin typeface="Calibri" pitchFamily="34" charset="0"/>
                          <a:ea typeface="Calibri" pitchFamily="34" charset="-122"/>
                          <a:cs typeface="Calibri" pitchFamily="34" charset="-120"/>
                        </a:rPr>
                        <a:t>Primary asset classes</a:t>
                      </a:r>
                      <a:endParaRPr lang="en-US" sz="760" dirty="0">
                        <a:latin typeface="Calibri" charset="0"/>
                        <a:ea typeface="Calibri" charset="0"/>
                        <a:cs typeface="Calibri" charset="0"/>
                      </a:endParaRPr>
                    </a:p>
                  </a:txBody>
                  <a:tcPr marL="36576" marR="36576" marT="36576" marB="36576" anchor="ctr">
                    <a:lnL w="6350" cap="flat" cmpd="sng" algn="ctr">
                      <a:solidFill>
                        <a:srgbClr val="D6E4F0"/>
                      </a:solidFill>
                      <a:prstDash val="solid"/>
                      <a:round/>
                      <a:headEnd type="none" w="med" len="med"/>
                      <a:tailEnd type="none" w="med" len="med"/>
                    </a:lnL>
                    <a:lnR w="6350" cap="flat" cmpd="sng" algn="ctr">
                      <a:solidFill>
                        <a:srgbClr val="D6E4F0"/>
                      </a:solidFill>
                      <a:prstDash val="solid"/>
                      <a:round/>
                      <a:headEnd type="none" w="med" len="med"/>
                      <a:tailEnd type="none" w="med" len="med"/>
                    </a:lnR>
                    <a:lnT w="6350" cap="flat" cmpd="sng" algn="ctr">
                      <a:solidFill>
                        <a:srgbClr val="D6E4F0"/>
                      </a:solidFill>
                      <a:prstDash val="solid"/>
                      <a:round/>
                      <a:headEnd type="none" w="med" len="med"/>
                      <a:tailEnd type="none" w="med" len="med"/>
                    </a:lnT>
                    <a:lnB w="6350" cap="flat" cmpd="sng" algn="ctr">
                      <a:solidFill>
                        <a:srgbClr val="D6E4F0"/>
                      </a:solidFill>
                      <a:prstDash val="solid"/>
                      <a:round/>
                      <a:headEnd type="none" w="med" len="med"/>
                      <a:tailEnd type="none" w="med" len="med"/>
                    </a:lnB>
                    <a:solidFill>
                      <a:srgbClr val="002D72"/>
                    </a:solidFill>
                  </a:tcPr>
                </a:tc>
                <a:tc>
                  <a:txBody>
                    <a:bodyPr/>
                    <a:lstStyle/>
                    <a:p>
                      <a:pPr indent="0" marL="0">
                        <a:buNone/>
                      </a:pPr>
                      <a:r>
                        <a:rPr lang="en-US" sz="760" b="1" dirty="0">
                          <a:solidFill>
                            <a:srgbClr val="FFFFFF"/>
                          </a:solidFill>
                          <a:latin typeface="Calibri" pitchFamily="34" charset="0"/>
                          <a:ea typeface="Calibri" pitchFamily="34" charset="-122"/>
                          <a:cs typeface="Calibri" pitchFamily="34" charset="-120"/>
                        </a:rPr>
                        <a:t>Citi status</a:t>
                      </a:r>
                      <a:endParaRPr lang="en-US" sz="760" dirty="0">
                        <a:latin typeface="Calibri" charset="0"/>
                        <a:ea typeface="Calibri" charset="0"/>
                        <a:cs typeface="Calibri" charset="0"/>
                      </a:endParaRPr>
                    </a:p>
                  </a:txBody>
                  <a:tcPr marL="36576" marR="36576" marT="36576" marB="36576" anchor="ctr">
                    <a:lnL w="6350" cap="flat" cmpd="sng" algn="ctr">
                      <a:solidFill>
                        <a:srgbClr val="D6E4F0"/>
                      </a:solidFill>
                      <a:prstDash val="solid"/>
                      <a:round/>
                      <a:headEnd type="none" w="med" len="med"/>
                      <a:tailEnd type="none" w="med" len="med"/>
                    </a:lnL>
                    <a:lnR w="6350" cap="flat" cmpd="sng" algn="ctr">
                      <a:solidFill>
                        <a:srgbClr val="D6E4F0"/>
                      </a:solidFill>
                      <a:prstDash val="solid"/>
                      <a:round/>
                      <a:headEnd type="none" w="med" len="med"/>
                      <a:tailEnd type="none" w="med" len="med"/>
                    </a:lnR>
                    <a:lnT w="6350" cap="flat" cmpd="sng" algn="ctr">
                      <a:solidFill>
                        <a:srgbClr val="D6E4F0"/>
                      </a:solidFill>
                      <a:prstDash val="solid"/>
                      <a:round/>
                      <a:headEnd type="none" w="med" len="med"/>
                      <a:tailEnd type="none" w="med" len="med"/>
                    </a:lnT>
                    <a:lnB w="6350" cap="flat" cmpd="sng" algn="ctr">
                      <a:solidFill>
                        <a:srgbClr val="D6E4F0"/>
                      </a:solidFill>
                      <a:prstDash val="solid"/>
                      <a:round/>
                      <a:headEnd type="none" w="med" len="med"/>
                      <a:tailEnd type="none" w="med" len="med"/>
                    </a:lnB>
                    <a:solidFill>
                      <a:srgbClr val="002D72"/>
                    </a:solidFill>
                  </a:tcPr>
                </a:tc>
              </a:tr>
              <a:tr h="228600">
                <a:tc>
                  <a:txBody>
                    <a:bodyPr/>
                    <a:lstStyle/>
                    <a:p>
                      <a:pPr indent="0" marL="0">
                        <a:buNone/>
                      </a:pPr>
                      <a:r>
                        <a:rPr lang="en-US" sz="700" b="1" dirty="0">
                          <a:solidFill>
                            <a:srgbClr val="056DAE"/>
                          </a:solidFill>
                          <a:latin typeface="Calibri" pitchFamily="34" charset="0"/>
                          <a:ea typeface="Calibri" pitchFamily="34" charset="-122"/>
                          <a:cs typeface="Calibri" pitchFamily="34" charset="-120"/>
                        </a:rPr>
                        <a:t>A. Broker-neutral EMS</a:t>
                      </a:r>
                      <a:endParaRPr lang="en-US" sz="700" dirty="0">
                        <a:latin typeface="Calibri" charset="0"/>
                        <a:ea typeface="Calibri" charset="0"/>
                        <a:cs typeface="Calibri" charset="0"/>
                      </a:endParaRPr>
                    </a:p>
                  </a:txBody>
                  <a:tcPr marL="36576" marR="36576" marT="36576" marB="36576" anchor="ctr">
                    <a:lnL w="6350" cap="flat" cmpd="sng" algn="ctr">
                      <a:solidFill>
                        <a:srgbClr val="D6E4F0"/>
                      </a:solidFill>
                      <a:prstDash val="solid"/>
                      <a:round/>
                      <a:headEnd type="none" w="med" len="med"/>
                      <a:tailEnd type="none" w="med" len="med"/>
                    </a:lnL>
                    <a:lnR w="6350" cap="flat" cmpd="sng" algn="ctr">
                      <a:solidFill>
                        <a:srgbClr val="D6E4F0"/>
                      </a:solidFill>
                      <a:prstDash val="solid"/>
                      <a:round/>
                      <a:headEnd type="none" w="med" len="med"/>
                      <a:tailEnd type="none" w="med" len="med"/>
                    </a:lnR>
                    <a:lnT w="6350" cap="flat" cmpd="sng" algn="ctr">
                      <a:solidFill>
                        <a:srgbClr val="D6E4F0"/>
                      </a:solidFill>
                      <a:prstDash val="solid"/>
                      <a:round/>
                      <a:headEnd type="none" w="med" len="med"/>
                      <a:tailEnd type="none" w="med" len="med"/>
                    </a:lnT>
                    <a:lnB w="6350" cap="flat" cmpd="sng" algn="ctr">
                      <a:solidFill>
                        <a:srgbClr val="D6E4F0"/>
                      </a:solidFill>
                      <a:prstDash val="solid"/>
                      <a:round/>
                      <a:headEnd type="none" w="med" len="med"/>
                      <a:tailEnd type="none" w="med" len="med"/>
                    </a:lnB>
                    <a:solidFill>
                      <a:srgbClr val="EAF1F8"/>
                    </a:solidFill>
                  </a:tcPr>
                </a:tc>
                <a:tc>
                  <a:txBody>
                    <a:bodyPr/>
                    <a:lstStyle/>
                    <a:p>
                      <a:pPr indent="0" marL="0">
                        <a:buNone/>
                      </a:pPr>
                      <a:r>
                        <a:rPr lang="en-US" sz="700" b="1" dirty="0">
                          <a:solidFill>
                            <a:srgbClr val="002D72"/>
                          </a:solidFill>
                          <a:latin typeface="Calibri" pitchFamily="34" charset="0"/>
                          <a:ea typeface="Calibri" pitchFamily="34" charset="-122"/>
                          <a:cs typeface="Calibri" pitchFamily="34" charset="-120"/>
                        </a:rPr>
                        <a:t>Bloomberg</a:t>
                      </a:r>
                      <a:endParaRPr lang="en-US" sz="700" dirty="0">
                        <a:latin typeface="Calibri" charset="0"/>
                        <a:ea typeface="Calibri" charset="0"/>
                        <a:cs typeface="Calibri" charset="0"/>
                      </a:endParaRPr>
                    </a:p>
                  </a:txBody>
                  <a:tcPr marL="36576" marR="36576" marT="36576" marB="36576" anchor="ctr">
                    <a:lnL w="6350" cap="flat" cmpd="sng" algn="ctr">
                      <a:solidFill>
                        <a:srgbClr val="D6E4F0"/>
                      </a:solidFill>
                      <a:prstDash val="solid"/>
                      <a:round/>
                      <a:headEnd type="none" w="med" len="med"/>
                      <a:tailEnd type="none" w="med" len="med"/>
                    </a:lnL>
                    <a:lnR w="6350" cap="flat" cmpd="sng" algn="ctr">
                      <a:solidFill>
                        <a:srgbClr val="D6E4F0"/>
                      </a:solidFill>
                      <a:prstDash val="solid"/>
                      <a:round/>
                      <a:headEnd type="none" w="med" len="med"/>
                      <a:tailEnd type="none" w="med" len="med"/>
                    </a:lnR>
                    <a:lnT w="6350" cap="flat" cmpd="sng" algn="ctr">
                      <a:solidFill>
                        <a:srgbClr val="D6E4F0"/>
                      </a:solidFill>
                      <a:prstDash val="solid"/>
                      <a:round/>
                      <a:headEnd type="none" w="med" len="med"/>
                      <a:tailEnd type="none" w="med" len="med"/>
                    </a:lnT>
                    <a:lnB w="6350" cap="flat" cmpd="sng" algn="ctr">
                      <a:solidFill>
                        <a:srgbClr val="D6E4F0"/>
                      </a:solidFill>
                      <a:prstDash val="solid"/>
                      <a:round/>
                      <a:headEnd type="none" w="med" len="med"/>
                      <a:tailEnd type="none" w="med" len="med"/>
                    </a:lnB>
                    <a:solidFill>
                      <a:srgbClr val="EAF1F8"/>
                    </a:solidFill>
                  </a:tcPr>
                </a:tc>
                <a:tc>
                  <a:txBody>
                    <a:bodyPr/>
                    <a:lstStyle/>
                    <a:p>
                      <a:pPr indent="0" marL="0">
                        <a:buNone/>
                      </a:pPr>
                      <a:r>
                        <a:rPr lang="en-US" sz="700" dirty="0">
                          <a:solidFill>
                            <a:srgbClr val="3F5265"/>
                          </a:solidFill>
                          <a:latin typeface="Calibri" pitchFamily="34" charset="0"/>
                          <a:ea typeface="Calibri" pitchFamily="34" charset="-122"/>
                          <a:cs typeface="Calibri" pitchFamily="34" charset="-120"/>
                        </a:rPr>
                        <a:t>EMSX, TSOX, FXEM</a:t>
                      </a:r>
                      <a:endParaRPr lang="en-US" sz="700" dirty="0">
                        <a:latin typeface="Calibri" charset="0"/>
                        <a:ea typeface="Calibri" charset="0"/>
                        <a:cs typeface="Calibri" charset="0"/>
                      </a:endParaRPr>
                    </a:p>
                  </a:txBody>
                  <a:tcPr marL="36576" marR="36576" marT="36576" marB="36576" anchor="ctr">
                    <a:lnL w="6350" cap="flat" cmpd="sng" algn="ctr">
                      <a:solidFill>
                        <a:srgbClr val="D6E4F0"/>
                      </a:solidFill>
                      <a:prstDash val="solid"/>
                      <a:round/>
                      <a:headEnd type="none" w="med" len="med"/>
                      <a:tailEnd type="none" w="med" len="med"/>
                    </a:lnL>
                    <a:lnR w="6350" cap="flat" cmpd="sng" algn="ctr">
                      <a:solidFill>
                        <a:srgbClr val="D6E4F0"/>
                      </a:solidFill>
                      <a:prstDash val="solid"/>
                      <a:round/>
                      <a:headEnd type="none" w="med" len="med"/>
                      <a:tailEnd type="none" w="med" len="med"/>
                    </a:lnR>
                    <a:lnT w="6350" cap="flat" cmpd="sng" algn="ctr">
                      <a:solidFill>
                        <a:srgbClr val="D6E4F0"/>
                      </a:solidFill>
                      <a:prstDash val="solid"/>
                      <a:round/>
                      <a:headEnd type="none" w="med" len="med"/>
                      <a:tailEnd type="none" w="med" len="med"/>
                    </a:lnT>
                    <a:lnB w="6350" cap="flat" cmpd="sng" algn="ctr">
                      <a:solidFill>
                        <a:srgbClr val="D6E4F0"/>
                      </a:solidFill>
                      <a:prstDash val="solid"/>
                      <a:round/>
                      <a:headEnd type="none" w="med" len="med"/>
                      <a:tailEnd type="none" w="med" len="med"/>
                    </a:lnB>
                    <a:solidFill>
                      <a:srgbClr val="EAF1F8"/>
                    </a:solidFill>
                  </a:tcPr>
                </a:tc>
                <a:tc>
                  <a:txBody>
                    <a:bodyPr/>
                    <a:lstStyle/>
                    <a:p>
                      <a:pPr indent="0" marL="0">
                        <a:buNone/>
                      </a:pPr>
                      <a:r>
                        <a:rPr lang="en-US" sz="700" dirty="0">
                          <a:solidFill>
                            <a:srgbClr val="3F5265"/>
                          </a:solidFill>
                          <a:latin typeface="Calibri" pitchFamily="34" charset="0"/>
                          <a:ea typeface="Calibri" pitchFamily="34" charset="-122"/>
                          <a:cs typeface="Calibri" pitchFamily="34" charset="-120"/>
                        </a:rPr>
                        <a:t>FIX certification into the EMSX broker network</a:t>
                      </a:r>
                      <a:endParaRPr lang="en-US" sz="700" dirty="0">
                        <a:latin typeface="Calibri" charset="0"/>
                        <a:ea typeface="Calibri" charset="0"/>
                        <a:cs typeface="Calibri" charset="0"/>
                      </a:endParaRPr>
                    </a:p>
                  </a:txBody>
                  <a:tcPr marL="36576" marR="36576" marT="36576" marB="36576" anchor="ctr">
                    <a:lnL w="6350" cap="flat" cmpd="sng" algn="ctr">
                      <a:solidFill>
                        <a:srgbClr val="D6E4F0"/>
                      </a:solidFill>
                      <a:prstDash val="solid"/>
                      <a:round/>
                      <a:headEnd type="none" w="med" len="med"/>
                      <a:tailEnd type="none" w="med" len="med"/>
                    </a:lnL>
                    <a:lnR w="6350" cap="flat" cmpd="sng" algn="ctr">
                      <a:solidFill>
                        <a:srgbClr val="D6E4F0"/>
                      </a:solidFill>
                      <a:prstDash val="solid"/>
                      <a:round/>
                      <a:headEnd type="none" w="med" len="med"/>
                      <a:tailEnd type="none" w="med" len="med"/>
                    </a:lnR>
                    <a:lnT w="6350" cap="flat" cmpd="sng" algn="ctr">
                      <a:solidFill>
                        <a:srgbClr val="D6E4F0"/>
                      </a:solidFill>
                      <a:prstDash val="solid"/>
                      <a:round/>
                      <a:headEnd type="none" w="med" len="med"/>
                      <a:tailEnd type="none" w="med" len="med"/>
                    </a:lnT>
                    <a:lnB w="6350" cap="flat" cmpd="sng" algn="ctr">
                      <a:solidFill>
                        <a:srgbClr val="D6E4F0"/>
                      </a:solidFill>
                      <a:prstDash val="solid"/>
                      <a:round/>
                      <a:headEnd type="none" w="med" len="med"/>
                      <a:tailEnd type="none" w="med" len="med"/>
                    </a:lnB>
                    <a:solidFill>
                      <a:srgbClr val="EAF1F8"/>
                    </a:solidFill>
                  </a:tcPr>
                </a:tc>
                <a:tc>
                  <a:txBody>
                    <a:bodyPr/>
                    <a:lstStyle/>
                    <a:p>
                      <a:pPr indent="0" marL="0">
                        <a:buNone/>
                      </a:pPr>
                      <a:r>
                        <a:rPr lang="en-US" sz="700" dirty="0">
                          <a:solidFill>
                            <a:srgbClr val="3F5265"/>
                          </a:solidFill>
                          <a:latin typeface="Calibri" pitchFamily="34" charset="0"/>
                          <a:ea typeface="Calibri" pitchFamily="34" charset="-122"/>
                          <a:cs typeface="Calibri" pitchFamily="34" charset="-120"/>
                        </a:rPr>
                        <a:t>Equities, futures, FI, FX, derivatives</a:t>
                      </a:r>
                      <a:endParaRPr lang="en-US" sz="700" dirty="0">
                        <a:latin typeface="Calibri" charset="0"/>
                        <a:ea typeface="Calibri" charset="0"/>
                        <a:cs typeface="Calibri" charset="0"/>
                      </a:endParaRPr>
                    </a:p>
                  </a:txBody>
                  <a:tcPr marL="36576" marR="36576" marT="36576" marB="36576" anchor="ctr">
                    <a:lnL w="6350" cap="flat" cmpd="sng" algn="ctr">
                      <a:solidFill>
                        <a:srgbClr val="D6E4F0"/>
                      </a:solidFill>
                      <a:prstDash val="solid"/>
                      <a:round/>
                      <a:headEnd type="none" w="med" len="med"/>
                      <a:tailEnd type="none" w="med" len="med"/>
                    </a:lnL>
                    <a:lnR w="6350" cap="flat" cmpd="sng" algn="ctr">
                      <a:solidFill>
                        <a:srgbClr val="D6E4F0"/>
                      </a:solidFill>
                      <a:prstDash val="solid"/>
                      <a:round/>
                      <a:headEnd type="none" w="med" len="med"/>
                      <a:tailEnd type="none" w="med" len="med"/>
                    </a:lnR>
                    <a:lnT w="6350" cap="flat" cmpd="sng" algn="ctr">
                      <a:solidFill>
                        <a:srgbClr val="D6E4F0"/>
                      </a:solidFill>
                      <a:prstDash val="solid"/>
                      <a:round/>
                      <a:headEnd type="none" w="med" len="med"/>
                      <a:tailEnd type="none" w="med" len="med"/>
                    </a:lnT>
                    <a:lnB w="6350" cap="flat" cmpd="sng" algn="ctr">
                      <a:solidFill>
                        <a:srgbClr val="D6E4F0"/>
                      </a:solidFill>
                      <a:prstDash val="solid"/>
                      <a:round/>
                      <a:headEnd type="none" w="med" len="med"/>
                      <a:tailEnd type="none" w="med" len="med"/>
                    </a:lnB>
                    <a:solidFill>
                      <a:srgbClr val="EAF1F8"/>
                    </a:solidFill>
                  </a:tcPr>
                </a:tc>
                <a:tc>
                  <a:txBody>
                    <a:bodyPr/>
                    <a:lstStyle/>
                    <a:p>
                      <a:pPr indent="0" marL="0">
                        <a:buNone/>
                      </a:pPr>
                      <a:r>
                        <a:rPr lang="en-US" sz="700" i="1" dirty="0">
                          <a:solidFill>
                            <a:srgbClr val="7A8A99"/>
                          </a:solidFill>
                          <a:latin typeface="Calibri" pitchFamily="34" charset="0"/>
                          <a:ea typeface="Calibri" pitchFamily="34" charset="-122"/>
                          <a:cs typeface="Calibri" pitchFamily="34" charset="-120"/>
                        </a:rPr>
                        <a:t>To be confirmed</a:t>
                      </a:r>
                      <a:endParaRPr lang="en-US" sz="700" dirty="0">
                        <a:latin typeface="Calibri" charset="0"/>
                        <a:ea typeface="Calibri" charset="0"/>
                        <a:cs typeface="Calibri" charset="0"/>
                      </a:endParaRPr>
                    </a:p>
                  </a:txBody>
                  <a:tcPr marL="36576" marR="36576" marT="36576" marB="36576" anchor="ctr">
                    <a:lnL w="6350" cap="flat" cmpd="sng" algn="ctr">
                      <a:solidFill>
                        <a:srgbClr val="D6E4F0"/>
                      </a:solidFill>
                      <a:prstDash val="solid"/>
                      <a:round/>
                      <a:headEnd type="none" w="med" len="med"/>
                      <a:tailEnd type="none" w="med" len="med"/>
                    </a:lnL>
                    <a:lnR w="6350" cap="flat" cmpd="sng" algn="ctr">
                      <a:solidFill>
                        <a:srgbClr val="D6E4F0"/>
                      </a:solidFill>
                      <a:prstDash val="solid"/>
                      <a:round/>
                      <a:headEnd type="none" w="med" len="med"/>
                      <a:tailEnd type="none" w="med" len="med"/>
                    </a:lnR>
                    <a:lnT w="6350" cap="flat" cmpd="sng" algn="ctr">
                      <a:solidFill>
                        <a:srgbClr val="D6E4F0"/>
                      </a:solidFill>
                      <a:prstDash val="solid"/>
                      <a:round/>
                      <a:headEnd type="none" w="med" len="med"/>
                      <a:tailEnd type="none" w="med" len="med"/>
                    </a:lnT>
                    <a:lnB w="6350" cap="flat" cmpd="sng" algn="ctr">
                      <a:solidFill>
                        <a:srgbClr val="D6E4F0"/>
                      </a:solidFill>
                      <a:prstDash val="solid"/>
                      <a:round/>
                      <a:headEnd type="none" w="med" len="med"/>
                      <a:tailEnd type="none" w="med" len="med"/>
                    </a:lnB>
                    <a:solidFill>
                      <a:srgbClr val="FDF6E8"/>
                    </a:solidFill>
                  </a:tcPr>
                </a:tc>
              </a:tr>
              <a:tr h="228600">
                <a:tc>
                  <a:txBody>
                    <a:bodyPr/>
                    <a:lstStyle/>
                    <a:p>
                      <a:pPr indent="0" marL="0">
                        <a:buNone/>
                      </a:pPr>
                      <a:endParaRPr lang="en-US" sz="700" dirty="0">
                        <a:latin typeface="Calibri" charset="0"/>
                        <a:ea typeface="Calibri" charset="0"/>
                        <a:cs typeface="Calibri" charset="0"/>
                      </a:endParaRPr>
                    </a:p>
                  </a:txBody>
                  <a:tcPr marL="36576" marR="36576" marT="36576" marB="36576" anchor="ctr">
                    <a:lnL w="6350" cap="flat" cmpd="sng" algn="ctr">
                      <a:solidFill>
                        <a:srgbClr val="D6E4F0"/>
                      </a:solidFill>
                      <a:prstDash val="solid"/>
                      <a:round/>
                      <a:headEnd type="none" w="med" len="med"/>
                      <a:tailEnd type="none" w="med" len="med"/>
                    </a:lnL>
                    <a:lnR w="6350" cap="flat" cmpd="sng" algn="ctr">
                      <a:solidFill>
                        <a:srgbClr val="D6E4F0"/>
                      </a:solidFill>
                      <a:prstDash val="solid"/>
                      <a:round/>
                      <a:headEnd type="none" w="med" len="med"/>
                      <a:tailEnd type="none" w="med" len="med"/>
                    </a:lnR>
                    <a:lnT w="6350" cap="flat" cmpd="sng" algn="ctr">
                      <a:solidFill>
                        <a:srgbClr val="D6E4F0"/>
                      </a:solidFill>
                      <a:prstDash val="solid"/>
                      <a:round/>
                      <a:headEnd type="none" w="med" len="med"/>
                      <a:tailEnd type="none" w="med" len="med"/>
                    </a:lnT>
                    <a:lnB w="6350" cap="flat" cmpd="sng" algn="ctr">
                      <a:solidFill>
                        <a:srgbClr val="D6E4F0"/>
                      </a:solidFill>
                      <a:prstDash val="solid"/>
                      <a:round/>
                      <a:headEnd type="none" w="med" len="med"/>
                      <a:tailEnd type="none" w="med" len="med"/>
                    </a:lnB>
                    <a:solidFill>
                      <a:srgbClr val="FFFFFF"/>
                    </a:solidFill>
                  </a:tcPr>
                </a:tc>
                <a:tc>
                  <a:txBody>
                    <a:bodyPr/>
                    <a:lstStyle/>
                    <a:p>
                      <a:pPr indent="0" marL="0">
                        <a:buNone/>
                      </a:pPr>
                      <a:r>
                        <a:rPr lang="en-US" sz="700" b="1" dirty="0">
                          <a:solidFill>
                            <a:srgbClr val="002D72"/>
                          </a:solidFill>
                          <a:latin typeface="Calibri" pitchFamily="34" charset="0"/>
                          <a:ea typeface="Calibri" pitchFamily="34" charset="-122"/>
                          <a:cs typeface="Calibri" pitchFamily="34" charset="-120"/>
                        </a:rPr>
                        <a:t>Virtu</a:t>
                      </a:r>
                      <a:endParaRPr lang="en-US" sz="700" dirty="0">
                        <a:latin typeface="Calibri" charset="0"/>
                        <a:ea typeface="Calibri" charset="0"/>
                        <a:cs typeface="Calibri" charset="0"/>
                      </a:endParaRPr>
                    </a:p>
                  </a:txBody>
                  <a:tcPr marL="36576" marR="36576" marT="36576" marB="36576" anchor="ctr">
                    <a:lnL w="6350" cap="flat" cmpd="sng" algn="ctr">
                      <a:solidFill>
                        <a:srgbClr val="D6E4F0"/>
                      </a:solidFill>
                      <a:prstDash val="solid"/>
                      <a:round/>
                      <a:headEnd type="none" w="med" len="med"/>
                      <a:tailEnd type="none" w="med" len="med"/>
                    </a:lnL>
                    <a:lnR w="6350" cap="flat" cmpd="sng" algn="ctr">
                      <a:solidFill>
                        <a:srgbClr val="D6E4F0"/>
                      </a:solidFill>
                      <a:prstDash val="solid"/>
                      <a:round/>
                      <a:headEnd type="none" w="med" len="med"/>
                      <a:tailEnd type="none" w="med" len="med"/>
                    </a:lnR>
                    <a:lnT w="6350" cap="flat" cmpd="sng" algn="ctr">
                      <a:solidFill>
                        <a:srgbClr val="D6E4F0"/>
                      </a:solidFill>
                      <a:prstDash val="solid"/>
                      <a:round/>
                      <a:headEnd type="none" w="med" len="med"/>
                      <a:tailEnd type="none" w="med" len="med"/>
                    </a:lnT>
                    <a:lnB w="6350" cap="flat" cmpd="sng" algn="ctr">
                      <a:solidFill>
                        <a:srgbClr val="D6E4F0"/>
                      </a:solidFill>
                      <a:prstDash val="solid"/>
                      <a:round/>
                      <a:headEnd type="none" w="med" len="med"/>
                      <a:tailEnd type="none" w="med" len="med"/>
                    </a:lnB>
                    <a:solidFill>
                      <a:srgbClr val="FFFFFF"/>
                    </a:solidFill>
                  </a:tcPr>
                </a:tc>
                <a:tc>
                  <a:txBody>
                    <a:bodyPr/>
                    <a:lstStyle/>
                    <a:p>
                      <a:pPr indent="0" marL="0">
                        <a:buNone/>
                      </a:pPr>
                      <a:r>
                        <a:rPr lang="en-US" sz="700" dirty="0">
                          <a:solidFill>
                            <a:srgbClr val="3F5265"/>
                          </a:solidFill>
                          <a:latin typeface="Calibri" pitchFamily="34" charset="0"/>
                          <a:ea typeface="Calibri" pitchFamily="34" charset="-122"/>
                          <a:cs typeface="Calibri" pitchFamily="34" charset="-120"/>
                        </a:rPr>
                        <a:t>Triton, Triton Valor</a:t>
                      </a:r>
                      <a:endParaRPr lang="en-US" sz="700" dirty="0">
                        <a:latin typeface="Calibri" charset="0"/>
                        <a:ea typeface="Calibri" charset="0"/>
                        <a:cs typeface="Calibri" charset="0"/>
                      </a:endParaRPr>
                    </a:p>
                  </a:txBody>
                  <a:tcPr marL="36576" marR="36576" marT="36576" marB="36576" anchor="ctr">
                    <a:lnL w="6350" cap="flat" cmpd="sng" algn="ctr">
                      <a:solidFill>
                        <a:srgbClr val="D6E4F0"/>
                      </a:solidFill>
                      <a:prstDash val="solid"/>
                      <a:round/>
                      <a:headEnd type="none" w="med" len="med"/>
                      <a:tailEnd type="none" w="med" len="med"/>
                    </a:lnL>
                    <a:lnR w="6350" cap="flat" cmpd="sng" algn="ctr">
                      <a:solidFill>
                        <a:srgbClr val="D6E4F0"/>
                      </a:solidFill>
                      <a:prstDash val="solid"/>
                      <a:round/>
                      <a:headEnd type="none" w="med" len="med"/>
                      <a:tailEnd type="none" w="med" len="med"/>
                    </a:lnR>
                    <a:lnT w="6350" cap="flat" cmpd="sng" algn="ctr">
                      <a:solidFill>
                        <a:srgbClr val="D6E4F0"/>
                      </a:solidFill>
                      <a:prstDash val="solid"/>
                      <a:round/>
                      <a:headEnd type="none" w="med" len="med"/>
                      <a:tailEnd type="none" w="med" len="med"/>
                    </a:lnT>
                    <a:lnB w="6350" cap="flat" cmpd="sng" algn="ctr">
                      <a:solidFill>
                        <a:srgbClr val="D6E4F0"/>
                      </a:solidFill>
                      <a:prstDash val="solid"/>
                      <a:round/>
                      <a:headEnd type="none" w="med" len="med"/>
                      <a:tailEnd type="none" w="med" len="med"/>
                    </a:lnB>
                    <a:solidFill>
                      <a:srgbClr val="FFFFFF"/>
                    </a:solidFill>
                  </a:tcPr>
                </a:tc>
                <a:tc>
                  <a:txBody>
                    <a:bodyPr/>
                    <a:lstStyle/>
                    <a:p>
                      <a:pPr indent="0" marL="0">
                        <a:buNone/>
                      </a:pPr>
                      <a:r>
                        <a:rPr lang="en-US" sz="700" dirty="0">
                          <a:solidFill>
                            <a:srgbClr val="3F5265"/>
                          </a:solidFill>
                          <a:latin typeface="Calibri" pitchFamily="34" charset="0"/>
                          <a:ea typeface="Calibri" pitchFamily="34" charset="-122"/>
                          <a:cs typeface="Calibri" pitchFamily="34" charset="-120"/>
                        </a:rPr>
                        <a:t>FIX via ITG NET (700+ brokers and venues)</a:t>
                      </a:r>
                      <a:endParaRPr lang="en-US" sz="700" dirty="0">
                        <a:latin typeface="Calibri" charset="0"/>
                        <a:ea typeface="Calibri" charset="0"/>
                        <a:cs typeface="Calibri" charset="0"/>
                      </a:endParaRPr>
                    </a:p>
                  </a:txBody>
                  <a:tcPr marL="36576" marR="36576" marT="36576" marB="36576" anchor="ctr">
                    <a:lnL w="6350" cap="flat" cmpd="sng" algn="ctr">
                      <a:solidFill>
                        <a:srgbClr val="D6E4F0"/>
                      </a:solidFill>
                      <a:prstDash val="solid"/>
                      <a:round/>
                      <a:headEnd type="none" w="med" len="med"/>
                      <a:tailEnd type="none" w="med" len="med"/>
                    </a:lnL>
                    <a:lnR w="6350" cap="flat" cmpd="sng" algn="ctr">
                      <a:solidFill>
                        <a:srgbClr val="D6E4F0"/>
                      </a:solidFill>
                      <a:prstDash val="solid"/>
                      <a:round/>
                      <a:headEnd type="none" w="med" len="med"/>
                      <a:tailEnd type="none" w="med" len="med"/>
                    </a:lnR>
                    <a:lnT w="6350" cap="flat" cmpd="sng" algn="ctr">
                      <a:solidFill>
                        <a:srgbClr val="D6E4F0"/>
                      </a:solidFill>
                      <a:prstDash val="solid"/>
                      <a:round/>
                      <a:headEnd type="none" w="med" len="med"/>
                      <a:tailEnd type="none" w="med" len="med"/>
                    </a:lnT>
                    <a:lnB w="6350" cap="flat" cmpd="sng" algn="ctr">
                      <a:solidFill>
                        <a:srgbClr val="D6E4F0"/>
                      </a:solidFill>
                      <a:prstDash val="solid"/>
                      <a:round/>
                      <a:headEnd type="none" w="med" len="med"/>
                      <a:tailEnd type="none" w="med" len="med"/>
                    </a:lnB>
                    <a:solidFill>
                      <a:srgbClr val="FFFFFF"/>
                    </a:solidFill>
                  </a:tcPr>
                </a:tc>
                <a:tc>
                  <a:txBody>
                    <a:bodyPr/>
                    <a:lstStyle/>
                    <a:p>
                      <a:pPr indent="0" marL="0">
                        <a:buNone/>
                      </a:pPr>
                      <a:r>
                        <a:rPr lang="en-US" sz="700" dirty="0">
                          <a:solidFill>
                            <a:srgbClr val="3F5265"/>
                          </a:solidFill>
                          <a:latin typeface="Calibri" pitchFamily="34" charset="0"/>
                          <a:ea typeface="Calibri" pitchFamily="34" charset="-122"/>
                          <a:cs typeface="Calibri" pitchFamily="34" charset="-120"/>
                        </a:rPr>
                        <a:t>Equities, ETFs, FI, FX, listed derivatives</a:t>
                      </a:r>
                      <a:endParaRPr lang="en-US" sz="700" dirty="0">
                        <a:latin typeface="Calibri" charset="0"/>
                        <a:ea typeface="Calibri" charset="0"/>
                        <a:cs typeface="Calibri" charset="0"/>
                      </a:endParaRPr>
                    </a:p>
                  </a:txBody>
                  <a:tcPr marL="36576" marR="36576" marT="36576" marB="36576" anchor="ctr">
                    <a:lnL w="6350" cap="flat" cmpd="sng" algn="ctr">
                      <a:solidFill>
                        <a:srgbClr val="D6E4F0"/>
                      </a:solidFill>
                      <a:prstDash val="solid"/>
                      <a:round/>
                      <a:headEnd type="none" w="med" len="med"/>
                      <a:tailEnd type="none" w="med" len="med"/>
                    </a:lnL>
                    <a:lnR w="6350" cap="flat" cmpd="sng" algn="ctr">
                      <a:solidFill>
                        <a:srgbClr val="D6E4F0"/>
                      </a:solidFill>
                      <a:prstDash val="solid"/>
                      <a:round/>
                      <a:headEnd type="none" w="med" len="med"/>
                      <a:tailEnd type="none" w="med" len="med"/>
                    </a:lnR>
                    <a:lnT w="6350" cap="flat" cmpd="sng" algn="ctr">
                      <a:solidFill>
                        <a:srgbClr val="D6E4F0"/>
                      </a:solidFill>
                      <a:prstDash val="solid"/>
                      <a:round/>
                      <a:headEnd type="none" w="med" len="med"/>
                      <a:tailEnd type="none" w="med" len="med"/>
                    </a:lnT>
                    <a:lnB w="6350" cap="flat" cmpd="sng" algn="ctr">
                      <a:solidFill>
                        <a:srgbClr val="D6E4F0"/>
                      </a:solidFill>
                      <a:prstDash val="solid"/>
                      <a:round/>
                      <a:headEnd type="none" w="med" len="med"/>
                      <a:tailEnd type="none" w="med" len="med"/>
                    </a:lnB>
                    <a:solidFill>
                      <a:srgbClr val="FFFFFF"/>
                    </a:solidFill>
                  </a:tcPr>
                </a:tc>
                <a:tc>
                  <a:txBody>
                    <a:bodyPr/>
                    <a:lstStyle/>
                    <a:p>
                      <a:pPr indent="0" marL="0">
                        <a:buNone/>
                      </a:pPr>
                      <a:r>
                        <a:rPr lang="en-US" sz="700" i="1" dirty="0">
                          <a:solidFill>
                            <a:srgbClr val="7A8A99"/>
                          </a:solidFill>
                          <a:latin typeface="Calibri" pitchFamily="34" charset="0"/>
                          <a:ea typeface="Calibri" pitchFamily="34" charset="-122"/>
                          <a:cs typeface="Calibri" pitchFamily="34" charset="-120"/>
                        </a:rPr>
                        <a:t>To be confirmed</a:t>
                      </a:r>
                      <a:endParaRPr lang="en-US" sz="700" dirty="0">
                        <a:latin typeface="Calibri" charset="0"/>
                        <a:ea typeface="Calibri" charset="0"/>
                        <a:cs typeface="Calibri" charset="0"/>
                      </a:endParaRPr>
                    </a:p>
                  </a:txBody>
                  <a:tcPr marL="36576" marR="36576" marT="36576" marB="36576" anchor="ctr">
                    <a:lnL w="6350" cap="flat" cmpd="sng" algn="ctr">
                      <a:solidFill>
                        <a:srgbClr val="D6E4F0"/>
                      </a:solidFill>
                      <a:prstDash val="solid"/>
                      <a:round/>
                      <a:headEnd type="none" w="med" len="med"/>
                      <a:tailEnd type="none" w="med" len="med"/>
                    </a:lnL>
                    <a:lnR w="6350" cap="flat" cmpd="sng" algn="ctr">
                      <a:solidFill>
                        <a:srgbClr val="D6E4F0"/>
                      </a:solidFill>
                      <a:prstDash val="solid"/>
                      <a:round/>
                      <a:headEnd type="none" w="med" len="med"/>
                      <a:tailEnd type="none" w="med" len="med"/>
                    </a:lnR>
                    <a:lnT w="6350" cap="flat" cmpd="sng" algn="ctr">
                      <a:solidFill>
                        <a:srgbClr val="D6E4F0"/>
                      </a:solidFill>
                      <a:prstDash val="solid"/>
                      <a:round/>
                      <a:headEnd type="none" w="med" len="med"/>
                      <a:tailEnd type="none" w="med" len="med"/>
                    </a:lnT>
                    <a:lnB w="6350" cap="flat" cmpd="sng" algn="ctr">
                      <a:solidFill>
                        <a:srgbClr val="D6E4F0"/>
                      </a:solidFill>
                      <a:prstDash val="solid"/>
                      <a:round/>
                      <a:headEnd type="none" w="med" len="med"/>
                      <a:tailEnd type="none" w="med" len="med"/>
                    </a:lnB>
                    <a:solidFill>
                      <a:srgbClr val="FDF6E8"/>
                    </a:solidFill>
                  </a:tcPr>
                </a:tc>
              </a:tr>
              <a:tr h="228600">
                <a:tc>
                  <a:txBody>
                    <a:bodyPr/>
                    <a:lstStyle/>
                    <a:p>
                      <a:pPr indent="0" marL="0">
                        <a:buNone/>
                      </a:pPr>
                      <a:endParaRPr lang="en-US" sz="700" dirty="0">
                        <a:latin typeface="Calibri" charset="0"/>
                        <a:ea typeface="Calibri" charset="0"/>
                        <a:cs typeface="Calibri" charset="0"/>
                      </a:endParaRPr>
                    </a:p>
                  </a:txBody>
                  <a:tcPr marL="36576" marR="36576" marT="36576" marB="36576" anchor="ctr">
                    <a:lnL w="6350" cap="flat" cmpd="sng" algn="ctr">
                      <a:solidFill>
                        <a:srgbClr val="D6E4F0"/>
                      </a:solidFill>
                      <a:prstDash val="solid"/>
                      <a:round/>
                      <a:headEnd type="none" w="med" len="med"/>
                      <a:tailEnd type="none" w="med" len="med"/>
                    </a:lnL>
                    <a:lnR w="6350" cap="flat" cmpd="sng" algn="ctr">
                      <a:solidFill>
                        <a:srgbClr val="D6E4F0"/>
                      </a:solidFill>
                      <a:prstDash val="solid"/>
                      <a:round/>
                      <a:headEnd type="none" w="med" len="med"/>
                      <a:tailEnd type="none" w="med" len="med"/>
                    </a:lnR>
                    <a:lnT w="6350" cap="flat" cmpd="sng" algn="ctr">
                      <a:solidFill>
                        <a:srgbClr val="D6E4F0"/>
                      </a:solidFill>
                      <a:prstDash val="solid"/>
                      <a:round/>
                      <a:headEnd type="none" w="med" len="med"/>
                      <a:tailEnd type="none" w="med" len="med"/>
                    </a:lnT>
                    <a:lnB w="6350" cap="flat" cmpd="sng" algn="ctr">
                      <a:solidFill>
                        <a:srgbClr val="D6E4F0"/>
                      </a:solidFill>
                      <a:prstDash val="solid"/>
                      <a:round/>
                      <a:headEnd type="none" w="med" len="med"/>
                      <a:tailEnd type="none" w="med" len="med"/>
                    </a:lnB>
                    <a:solidFill>
                      <a:srgbClr val="FFFFFF"/>
                    </a:solidFill>
                  </a:tcPr>
                </a:tc>
                <a:tc>
                  <a:txBody>
                    <a:bodyPr/>
                    <a:lstStyle/>
                    <a:p>
                      <a:pPr indent="0" marL="0">
                        <a:buNone/>
                      </a:pPr>
                      <a:r>
                        <a:rPr lang="en-US" sz="700" b="1" dirty="0">
                          <a:solidFill>
                            <a:srgbClr val="002D72"/>
                          </a:solidFill>
                          <a:latin typeface="Calibri" pitchFamily="34" charset="0"/>
                          <a:ea typeface="Calibri" pitchFamily="34" charset="-122"/>
                          <a:cs typeface="Calibri" pitchFamily="34" charset="-120"/>
                        </a:rPr>
                        <a:t>FlexTrade</a:t>
                      </a:r>
                      <a:endParaRPr lang="en-US" sz="700" dirty="0">
                        <a:latin typeface="Calibri" charset="0"/>
                        <a:ea typeface="Calibri" charset="0"/>
                        <a:cs typeface="Calibri" charset="0"/>
                      </a:endParaRPr>
                    </a:p>
                  </a:txBody>
                  <a:tcPr marL="36576" marR="36576" marT="36576" marB="36576" anchor="ctr">
                    <a:lnL w="6350" cap="flat" cmpd="sng" algn="ctr">
                      <a:solidFill>
                        <a:srgbClr val="D6E4F0"/>
                      </a:solidFill>
                      <a:prstDash val="solid"/>
                      <a:round/>
                      <a:headEnd type="none" w="med" len="med"/>
                      <a:tailEnd type="none" w="med" len="med"/>
                    </a:lnL>
                    <a:lnR w="6350" cap="flat" cmpd="sng" algn="ctr">
                      <a:solidFill>
                        <a:srgbClr val="D6E4F0"/>
                      </a:solidFill>
                      <a:prstDash val="solid"/>
                      <a:round/>
                      <a:headEnd type="none" w="med" len="med"/>
                      <a:tailEnd type="none" w="med" len="med"/>
                    </a:lnR>
                    <a:lnT w="6350" cap="flat" cmpd="sng" algn="ctr">
                      <a:solidFill>
                        <a:srgbClr val="D6E4F0"/>
                      </a:solidFill>
                      <a:prstDash val="solid"/>
                      <a:round/>
                      <a:headEnd type="none" w="med" len="med"/>
                      <a:tailEnd type="none" w="med" len="med"/>
                    </a:lnT>
                    <a:lnB w="6350" cap="flat" cmpd="sng" algn="ctr">
                      <a:solidFill>
                        <a:srgbClr val="D6E4F0"/>
                      </a:solidFill>
                      <a:prstDash val="solid"/>
                      <a:round/>
                      <a:headEnd type="none" w="med" len="med"/>
                      <a:tailEnd type="none" w="med" len="med"/>
                    </a:lnB>
                    <a:solidFill>
                      <a:srgbClr val="FFFFFF"/>
                    </a:solidFill>
                  </a:tcPr>
                </a:tc>
                <a:tc>
                  <a:txBody>
                    <a:bodyPr/>
                    <a:lstStyle/>
                    <a:p>
                      <a:pPr indent="0" marL="0">
                        <a:buNone/>
                      </a:pPr>
                      <a:r>
                        <a:rPr lang="en-US" sz="700" dirty="0">
                          <a:solidFill>
                            <a:srgbClr val="3F5265"/>
                          </a:solidFill>
                          <a:latin typeface="Calibri" pitchFamily="34" charset="0"/>
                          <a:ea typeface="Calibri" pitchFamily="34" charset="-122"/>
                          <a:cs typeface="Calibri" pitchFamily="34" charset="-120"/>
                        </a:rPr>
                        <a:t>FlexTRADER, FlexONE</a:t>
                      </a:r>
                      <a:endParaRPr lang="en-US" sz="700" dirty="0">
                        <a:latin typeface="Calibri" charset="0"/>
                        <a:ea typeface="Calibri" charset="0"/>
                        <a:cs typeface="Calibri" charset="0"/>
                      </a:endParaRPr>
                    </a:p>
                  </a:txBody>
                  <a:tcPr marL="36576" marR="36576" marT="36576" marB="36576" anchor="ctr">
                    <a:lnL w="6350" cap="flat" cmpd="sng" algn="ctr">
                      <a:solidFill>
                        <a:srgbClr val="D6E4F0"/>
                      </a:solidFill>
                      <a:prstDash val="solid"/>
                      <a:round/>
                      <a:headEnd type="none" w="med" len="med"/>
                      <a:tailEnd type="none" w="med" len="med"/>
                    </a:lnL>
                    <a:lnR w="6350" cap="flat" cmpd="sng" algn="ctr">
                      <a:solidFill>
                        <a:srgbClr val="D6E4F0"/>
                      </a:solidFill>
                      <a:prstDash val="solid"/>
                      <a:round/>
                      <a:headEnd type="none" w="med" len="med"/>
                      <a:tailEnd type="none" w="med" len="med"/>
                    </a:lnR>
                    <a:lnT w="6350" cap="flat" cmpd="sng" algn="ctr">
                      <a:solidFill>
                        <a:srgbClr val="D6E4F0"/>
                      </a:solidFill>
                      <a:prstDash val="solid"/>
                      <a:round/>
                      <a:headEnd type="none" w="med" len="med"/>
                      <a:tailEnd type="none" w="med" len="med"/>
                    </a:lnT>
                    <a:lnB w="6350" cap="flat" cmpd="sng" algn="ctr">
                      <a:solidFill>
                        <a:srgbClr val="D6E4F0"/>
                      </a:solidFill>
                      <a:prstDash val="solid"/>
                      <a:round/>
                      <a:headEnd type="none" w="med" len="med"/>
                      <a:tailEnd type="none" w="med" len="med"/>
                    </a:lnB>
                    <a:solidFill>
                      <a:srgbClr val="FFFFFF"/>
                    </a:solidFill>
                  </a:tcPr>
                </a:tc>
                <a:tc>
                  <a:txBody>
                    <a:bodyPr/>
                    <a:lstStyle/>
                    <a:p>
                      <a:pPr indent="0" marL="0">
                        <a:buNone/>
                      </a:pPr>
                      <a:r>
                        <a:rPr lang="en-US" sz="700" dirty="0">
                          <a:solidFill>
                            <a:srgbClr val="3F5265"/>
                          </a:solidFill>
                          <a:latin typeface="Calibri" pitchFamily="34" charset="0"/>
                          <a:ea typeface="Calibri" pitchFamily="34" charset="-122"/>
                          <a:cs typeface="Calibri" pitchFamily="34" charset="-120"/>
                        </a:rPr>
                        <a:t>Direct FIX; broker algorithm certification</a:t>
                      </a:r>
                      <a:endParaRPr lang="en-US" sz="700" dirty="0">
                        <a:latin typeface="Calibri" charset="0"/>
                        <a:ea typeface="Calibri" charset="0"/>
                        <a:cs typeface="Calibri" charset="0"/>
                      </a:endParaRPr>
                    </a:p>
                  </a:txBody>
                  <a:tcPr marL="36576" marR="36576" marT="36576" marB="36576" anchor="ctr">
                    <a:lnL w="6350" cap="flat" cmpd="sng" algn="ctr">
                      <a:solidFill>
                        <a:srgbClr val="D6E4F0"/>
                      </a:solidFill>
                      <a:prstDash val="solid"/>
                      <a:round/>
                      <a:headEnd type="none" w="med" len="med"/>
                      <a:tailEnd type="none" w="med" len="med"/>
                    </a:lnL>
                    <a:lnR w="6350" cap="flat" cmpd="sng" algn="ctr">
                      <a:solidFill>
                        <a:srgbClr val="D6E4F0"/>
                      </a:solidFill>
                      <a:prstDash val="solid"/>
                      <a:round/>
                      <a:headEnd type="none" w="med" len="med"/>
                      <a:tailEnd type="none" w="med" len="med"/>
                    </a:lnR>
                    <a:lnT w="6350" cap="flat" cmpd="sng" algn="ctr">
                      <a:solidFill>
                        <a:srgbClr val="D6E4F0"/>
                      </a:solidFill>
                      <a:prstDash val="solid"/>
                      <a:round/>
                      <a:headEnd type="none" w="med" len="med"/>
                      <a:tailEnd type="none" w="med" len="med"/>
                    </a:lnT>
                    <a:lnB w="6350" cap="flat" cmpd="sng" algn="ctr">
                      <a:solidFill>
                        <a:srgbClr val="D6E4F0"/>
                      </a:solidFill>
                      <a:prstDash val="solid"/>
                      <a:round/>
                      <a:headEnd type="none" w="med" len="med"/>
                      <a:tailEnd type="none" w="med" len="med"/>
                    </a:lnB>
                    <a:solidFill>
                      <a:srgbClr val="FFFFFF"/>
                    </a:solidFill>
                  </a:tcPr>
                </a:tc>
                <a:tc>
                  <a:txBody>
                    <a:bodyPr/>
                    <a:lstStyle/>
                    <a:p>
                      <a:pPr indent="0" marL="0">
                        <a:buNone/>
                      </a:pPr>
                      <a:r>
                        <a:rPr lang="en-US" sz="700" dirty="0">
                          <a:solidFill>
                            <a:srgbClr val="3F5265"/>
                          </a:solidFill>
                          <a:latin typeface="Calibri" pitchFamily="34" charset="0"/>
                          <a:ea typeface="Calibri" pitchFamily="34" charset="-122"/>
                          <a:cs typeface="Calibri" pitchFamily="34" charset="-120"/>
                        </a:rPr>
                        <a:t>Multi-asset</a:t>
                      </a:r>
                      <a:endParaRPr lang="en-US" sz="700" dirty="0">
                        <a:latin typeface="Calibri" charset="0"/>
                        <a:ea typeface="Calibri" charset="0"/>
                        <a:cs typeface="Calibri" charset="0"/>
                      </a:endParaRPr>
                    </a:p>
                  </a:txBody>
                  <a:tcPr marL="36576" marR="36576" marT="36576" marB="36576" anchor="ctr">
                    <a:lnL w="6350" cap="flat" cmpd="sng" algn="ctr">
                      <a:solidFill>
                        <a:srgbClr val="D6E4F0"/>
                      </a:solidFill>
                      <a:prstDash val="solid"/>
                      <a:round/>
                      <a:headEnd type="none" w="med" len="med"/>
                      <a:tailEnd type="none" w="med" len="med"/>
                    </a:lnL>
                    <a:lnR w="6350" cap="flat" cmpd="sng" algn="ctr">
                      <a:solidFill>
                        <a:srgbClr val="D6E4F0"/>
                      </a:solidFill>
                      <a:prstDash val="solid"/>
                      <a:round/>
                      <a:headEnd type="none" w="med" len="med"/>
                      <a:tailEnd type="none" w="med" len="med"/>
                    </a:lnR>
                    <a:lnT w="6350" cap="flat" cmpd="sng" algn="ctr">
                      <a:solidFill>
                        <a:srgbClr val="D6E4F0"/>
                      </a:solidFill>
                      <a:prstDash val="solid"/>
                      <a:round/>
                      <a:headEnd type="none" w="med" len="med"/>
                      <a:tailEnd type="none" w="med" len="med"/>
                    </a:lnT>
                    <a:lnB w="6350" cap="flat" cmpd="sng" algn="ctr">
                      <a:solidFill>
                        <a:srgbClr val="D6E4F0"/>
                      </a:solidFill>
                      <a:prstDash val="solid"/>
                      <a:round/>
                      <a:headEnd type="none" w="med" len="med"/>
                      <a:tailEnd type="none" w="med" len="med"/>
                    </a:lnB>
                    <a:solidFill>
                      <a:srgbClr val="FFFFFF"/>
                    </a:solidFill>
                  </a:tcPr>
                </a:tc>
                <a:tc>
                  <a:txBody>
                    <a:bodyPr/>
                    <a:lstStyle/>
                    <a:p>
                      <a:pPr indent="0" marL="0">
                        <a:buNone/>
                      </a:pPr>
                      <a:r>
                        <a:rPr lang="en-US" sz="700" i="1" dirty="0">
                          <a:solidFill>
                            <a:srgbClr val="7A8A99"/>
                          </a:solidFill>
                          <a:latin typeface="Calibri" pitchFamily="34" charset="0"/>
                          <a:ea typeface="Calibri" pitchFamily="34" charset="-122"/>
                          <a:cs typeface="Calibri" pitchFamily="34" charset="-120"/>
                        </a:rPr>
                        <a:t>To be confirmed</a:t>
                      </a:r>
                      <a:endParaRPr lang="en-US" sz="700" dirty="0">
                        <a:latin typeface="Calibri" charset="0"/>
                        <a:ea typeface="Calibri" charset="0"/>
                        <a:cs typeface="Calibri" charset="0"/>
                      </a:endParaRPr>
                    </a:p>
                  </a:txBody>
                  <a:tcPr marL="36576" marR="36576" marT="36576" marB="36576" anchor="ctr">
                    <a:lnL w="6350" cap="flat" cmpd="sng" algn="ctr">
                      <a:solidFill>
                        <a:srgbClr val="D6E4F0"/>
                      </a:solidFill>
                      <a:prstDash val="solid"/>
                      <a:round/>
                      <a:headEnd type="none" w="med" len="med"/>
                      <a:tailEnd type="none" w="med" len="med"/>
                    </a:lnL>
                    <a:lnR w="6350" cap="flat" cmpd="sng" algn="ctr">
                      <a:solidFill>
                        <a:srgbClr val="D6E4F0"/>
                      </a:solidFill>
                      <a:prstDash val="solid"/>
                      <a:round/>
                      <a:headEnd type="none" w="med" len="med"/>
                      <a:tailEnd type="none" w="med" len="med"/>
                    </a:lnR>
                    <a:lnT w="6350" cap="flat" cmpd="sng" algn="ctr">
                      <a:solidFill>
                        <a:srgbClr val="D6E4F0"/>
                      </a:solidFill>
                      <a:prstDash val="solid"/>
                      <a:round/>
                      <a:headEnd type="none" w="med" len="med"/>
                      <a:tailEnd type="none" w="med" len="med"/>
                    </a:lnT>
                    <a:lnB w="6350" cap="flat" cmpd="sng" algn="ctr">
                      <a:solidFill>
                        <a:srgbClr val="D6E4F0"/>
                      </a:solidFill>
                      <a:prstDash val="solid"/>
                      <a:round/>
                      <a:headEnd type="none" w="med" len="med"/>
                      <a:tailEnd type="none" w="med" len="med"/>
                    </a:lnB>
                    <a:solidFill>
                      <a:srgbClr val="FDF6E8"/>
                    </a:solidFill>
                  </a:tcPr>
                </a:tc>
              </a:tr>
              <a:tr h="228600">
                <a:tc>
                  <a:txBody>
                    <a:bodyPr/>
                    <a:lstStyle/>
                    <a:p>
                      <a:pPr indent="0" marL="0">
                        <a:buNone/>
                      </a:pPr>
                      <a:endParaRPr lang="en-US" sz="700" dirty="0">
                        <a:latin typeface="Calibri" charset="0"/>
                        <a:ea typeface="Calibri" charset="0"/>
                        <a:cs typeface="Calibri" charset="0"/>
                      </a:endParaRPr>
                    </a:p>
                  </a:txBody>
                  <a:tcPr marL="36576" marR="36576" marT="36576" marB="36576" anchor="ctr">
                    <a:lnL w="6350" cap="flat" cmpd="sng" algn="ctr">
                      <a:solidFill>
                        <a:srgbClr val="D6E4F0"/>
                      </a:solidFill>
                      <a:prstDash val="solid"/>
                      <a:round/>
                      <a:headEnd type="none" w="med" len="med"/>
                      <a:tailEnd type="none" w="med" len="med"/>
                    </a:lnL>
                    <a:lnR w="6350" cap="flat" cmpd="sng" algn="ctr">
                      <a:solidFill>
                        <a:srgbClr val="D6E4F0"/>
                      </a:solidFill>
                      <a:prstDash val="solid"/>
                      <a:round/>
                      <a:headEnd type="none" w="med" len="med"/>
                      <a:tailEnd type="none" w="med" len="med"/>
                    </a:lnR>
                    <a:lnT w="6350" cap="flat" cmpd="sng" algn="ctr">
                      <a:solidFill>
                        <a:srgbClr val="D6E4F0"/>
                      </a:solidFill>
                      <a:prstDash val="solid"/>
                      <a:round/>
                      <a:headEnd type="none" w="med" len="med"/>
                      <a:tailEnd type="none" w="med" len="med"/>
                    </a:lnT>
                    <a:lnB w="6350" cap="flat" cmpd="sng" algn="ctr">
                      <a:solidFill>
                        <a:srgbClr val="D6E4F0"/>
                      </a:solidFill>
                      <a:prstDash val="solid"/>
                      <a:round/>
                      <a:headEnd type="none" w="med" len="med"/>
                      <a:tailEnd type="none" w="med" len="med"/>
                    </a:lnB>
                    <a:solidFill>
                      <a:srgbClr val="FFFFFF"/>
                    </a:solidFill>
                  </a:tcPr>
                </a:tc>
                <a:tc>
                  <a:txBody>
                    <a:bodyPr/>
                    <a:lstStyle/>
                    <a:p>
                      <a:pPr indent="0" marL="0">
                        <a:buNone/>
                      </a:pPr>
                      <a:r>
                        <a:rPr lang="en-US" sz="700" b="1" dirty="0">
                          <a:solidFill>
                            <a:srgbClr val="002D72"/>
                          </a:solidFill>
                          <a:latin typeface="Calibri" pitchFamily="34" charset="0"/>
                          <a:ea typeface="Calibri" pitchFamily="34" charset="-122"/>
                          <a:cs typeface="Calibri" pitchFamily="34" charset="-120"/>
                        </a:rPr>
                        <a:t>LSEG</a:t>
                      </a:r>
                      <a:endParaRPr lang="en-US" sz="700" dirty="0">
                        <a:latin typeface="Calibri" charset="0"/>
                        <a:ea typeface="Calibri" charset="0"/>
                        <a:cs typeface="Calibri" charset="0"/>
                      </a:endParaRPr>
                    </a:p>
                  </a:txBody>
                  <a:tcPr marL="36576" marR="36576" marT="36576" marB="36576" anchor="ctr">
                    <a:lnL w="6350" cap="flat" cmpd="sng" algn="ctr">
                      <a:solidFill>
                        <a:srgbClr val="D6E4F0"/>
                      </a:solidFill>
                      <a:prstDash val="solid"/>
                      <a:round/>
                      <a:headEnd type="none" w="med" len="med"/>
                      <a:tailEnd type="none" w="med" len="med"/>
                    </a:lnL>
                    <a:lnR w="6350" cap="flat" cmpd="sng" algn="ctr">
                      <a:solidFill>
                        <a:srgbClr val="D6E4F0"/>
                      </a:solidFill>
                      <a:prstDash val="solid"/>
                      <a:round/>
                      <a:headEnd type="none" w="med" len="med"/>
                      <a:tailEnd type="none" w="med" len="med"/>
                    </a:lnR>
                    <a:lnT w="6350" cap="flat" cmpd="sng" algn="ctr">
                      <a:solidFill>
                        <a:srgbClr val="D6E4F0"/>
                      </a:solidFill>
                      <a:prstDash val="solid"/>
                      <a:round/>
                      <a:headEnd type="none" w="med" len="med"/>
                      <a:tailEnd type="none" w="med" len="med"/>
                    </a:lnT>
                    <a:lnB w="6350" cap="flat" cmpd="sng" algn="ctr">
                      <a:solidFill>
                        <a:srgbClr val="D6E4F0"/>
                      </a:solidFill>
                      <a:prstDash val="solid"/>
                      <a:round/>
                      <a:headEnd type="none" w="med" len="med"/>
                      <a:tailEnd type="none" w="med" len="med"/>
                    </a:lnB>
                    <a:solidFill>
                      <a:srgbClr val="FFFFFF"/>
                    </a:solidFill>
                  </a:tcPr>
                </a:tc>
                <a:tc>
                  <a:txBody>
                    <a:bodyPr/>
                    <a:lstStyle/>
                    <a:p>
                      <a:pPr indent="0" marL="0">
                        <a:buNone/>
                      </a:pPr>
                      <a:r>
                        <a:rPr lang="en-US" sz="700" dirty="0">
                          <a:solidFill>
                            <a:srgbClr val="3F5265"/>
                          </a:solidFill>
                          <a:latin typeface="Calibri" pitchFamily="34" charset="0"/>
                          <a:ea typeface="Calibri" pitchFamily="34" charset="-122"/>
                          <a:cs typeface="Calibri" pitchFamily="34" charset="-120"/>
                        </a:rPr>
                        <a:t>TORA</a:t>
                      </a:r>
                      <a:endParaRPr lang="en-US" sz="700" dirty="0">
                        <a:latin typeface="Calibri" charset="0"/>
                        <a:ea typeface="Calibri" charset="0"/>
                        <a:cs typeface="Calibri" charset="0"/>
                      </a:endParaRPr>
                    </a:p>
                  </a:txBody>
                  <a:tcPr marL="36576" marR="36576" marT="36576" marB="36576" anchor="ctr">
                    <a:lnL w="6350" cap="flat" cmpd="sng" algn="ctr">
                      <a:solidFill>
                        <a:srgbClr val="D6E4F0"/>
                      </a:solidFill>
                      <a:prstDash val="solid"/>
                      <a:round/>
                      <a:headEnd type="none" w="med" len="med"/>
                      <a:tailEnd type="none" w="med" len="med"/>
                    </a:lnL>
                    <a:lnR w="6350" cap="flat" cmpd="sng" algn="ctr">
                      <a:solidFill>
                        <a:srgbClr val="D6E4F0"/>
                      </a:solidFill>
                      <a:prstDash val="solid"/>
                      <a:round/>
                      <a:headEnd type="none" w="med" len="med"/>
                      <a:tailEnd type="none" w="med" len="med"/>
                    </a:lnR>
                    <a:lnT w="6350" cap="flat" cmpd="sng" algn="ctr">
                      <a:solidFill>
                        <a:srgbClr val="D6E4F0"/>
                      </a:solidFill>
                      <a:prstDash val="solid"/>
                      <a:round/>
                      <a:headEnd type="none" w="med" len="med"/>
                      <a:tailEnd type="none" w="med" len="med"/>
                    </a:lnT>
                    <a:lnB w="6350" cap="flat" cmpd="sng" algn="ctr">
                      <a:solidFill>
                        <a:srgbClr val="D6E4F0"/>
                      </a:solidFill>
                      <a:prstDash val="solid"/>
                      <a:round/>
                      <a:headEnd type="none" w="med" len="med"/>
                      <a:tailEnd type="none" w="med" len="med"/>
                    </a:lnB>
                    <a:solidFill>
                      <a:srgbClr val="FFFFFF"/>
                    </a:solidFill>
                  </a:tcPr>
                </a:tc>
                <a:tc>
                  <a:txBody>
                    <a:bodyPr/>
                    <a:lstStyle/>
                    <a:p>
                      <a:pPr indent="0" marL="0">
                        <a:buNone/>
                      </a:pPr>
                      <a:r>
                        <a:rPr lang="en-US" sz="700" dirty="0">
                          <a:solidFill>
                            <a:srgbClr val="3F5265"/>
                          </a:solidFill>
                          <a:latin typeface="Calibri" pitchFamily="34" charset="0"/>
                          <a:ea typeface="Calibri" pitchFamily="34" charset="-122"/>
                          <a:cs typeface="Calibri" pitchFamily="34" charset="-120"/>
                        </a:rPr>
                        <a:t>FIX; LSEG FX for currency liquidity</a:t>
                      </a:r>
                      <a:endParaRPr lang="en-US" sz="700" dirty="0">
                        <a:latin typeface="Calibri" charset="0"/>
                        <a:ea typeface="Calibri" charset="0"/>
                        <a:cs typeface="Calibri" charset="0"/>
                      </a:endParaRPr>
                    </a:p>
                  </a:txBody>
                  <a:tcPr marL="36576" marR="36576" marT="36576" marB="36576" anchor="ctr">
                    <a:lnL w="6350" cap="flat" cmpd="sng" algn="ctr">
                      <a:solidFill>
                        <a:srgbClr val="D6E4F0"/>
                      </a:solidFill>
                      <a:prstDash val="solid"/>
                      <a:round/>
                      <a:headEnd type="none" w="med" len="med"/>
                      <a:tailEnd type="none" w="med" len="med"/>
                    </a:lnL>
                    <a:lnR w="6350" cap="flat" cmpd="sng" algn="ctr">
                      <a:solidFill>
                        <a:srgbClr val="D6E4F0"/>
                      </a:solidFill>
                      <a:prstDash val="solid"/>
                      <a:round/>
                      <a:headEnd type="none" w="med" len="med"/>
                      <a:tailEnd type="none" w="med" len="med"/>
                    </a:lnR>
                    <a:lnT w="6350" cap="flat" cmpd="sng" algn="ctr">
                      <a:solidFill>
                        <a:srgbClr val="D6E4F0"/>
                      </a:solidFill>
                      <a:prstDash val="solid"/>
                      <a:round/>
                      <a:headEnd type="none" w="med" len="med"/>
                      <a:tailEnd type="none" w="med" len="med"/>
                    </a:lnT>
                    <a:lnB w="6350" cap="flat" cmpd="sng" algn="ctr">
                      <a:solidFill>
                        <a:srgbClr val="D6E4F0"/>
                      </a:solidFill>
                      <a:prstDash val="solid"/>
                      <a:round/>
                      <a:headEnd type="none" w="med" len="med"/>
                      <a:tailEnd type="none" w="med" len="med"/>
                    </a:lnB>
                    <a:solidFill>
                      <a:srgbClr val="FFFFFF"/>
                    </a:solidFill>
                  </a:tcPr>
                </a:tc>
                <a:tc>
                  <a:txBody>
                    <a:bodyPr/>
                    <a:lstStyle/>
                    <a:p>
                      <a:pPr indent="0" marL="0">
                        <a:buNone/>
                      </a:pPr>
                      <a:r>
                        <a:rPr lang="en-US" sz="700" dirty="0">
                          <a:solidFill>
                            <a:srgbClr val="3F5265"/>
                          </a:solidFill>
                          <a:latin typeface="Calibri" pitchFamily="34" charset="0"/>
                          <a:ea typeface="Calibri" pitchFamily="34" charset="-122"/>
                          <a:cs typeface="Calibri" pitchFamily="34" charset="-120"/>
                        </a:rPr>
                        <a:t>Equities, FI, FX, derivatives, digital assets</a:t>
                      </a:r>
                      <a:endParaRPr lang="en-US" sz="700" dirty="0">
                        <a:latin typeface="Calibri" charset="0"/>
                        <a:ea typeface="Calibri" charset="0"/>
                        <a:cs typeface="Calibri" charset="0"/>
                      </a:endParaRPr>
                    </a:p>
                  </a:txBody>
                  <a:tcPr marL="36576" marR="36576" marT="36576" marB="36576" anchor="ctr">
                    <a:lnL w="6350" cap="flat" cmpd="sng" algn="ctr">
                      <a:solidFill>
                        <a:srgbClr val="D6E4F0"/>
                      </a:solidFill>
                      <a:prstDash val="solid"/>
                      <a:round/>
                      <a:headEnd type="none" w="med" len="med"/>
                      <a:tailEnd type="none" w="med" len="med"/>
                    </a:lnL>
                    <a:lnR w="6350" cap="flat" cmpd="sng" algn="ctr">
                      <a:solidFill>
                        <a:srgbClr val="D6E4F0"/>
                      </a:solidFill>
                      <a:prstDash val="solid"/>
                      <a:round/>
                      <a:headEnd type="none" w="med" len="med"/>
                      <a:tailEnd type="none" w="med" len="med"/>
                    </a:lnR>
                    <a:lnT w="6350" cap="flat" cmpd="sng" algn="ctr">
                      <a:solidFill>
                        <a:srgbClr val="D6E4F0"/>
                      </a:solidFill>
                      <a:prstDash val="solid"/>
                      <a:round/>
                      <a:headEnd type="none" w="med" len="med"/>
                      <a:tailEnd type="none" w="med" len="med"/>
                    </a:lnT>
                    <a:lnB w="6350" cap="flat" cmpd="sng" algn="ctr">
                      <a:solidFill>
                        <a:srgbClr val="D6E4F0"/>
                      </a:solidFill>
                      <a:prstDash val="solid"/>
                      <a:round/>
                      <a:headEnd type="none" w="med" len="med"/>
                      <a:tailEnd type="none" w="med" len="med"/>
                    </a:lnB>
                    <a:solidFill>
                      <a:srgbClr val="FFFFFF"/>
                    </a:solidFill>
                  </a:tcPr>
                </a:tc>
                <a:tc>
                  <a:txBody>
                    <a:bodyPr/>
                    <a:lstStyle/>
                    <a:p>
                      <a:pPr indent="0" marL="0">
                        <a:buNone/>
                      </a:pPr>
                      <a:r>
                        <a:rPr lang="en-US" sz="700" i="1" dirty="0">
                          <a:solidFill>
                            <a:srgbClr val="7A8A99"/>
                          </a:solidFill>
                          <a:latin typeface="Calibri" pitchFamily="34" charset="0"/>
                          <a:ea typeface="Calibri" pitchFamily="34" charset="-122"/>
                          <a:cs typeface="Calibri" pitchFamily="34" charset="-120"/>
                        </a:rPr>
                        <a:t>To be confirmed</a:t>
                      </a:r>
                      <a:endParaRPr lang="en-US" sz="700" dirty="0">
                        <a:latin typeface="Calibri" charset="0"/>
                        <a:ea typeface="Calibri" charset="0"/>
                        <a:cs typeface="Calibri" charset="0"/>
                      </a:endParaRPr>
                    </a:p>
                  </a:txBody>
                  <a:tcPr marL="36576" marR="36576" marT="36576" marB="36576" anchor="ctr">
                    <a:lnL w="6350" cap="flat" cmpd="sng" algn="ctr">
                      <a:solidFill>
                        <a:srgbClr val="D6E4F0"/>
                      </a:solidFill>
                      <a:prstDash val="solid"/>
                      <a:round/>
                      <a:headEnd type="none" w="med" len="med"/>
                      <a:tailEnd type="none" w="med" len="med"/>
                    </a:lnL>
                    <a:lnR w="6350" cap="flat" cmpd="sng" algn="ctr">
                      <a:solidFill>
                        <a:srgbClr val="D6E4F0"/>
                      </a:solidFill>
                      <a:prstDash val="solid"/>
                      <a:round/>
                      <a:headEnd type="none" w="med" len="med"/>
                      <a:tailEnd type="none" w="med" len="med"/>
                    </a:lnR>
                    <a:lnT w="6350" cap="flat" cmpd="sng" algn="ctr">
                      <a:solidFill>
                        <a:srgbClr val="D6E4F0"/>
                      </a:solidFill>
                      <a:prstDash val="solid"/>
                      <a:round/>
                      <a:headEnd type="none" w="med" len="med"/>
                      <a:tailEnd type="none" w="med" len="med"/>
                    </a:lnT>
                    <a:lnB w="6350" cap="flat" cmpd="sng" algn="ctr">
                      <a:solidFill>
                        <a:srgbClr val="D6E4F0"/>
                      </a:solidFill>
                      <a:prstDash val="solid"/>
                      <a:round/>
                      <a:headEnd type="none" w="med" len="med"/>
                      <a:tailEnd type="none" w="med" len="med"/>
                    </a:lnB>
                    <a:solidFill>
                      <a:srgbClr val="FDF6E8"/>
                    </a:solidFill>
                  </a:tcPr>
                </a:tc>
              </a:tr>
              <a:tr h="228600">
                <a:tc>
                  <a:txBody>
                    <a:bodyPr/>
                    <a:lstStyle/>
                    <a:p>
                      <a:pPr indent="0" marL="0">
                        <a:buNone/>
                      </a:pPr>
                      <a:endParaRPr lang="en-US" sz="700" dirty="0">
                        <a:latin typeface="Calibri" charset="0"/>
                        <a:ea typeface="Calibri" charset="0"/>
                        <a:cs typeface="Calibri" charset="0"/>
                      </a:endParaRPr>
                    </a:p>
                  </a:txBody>
                  <a:tcPr marL="36576" marR="36576" marT="36576" marB="36576" anchor="ctr">
                    <a:lnL w="6350" cap="flat" cmpd="sng" algn="ctr">
                      <a:solidFill>
                        <a:srgbClr val="D6E4F0"/>
                      </a:solidFill>
                      <a:prstDash val="solid"/>
                      <a:round/>
                      <a:headEnd type="none" w="med" len="med"/>
                      <a:tailEnd type="none" w="med" len="med"/>
                    </a:lnL>
                    <a:lnR w="6350" cap="flat" cmpd="sng" algn="ctr">
                      <a:solidFill>
                        <a:srgbClr val="D6E4F0"/>
                      </a:solidFill>
                      <a:prstDash val="solid"/>
                      <a:round/>
                      <a:headEnd type="none" w="med" len="med"/>
                      <a:tailEnd type="none" w="med" len="med"/>
                    </a:lnR>
                    <a:lnT w="6350" cap="flat" cmpd="sng" algn="ctr">
                      <a:solidFill>
                        <a:srgbClr val="D6E4F0"/>
                      </a:solidFill>
                      <a:prstDash val="solid"/>
                      <a:round/>
                      <a:headEnd type="none" w="med" len="med"/>
                      <a:tailEnd type="none" w="med" len="med"/>
                    </a:lnT>
                    <a:lnB w="6350" cap="flat" cmpd="sng" algn="ctr">
                      <a:solidFill>
                        <a:srgbClr val="D6E4F0"/>
                      </a:solidFill>
                      <a:prstDash val="solid"/>
                      <a:round/>
                      <a:headEnd type="none" w="med" len="med"/>
                      <a:tailEnd type="none" w="med" len="med"/>
                    </a:lnB>
                    <a:solidFill>
                      <a:srgbClr val="FFFFFF"/>
                    </a:solidFill>
                  </a:tcPr>
                </a:tc>
                <a:tc>
                  <a:txBody>
                    <a:bodyPr/>
                    <a:lstStyle/>
                    <a:p>
                      <a:pPr indent="0" marL="0">
                        <a:buNone/>
                      </a:pPr>
                      <a:r>
                        <a:rPr lang="en-US" sz="700" b="1" dirty="0">
                          <a:solidFill>
                            <a:srgbClr val="002D72"/>
                          </a:solidFill>
                          <a:latin typeface="Calibri" pitchFamily="34" charset="0"/>
                          <a:ea typeface="Calibri" pitchFamily="34" charset="-122"/>
                          <a:cs typeface="Calibri" pitchFamily="34" charset="-120"/>
                        </a:rPr>
                        <a:t>TS Imagine</a:t>
                      </a:r>
                      <a:endParaRPr lang="en-US" sz="700" dirty="0">
                        <a:latin typeface="Calibri" charset="0"/>
                        <a:ea typeface="Calibri" charset="0"/>
                        <a:cs typeface="Calibri" charset="0"/>
                      </a:endParaRPr>
                    </a:p>
                  </a:txBody>
                  <a:tcPr marL="36576" marR="36576" marT="36576" marB="36576" anchor="ctr">
                    <a:lnL w="6350" cap="flat" cmpd="sng" algn="ctr">
                      <a:solidFill>
                        <a:srgbClr val="D6E4F0"/>
                      </a:solidFill>
                      <a:prstDash val="solid"/>
                      <a:round/>
                      <a:headEnd type="none" w="med" len="med"/>
                      <a:tailEnd type="none" w="med" len="med"/>
                    </a:lnL>
                    <a:lnR w="6350" cap="flat" cmpd="sng" algn="ctr">
                      <a:solidFill>
                        <a:srgbClr val="D6E4F0"/>
                      </a:solidFill>
                      <a:prstDash val="solid"/>
                      <a:round/>
                      <a:headEnd type="none" w="med" len="med"/>
                      <a:tailEnd type="none" w="med" len="med"/>
                    </a:lnR>
                    <a:lnT w="6350" cap="flat" cmpd="sng" algn="ctr">
                      <a:solidFill>
                        <a:srgbClr val="D6E4F0"/>
                      </a:solidFill>
                      <a:prstDash val="solid"/>
                      <a:round/>
                      <a:headEnd type="none" w="med" len="med"/>
                      <a:tailEnd type="none" w="med" len="med"/>
                    </a:lnT>
                    <a:lnB w="6350" cap="flat" cmpd="sng" algn="ctr">
                      <a:solidFill>
                        <a:srgbClr val="D6E4F0"/>
                      </a:solidFill>
                      <a:prstDash val="solid"/>
                      <a:round/>
                      <a:headEnd type="none" w="med" len="med"/>
                      <a:tailEnd type="none" w="med" len="med"/>
                    </a:lnB>
                    <a:solidFill>
                      <a:srgbClr val="FFFFFF"/>
                    </a:solidFill>
                  </a:tcPr>
                </a:tc>
                <a:tc>
                  <a:txBody>
                    <a:bodyPr/>
                    <a:lstStyle/>
                    <a:p>
                      <a:pPr indent="0" marL="0">
                        <a:buNone/>
                      </a:pPr>
                      <a:r>
                        <a:rPr lang="en-US" sz="700" dirty="0">
                          <a:solidFill>
                            <a:srgbClr val="3F5265"/>
                          </a:solidFill>
                          <a:latin typeface="Calibri" pitchFamily="34" charset="0"/>
                          <a:ea typeface="Calibri" pitchFamily="34" charset="-122"/>
                          <a:cs typeface="Calibri" pitchFamily="34" charset="-120"/>
                        </a:rPr>
                        <a:t>TradeSmart</a:t>
                      </a:r>
                      <a:endParaRPr lang="en-US" sz="700" dirty="0">
                        <a:latin typeface="Calibri" charset="0"/>
                        <a:ea typeface="Calibri" charset="0"/>
                        <a:cs typeface="Calibri" charset="0"/>
                      </a:endParaRPr>
                    </a:p>
                  </a:txBody>
                  <a:tcPr marL="36576" marR="36576" marT="36576" marB="36576" anchor="ctr">
                    <a:lnL w="6350" cap="flat" cmpd="sng" algn="ctr">
                      <a:solidFill>
                        <a:srgbClr val="D6E4F0"/>
                      </a:solidFill>
                      <a:prstDash val="solid"/>
                      <a:round/>
                      <a:headEnd type="none" w="med" len="med"/>
                      <a:tailEnd type="none" w="med" len="med"/>
                    </a:lnL>
                    <a:lnR w="6350" cap="flat" cmpd="sng" algn="ctr">
                      <a:solidFill>
                        <a:srgbClr val="D6E4F0"/>
                      </a:solidFill>
                      <a:prstDash val="solid"/>
                      <a:round/>
                      <a:headEnd type="none" w="med" len="med"/>
                      <a:tailEnd type="none" w="med" len="med"/>
                    </a:lnR>
                    <a:lnT w="6350" cap="flat" cmpd="sng" algn="ctr">
                      <a:solidFill>
                        <a:srgbClr val="D6E4F0"/>
                      </a:solidFill>
                      <a:prstDash val="solid"/>
                      <a:round/>
                      <a:headEnd type="none" w="med" len="med"/>
                      <a:tailEnd type="none" w="med" len="med"/>
                    </a:lnT>
                    <a:lnB w="6350" cap="flat" cmpd="sng" algn="ctr">
                      <a:solidFill>
                        <a:srgbClr val="D6E4F0"/>
                      </a:solidFill>
                      <a:prstDash val="solid"/>
                      <a:round/>
                      <a:headEnd type="none" w="med" len="med"/>
                      <a:tailEnd type="none" w="med" len="med"/>
                    </a:lnB>
                    <a:solidFill>
                      <a:srgbClr val="FFFFFF"/>
                    </a:solidFill>
                  </a:tcPr>
                </a:tc>
                <a:tc>
                  <a:txBody>
                    <a:bodyPr/>
                    <a:lstStyle/>
                    <a:p>
                      <a:pPr indent="0" marL="0">
                        <a:buNone/>
                      </a:pPr>
                      <a:r>
                        <a:rPr lang="en-US" sz="700" dirty="0">
                          <a:solidFill>
                            <a:srgbClr val="3F5265"/>
                          </a:solidFill>
                          <a:latin typeface="Calibri" pitchFamily="34" charset="0"/>
                          <a:ea typeface="Calibri" pitchFamily="34" charset="-122"/>
                          <a:cs typeface="Calibri" pitchFamily="34" charset="-120"/>
                        </a:rPr>
                        <a:t>FIX over SaaS-hosted sessions</a:t>
                      </a:r>
                      <a:endParaRPr lang="en-US" sz="700" dirty="0">
                        <a:latin typeface="Calibri" charset="0"/>
                        <a:ea typeface="Calibri" charset="0"/>
                        <a:cs typeface="Calibri" charset="0"/>
                      </a:endParaRPr>
                    </a:p>
                  </a:txBody>
                  <a:tcPr marL="36576" marR="36576" marT="36576" marB="36576" anchor="ctr">
                    <a:lnL w="6350" cap="flat" cmpd="sng" algn="ctr">
                      <a:solidFill>
                        <a:srgbClr val="D6E4F0"/>
                      </a:solidFill>
                      <a:prstDash val="solid"/>
                      <a:round/>
                      <a:headEnd type="none" w="med" len="med"/>
                      <a:tailEnd type="none" w="med" len="med"/>
                    </a:lnL>
                    <a:lnR w="6350" cap="flat" cmpd="sng" algn="ctr">
                      <a:solidFill>
                        <a:srgbClr val="D6E4F0"/>
                      </a:solidFill>
                      <a:prstDash val="solid"/>
                      <a:round/>
                      <a:headEnd type="none" w="med" len="med"/>
                      <a:tailEnd type="none" w="med" len="med"/>
                    </a:lnR>
                    <a:lnT w="6350" cap="flat" cmpd="sng" algn="ctr">
                      <a:solidFill>
                        <a:srgbClr val="D6E4F0"/>
                      </a:solidFill>
                      <a:prstDash val="solid"/>
                      <a:round/>
                      <a:headEnd type="none" w="med" len="med"/>
                      <a:tailEnd type="none" w="med" len="med"/>
                    </a:lnT>
                    <a:lnB w="6350" cap="flat" cmpd="sng" algn="ctr">
                      <a:solidFill>
                        <a:srgbClr val="D6E4F0"/>
                      </a:solidFill>
                      <a:prstDash val="solid"/>
                      <a:round/>
                      <a:headEnd type="none" w="med" len="med"/>
                      <a:tailEnd type="none" w="med" len="med"/>
                    </a:lnB>
                    <a:solidFill>
                      <a:srgbClr val="FFFFFF"/>
                    </a:solidFill>
                  </a:tcPr>
                </a:tc>
                <a:tc>
                  <a:txBody>
                    <a:bodyPr/>
                    <a:lstStyle/>
                    <a:p>
                      <a:pPr indent="0" marL="0">
                        <a:buNone/>
                      </a:pPr>
                      <a:r>
                        <a:rPr lang="en-US" sz="700" dirty="0">
                          <a:solidFill>
                            <a:srgbClr val="3F5265"/>
                          </a:solidFill>
                          <a:latin typeface="Calibri" pitchFamily="34" charset="0"/>
                          <a:ea typeface="Calibri" pitchFamily="34" charset="-122"/>
                          <a:cs typeface="Calibri" pitchFamily="34" charset="-120"/>
                        </a:rPr>
                        <a:t>Equities, FI, FX, listed and OTC derivatives</a:t>
                      </a:r>
                      <a:endParaRPr lang="en-US" sz="700" dirty="0">
                        <a:latin typeface="Calibri" charset="0"/>
                        <a:ea typeface="Calibri" charset="0"/>
                        <a:cs typeface="Calibri" charset="0"/>
                      </a:endParaRPr>
                    </a:p>
                  </a:txBody>
                  <a:tcPr marL="36576" marR="36576" marT="36576" marB="36576" anchor="ctr">
                    <a:lnL w="6350" cap="flat" cmpd="sng" algn="ctr">
                      <a:solidFill>
                        <a:srgbClr val="D6E4F0"/>
                      </a:solidFill>
                      <a:prstDash val="solid"/>
                      <a:round/>
                      <a:headEnd type="none" w="med" len="med"/>
                      <a:tailEnd type="none" w="med" len="med"/>
                    </a:lnL>
                    <a:lnR w="6350" cap="flat" cmpd="sng" algn="ctr">
                      <a:solidFill>
                        <a:srgbClr val="D6E4F0"/>
                      </a:solidFill>
                      <a:prstDash val="solid"/>
                      <a:round/>
                      <a:headEnd type="none" w="med" len="med"/>
                      <a:tailEnd type="none" w="med" len="med"/>
                    </a:lnR>
                    <a:lnT w="6350" cap="flat" cmpd="sng" algn="ctr">
                      <a:solidFill>
                        <a:srgbClr val="D6E4F0"/>
                      </a:solidFill>
                      <a:prstDash val="solid"/>
                      <a:round/>
                      <a:headEnd type="none" w="med" len="med"/>
                      <a:tailEnd type="none" w="med" len="med"/>
                    </a:lnT>
                    <a:lnB w="6350" cap="flat" cmpd="sng" algn="ctr">
                      <a:solidFill>
                        <a:srgbClr val="D6E4F0"/>
                      </a:solidFill>
                      <a:prstDash val="solid"/>
                      <a:round/>
                      <a:headEnd type="none" w="med" len="med"/>
                      <a:tailEnd type="none" w="med" len="med"/>
                    </a:lnB>
                    <a:solidFill>
                      <a:srgbClr val="FFFFFF"/>
                    </a:solidFill>
                  </a:tcPr>
                </a:tc>
                <a:tc>
                  <a:txBody>
                    <a:bodyPr/>
                    <a:lstStyle/>
                    <a:p>
                      <a:pPr indent="0" marL="0">
                        <a:buNone/>
                      </a:pPr>
                      <a:r>
                        <a:rPr lang="en-US" sz="700" i="1" dirty="0">
                          <a:solidFill>
                            <a:srgbClr val="7A8A99"/>
                          </a:solidFill>
                          <a:latin typeface="Calibri" pitchFamily="34" charset="0"/>
                          <a:ea typeface="Calibri" pitchFamily="34" charset="-122"/>
                          <a:cs typeface="Calibri" pitchFamily="34" charset="-120"/>
                        </a:rPr>
                        <a:t>To be confirmed</a:t>
                      </a:r>
                      <a:endParaRPr lang="en-US" sz="700" dirty="0">
                        <a:latin typeface="Calibri" charset="0"/>
                        <a:ea typeface="Calibri" charset="0"/>
                        <a:cs typeface="Calibri" charset="0"/>
                      </a:endParaRPr>
                    </a:p>
                  </a:txBody>
                  <a:tcPr marL="36576" marR="36576" marT="36576" marB="36576" anchor="ctr">
                    <a:lnL w="6350" cap="flat" cmpd="sng" algn="ctr">
                      <a:solidFill>
                        <a:srgbClr val="D6E4F0"/>
                      </a:solidFill>
                      <a:prstDash val="solid"/>
                      <a:round/>
                      <a:headEnd type="none" w="med" len="med"/>
                      <a:tailEnd type="none" w="med" len="med"/>
                    </a:lnL>
                    <a:lnR w="6350" cap="flat" cmpd="sng" algn="ctr">
                      <a:solidFill>
                        <a:srgbClr val="D6E4F0"/>
                      </a:solidFill>
                      <a:prstDash val="solid"/>
                      <a:round/>
                      <a:headEnd type="none" w="med" len="med"/>
                      <a:tailEnd type="none" w="med" len="med"/>
                    </a:lnR>
                    <a:lnT w="6350" cap="flat" cmpd="sng" algn="ctr">
                      <a:solidFill>
                        <a:srgbClr val="D6E4F0"/>
                      </a:solidFill>
                      <a:prstDash val="solid"/>
                      <a:round/>
                      <a:headEnd type="none" w="med" len="med"/>
                      <a:tailEnd type="none" w="med" len="med"/>
                    </a:lnT>
                    <a:lnB w="6350" cap="flat" cmpd="sng" algn="ctr">
                      <a:solidFill>
                        <a:srgbClr val="D6E4F0"/>
                      </a:solidFill>
                      <a:prstDash val="solid"/>
                      <a:round/>
                      <a:headEnd type="none" w="med" len="med"/>
                      <a:tailEnd type="none" w="med" len="med"/>
                    </a:lnB>
                    <a:solidFill>
                      <a:srgbClr val="FDF6E8"/>
                    </a:solidFill>
                  </a:tcPr>
                </a:tc>
              </a:tr>
              <a:tr h="228600">
                <a:tc>
                  <a:txBody>
                    <a:bodyPr/>
                    <a:lstStyle/>
                    <a:p>
                      <a:pPr indent="0" marL="0">
                        <a:buNone/>
                      </a:pPr>
                      <a:endParaRPr lang="en-US" sz="700" dirty="0">
                        <a:latin typeface="Calibri" charset="0"/>
                        <a:ea typeface="Calibri" charset="0"/>
                        <a:cs typeface="Calibri" charset="0"/>
                      </a:endParaRPr>
                    </a:p>
                  </a:txBody>
                  <a:tcPr marL="36576" marR="36576" marT="36576" marB="36576" anchor="ctr">
                    <a:lnL w="6350" cap="flat" cmpd="sng" algn="ctr">
                      <a:solidFill>
                        <a:srgbClr val="D6E4F0"/>
                      </a:solidFill>
                      <a:prstDash val="solid"/>
                      <a:round/>
                      <a:headEnd type="none" w="med" len="med"/>
                      <a:tailEnd type="none" w="med" len="med"/>
                    </a:lnL>
                    <a:lnR w="6350" cap="flat" cmpd="sng" algn="ctr">
                      <a:solidFill>
                        <a:srgbClr val="D6E4F0"/>
                      </a:solidFill>
                      <a:prstDash val="solid"/>
                      <a:round/>
                      <a:headEnd type="none" w="med" len="med"/>
                      <a:tailEnd type="none" w="med" len="med"/>
                    </a:lnR>
                    <a:lnT w="6350" cap="flat" cmpd="sng" algn="ctr">
                      <a:solidFill>
                        <a:srgbClr val="D6E4F0"/>
                      </a:solidFill>
                      <a:prstDash val="solid"/>
                      <a:round/>
                      <a:headEnd type="none" w="med" len="med"/>
                      <a:tailEnd type="none" w="med" len="med"/>
                    </a:lnT>
                    <a:lnB w="6350" cap="flat" cmpd="sng" algn="ctr">
                      <a:solidFill>
                        <a:srgbClr val="D6E4F0"/>
                      </a:solidFill>
                      <a:prstDash val="solid"/>
                      <a:round/>
                      <a:headEnd type="none" w="med" len="med"/>
                      <a:tailEnd type="none" w="med" len="med"/>
                    </a:lnB>
                    <a:solidFill>
                      <a:srgbClr val="FFFFFF"/>
                    </a:solidFill>
                  </a:tcPr>
                </a:tc>
                <a:tc>
                  <a:txBody>
                    <a:bodyPr/>
                    <a:lstStyle/>
                    <a:p>
                      <a:pPr indent="0" marL="0">
                        <a:buNone/>
                      </a:pPr>
                      <a:r>
                        <a:rPr lang="en-US" sz="700" b="1" dirty="0">
                          <a:solidFill>
                            <a:srgbClr val="002D72"/>
                          </a:solidFill>
                          <a:latin typeface="Calibri" pitchFamily="34" charset="0"/>
                          <a:ea typeface="Calibri" pitchFamily="34" charset="-122"/>
                          <a:cs typeface="Calibri" pitchFamily="34" charset="-120"/>
                        </a:rPr>
                        <a:t>Instinet</a:t>
                      </a:r>
                      <a:endParaRPr lang="en-US" sz="700" dirty="0">
                        <a:latin typeface="Calibri" charset="0"/>
                        <a:ea typeface="Calibri" charset="0"/>
                        <a:cs typeface="Calibri" charset="0"/>
                      </a:endParaRPr>
                    </a:p>
                  </a:txBody>
                  <a:tcPr marL="36576" marR="36576" marT="36576" marB="36576" anchor="ctr">
                    <a:lnL w="6350" cap="flat" cmpd="sng" algn="ctr">
                      <a:solidFill>
                        <a:srgbClr val="D6E4F0"/>
                      </a:solidFill>
                      <a:prstDash val="solid"/>
                      <a:round/>
                      <a:headEnd type="none" w="med" len="med"/>
                      <a:tailEnd type="none" w="med" len="med"/>
                    </a:lnL>
                    <a:lnR w="6350" cap="flat" cmpd="sng" algn="ctr">
                      <a:solidFill>
                        <a:srgbClr val="D6E4F0"/>
                      </a:solidFill>
                      <a:prstDash val="solid"/>
                      <a:round/>
                      <a:headEnd type="none" w="med" len="med"/>
                      <a:tailEnd type="none" w="med" len="med"/>
                    </a:lnR>
                    <a:lnT w="6350" cap="flat" cmpd="sng" algn="ctr">
                      <a:solidFill>
                        <a:srgbClr val="D6E4F0"/>
                      </a:solidFill>
                      <a:prstDash val="solid"/>
                      <a:round/>
                      <a:headEnd type="none" w="med" len="med"/>
                      <a:tailEnd type="none" w="med" len="med"/>
                    </a:lnT>
                    <a:lnB w="6350" cap="flat" cmpd="sng" algn="ctr">
                      <a:solidFill>
                        <a:srgbClr val="D6E4F0"/>
                      </a:solidFill>
                      <a:prstDash val="solid"/>
                      <a:round/>
                      <a:headEnd type="none" w="med" len="med"/>
                      <a:tailEnd type="none" w="med" len="med"/>
                    </a:lnB>
                    <a:solidFill>
                      <a:srgbClr val="FFFFFF"/>
                    </a:solidFill>
                  </a:tcPr>
                </a:tc>
                <a:tc>
                  <a:txBody>
                    <a:bodyPr/>
                    <a:lstStyle/>
                    <a:p>
                      <a:pPr indent="0" marL="0">
                        <a:buNone/>
                      </a:pPr>
                      <a:r>
                        <a:rPr lang="en-US" sz="700" dirty="0">
                          <a:solidFill>
                            <a:srgbClr val="3F5265"/>
                          </a:solidFill>
                          <a:latin typeface="Calibri" pitchFamily="34" charset="0"/>
                          <a:ea typeface="Calibri" pitchFamily="34" charset="-122"/>
                          <a:cs typeface="Calibri" pitchFamily="34" charset="-120"/>
                        </a:rPr>
                        <a:t>Newport</a:t>
                      </a:r>
                      <a:endParaRPr lang="en-US" sz="700" dirty="0">
                        <a:latin typeface="Calibri" charset="0"/>
                        <a:ea typeface="Calibri" charset="0"/>
                        <a:cs typeface="Calibri" charset="0"/>
                      </a:endParaRPr>
                    </a:p>
                  </a:txBody>
                  <a:tcPr marL="36576" marR="36576" marT="36576" marB="36576" anchor="ctr">
                    <a:lnL w="6350" cap="flat" cmpd="sng" algn="ctr">
                      <a:solidFill>
                        <a:srgbClr val="D6E4F0"/>
                      </a:solidFill>
                      <a:prstDash val="solid"/>
                      <a:round/>
                      <a:headEnd type="none" w="med" len="med"/>
                      <a:tailEnd type="none" w="med" len="med"/>
                    </a:lnL>
                    <a:lnR w="6350" cap="flat" cmpd="sng" algn="ctr">
                      <a:solidFill>
                        <a:srgbClr val="D6E4F0"/>
                      </a:solidFill>
                      <a:prstDash val="solid"/>
                      <a:round/>
                      <a:headEnd type="none" w="med" len="med"/>
                      <a:tailEnd type="none" w="med" len="med"/>
                    </a:lnR>
                    <a:lnT w="6350" cap="flat" cmpd="sng" algn="ctr">
                      <a:solidFill>
                        <a:srgbClr val="D6E4F0"/>
                      </a:solidFill>
                      <a:prstDash val="solid"/>
                      <a:round/>
                      <a:headEnd type="none" w="med" len="med"/>
                      <a:tailEnd type="none" w="med" len="med"/>
                    </a:lnT>
                    <a:lnB w="6350" cap="flat" cmpd="sng" algn="ctr">
                      <a:solidFill>
                        <a:srgbClr val="D6E4F0"/>
                      </a:solidFill>
                      <a:prstDash val="solid"/>
                      <a:round/>
                      <a:headEnd type="none" w="med" len="med"/>
                      <a:tailEnd type="none" w="med" len="med"/>
                    </a:lnB>
                    <a:solidFill>
                      <a:srgbClr val="FFFFFF"/>
                    </a:solidFill>
                  </a:tcPr>
                </a:tc>
                <a:tc>
                  <a:txBody>
                    <a:bodyPr/>
                    <a:lstStyle/>
                    <a:p>
                      <a:pPr indent="0" marL="0">
                        <a:buNone/>
                      </a:pPr>
                      <a:r>
                        <a:rPr lang="en-US" sz="700" dirty="0">
                          <a:solidFill>
                            <a:srgbClr val="3F5265"/>
                          </a:solidFill>
                          <a:latin typeface="Calibri" pitchFamily="34" charset="0"/>
                          <a:ea typeface="Calibri" pitchFamily="34" charset="-122"/>
                          <a:cs typeface="Calibri" pitchFamily="34" charset="-120"/>
                        </a:rPr>
                        <a:t>FIX; Instinet agency network</a:t>
                      </a:r>
                      <a:endParaRPr lang="en-US" sz="700" dirty="0">
                        <a:latin typeface="Calibri" charset="0"/>
                        <a:ea typeface="Calibri" charset="0"/>
                        <a:cs typeface="Calibri" charset="0"/>
                      </a:endParaRPr>
                    </a:p>
                  </a:txBody>
                  <a:tcPr marL="36576" marR="36576" marT="36576" marB="36576" anchor="ctr">
                    <a:lnL w="6350" cap="flat" cmpd="sng" algn="ctr">
                      <a:solidFill>
                        <a:srgbClr val="D6E4F0"/>
                      </a:solidFill>
                      <a:prstDash val="solid"/>
                      <a:round/>
                      <a:headEnd type="none" w="med" len="med"/>
                      <a:tailEnd type="none" w="med" len="med"/>
                    </a:lnL>
                    <a:lnR w="6350" cap="flat" cmpd="sng" algn="ctr">
                      <a:solidFill>
                        <a:srgbClr val="D6E4F0"/>
                      </a:solidFill>
                      <a:prstDash val="solid"/>
                      <a:round/>
                      <a:headEnd type="none" w="med" len="med"/>
                      <a:tailEnd type="none" w="med" len="med"/>
                    </a:lnR>
                    <a:lnT w="6350" cap="flat" cmpd="sng" algn="ctr">
                      <a:solidFill>
                        <a:srgbClr val="D6E4F0"/>
                      </a:solidFill>
                      <a:prstDash val="solid"/>
                      <a:round/>
                      <a:headEnd type="none" w="med" len="med"/>
                      <a:tailEnd type="none" w="med" len="med"/>
                    </a:lnT>
                    <a:lnB w="6350" cap="flat" cmpd="sng" algn="ctr">
                      <a:solidFill>
                        <a:srgbClr val="D6E4F0"/>
                      </a:solidFill>
                      <a:prstDash val="solid"/>
                      <a:round/>
                      <a:headEnd type="none" w="med" len="med"/>
                      <a:tailEnd type="none" w="med" len="med"/>
                    </a:lnB>
                    <a:solidFill>
                      <a:srgbClr val="FFFFFF"/>
                    </a:solidFill>
                  </a:tcPr>
                </a:tc>
                <a:tc>
                  <a:txBody>
                    <a:bodyPr/>
                    <a:lstStyle/>
                    <a:p>
                      <a:pPr indent="0" marL="0">
                        <a:buNone/>
                      </a:pPr>
                      <a:r>
                        <a:rPr lang="en-US" sz="700" dirty="0">
                          <a:solidFill>
                            <a:srgbClr val="3F5265"/>
                          </a:solidFill>
                          <a:latin typeface="Calibri" pitchFamily="34" charset="0"/>
                          <a:ea typeface="Calibri" pitchFamily="34" charset="-122"/>
                          <a:cs typeface="Calibri" pitchFamily="34" charset="-120"/>
                        </a:rPr>
                        <a:t>Equities, options, futures</a:t>
                      </a:r>
                      <a:endParaRPr lang="en-US" sz="700" dirty="0">
                        <a:latin typeface="Calibri" charset="0"/>
                        <a:ea typeface="Calibri" charset="0"/>
                        <a:cs typeface="Calibri" charset="0"/>
                      </a:endParaRPr>
                    </a:p>
                  </a:txBody>
                  <a:tcPr marL="36576" marR="36576" marT="36576" marB="36576" anchor="ctr">
                    <a:lnL w="6350" cap="flat" cmpd="sng" algn="ctr">
                      <a:solidFill>
                        <a:srgbClr val="D6E4F0"/>
                      </a:solidFill>
                      <a:prstDash val="solid"/>
                      <a:round/>
                      <a:headEnd type="none" w="med" len="med"/>
                      <a:tailEnd type="none" w="med" len="med"/>
                    </a:lnL>
                    <a:lnR w="6350" cap="flat" cmpd="sng" algn="ctr">
                      <a:solidFill>
                        <a:srgbClr val="D6E4F0"/>
                      </a:solidFill>
                      <a:prstDash val="solid"/>
                      <a:round/>
                      <a:headEnd type="none" w="med" len="med"/>
                      <a:tailEnd type="none" w="med" len="med"/>
                    </a:lnR>
                    <a:lnT w="6350" cap="flat" cmpd="sng" algn="ctr">
                      <a:solidFill>
                        <a:srgbClr val="D6E4F0"/>
                      </a:solidFill>
                      <a:prstDash val="solid"/>
                      <a:round/>
                      <a:headEnd type="none" w="med" len="med"/>
                      <a:tailEnd type="none" w="med" len="med"/>
                    </a:lnT>
                    <a:lnB w="6350" cap="flat" cmpd="sng" algn="ctr">
                      <a:solidFill>
                        <a:srgbClr val="D6E4F0"/>
                      </a:solidFill>
                      <a:prstDash val="solid"/>
                      <a:round/>
                      <a:headEnd type="none" w="med" len="med"/>
                      <a:tailEnd type="none" w="med" len="med"/>
                    </a:lnB>
                    <a:solidFill>
                      <a:srgbClr val="FFFFFF"/>
                    </a:solidFill>
                  </a:tcPr>
                </a:tc>
                <a:tc>
                  <a:txBody>
                    <a:bodyPr/>
                    <a:lstStyle/>
                    <a:p>
                      <a:pPr indent="0" marL="0">
                        <a:buNone/>
                      </a:pPr>
                      <a:r>
                        <a:rPr lang="en-US" sz="700" i="1" dirty="0">
                          <a:solidFill>
                            <a:srgbClr val="7A8A99"/>
                          </a:solidFill>
                          <a:latin typeface="Calibri" pitchFamily="34" charset="0"/>
                          <a:ea typeface="Calibri" pitchFamily="34" charset="-122"/>
                          <a:cs typeface="Calibri" pitchFamily="34" charset="-120"/>
                        </a:rPr>
                        <a:t>To be confirmed</a:t>
                      </a:r>
                      <a:endParaRPr lang="en-US" sz="700" dirty="0">
                        <a:latin typeface="Calibri" charset="0"/>
                        <a:ea typeface="Calibri" charset="0"/>
                        <a:cs typeface="Calibri" charset="0"/>
                      </a:endParaRPr>
                    </a:p>
                  </a:txBody>
                  <a:tcPr marL="36576" marR="36576" marT="36576" marB="36576" anchor="ctr">
                    <a:lnL w="6350" cap="flat" cmpd="sng" algn="ctr">
                      <a:solidFill>
                        <a:srgbClr val="D6E4F0"/>
                      </a:solidFill>
                      <a:prstDash val="solid"/>
                      <a:round/>
                      <a:headEnd type="none" w="med" len="med"/>
                      <a:tailEnd type="none" w="med" len="med"/>
                    </a:lnL>
                    <a:lnR w="6350" cap="flat" cmpd="sng" algn="ctr">
                      <a:solidFill>
                        <a:srgbClr val="D6E4F0"/>
                      </a:solidFill>
                      <a:prstDash val="solid"/>
                      <a:round/>
                      <a:headEnd type="none" w="med" len="med"/>
                      <a:tailEnd type="none" w="med" len="med"/>
                    </a:lnR>
                    <a:lnT w="6350" cap="flat" cmpd="sng" algn="ctr">
                      <a:solidFill>
                        <a:srgbClr val="D6E4F0"/>
                      </a:solidFill>
                      <a:prstDash val="solid"/>
                      <a:round/>
                      <a:headEnd type="none" w="med" len="med"/>
                      <a:tailEnd type="none" w="med" len="med"/>
                    </a:lnT>
                    <a:lnB w="6350" cap="flat" cmpd="sng" algn="ctr">
                      <a:solidFill>
                        <a:srgbClr val="D6E4F0"/>
                      </a:solidFill>
                      <a:prstDash val="solid"/>
                      <a:round/>
                      <a:headEnd type="none" w="med" len="med"/>
                      <a:tailEnd type="none" w="med" len="med"/>
                    </a:lnB>
                    <a:solidFill>
                      <a:srgbClr val="FDF6E8"/>
                    </a:solidFill>
                  </a:tcPr>
                </a:tc>
              </a:tr>
              <a:tr h="228600">
                <a:tc>
                  <a:txBody>
                    <a:bodyPr/>
                    <a:lstStyle/>
                    <a:p>
                      <a:pPr indent="0" marL="0">
                        <a:buNone/>
                      </a:pPr>
                      <a:endParaRPr lang="en-US" sz="700" dirty="0">
                        <a:latin typeface="Calibri" charset="0"/>
                        <a:ea typeface="Calibri" charset="0"/>
                        <a:cs typeface="Calibri" charset="0"/>
                      </a:endParaRPr>
                    </a:p>
                  </a:txBody>
                  <a:tcPr marL="36576" marR="36576" marT="36576" marB="36576" anchor="ctr">
                    <a:lnL w="6350" cap="flat" cmpd="sng" algn="ctr">
                      <a:solidFill>
                        <a:srgbClr val="D6E4F0"/>
                      </a:solidFill>
                      <a:prstDash val="solid"/>
                      <a:round/>
                      <a:headEnd type="none" w="med" len="med"/>
                      <a:tailEnd type="none" w="med" len="med"/>
                    </a:lnL>
                    <a:lnR w="6350" cap="flat" cmpd="sng" algn="ctr">
                      <a:solidFill>
                        <a:srgbClr val="D6E4F0"/>
                      </a:solidFill>
                      <a:prstDash val="solid"/>
                      <a:round/>
                      <a:headEnd type="none" w="med" len="med"/>
                      <a:tailEnd type="none" w="med" len="med"/>
                    </a:lnR>
                    <a:lnT w="6350" cap="flat" cmpd="sng" algn="ctr">
                      <a:solidFill>
                        <a:srgbClr val="D6E4F0"/>
                      </a:solidFill>
                      <a:prstDash val="solid"/>
                      <a:round/>
                      <a:headEnd type="none" w="med" len="med"/>
                      <a:tailEnd type="none" w="med" len="med"/>
                    </a:lnT>
                    <a:lnB w="6350" cap="flat" cmpd="sng" algn="ctr">
                      <a:solidFill>
                        <a:srgbClr val="D6E4F0"/>
                      </a:solidFill>
                      <a:prstDash val="solid"/>
                      <a:round/>
                      <a:headEnd type="none" w="med" len="med"/>
                      <a:tailEnd type="none" w="med" len="med"/>
                    </a:lnB>
                    <a:solidFill>
                      <a:srgbClr val="FFFFFF"/>
                    </a:solidFill>
                  </a:tcPr>
                </a:tc>
                <a:tc>
                  <a:txBody>
                    <a:bodyPr/>
                    <a:lstStyle/>
                    <a:p>
                      <a:pPr indent="0" marL="0">
                        <a:buNone/>
                      </a:pPr>
                      <a:r>
                        <a:rPr lang="en-US" sz="700" b="1" dirty="0">
                          <a:solidFill>
                            <a:srgbClr val="002D72"/>
                          </a:solidFill>
                          <a:latin typeface="Calibri" pitchFamily="34" charset="0"/>
                          <a:ea typeface="Calibri" pitchFamily="34" charset="-122"/>
                          <a:cs typeface="Calibri" pitchFamily="34" charset="-120"/>
                        </a:rPr>
                        <a:t>Neovest (J.P. Morgan)</a:t>
                      </a:r>
                      <a:endParaRPr lang="en-US" sz="700" dirty="0">
                        <a:latin typeface="Calibri" charset="0"/>
                        <a:ea typeface="Calibri" charset="0"/>
                        <a:cs typeface="Calibri" charset="0"/>
                      </a:endParaRPr>
                    </a:p>
                  </a:txBody>
                  <a:tcPr marL="36576" marR="36576" marT="36576" marB="36576" anchor="ctr">
                    <a:lnL w="6350" cap="flat" cmpd="sng" algn="ctr">
                      <a:solidFill>
                        <a:srgbClr val="D6E4F0"/>
                      </a:solidFill>
                      <a:prstDash val="solid"/>
                      <a:round/>
                      <a:headEnd type="none" w="med" len="med"/>
                      <a:tailEnd type="none" w="med" len="med"/>
                    </a:lnL>
                    <a:lnR w="6350" cap="flat" cmpd="sng" algn="ctr">
                      <a:solidFill>
                        <a:srgbClr val="D6E4F0"/>
                      </a:solidFill>
                      <a:prstDash val="solid"/>
                      <a:round/>
                      <a:headEnd type="none" w="med" len="med"/>
                      <a:tailEnd type="none" w="med" len="med"/>
                    </a:lnR>
                    <a:lnT w="6350" cap="flat" cmpd="sng" algn="ctr">
                      <a:solidFill>
                        <a:srgbClr val="D6E4F0"/>
                      </a:solidFill>
                      <a:prstDash val="solid"/>
                      <a:round/>
                      <a:headEnd type="none" w="med" len="med"/>
                      <a:tailEnd type="none" w="med" len="med"/>
                    </a:lnT>
                    <a:lnB w="6350" cap="flat" cmpd="sng" algn="ctr">
                      <a:solidFill>
                        <a:srgbClr val="D6E4F0"/>
                      </a:solidFill>
                      <a:prstDash val="solid"/>
                      <a:round/>
                      <a:headEnd type="none" w="med" len="med"/>
                      <a:tailEnd type="none" w="med" len="med"/>
                    </a:lnB>
                    <a:solidFill>
                      <a:srgbClr val="FFFFFF"/>
                    </a:solidFill>
                  </a:tcPr>
                </a:tc>
                <a:tc>
                  <a:txBody>
                    <a:bodyPr/>
                    <a:lstStyle/>
                    <a:p>
                      <a:pPr indent="0" marL="0">
                        <a:buNone/>
                      </a:pPr>
                      <a:r>
                        <a:rPr lang="en-US" sz="700" dirty="0">
                          <a:solidFill>
                            <a:srgbClr val="3F5265"/>
                          </a:solidFill>
                          <a:latin typeface="Calibri" pitchFamily="34" charset="0"/>
                          <a:ea typeface="Calibri" pitchFamily="34" charset="-122"/>
                          <a:cs typeface="Calibri" pitchFamily="34" charset="-120"/>
                        </a:rPr>
                        <a:t>Neovest EMS, PortfolioOne</a:t>
                      </a:r>
                      <a:endParaRPr lang="en-US" sz="700" dirty="0">
                        <a:latin typeface="Calibri" charset="0"/>
                        <a:ea typeface="Calibri" charset="0"/>
                        <a:cs typeface="Calibri" charset="0"/>
                      </a:endParaRPr>
                    </a:p>
                  </a:txBody>
                  <a:tcPr marL="36576" marR="36576" marT="36576" marB="36576" anchor="ctr">
                    <a:lnL w="6350" cap="flat" cmpd="sng" algn="ctr">
                      <a:solidFill>
                        <a:srgbClr val="D6E4F0"/>
                      </a:solidFill>
                      <a:prstDash val="solid"/>
                      <a:round/>
                      <a:headEnd type="none" w="med" len="med"/>
                      <a:tailEnd type="none" w="med" len="med"/>
                    </a:lnL>
                    <a:lnR w="6350" cap="flat" cmpd="sng" algn="ctr">
                      <a:solidFill>
                        <a:srgbClr val="D6E4F0"/>
                      </a:solidFill>
                      <a:prstDash val="solid"/>
                      <a:round/>
                      <a:headEnd type="none" w="med" len="med"/>
                      <a:tailEnd type="none" w="med" len="med"/>
                    </a:lnR>
                    <a:lnT w="6350" cap="flat" cmpd="sng" algn="ctr">
                      <a:solidFill>
                        <a:srgbClr val="D6E4F0"/>
                      </a:solidFill>
                      <a:prstDash val="solid"/>
                      <a:round/>
                      <a:headEnd type="none" w="med" len="med"/>
                      <a:tailEnd type="none" w="med" len="med"/>
                    </a:lnT>
                    <a:lnB w="6350" cap="flat" cmpd="sng" algn="ctr">
                      <a:solidFill>
                        <a:srgbClr val="D6E4F0"/>
                      </a:solidFill>
                      <a:prstDash val="solid"/>
                      <a:round/>
                      <a:headEnd type="none" w="med" len="med"/>
                      <a:tailEnd type="none" w="med" len="med"/>
                    </a:lnB>
                    <a:solidFill>
                      <a:srgbClr val="FFFFFF"/>
                    </a:solidFill>
                  </a:tcPr>
                </a:tc>
                <a:tc>
                  <a:txBody>
                    <a:bodyPr/>
                    <a:lstStyle/>
                    <a:p>
                      <a:pPr indent="0" marL="0">
                        <a:buNone/>
                      </a:pPr>
                      <a:r>
                        <a:rPr lang="en-US" sz="700" dirty="0">
                          <a:solidFill>
                            <a:srgbClr val="3F5265"/>
                          </a:solidFill>
                          <a:latin typeface="Calibri" pitchFamily="34" charset="0"/>
                          <a:ea typeface="Calibri" pitchFamily="34" charset="-122"/>
                          <a:cs typeface="Calibri" pitchFamily="34" charset="-120"/>
                        </a:rPr>
                        <a:t>FIX; operated broker-neutral despite bank ownership</a:t>
                      </a:r>
                      <a:endParaRPr lang="en-US" sz="700" dirty="0">
                        <a:latin typeface="Calibri" charset="0"/>
                        <a:ea typeface="Calibri" charset="0"/>
                        <a:cs typeface="Calibri" charset="0"/>
                      </a:endParaRPr>
                    </a:p>
                  </a:txBody>
                  <a:tcPr marL="36576" marR="36576" marT="36576" marB="36576" anchor="ctr">
                    <a:lnL w="6350" cap="flat" cmpd="sng" algn="ctr">
                      <a:solidFill>
                        <a:srgbClr val="D6E4F0"/>
                      </a:solidFill>
                      <a:prstDash val="solid"/>
                      <a:round/>
                      <a:headEnd type="none" w="med" len="med"/>
                      <a:tailEnd type="none" w="med" len="med"/>
                    </a:lnL>
                    <a:lnR w="6350" cap="flat" cmpd="sng" algn="ctr">
                      <a:solidFill>
                        <a:srgbClr val="D6E4F0"/>
                      </a:solidFill>
                      <a:prstDash val="solid"/>
                      <a:round/>
                      <a:headEnd type="none" w="med" len="med"/>
                      <a:tailEnd type="none" w="med" len="med"/>
                    </a:lnR>
                    <a:lnT w="6350" cap="flat" cmpd="sng" algn="ctr">
                      <a:solidFill>
                        <a:srgbClr val="D6E4F0"/>
                      </a:solidFill>
                      <a:prstDash val="solid"/>
                      <a:round/>
                      <a:headEnd type="none" w="med" len="med"/>
                      <a:tailEnd type="none" w="med" len="med"/>
                    </a:lnT>
                    <a:lnB w="6350" cap="flat" cmpd="sng" algn="ctr">
                      <a:solidFill>
                        <a:srgbClr val="D6E4F0"/>
                      </a:solidFill>
                      <a:prstDash val="solid"/>
                      <a:round/>
                      <a:headEnd type="none" w="med" len="med"/>
                      <a:tailEnd type="none" w="med" len="med"/>
                    </a:lnB>
                    <a:solidFill>
                      <a:srgbClr val="FFFFFF"/>
                    </a:solidFill>
                  </a:tcPr>
                </a:tc>
                <a:tc>
                  <a:txBody>
                    <a:bodyPr/>
                    <a:lstStyle/>
                    <a:p>
                      <a:pPr indent="0" marL="0">
                        <a:buNone/>
                      </a:pPr>
                      <a:r>
                        <a:rPr lang="en-US" sz="700" dirty="0">
                          <a:solidFill>
                            <a:srgbClr val="3F5265"/>
                          </a:solidFill>
                          <a:latin typeface="Calibri" pitchFamily="34" charset="0"/>
                          <a:ea typeface="Calibri" pitchFamily="34" charset="-122"/>
                          <a:cs typeface="Calibri" pitchFamily="34" charset="-120"/>
                        </a:rPr>
                        <a:t>Equities, ETFs, listed derivatives, FX</a:t>
                      </a:r>
                      <a:endParaRPr lang="en-US" sz="700" dirty="0">
                        <a:latin typeface="Calibri" charset="0"/>
                        <a:ea typeface="Calibri" charset="0"/>
                        <a:cs typeface="Calibri" charset="0"/>
                      </a:endParaRPr>
                    </a:p>
                  </a:txBody>
                  <a:tcPr marL="36576" marR="36576" marT="36576" marB="36576" anchor="ctr">
                    <a:lnL w="6350" cap="flat" cmpd="sng" algn="ctr">
                      <a:solidFill>
                        <a:srgbClr val="D6E4F0"/>
                      </a:solidFill>
                      <a:prstDash val="solid"/>
                      <a:round/>
                      <a:headEnd type="none" w="med" len="med"/>
                      <a:tailEnd type="none" w="med" len="med"/>
                    </a:lnL>
                    <a:lnR w="6350" cap="flat" cmpd="sng" algn="ctr">
                      <a:solidFill>
                        <a:srgbClr val="D6E4F0"/>
                      </a:solidFill>
                      <a:prstDash val="solid"/>
                      <a:round/>
                      <a:headEnd type="none" w="med" len="med"/>
                      <a:tailEnd type="none" w="med" len="med"/>
                    </a:lnR>
                    <a:lnT w="6350" cap="flat" cmpd="sng" algn="ctr">
                      <a:solidFill>
                        <a:srgbClr val="D6E4F0"/>
                      </a:solidFill>
                      <a:prstDash val="solid"/>
                      <a:round/>
                      <a:headEnd type="none" w="med" len="med"/>
                      <a:tailEnd type="none" w="med" len="med"/>
                    </a:lnT>
                    <a:lnB w="6350" cap="flat" cmpd="sng" algn="ctr">
                      <a:solidFill>
                        <a:srgbClr val="D6E4F0"/>
                      </a:solidFill>
                      <a:prstDash val="solid"/>
                      <a:round/>
                      <a:headEnd type="none" w="med" len="med"/>
                      <a:tailEnd type="none" w="med" len="med"/>
                    </a:lnB>
                    <a:solidFill>
                      <a:srgbClr val="FFFFFF"/>
                    </a:solidFill>
                  </a:tcPr>
                </a:tc>
                <a:tc>
                  <a:txBody>
                    <a:bodyPr/>
                    <a:lstStyle/>
                    <a:p>
                      <a:pPr indent="0" marL="0">
                        <a:buNone/>
                      </a:pPr>
                      <a:r>
                        <a:rPr lang="en-US" sz="700" i="1" dirty="0">
                          <a:solidFill>
                            <a:srgbClr val="7A8A99"/>
                          </a:solidFill>
                          <a:latin typeface="Calibri" pitchFamily="34" charset="0"/>
                          <a:ea typeface="Calibri" pitchFamily="34" charset="-122"/>
                          <a:cs typeface="Calibri" pitchFamily="34" charset="-120"/>
                        </a:rPr>
                        <a:t>To be confirmed</a:t>
                      </a:r>
                      <a:endParaRPr lang="en-US" sz="700" dirty="0">
                        <a:latin typeface="Calibri" charset="0"/>
                        <a:ea typeface="Calibri" charset="0"/>
                        <a:cs typeface="Calibri" charset="0"/>
                      </a:endParaRPr>
                    </a:p>
                  </a:txBody>
                  <a:tcPr marL="36576" marR="36576" marT="36576" marB="36576" anchor="ctr">
                    <a:lnL w="6350" cap="flat" cmpd="sng" algn="ctr">
                      <a:solidFill>
                        <a:srgbClr val="D6E4F0"/>
                      </a:solidFill>
                      <a:prstDash val="solid"/>
                      <a:round/>
                      <a:headEnd type="none" w="med" len="med"/>
                      <a:tailEnd type="none" w="med" len="med"/>
                    </a:lnL>
                    <a:lnR w="6350" cap="flat" cmpd="sng" algn="ctr">
                      <a:solidFill>
                        <a:srgbClr val="D6E4F0"/>
                      </a:solidFill>
                      <a:prstDash val="solid"/>
                      <a:round/>
                      <a:headEnd type="none" w="med" len="med"/>
                      <a:tailEnd type="none" w="med" len="med"/>
                    </a:lnR>
                    <a:lnT w="6350" cap="flat" cmpd="sng" algn="ctr">
                      <a:solidFill>
                        <a:srgbClr val="D6E4F0"/>
                      </a:solidFill>
                      <a:prstDash val="solid"/>
                      <a:round/>
                      <a:headEnd type="none" w="med" len="med"/>
                      <a:tailEnd type="none" w="med" len="med"/>
                    </a:lnT>
                    <a:lnB w="6350" cap="flat" cmpd="sng" algn="ctr">
                      <a:solidFill>
                        <a:srgbClr val="D6E4F0"/>
                      </a:solidFill>
                      <a:prstDash val="solid"/>
                      <a:round/>
                      <a:headEnd type="none" w="med" len="med"/>
                      <a:tailEnd type="none" w="med" len="med"/>
                    </a:lnB>
                    <a:solidFill>
                      <a:srgbClr val="FDF6E8"/>
                    </a:solidFill>
                  </a:tcPr>
                </a:tc>
              </a:tr>
              <a:tr h="228600">
                <a:tc>
                  <a:txBody>
                    <a:bodyPr/>
                    <a:lstStyle/>
                    <a:p>
                      <a:pPr indent="0" marL="0">
                        <a:buNone/>
                      </a:pPr>
                      <a:endParaRPr lang="en-US" sz="700" dirty="0">
                        <a:latin typeface="Calibri" charset="0"/>
                        <a:ea typeface="Calibri" charset="0"/>
                        <a:cs typeface="Calibri" charset="0"/>
                      </a:endParaRPr>
                    </a:p>
                  </a:txBody>
                  <a:tcPr marL="36576" marR="36576" marT="36576" marB="36576" anchor="ctr">
                    <a:lnL w="6350" cap="flat" cmpd="sng" algn="ctr">
                      <a:solidFill>
                        <a:srgbClr val="D6E4F0"/>
                      </a:solidFill>
                      <a:prstDash val="solid"/>
                      <a:round/>
                      <a:headEnd type="none" w="med" len="med"/>
                      <a:tailEnd type="none" w="med" len="med"/>
                    </a:lnL>
                    <a:lnR w="6350" cap="flat" cmpd="sng" algn="ctr">
                      <a:solidFill>
                        <a:srgbClr val="D6E4F0"/>
                      </a:solidFill>
                      <a:prstDash val="solid"/>
                      <a:round/>
                      <a:headEnd type="none" w="med" len="med"/>
                      <a:tailEnd type="none" w="med" len="med"/>
                    </a:lnR>
                    <a:lnT w="6350" cap="flat" cmpd="sng" algn="ctr">
                      <a:solidFill>
                        <a:srgbClr val="D6E4F0"/>
                      </a:solidFill>
                      <a:prstDash val="solid"/>
                      <a:round/>
                      <a:headEnd type="none" w="med" len="med"/>
                      <a:tailEnd type="none" w="med" len="med"/>
                    </a:lnT>
                    <a:lnB w="6350" cap="flat" cmpd="sng" algn="ctr">
                      <a:solidFill>
                        <a:srgbClr val="D6E4F0"/>
                      </a:solidFill>
                      <a:prstDash val="solid"/>
                      <a:round/>
                      <a:headEnd type="none" w="med" len="med"/>
                      <a:tailEnd type="none" w="med" len="med"/>
                    </a:lnB>
                    <a:solidFill>
                      <a:srgbClr val="FFFFFF"/>
                    </a:solidFill>
                  </a:tcPr>
                </a:tc>
                <a:tc>
                  <a:txBody>
                    <a:bodyPr/>
                    <a:lstStyle/>
                    <a:p>
                      <a:pPr indent="0" marL="0">
                        <a:buNone/>
                      </a:pPr>
                      <a:r>
                        <a:rPr lang="en-US" sz="700" b="1" dirty="0">
                          <a:solidFill>
                            <a:srgbClr val="002D72"/>
                          </a:solidFill>
                          <a:latin typeface="Calibri" pitchFamily="34" charset="0"/>
                          <a:ea typeface="Calibri" pitchFamily="34" charset="-122"/>
                          <a:cs typeface="Calibri" pitchFamily="34" charset="-120"/>
                        </a:rPr>
                        <a:t>SS&amp;C Eze</a:t>
                      </a:r>
                      <a:endParaRPr lang="en-US" sz="700" dirty="0">
                        <a:latin typeface="Calibri" charset="0"/>
                        <a:ea typeface="Calibri" charset="0"/>
                        <a:cs typeface="Calibri" charset="0"/>
                      </a:endParaRPr>
                    </a:p>
                  </a:txBody>
                  <a:tcPr marL="36576" marR="36576" marT="36576" marB="36576" anchor="ctr">
                    <a:lnL w="6350" cap="flat" cmpd="sng" algn="ctr">
                      <a:solidFill>
                        <a:srgbClr val="D6E4F0"/>
                      </a:solidFill>
                      <a:prstDash val="solid"/>
                      <a:round/>
                      <a:headEnd type="none" w="med" len="med"/>
                      <a:tailEnd type="none" w="med" len="med"/>
                    </a:lnL>
                    <a:lnR w="6350" cap="flat" cmpd="sng" algn="ctr">
                      <a:solidFill>
                        <a:srgbClr val="D6E4F0"/>
                      </a:solidFill>
                      <a:prstDash val="solid"/>
                      <a:round/>
                      <a:headEnd type="none" w="med" len="med"/>
                      <a:tailEnd type="none" w="med" len="med"/>
                    </a:lnR>
                    <a:lnT w="6350" cap="flat" cmpd="sng" algn="ctr">
                      <a:solidFill>
                        <a:srgbClr val="D6E4F0"/>
                      </a:solidFill>
                      <a:prstDash val="solid"/>
                      <a:round/>
                      <a:headEnd type="none" w="med" len="med"/>
                      <a:tailEnd type="none" w="med" len="med"/>
                    </a:lnT>
                    <a:lnB w="6350" cap="flat" cmpd="sng" algn="ctr">
                      <a:solidFill>
                        <a:srgbClr val="D6E4F0"/>
                      </a:solidFill>
                      <a:prstDash val="solid"/>
                      <a:round/>
                      <a:headEnd type="none" w="med" len="med"/>
                      <a:tailEnd type="none" w="med" len="med"/>
                    </a:lnB>
                    <a:solidFill>
                      <a:srgbClr val="FFFFFF"/>
                    </a:solidFill>
                  </a:tcPr>
                </a:tc>
                <a:tc>
                  <a:txBody>
                    <a:bodyPr/>
                    <a:lstStyle/>
                    <a:p>
                      <a:pPr indent="0" marL="0">
                        <a:buNone/>
                      </a:pPr>
                      <a:r>
                        <a:rPr lang="en-US" sz="700" dirty="0">
                          <a:solidFill>
                            <a:srgbClr val="3F5265"/>
                          </a:solidFill>
                          <a:latin typeface="Calibri" pitchFamily="34" charset="0"/>
                          <a:ea typeface="Calibri" pitchFamily="34" charset="-122"/>
                          <a:cs typeface="Calibri" pitchFamily="34" charset="-120"/>
                        </a:rPr>
                        <a:t>RealTick</a:t>
                      </a:r>
                      <a:endParaRPr lang="en-US" sz="700" dirty="0">
                        <a:latin typeface="Calibri" charset="0"/>
                        <a:ea typeface="Calibri" charset="0"/>
                        <a:cs typeface="Calibri" charset="0"/>
                      </a:endParaRPr>
                    </a:p>
                  </a:txBody>
                  <a:tcPr marL="36576" marR="36576" marT="36576" marB="36576" anchor="ctr">
                    <a:lnL w="6350" cap="flat" cmpd="sng" algn="ctr">
                      <a:solidFill>
                        <a:srgbClr val="D6E4F0"/>
                      </a:solidFill>
                      <a:prstDash val="solid"/>
                      <a:round/>
                      <a:headEnd type="none" w="med" len="med"/>
                      <a:tailEnd type="none" w="med" len="med"/>
                    </a:lnL>
                    <a:lnR w="6350" cap="flat" cmpd="sng" algn="ctr">
                      <a:solidFill>
                        <a:srgbClr val="D6E4F0"/>
                      </a:solidFill>
                      <a:prstDash val="solid"/>
                      <a:round/>
                      <a:headEnd type="none" w="med" len="med"/>
                      <a:tailEnd type="none" w="med" len="med"/>
                    </a:lnR>
                    <a:lnT w="6350" cap="flat" cmpd="sng" algn="ctr">
                      <a:solidFill>
                        <a:srgbClr val="D6E4F0"/>
                      </a:solidFill>
                      <a:prstDash val="solid"/>
                      <a:round/>
                      <a:headEnd type="none" w="med" len="med"/>
                      <a:tailEnd type="none" w="med" len="med"/>
                    </a:lnT>
                    <a:lnB w="6350" cap="flat" cmpd="sng" algn="ctr">
                      <a:solidFill>
                        <a:srgbClr val="D6E4F0"/>
                      </a:solidFill>
                      <a:prstDash val="solid"/>
                      <a:round/>
                      <a:headEnd type="none" w="med" len="med"/>
                      <a:tailEnd type="none" w="med" len="med"/>
                    </a:lnB>
                    <a:solidFill>
                      <a:srgbClr val="FFFFFF"/>
                    </a:solidFill>
                  </a:tcPr>
                </a:tc>
                <a:tc>
                  <a:txBody>
                    <a:bodyPr/>
                    <a:lstStyle/>
                    <a:p>
                      <a:pPr indent="0" marL="0">
                        <a:buNone/>
                      </a:pPr>
                      <a:r>
                        <a:rPr lang="en-US" sz="700" dirty="0">
                          <a:solidFill>
                            <a:srgbClr val="3F5265"/>
                          </a:solidFill>
                          <a:latin typeface="Calibri" pitchFamily="34" charset="0"/>
                          <a:ea typeface="Calibri" pitchFamily="34" charset="-122"/>
                          <a:cs typeface="Calibri" pitchFamily="34" charset="-120"/>
                        </a:rPr>
                        <a:t>FIX; broker-agnostic dynamic routing</a:t>
                      </a:r>
                      <a:endParaRPr lang="en-US" sz="700" dirty="0">
                        <a:latin typeface="Calibri" charset="0"/>
                        <a:ea typeface="Calibri" charset="0"/>
                        <a:cs typeface="Calibri" charset="0"/>
                      </a:endParaRPr>
                    </a:p>
                  </a:txBody>
                  <a:tcPr marL="36576" marR="36576" marT="36576" marB="36576" anchor="ctr">
                    <a:lnL w="6350" cap="flat" cmpd="sng" algn="ctr">
                      <a:solidFill>
                        <a:srgbClr val="D6E4F0"/>
                      </a:solidFill>
                      <a:prstDash val="solid"/>
                      <a:round/>
                      <a:headEnd type="none" w="med" len="med"/>
                      <a:tailEnd type="none" w="med" len="med"/>
                    </a:lnL>
                    <a:lnR w="6350" cap="flat" cmpd="sng" algn="ctr">
                      <a:solidFill>
                        <a:srgbClr val="D6E4F0"/>
                      </a:solidFill>
                      <a:prstDash val="solid"/>
                      <a:round/>
                      <a:headEnd type="none" w="med" len="med"/>
                      <a:tailEnd type="none" w="med" len="med"/>
                    </a:lnR>
                    <a:lnT w="6350" cap="flat" cmpd="sng" algn="ctr">
                      <a:solidFill>
                        <a:srgbClr val="D6E4F0"/>
                      </a:solidFill>
                      <a:prstDash val="solid"/>
                      <a:round/>
                      <a:headEnd type="none" w="med" len="med"/>
                      <a:tailEnd type="none" w="med" len="med"/>
                    </a:lnT>
                    <a:lnB w="6350" cap="flat" cmpd="sng" algn="ctr">
                      <a:solidFill>
                        <a:srgbClr val="D6E4F0"/>
                      </a:solidFill>
                      <a:prstDash val="solid"/>
                      <a:round/>
                      <a:headEnd type="none" w="med" len="med"/>
                      <a:tailEnd type="none" w="med" len="med"/>
                    </a:lnB>
                    <a:solidFill>
                      <a:srgbClr val="FFFFFF"/>
                    </a:solidFill>
                  </a:tcPr>
                </a:tc>
                <a:tc>
                  <a:txBody>
                    <a:bodyPr/>
                    <a:lstStyle/>
                    <a:p>
                      <a:pPr indent="0" marL="0">
                        <a:buNone/>
                      </a:pPr>
                      <a:r>
                        <a:rPr lang="en-US" sz="700" dirty="0">
                          <a:solidFill>
                            <a:srgbClr val="3F5265"/>
                          </a:solidFill>
                          <a:latin typeface="Calibri" pitchFamily="34" charset="0"/>
                          <a:ea typeface="Calibri" pitchFamily="34" charset="-122"/>
                          <a:cs typeface="Calibri" pitchFamily="34" charset="-120"/>
                        </a:rPr>
                        <a:t>Multi-asset</a:t>
                      </a:r>
                      <a:endParaRPr lang="en-US" sz="700" dirty="0">
                        <a:latin typeface="Calibri" charset="0"/>
                        <a:ea typeface="Calibri" charset="0"/>
                        <a:cs typeface="Calibri" charset="0"/>
                      </a:endParaRPr>
                    </a:p>
                  </a:txBody>
                  <a:tcPr marL="36576" marR="36576" marT="36576" marB="36576" anchor="ctr">
                    <a:lnL w="6350" cap="flat" cmpd="sng" algn="ctr">
                      <a:solidFill>
                        <a:srgbClr val="D6E4F0"/>
                      </a:solidFill>
                      <a:prstDash val="solid"/>
                      <a:round/>
                      <a:headEnd type="none" w="med" len="med"/>
                      <a:tailEnd type="none" w="med" len="med"/>
                    </a:lnL>
                    <a:lnR w="6350" cap="flat" cmpd="sng" algn="ctr">
                      <a:solidFill>
                        <a:srgbClr val="D6E4F0"/>
                      </a:solidFill>
                      <a:prstDash val="solid"/>
                      <a:round/>
                      <a:headEnd type="none" w="med" len="med"/>
                      <a:tailEnd type="none" w="med" len="med"/>
                    </a:lnR>
                    <a:lnT w="6350" cap="flat" cmpd="sng" algn="ctr">
                      <a:solidFill>
                        <a:srgbClr val="D6E4F0"/>
                      </a:solidFill>
                      <a:prstDash val="solid"/>
                      <a:round/>
                      <a:headEnd type="none" w="med" len="med"/>
                      <a:tailEnd type="none" w="med" len="med"/>
                    </a:lnT>
                    <a:lnB w="6350" cap="flat" cmpd="sng" algn="ctr">
                      <a:solidFill>
                        <a:srgbClr val="D6E4F0"/>
                      </a:solidFill>
                      <a:prstDash val="solid"/>
                      <a:round/>
                      <a:headEnd type="none" w="med" len="med"/>
                      <a:tailEnd type="none" w="med" len="med"/>
                    </a:lnB>
                    <a:solidFill>
                      <a:srgbClr val="FFFFFF"/>
                    </a:solidFill>
                  </a:tcPr>
                </a:tc>
                <a:tc>
                  <a:txBody>
                    <a:bodyPr/>
                    <a:lstStyle/>
                    <a:p>
                      <a:pPr indent="0" marL="0">
                        <a:buNone/>
                      </a:pPr>
                      <a:r>
                        <a:rPr lang="en-US" sz="700" i="1" dirty="0">
                          <a:solidFill>
                            <a:srgbClr val="7A8A99"/>
                          </a:solidFill>
                          <a:latin typeface="Calibri" pitchFamily="34" charset="0"/>
                          <a:ea typeface="Calibri" pitchFamily="34" charset="-122"/>
                          <a:cs typeface="Calibri" pitchFamily="34" charset="-120"/>
                        </a:rPr>
                        <a:t>To be confirmed</a:t>
                      </a:r>
                      <a:endParaRPr lang="en-US" sz="700" dirty="0">
                        <a:latin typeface="Calibri" charset="0"/>
                        <a:ea typeface="Calibri" charset="0"/>
                        <a:cs typeface="Calibri" charset="0"/>
                      </a:endParaRPr>
                    </a:p>
                  </a:txBody>
                  <a:tcPr marL="36576" marR="36576" marT="36576" marB="36576" anchor="ctr">
                    <a:lnL w="6350" cap="flat" cmpd="sng" algn="ctr">
                      <a:solidFill>
                        <a:srgbClr val="D6E4F0"/>
                      </a:solidFill>
                      <a:prstDash val="solid"/>
                      <a:round/>
                      <a:headEnd type="none" w="med" len="med"/>
                      <a:tailEnd type="none" w="med" len="med"/>
                    </a:lnL>
                    <a:lnR w="6350" cap="flat" cmpd="sng" algn="ctr">
                      <a:solidFill>
                        <a:srgbClr val="D6E4F0"/>
                      </a:solidFill>
                      <a:prstDash val="solid"/>
                      <a:round/>
                      <a:headEnd type="none" w="med" len="med"/>
                      <a:tailEnd type="none" w="med" len="med"/>
                    </a:lnR>
                    <a:lnT w="6350" cap="flat" cmpd="sng" algn="ctr">
                      <a:solidFill>
                        <a:srgbClr val="D6E4F0"/>
                      </a:solidFill>
                      <a:prstDash val="solid"/>
                      <a:round/>
                      <a:headEnd type="none" w="med" len="med"/>
                      <a:tailEnd type="none" w="med" len="med"/>
                    </a:lnT>
                    <a:lnB w="6350" cap="flat" cmpd="sng" algn="ctr">
                      <a:solidFill>
                        <a:srgbClr val="D6E4F0"/>
                      </a:solidFill>
                      <a:prstDash val="solid"/>
                      <a:round/>
                      <a:headEnd type="none" w="med" len="med"/>
                      <a:tailEnd type="none" w="med" len="med"/>
                    </a:lnB>
                    <a:solidFill>
                      <a:srgbClr val="FDF6E8"/>
                    </a:solidFill>
                  </a:tcPr>
                </a:tc>
              </a:tr>
              <a:tr h="228600">
                <a:tc>
                  <a:txBody>
                    <a:bodyPr/>
                    <a:lstStyle/>
                    <a:p>
                      <a:pPr indent="0" marL="0">
                        <a:buNone/>
                      </a:pPr>
                      <a:endParaRPr lang="en-US" sz="700" dirty="0">
                        <a:latin typeface="Calibri" charset="0"/>
                        <a:ea typeface="Calibri" charset="0"/>
                        <a:cs typeface="Calibri" charset="0"/>
                      </a:endParaRPr>
                    </a:p>
                  </a:txBody>
                  <a:tcPr marL="36576" marR="36576" marT="36576" marB="36576" anchor="ctr">
                    <a:lnL w="6350" cap="flat" cmpd="sng" algn="ctr">
                      <a:solidFill>
                        <a:srgbClr val="D6E4F0"/>
                      </a:solidFill>
                      <a:prstDash val="solid"/>
                      <a:round/>
                      <a:headEnd type="none" w="med" len="med"/>
                      <a:tailEnd type="none" w="med" len="med"/>
                    </a:lnL>
                    <a:lnR w="6350" cap="flat" cmpd="sng" algn="ctr">
                      <a:solidFill>
                        <a:srgbClr val="D6E4F0"/>
                      </a:solidFill>
                      <a:prstDash val="solid"/>
                      <a:round/>
                      <a:headEnd type="none" w="med" len="med"/>
                      <a:tailEnd type="none" w="med" len="med"/>
                    </a:lnR>
                    <a:lnT w="6350" cap="flat" cmpd="sng" algn="ctr">
                      <a:solidFill>
                        <a:srgbClr val="D6E4F0"/>
                      </a:solidFill>
                      <a:prstDash val="solid"/>
                      <a:round/>
                      <a:headEnd type="none" w="med" len="med"/>
                      <a:tailEnd type="none" w="med" len="med"/>
                    </a:lnT>
                    <a:lnB w="6350" cap="flat" cmpd="sng" algn="ctr">
                      <a:solidFill>
                        <a:srgbClr val="D6E4F0"/>
                      </a:solidFill>
                      <a:prstDash val="solid"/>
                      <a:round/>
                      <a:headEnd type="none" w="med" len="med"/>
                      <a:tailEnd type="none" w="med" len="med"/>
                    </a:lnB>
                    <a:solidFill>
                      <a:srgbClr val="FFFFFF"/>
                    </a:solidFill>
                  </a:tcPr>
                </a:tc>
                <a:tc>
                  <a:txBody>
                    <a:bodyPr/>
                    <a:lstStyle/>
                    <a:p>
                      <a:pPr indent="0" marL="0">
                        <a:buNone/>
                      </a:pPr>
                      <a:r>
                        <a:rPr lang="en-US" sz="700" b="1" dirty="0">
                          <a:solidFill>
                            <a:srgbClr val="002D72"/>
                          </a:solidFill>
                          <a:latin typeface="Calibri" pitchFamily="34" charset="0"/>
                          <a:ea typeface="Calibri" pitchFamily="34" charset="-122"/>
                          <a:cs typeface="Calibri" pitchFamily="34" charset="-120"/>
                        </a:rPr>
                        <a:t>FactSet</a:t>
                      </a:r>
                      <a:endParaRPr lang="en-US" sz="700" dirty="0">
                        <a:latin typeface="Calibri" charset="0"/>
                        <a:ea typeface="Calibri" charset="0"/>
                        <a:cs typeface="Calibri" charset="0"/>
                      </a:endParaRPr>
                    </a:p>
                  </a:txBody>
                  <a:tcPr marL="36576" marR="36576" marT="36576" marB="36576" anchor="ctr">
                    <a:lnL w="6350" cap="flat" cmpd="sng" algn="ctr">
                      <a:solidFill>
                        <a:srgbClr val="D6E4F0"/>
                      </a:solidFill>
                      <a:prstDash val="solid"/>
                      <a:round/>
                      <a:headEnd type="none" w="med" len="med"/>
                      <a:tailEnd type="none" w="med" len="med"/>
                    </a:lnL>
                    <a:lnR w="6350" cap="flat" cmpd="sng" algn="ctr">
                      <a:solidFill>
                        <a:srgbClr val="D6E4F0"/>
                      </a:solidFill>
                      <a:prstDash val="solid"/>
                      <a:round/>
                      <a:headEnd type="none" w="med" len="med"/>
                      <a:tailEnd type="none" w="med" len="med"/>
                    </a:lnR>
                    <a:lnT w="6350" cap="flat" cmpd="sng" algn="ctr">
                      <a:solidFill>
                        <a:srgbClr val="D6E4F0"/>
                      </a:solidFill>
                      <a:prstDash val="solid"/>
                      <a:round/>
                      <a:headEnd type="none" w="med" len="med"/>
                      <a:tailEnd type="none" w="med" len="med"/>
                    </a:lnT>
                    <a:lnB w="6350" cap="flat" cmpd="sng" algn="ctr">
                      <a:solidFill>
                        <a:srgbClr val="D6E4F0"/>
                      </a:solidFill>
                      <a:prstDash val="solid"/>
                      <a:round/>
                      <a:headEnd type="none" w="med" len="med"/>
                      <a:tailEnd type="none" w="med" len="med"/>
                    </a:lnB>
                    <a:solidFill>
                      <a:srgbClr val="FFFFFF"/>
                    </a:solidFill>
                  </a:tcPr>
                </a:tc>
                <a:tc>
                  <a:txBody>
                    <a:bodyPr/>
                    <a:lstStyle/>
                    <a:p>
                      <a:pPr indent="0" marL="0">
                        <a:buNone/>
                      </a:pPr>
                      <a:r>
                        <a:rPr lang="en-US" sz="700" dirty="0">
                          <a:solidFill>
                            <a:srgbClr val="3F5265"/>
                          </a:solidFill>
                          <a:latin typeface="Calibri" pitchFamily="34" charset="0"/>
                          <a:ea typeface="Calibri" pitchFamily="34" charset="-122"/>
                          <a:cs typeface="Calibri" pitchFamily="34" charset="-120"/>
                        </a:rPr>
                        <a:t>Portware Enterprise</a:t>
                      </a:r>
                      <a:endParaRPr lang="en-US" sz="700" dirty="0">
                        <a:latin typeface="Calibri" charset="0"/>
                        <a:ea typeface="Calibri" charset="0"/>
                        <a:cs typeface="Calibri" charset="0"/>
                      </a:endParaRPr>
                    </a:p>
                  </a:txBody>
                  <a:tcPr marL="36576" marR="36576" marT="36576" marB="36576" anchor="ctr">
                    <a:lnL w="6350" cap="flat" cmpd="sng" algn="ctr">
                      <a:solidFill>
                        <a:srgbClr val="D6E4F0"/>
                      </a:solidFill>
                      <a:prstDash val="solid"/>
                      <a:round/>
                      <a:headEnd type="none" w="med" len="med"/>
                      <a:tailEnd type="none" w="med" len="med"/>
                    </a:lnL>
                    <a:lnR w="6350" cap="flat" cmpd="sng" algn="ctr">
                      <a:solidFill>
                        <a:srgbClr val="D6E4F0"/>
                      </a:solidFill>
                      <a:prstDash val="solid"/>
                      <a:round/>
                      <a:headEnd type="none" w="med" len="med"/>
                      <a:tailEnd type="none" w="med" len="med"/>
                    </a:lnR>
                    <a:lnT w="6350" cap="flat" cmpd="sng" algn="ctr">
                      <a:solidFill>
                        <a:srgbClr val="D6E4F0"/>
                      </a:solidFill>
                      <a:prstDash val="solid"/>
                      <a:round/>
                      <a:headEnd type="none" w="med" len="med"/>
                      <a:tailEnd type="none" w="med" len="med"/>
                    </a:lnT>
                    <a:lnB w="6350" cap="flat" cmpd="sng" algn="ctr">
                      <a:solidFill>
                        <a:srgbClr val="D6E4F0"/>
                      </a:solidFill>
                      <a:prstDash val="solid"/>
                      <a:round/>
                      <a:headEnd type="none" w="med" len="med"/>
                      <a:tailEnd type="none" w="med" len="med"/>
                    </a:lnB>
                    <a:solidFill>
                      <a:srgbClr val="FFFFFF"/>
                    </a:solidFill>
                  </a:tcPr>
                </a:tc>
                <a:tc>
                  <a:txBody>
                    <a:bodyPr/>
                    <a:lstStyle/>
                    <a:p>
                      <a:pPr indent="0" marL="0">
                        <a:buNone/>
                      </a:pPr>
                      <a:r>
                        <a:rPr lang="en-US" sz="700" dirty="0">
                          <a:solidFill>
                            <a:srgbClr val="3F5265"/>
                          </a:solidFill>
                          <a:latin typeface="Calibri" pitchFamily="34" charset="0"/>
                          <a:ea typeface="Calibri" pitchFamily="34" charset="-122"/>
                          <a:cs typeface="Calibri" pitchFamily="34" charset="-120"/>
                        </a:rPr>
                        <a:t>FIX; API integration into Aladdin</a:t>
                      </a:r>
                      <a:endParaRPr lang="en-US" sz="700" dirty="0">
                        <a:latin typeface="Calibri" charset="0"/>
                        <a:ea typeface="Calibri" charset="0"/>
                        <a:cs typeface="Calibri" charset="0"/>
                      </a:endParaRPr>
                    </a:p>
                  </a:txBody>
                  <a:tcPr marL="36576" marR="36576" marT="36576" marB="36576" anchor="ctr">
                    <a:lnL w="6350" cap="flat" cmpd="sng" algn="ctr">
                      <a:solidFill>
                        <a:srgbClr val="D6E4F0"/>
                      </a:solidFill>
                      <a:prstDash val="solid"/>
                      <a:round/>
                      <a:headEnd type="none" w="med" len="med"/>
                      <a:tailEnd type="none" w="med" len="med"/>
                    </a:lnL>
                    <a:lnR w="6350" cap="flat" cmpd="sng" algn="ctr">
                      <a:solidFill>
                        <a:srgbClr val="D6E4F0"/>
                      </a:solidFill>
                      <a:prstDash val="solid"/>
                      <a:round/>
                      <a:headEnd type="none" w="med" len="med"/>
                      <a:tailEnd type="none" w="med" len="med"/>
                    </a:lnR>
                    <a:lnT w="6350" cap="flat" cmpd="sng" algn="ctr">
                      <a:solidFill>
                        <a:srgbClr val="D6E4F0"/>
                      </a:solidFill>
                      <a:prstDash val="solid"/>
                      <a:round/>
                      <a:headEnd type="none" w="med" len="med"/>
                      <a:tailEnd type="none" w="med" len="med"/>
                    </a:lnT>
                    <a:lnB w="6350" cap="flat" cmpd="sng" algn="ctr">
                      <a:solidFill>
                        <a:srgbClr val="D6E4F0"/>
                      </a:solidFill>
                      <a:prstDash val="solid"/>
                      <a:round/>
                      <a:headEnd type="none" w="med" len="med"/>
                      <a:tailEnd type="none" w="med" len="med"/>
                    </a:lnB>
                    <a:solidFill>
                      <a:srgbClr val="FFFFFF"/>
                    </a:solidFill>
                  </a:tcPr>
                </a:tc>
                <a:tc>
                  <a:txBody>
                    <a:bodyPr/>
                    <a:lstStyle/>
                    <a:p>
                      <a:pPr indent="0" marL="0">
                        <a:buNone/>
                      </a:pPr>
                      <a:r>
                        <a:rPr lang="en-US" sz="700" dirty="0">
                          <a:solidFill>
                            <a:srgbClr val="3F5265"/>
                          </a:solidFill>
                          <a:latin typeface="Calibri" pitchFamily="34" charset="0"/>
                          <a:ea typeface="Calibri" pitchFamily="34" charset="-122"/>
                          <a:cs typeface="Calibri" pitchFamily="34" charset="-120"/>
                        </a:rPr>
                        <a:t>Listed assets, FX, fixed income</a:t>
                      </a:r>
                      <a:endParaRPr lang="en-US" sz="700" dirty="0">
                        <a:latin typeface="Calibri" charset="0"/>
                        <a:ea typeface="Calibri" charset="0"/>
                        <a:cs typeface="Calibri" charset="0"/>
                      </a:endParaRPr>
                    </a:p>
                  </a:txBody>
                  <a:tcPr marL="36576" marR="36576" marT="36576" marB="36576" anchor="ctr">
                    <a:lnL w="6350" cap="flat" cmpd="sng" algn="ctr">
                      <a:solidFill>
                        <a:srgbClr val="D6E4F0"/>
                      </a:solidFill>
                      <a:prstDash val="solid"/>
                      <a:round/>
                      <a:headEnd type="none" w="med" len="med"/>
                      <a:tailEnd type="none" w="med" len="med"/>
                    </a:lnL>
                    <a:lnR w="6350" cap="flat" cmpd="sng" algn="ctr">
                      <a:solidFill>
                        <a:srgbClr val="D6E4F0"/>
                      </a:solidFill>
                      <a:prstDash val="solid"/>
                      <a:round/>
                      <a:headEnd type="none" w="med" len="med"/>
                      <a:tailEnd type="none" w="med" len="med"/>
                    </a:lnR>
                    <a:lnT w="6350" cap="flat" cmpd="sng" algn="ctr">
                      <a:solidFill>
                        <a:srgbClr val="D6E4F0"/>
                      </a:solidFill>
                      <a:prstDash val="solid"/>
                      <a:round/>
                      <a:headEnd type="none" w="med" len="med"/>
                      <a:tailEnd type="none" w="med" len="med"/>
                    </a:lnT>
                    <a:lnB w="6350" cap="flat" cmpd="sng" algn="ctr">
                      <a:solidFill>
                        <a:srgbClr val="D6E4F0"/>
                      </a:solidFill>
                      <a:prstDash val="solid"/>
                      <a:round/>
                      <a:headEnd type="none" w="med" len="med"/>
                      <a:tailEnd type="none" w="med" len="med"/>
                    </a:lnB>
                    <a:solidFill>
                      <a:srgbClr val="FFFFFF"/>
                    </a:solidFill>
                  </a:tcPr>
                </a:tc>
                <a:tc>
                  <a:txBody>
                    <a:bodyPr/>
                    <a:lstStyle/>
                    <a:p>
                      <a:pPr indent="0" marL="0">
                        <a:buNone/>
                      </a:pPr>
                      <a:r>
                        <a:rPr lang="en-US" sz="700" i="1" dirty="0">
                          <a:solidFill>
                            <a:srgbClr val="7A8A99"/>
                          </a:solidFill>
                          <a:latin typeface="Calibri" pitchFamily="34" charset="0"/>
                          <a:ea typeface="Calibri" pitchFamily="34" charset="-122"/>
                          <a:cs typeface="Calibri" pitchFamily="34" charset="-120"/>
                        </a:rPr>
                        <a:t>To be confirmed</a:t>
                      </a:r>
                      <a:endParaRPr lang="en-US" sz="700" dirty="0">
                        <a:latin typeface="Calibri" charset="0"/>
                        <a:ea typeface="Calibri" charset="0"/>
                        <a:cs typeface="Calibri" charset="0"/>
                      </a:endParaRPr>
                    </a:p>
                  </a:txBody>
                  <a:tcPr marL="36576" marR="36576" marT="36576" marB="36576" anchor="ctr">
                    <a:lnL w="6350" cap="flat" cmpd="sng" algn="ctr">
                      <a:solidFill>
                        <a:srgbClr val="D6E4F0"/>
                      </a:solidFill>
                      <a:prstDash val="solid"/>
                      <a:round/>
                      <a:headEnd type="none" w="med" len="med"/>
                      <a:tailEnd type="none" w="med" len="med"/>
                    </a:lnL>
                    <a:lnR w="6350" cap="flat" cmpd="sng" algn="ctr">
                      <a:solidFill>
                        <a:srgbClr val="D6E4F0"/>
                      </a:solidFill>
                      <a:prstDash val="solid"/>
                      <a:round/>
                      <a:headEnd type="none" w="med" len="med"/>
                      <a:tailEnd type="none" w="med" len="med"/>
                    </a:lnR>
                    <a:lnT w="6350" cap="flat" cmpd="sng" algn="ctr">
                      <a:solidFill>
                        <a:srgbClr val="D6E4F0"/>
                      </a:solidFill>
                      <a:prstDash val="solid"/>
                      <a:round/>
                      <a:headEnd type="none" w="med" len="med"/>
                      <a:tailEnd type="none" w="med" len="med"/>
                    </a:lnT>
                    <a:lnB w="6350" cap="flat" cmpd="sng" algn="ctr">
                      <a:solidFill>
                        <a:srgbClr val="D6E4F0"/>
                      </a:solidFill>
                      <a:prstDash val="solid"/>
                      <a:round/>
                      <a:headEnd type="none" w="med" len="med"/>
                      <a:tailEnd type="none" w="med" len="med"/>
                    </a:lnB>
                    <a:solidFill>
                      <a:srgbClr val="FDF6E8"/>
                    </a:solidFill>
                  </a:tcPr>
                </a:tc>
              </a:tr>
              <a:tr h="228600">
                <a:tc>
                  <a:txBody>
                    <a:bodyPr/>
                    <a:lstStyle/>
                    <a:p>
                      <a:pPr indent="0" marL="0">
                        <a:buNone/>
                      </a:pPr>
                      <a:r>
                        <a:rPr lang="en-US" sz="700" b="1" dirty="0">
                          <a:solidFill>
                            <a:srgbClr val="056DAE"/>
                          </a:solidFill>
                          <a:latin typeface="Calibri" pitchFamily="34" charset="0"/>
                          <a:ea typeface="Calibri" pitchFamily="34" charset="-122"/>
                          <a:cs typeface="Calibri" pitchFamily="34" charset="-120"/>
                        </a:rPr>
                        <a:t>B. OMS-led and front-to-back</a:t>
                      </a:r>
                      <a:endParaRPr lang="en-US" sz="700" dirty="0">
                        <a:latin typeface="Calibri" charset="0"/>
                        <a:ea typeface="Calibri" charset="0"/>
                        <a:cs typeface="Calibri" charset="0"/>
                      </a:endParaRPr>
                    </a:p>
                  </a:txBody>
                  <a:tcPr marL="36576" marR="36576" marT="36576" marB="36576" anchor="ctr">
                    <a:lnL w="6350" cap="flat" cmpd="sng" algn="ctr">
                      <a:solidFill>
                        <a:srgbClr val="D6E4F0"/>
                      </a:solidFill>
                      <a:prstDash val="solid"/>
                      <a:round/>
                      <a:headEnd type="none" w="med" len="med"/>
                      <a:tailEnd type="none" w="med" len="med"/>
                    </a:lnL>
                    <a:lnR w="6350" cap="flat" cmpd="sng" algn="ctr">
                      <a:solidFill>
                        <a:srgbClr val="D6E4F0"/>
                      </a:solidFill>
                      <a:prstDash val="solid"/>
                      <a:round/>
                      <a:headEnd type="none" w="med" len="med"/>
                      <a:tailEnd type="none" w="med" len="med"/>
                    </a:lnR>
                    <a:lnT w="6350" cap="flat" cmpd="sng" algn="ctr">
                      <a:solidFill>
                        <a:srgbClr val="D6E4F0"/>
                      </a:solidFill>
                      <a:prstDash val="solid"/>
                      <a:round/>
                      <a:headEnd type="none" w="med" len="med"/>
                      <a:tailEnd type="none" w="med" len="med"/>
                    </a:lnT>
                    <a:lnB w="6350" cap="flat" cmpd="sng" algn="ctr">
                      <a:solidFill>
                        <a:srgbClr val="D6E4F0"/>
                      </a:solidFill>
                      <a:prstDash val="solid"/>
                      <a:round/>
                      <a:headEnd type="none" w="med" len="med"/>
                      <a:tailEnd type="none" w="med" len="med"/>
                    </a:lnB>
                    <a:solidFill>
                      <a:srgbClr val="EAF1F8"/>
                    </a:solidFill>
                  </a:tcPr>
                </a:tc>
                <a:tc>
                  <a:txBody>
                    <a:bodyPr/>
                    <a:lstStyle/>
                    <a:p>
                      <a:pPr indent="0" marL="0">
                        <a:buNone/>
                      </a:pPr>
                      <a:r>
                        <a:rPr lang="en-US" sz="700" b="1" dirty="0">
                          <a:solidFill>
                            <a:srgbClr val="002D72"/>
                          </a:solidFill>
                          <a:latin typeface="Calibri" pitchFamily="34" charset="0"/>
                          <a:ea typeface="Calibri" pitchFamily="34" charset="-122"/>
                          <a:cs typeface="Calibri" pitchFamily="34" charset="-120"/>
                        </a:rPr>
                        <a:t>State Street</a:t>
                      </a:r>
                      <a:endParaRPr lang="en-US" sz="700" dirty="0">
                        <a:latin typeface="Calibri" charset="0"/>
                        <a:ea typeface="Calibri" charset="0"/>
                        <a:cs typeface="Calibri" charset="0"/>
                      </a:endParaRPr>
                    </a:p>
                  </a:txBody>
                  <a:tcPr marL="36576" marR="36576" marT="36576" marB="36576" anchor="ctr">
                    <a:lnL w="6350" cap="flat" cmpd="sng" algn="ctr">
                      <a:solidFill>
                        <a:srgbClr val="D6E4F0"/>
                      </a:solidFill>
                      <a:prstDash val="solid"/>
                      <a:round/>
                      <a:headEnd type="none" w="med" len="med"/>
                      <a:tailEnd type="none" w="med" len="med"/>
                    </a:lnL>
                    <a:lnR w="6350" cap="flat" cmpd="sng" algn="ctr">
                      <a:solidFill>
                        <a:srgbClr val="D6E4F0"/>
                      </a:solidFill>
                      <a:prstDash val="solid"/>
                      <a:round/>
                      <a:headEnd type="none" w="med" len="med"/>
                      <a:tailEnd type="none" w="med" len="med"/>
                    </a:lnR>
                    <a:lnT w="6350" cap="flat" cmpd="sng" algn="ctr">
                      <a:solidFill>
                        <a:srgbClr val="D6E4F0"/>
                      </a:solidFill>
                      <a:prstDash val="solid"/>
                      <a:round/>
                      <a:headEnd type="none" w="med" len="med"/>
                      <a:tailEnd type="none" w="med" len="med"/>
                    </a:lnT>
                    <a:lnB w="6350" cap="flat" cmpd="sng" algn="ctr">
                      <a:solidFill>
                        <a:srgbClr val="D6E4F0"/>
                      </a:solidFill>
                      <a:prstDash val="solid"/>
                      <a:round/>
                      <a:headEnd type="none" w="med" len="med"/>
                      <a:tailEnd type="none" w="med" len="med"/>
                    </a:lnB>
                    <a:solidFill>
                      <a:srgbClr val="EAF1F8"/>
                    </a:solidFill>
                  </a:tcPr>
                </a:tc>
                <a:tc>
                  <a:txBody>
                    <a:bodyPr/>
                    <a:lstStyle/>
                    <a:p>
                      <a:pPr indent="0" marL="0">
                        <a:buNone/>
                      </a:pPr>
                      <a:r>
                        <a:rPr lang="en-US" sz="700" dirty="0">
                          <a:solidFill>
                            <a:srgbClr val="3F5265"/>
                          </a:solidFill>
                          <a:latin typeface="Calibri" pitchFamily="34" charset="0"/>
                          <a:ea typeface="Calibri" pitchFamily="34" charset="-122"/>
                          <a:cs typeface="Calibri" pitchFamily="34" charset="-120"/>
                        </a:rPr>
                        <a:t>Charles River Trader</a:t>
                      </a:r>
                      <a:endParaRPr lang="en-US" sz="700" dirty="0">
                        <a:latin typeface="Calibri" charset="0"/>
                        <a:ea typeface="Calibri" charset="0"/>
                        <a:cs typeface="Calibri" charset="0"/>
                      </a:endParaRPr>
                    </a:p>
                  </a:txBody>
                  <a:tcPr marL="36576" marR="36576" marT="36576" marB="36576" anchor="ctr">
                    <a:lnL w="6350" cap="flat" cmpd="sng" algn="ctr">
                      <a:solidFill>
                        <a:srgbClr val="D6E4F0"/>
                      </a:solidFill>
                      <a:prstDash val="solid"/>
                      <a:round/>
                      <a:headEnd type="none" w="med" len="med"/>
                      <a:tailEnd type="none" w="med" len="med"/>
                    </a:lnL>
                    <a:lnR w="6350" cap="flat" cmpd="sng" algn="ctr">
                      <a:solidFill>
                        <a:srgbClr val="D6E4F0"/>
                      </a:solidFill>
                      <a:prstDash val="solid"/>
                      <a:round/>
                      <a:headEnd type="none" w="med" len="med"/>
                      <a:tailEnd type="none" w="med" len="med"/>
                    </a:lnR>
                    <a:lnT w="6350" cap="flat" cmpd="sng" algn="ctr">
                      <a:solidFill>
                        <a:srgbClr val="D6E4F0"/>
                      </a:solidFill>
                      <a:prstDash val="solid"/>
                      <a:round/>
                      <a:headEnd type="none" w="med" len="med"/>
                      <a:tailEnd type="none" w="med" len="med"/>
                    </a:lnT>
                    <a:lnB w="6350" cap="flat" cmpd="sng" algn="ctr">
                      <a:solidFill>
                        <a:srgbClr val="D6E4F0"/>
                      </a:solidFill>
                      <a:prstDash val="solid"/>
                      <a:round/>
                      <a:headEnd type="none" w="med" len="med"/>
                      <a:tailEnd type="none" w="med" len="med"/>
                    </a:lnB>
                    <a:solidFill>
                      <a:srgbClr val="EAF1F8"/>
                    </a:solidFill>
                  </a:tcPr>
                </a:tc>
                <a:tc>
                  <a:txBody>
                    <a:bodyPr/>
                    <a:lstStyle/>
                    <a:p>
                      <a:pPr indent="0" marL="0">
                        <a:buNone/>
                      </a:pPr>
                      <a:r>
                        <a:rPr lang="en-US" sz="700" dirty="0">
                          <a:solidFill>
                            <a:srgbClr val="3F5265"/>
                          </a:solidFill>
                          <a:latin typeface="Calibri" pitchFamily="34" charset="0"/>
                          <a:ea typeface="Calibri" pitchFamily="34" charset="-122"/>
                          <a:cs typeface="Calibri" pitchFamily="34" charset="-120"/>
                        </a:rPr>
                        <a:t>Charles River Network broker connectivity</a:t>
                      </a:r>
                      <a:endParaRPr lang="en-US" sz="700" dirty="0">
                        <a:latin typeface="Calibri" charset="0"/>
                        <a:ea typeface="Calibri" charset="0"/>
                        <a:cs typeface="Calibri" charset="0"/>
                      </a:endParaRPr>
                    </a:p>
                  </a:txBody>
                  <a:tcPr marL="36576" marR="36576" marT="36576" marB="36576" anchor="ctr">
                    <a:lnL w="6350" cap="flat" cmpd="sng" algn="ctr">
                      <a:solidFill>
                        <a:srgbClr val="D6E4F0"/>
                      </a:solidFill>
                      <a:prstDash val="solid"/>
                      <a:round/>
                      <a:headEnd type="none" w="med" len="med"/>
                      <a:tailEnd type="none" w="med" len="med"/>
                    </a:lnL>
                    <a:lnR w="6350" cap="flat" cmpd="sng" algn="ctr">
                      <a:solidFill>
                        <a:srgbClr val="D6E4F0"/>
                      </a:solidFill>
                      <a:prstDash val="solid"/>
                      <a:round/>
                      <a:headEnd type="none" w="med" len="med"/>
                      <a:tailEnd type="none" w="med" len="med"/>
                    </a:lnR>
                    <a:lnT w="6350" cap="flat" cmpd="sng" algn="ctr">
                      <a:solidFill>
                        <a:srgbClr val="D6E4F0"/>
                      </a:solidFill>
                      <a:prstDash val="solid"/>
                      <a:round/>
                      <a:headEnd type="none" w="med" len="med"/>
                      <a:tailEnd type="none" w="med" len="med"/>
                    </a:lnT>
                    <a:lnB w="6350" cap="flat" cmpd="sng" algn="ctr">
                      <a:solidFill>
                        <a:srgbClr val="D6E4F0"/>
                      </a:solidFill>
                      <a:prstDash val="solid"/>
                      <a:round/>
                      <a:headEnd type="none" w="med" len="med"/>
                      <a:tailEnd type="none" w="med" len="med"/>
                    </a:lnB>
                    <a:solidFill>
                      <a:srgbClr val="EAF1F8"/>
                    </a:solidFill>
                  </a:tcPr>
                </a:tc>
                <a:tc>
                  <a:txBody>
                    <a:bodyPr/>
                    <a:lstStyle/>
                    <a:p>
                      <a:pPr indent="0" marL="0">
                        <a:buNone/>
                      </a:pPr>
                      <a:r>
                        <a:rPr lang="en-US" sz="700" dirty="0">
                          <a:solidFill>
                            <a:srgbClr val="3F5265"/>
                          </a:solidFill>
                          <a:latin typeface="Calibri" pitchFamily="34" charset="0"/>
                          <a:ea typeface="Calibri" pitchFamily="34" charset="-122"/>
                          <a:cs typeface="Calibri" pitchFamily="34" charset="-120"/>
                        </a:rPr>
                        <a:t>Multi-asset</a:t>
                      </a:r>
                      <a:endParaRPr lang="en-US" sz="700" dirty="0">
                        <a:latin typeface="Calibri" charset="0"/>
                        <a:ea typeface="Calibri" charset="0"/>
                        <a:cs typeface="Calibri" charset="0"/>
                      </a:endParaRPr>
                    </a:p>
                  </a:txBody>
                  <a:tcPr marL="36576" marR="36576" marT="36576" marB="36576" anchor="ctr">
                    <a:lnL w="6350" cap="flat" cmpd="sng" algn="ctr">
                      <a:solidFill>
                        <a:srgbClr val="D6E4F0"/>
                      </a:solidFill>
                      <a:prstDash val="solid"/>
                      <a:round/>
                      <a:headEnd type="none" w="med" len="med"/>
                      <a:tailEnd type="none" w="med" len="med"/>
                    </a:lnL>
                    <a:lnR w="6350" cap="flat" cmpd="sng" algn="ctr">
                      <a:solidFill>
                        <a:srgbClr val="D6E4F0"/>
                      </a:solidFill>
                      <a:prstDash val="solid"/>
                      <a:round/>
                      <a:headEnd type="none" w="med" len="med"/>
                      <a:tailEnd type="none" w="med" len="med"/>
                    </a:lnR>
                    <a:lnT w="6350" cap="flat" cmpd="sng" algn="ctr">
                      <a:solidFill>
                        <a:srgbClr val="D6E4F0"/>
                      </a:solidFill>
                      <a:prstDash val="solid"/>
                      <a:round/>
                      <a:headEnd type="none" w="med" len="med"/>
                      <a:tailEnd type="none" w="med" len="med"/>
                    </a:lnT>
                    <a:lnB w="6350" cap="flat" cmpd="sng" algn="ctr">
                      <a:solidFill>
                        <a:srgbClr val="D6E4F0"/>
                      </a:solidFill>
                      <a:prstDash val="solid"/>
                      <a:round/>
                      <a:headEnd type="none" w="med" len="med"/>
                      <a:tailEnd type="none" w="med" len="med"/>
                    </a:lnB>
                    <a:solidFill>
                      <a:srgbClr val="EAF1F8"/>
                    </a:solidFill>
                  </a:tcPr>
                </a:tc>
                <a:tc>
                  <a:txBody>
                    <a:bodyPr/>
                    <a:lstStyle/>
                    <a:p>
                      <a:pPr indent="0" marL="0">
                        <a:buNone/>
                      </a:pPr>
                      <a:r>
                        <a:rPr lang="en-US" sz="700" i="1" dirty="0">
                          <a:solidFill>
                            <a:srgbClr val="7A8A99"/>
                          </a:solidFill>
                          <a:latin typeface="Calibri" pitchFamily="34" charset="0"/>
                          <a:ea typeface="Calibri" pitchFamily="34" charset="-122"/>
                          <a:cs typeface="Calibri" pitchFamily="34" charset="-120"/>
                        </a:rPr>
                        <a:t>To be confirmed</a:t>
                      </a:r>
                      <a:endParaRPr lang="en-US" sz="700" dirty="0">
                        <a:latin typeface="Calibri" charset="0"/>
                        <a:ea typeface="Calibri" charset="0"/>
                        <a:cs typeface="Calibri" charset="0"/>
                      </a:endParaRPr>
                    </a:p>
                  </a:txBody>
                  <a:tcPr marL="36576" marR="36576" marT="36576" marB="36576" anchor="ctr">
                    <a:lnL w="6350" cap="flat" cmpd="sng" algn="ctr">
                      <a:solidFill>
                        <a:srgbClr val="D6E4F0"/>
                      </a:solidFill>
                      <a:prstDash val="solid"/>
                      <a:round/>
                      <a:headEnd type="none" w="med" len="med"/>
                      <a:tailEnd type="none" w="med" len="med"/>
                    </a:lnL>
                    <a:lnR w="6350" cap="flat" cmpd="sng" algn="ctr">
                      <a:solidFill>
                        <a:srgbClr val="D6E4F0"/>
                      </a:solidFill>
                      <a:prstDash val="solid"/>
                      <a:round/>
                      <a:headEnd type="none" w="med" len="med"/>
                      <a:tailEnd type="none" w="med" len="med"/>
                    </a:lnR>
                    <a:lnT w="6350" cap="flat" cmpd="sng" algn="ctr">
                      <a:solidFill>
                        <a:srgbClr val="D6E4F0"/>
                      </a:solidFill>
                      <a:prstDash val="solid"/>
                      <a:round/>
                      <a:headEnd type="none" w="med" len="med"/>
                      <a:tailEnd type="none" w="med" len="med"/>
                    </a:lnT>
                    <a:lnB w="6350" cap="flat" cmpd="sng" algn="ctr">
                      <a:solidFill>
                        <a:srgbClr val="D6E4F0"/>
                      </a:solidFill>
                      <a:prstDash val="solid"/>
                      <a:round/>
                      <a:headEnd type="none" w="med" len="med"/>
                      <a:tailEnd type="none" w="med" len="med"/>
                    </a:lnB>
                    <a:solidFill>
                      <a:srgbClr val="FDF6E8"/>
                    </a:solidFill>
                  </a:tcPr>
                </a:tc>
              </a:tr>
              <a:tr h="228600">
                <a:tc>
                  <a:txBody>
                    <a:bodyPr/>
                    <a:lstStyle/>
                    <a:p>
                      <a:pPr indent="0" marL="0">
                        <a:buNone/>
                      </a:pPr>
                      <a:endParaRPr lang="en-US" sz="700" dirty="0">
                        <a:latin typeface="Calibri" charset="0"/>
                        <a:ea typeface="Calibri" charset="0"/>
                        <a:cs typeface="Calibri" charset="0"/>
                      </a:endParaRPr>
                    </a:p>
                  </a:txBody>
                  <a:tcPr marL="36576" marR="36576" marT="36576" marB="36576" anchor="ctr">
                    <a:lnL w="6350" cap="flat" cmpd="sng" algn="ctr">
                      <a:solidFill>
                        <a:srgbClr val="D6E4F0"/>
                      </a:solidFill>
                      <a:prstDash val="solid"/>
                      <a:round/>
                      <a:headEnd type="none" w="med" len="med"/>
                      <a:tailEnd type="none" w="med" len="med"/>
                    </a:lnL>
                    <a:lnR w="6350" cap="flat" cmpd="sng" algn="ctr">
                      <a:solidFill>
                        <a:srgbClr val="D6E4F0"/>
                      </a:solidFill>
                      <a:prstDash val="solid"/>
                      <a:round/>
                      <a:headEnd type="none" w="med" len="med"/>
                      <a:tailEnd type="none" w="med" len="med"/>
                    </a:lnR>
                    <a:lnT w="6350" cap="flat" cmpd="sng" algn="ctr">
                      <a:solidFill>
                        <a:srgbClr val="D6E4F0"/>
                      </a:solidFill>
                      <a:prstDash val="solid"/>
                      <a:round/>
                      <a:headEnd type="none" w="med" len="med"/>
                      <a:tailEnd type="none" w="med" len="med"/>
                    </a:lnT>
                    <a:lnB w="6350" cap="flat" cmpd="sng" algn="ctr">
                      <a:solidFill>
                        <a:srgbClr val="D6E4F0"/>
                      </a:solidFill>
                      <a:prstDash val="solid"/>
                      <a:round/>
                      <a:headEnd type="none" w="med" len="med"/>
                      <a:tailEnd type="none" w="med" len="med"/>
                    </a:lnB>
                    <a:solidFill>
                      <a:srgbClr val="FFFFFF"/>
                    </a:solidFill>
                  </a:tcPr>
                </a:tc>
                <a:tc>
                  <a:txBody>
                    <a:bodyPr/>
                    <a:lstStyle/>
                    <a:p>
                      <a:pPr indent="0" marL="0">
                        <a:buNone/>
                      </a:pPr>
                      <a:r>
                        <a:rPr lang="en-US" sz="700" b="1" dirty="0">
                          <a:solidFill>
                            <a:srgbClr val="002D72"/>
                          </a:solidFill>
                          <a:latin typeface="Calibri" pitchFamily="34" charset="0"/>
                          <a:ea typeface="Calibri" pitchFamily="34" charset="-122"/>
                          <a:cs typeface="Calibri" pitchFamily="34" charset="-120"/>
                        </a:rPr>
                        <a:t>BlackRock</a:t>
                      </a:r>
                      <a:endParaRPr lang="en-US" sz="700" dirty="0">
                        <a:latin typeface="Calibri" charset="0"/>
                        <a:ea typeface="Calibri" charset="0"/>
                        <a:cs typeface="Calibri" charset="0"/>
                      </a:endParaRPr>
                    </a:p>
                  </a:txBody>
                  <a:tcPr marL="36576" marR="36576" marT="36576" marB="36576" anchor="ctr">
                    <a:lnL w="6350" cap="flat" cmpd="sng" algn="ctr">
                      <a:solidFill>
                        <a:srgbClr val="D6E4F0"/>
                      </a:solidFill>
                      <a:prstDash val="solid"/>
                      <a:round/>
                      <a:headEnd type="none" w="med" len="med"/>
                      <a:tailEnd type="none" w="med" len="med"/>
                    </a:lnL>
                    <a:lnR w="6350" cap="flat" cmpd="sng" algn="ctr">
                      <a:solidFill>
                        <a:srgbClr val="D6E4F0"/>
                      </a:solidFill>
                      <a:prstDash val="solid"/>
                      <a:round/>
                      <a:headEnd type="none" w="med" len="med"/>
                      <a:tailEnd type="none" w="med" len="med"/>
                    </a:lnR>
                    <a:lnT w="6350" cap="flat" cmpd="sng" algn="ctr">
                      <a:solidFill>
                        <a:srgbClr val="D6E4F0"/>
                      </a:solidFill>
                      <a:prstDash val="solid"/>
                      <a:round/>
                      <a:headEnd type="none" w="med" len="med"/>
                      <a:tailEnd type="none" w="med" len="med"/>
                    </a:lnT>
                    <a:lnB w="6350" cap="flat" cmpd="sng" algn="ctr">
                      <a:solidFill>
                        <a:srgbClr val="D6E4F0"/>
                      </a:solidFill>
                      <a:prstDash val="solid"/>
                      <a:round/>
                      <a:headEnd type="none" w="med" len="med"/>
                      <a:tailEnd type="none" w="med" len="med"/>
                    </a:lnB>
                    <a:solidFill>
                      <a:srgbClr val="FFFFFF"/>
                    </a:solidFill>
                  </a:tcPr>
                </a:tc>
                <a:tc>
                  <a:txBody>
                    <a:bodyPr/>
                    <a:lstStyle/>
                    <a:p>
                      <a:pPr indent="0" marL="0">
                        <a:buNone/>
                      </a:pPr>
                      <a:r>
                        <a:rPr lang="en-US" sz="700" dirty="0">
                          <a:solidFill>
                            <a:srgbClr val="3F5265"/>
                          </a:solidFill>
                          <a:latin typeface="Calibri" pitchFamily="34" charset="0"/>
                          <a:ea typeface="Calibri" pitchFamily="34" charset="-122"/>
                          <a:cs typeface="Calibri" pitchFamily="34" charset="-120"/>
                        </a:rPr>
                        <a:t>Aladdin, Aladdin Trader</a:t>
                      </a:r>
                      <a:endParaRPr lang="en-US" sz="700" dirty="0">
                        <a:latin typeface="Calibri" charset="0"/>
                        <a:ea typeface="Calibri" charset="0"/>
                        <a:cs typeface="Calibri" charset="0"/>
                      </a:endParaRPr>
                    </a:p>
                  </a:txBody>
                  <a:tcPr marL="36576" marR="36576" marT="36576" marB="36576" anchor="ctr">
                    <a:lnL w="6350" cap="flat" cmpd="sng" algn="ctr">
                      <a:solidFill>
                        <a:srgbClr val="D6E4F0"/>
                      </a:solidFill>
                      <a:prstDash val="solid"/>
                      <a:round/>
                      <a:headEnd type="none" w="med" len="med"/>
                      <a:tailEnd type="none" w="med" len="med"/>
                    </a:lnL>
                    <a:lnR w="6350" cap="flat" cmpd="sng" algn="ctr">
                      <a:solidFill>
                        <a:srgbClr val="D6E4F0"/>
                      </a:solidFill>
                      <a:prstDash val="solid"/>
                      <a:round/>
                      <a:headEnd type="none" w="med" len="med"/>
                      <a:tailEnd type="none" w="med" len="med"/>
                    </a:lnR>
                    <a:lnT w="6350" cap="flat" cmpd="sng" algn="ctr">
                      <a:solidFill>
                        <a:srgbClr val="D6E4F0"/>
                      </a:solidFill>
                      <a:prstDash val="solid"/>
                      <a:round/>
                      <a:headEnd type="none" w="med" len="med"/>
                      <a:tailEnd type="none" w="med" len="med"/>
                    </a:lnT>
                    <a:lnB w="6350" cap="flat" cmpd="sng" algn="ctr">
                      <a:solidFill>
                        <a:srgbClr val="D6E4F0"/>
                      </a:solidFill>
                      <a:prstDash val="solid"/>
                      <a:round/>
                      <a:headEnd type="none" w="med" len="med"/>
                      <a:tailEnd type="none" w="med" len="med"/>
                    </a:lnB>
                    <a:solidFill>
                      <a:srgbClr val="FFFFFF"/>
                    </a:solidFill>
                  </a:tcPr>
                </a:tc>
                <a:tc>
                  <a:txBody>
                    <a:bodyPr/>
                    <a:lstStyle/>
                    <a:p>
                      <a:pPr indent="0" marL="0">
                        <a:buNone/>
                      </a:pPr>
                      <a:r>
                        <a:rPr lang="en-US" sz="700" dirty="0">
                          <a:solidFill>
                            <a:srgbClr val="3F5265"/>
                          </a:solidFill>
                          <a:latin typeface="Calibri" pitchFamily="34" charset="0"/>
                          <a:ea typeface="Calibri" pitchFamily="34" charset="-122"/>
                          <a:cs typeface="Calibri" pitchFamily="34" charset="-120"/>
                        </a:rPr>
                        <a:t>Reached via FlexTrade and Portware partnerships</a:t>
                      </a:r>
                      <a:endParaRPr lang="en-US" sz="700" dirty="0">
                        <a:latin typeface="Calibri" charset="0"/>
                        <a:ea typeface="Calibri" charset="0"/>
                        <a:cs typeface="Calibri" charset="0"/>
                      </a:endParaRPr>
                    </a:p>
                  </a:txBody>
                  <a:tcPr marL="36576" marR="36576" marT="36576" marB="36576" anchor="ctr">
                    <a:lnL w="6350" cap="flat" cmpd="sng" algn="ctr">
                      <a:solidFill>
                        <a:srgbClr val="D6E4F0"/>
                      </a:solidFill>
                      <a:prstDash val="solid"/>
                      <a:round/>
                      <a:headEnd type="none" w="med" len="med"/>
                      <a:tailEnd type="none" w="med" len="med"/>
                    </a:lnL>
                    <a:lnR w="6350" cap="flat" cmpd="sng" algn="ctr">
                      <a:solidFill>
                        <a:srgbClr val="D6E4F0"/>
                      </a:solidFill>
                      <a:prstDash val="solid"/>
                      <a:round/>
                      <a:headEnd type="none" w="med" len="med"/>
                      <a:tailEnd type="none" w="med" len="med"/>
                    </a:lnR>
                    <a:lnT w="6350" cap="flat" cmpd="sng" algn="ctr">
                      <a:solidFill>
                        <a:srgbClr val="D6E4F0"/>
                      </a:solidFill>
                      <a:prstDash val="solid"/>
                      <a:round/>
                      <a:headEnd type="none" w="med" len="med"/>
                      <a:tailEnd type="none" w="med" len="med"/>
                    </a:lnT>
                    <a:lnB w="6350" cap="flat" cmpd="sng" algn="ctr">
                      <a:solidFill>
                        <a:srgbClr val="D6E4F0"/>
                      </a:solidFill>
                      <a:prstDash val="solid"/>
                      <a:round/>
                      <a:headEnd type="none" w="med" len="med"/>
                      <a:tailEnd type="none" w="med" len="med"/>
                    </a:lnB>
                    <a:solidFill>
                      <a:srgbClr val="FFFFFF"/>
                    </a:solidFill>
                  </a:tcPr>
                </a:tc>
                <a:tc>
                  <a:txBody>
                    <a:bodyPr/>
                    <a:lstStyle/>
                    <a:p>
                      <a:pPr indent="0" marL="0">
                        <a:buNone/>
                      </a:pPr>
                      <a:r>
                        <a:rPr lang="en-US" sz="700" dirty="0">
                          <a:solidFill>
                            <a:srgbClr val="3F5265"/>
                          </a:solidFill>
                          <a:latin typeface="Calibri" pitchFamily="34" charset="0"/>
                          <a:ea typeface="Calibri" pitchFamily="34" charset="-122"/>
                          <a:cs typeface="Calibri" pitchFamily="34" charset="-120"/>
                        </a:rPr>
                        <a:t>Multi-asset, fixed income weighted</a:t>
                      </a:r>
                      <a:endParaRPr lang="en-US" sz="700" dirty="0">
                        <a:latin typeface="Calibri" charset="0"/>
                        <a:ea typeface="Calibri" charset="0"/>
                        <a:cs typeface="Calibri" charset="0"/>
                      </a:endParaRPr>
                    </a:p>
                  </a:txBody>
                  <a:tcPr marL="36576" marR="36576" marT="36576" marB="36576" anchor="ctr">
                    <a:lnL w="6350" cap="flat" cmpd="sng" algn="ctr">
                      <a:solidFill>
                        <a:srgbClr val="D6E4F0"/>
                      </a:solidFill>
                      <a:prstDash val="solid"/>
                      <a:round/>
                      <a:headEnd type="none" w="med" len="med"/>
                      <a:tailEnd type="none" w="med" len="med"/>
                    </a:lnL>
                    <a:lnR w="6350" cap="flat" cmpd="sng" algn="ctr">
                      <a:solidFill>
                        <a:srgbClr val="D6E4F0"/>
                      </a:solidFill>
                      <a:prstDash val="solid"/>
                      <a:round/>
                      <a:headEnd type="none" w="med" len="med"/>
                      <a:tailEnd type="none" w="med" len="med"/>
                    </a:lnR>
                    <a:lnT w="6350" cap="flat" cmpd="sng" algn="ctr">
                      <a:solidFill>
                        <a:srgbClr val="D6E4F0"/>
                      </a:solidFill>
                      <a:prstDash val="solid"/>
                      <a:round/>
                      <a:headEnd type="none" w="med" len="med"/>
                      <a:tailEnd type="none" w="med" len="med"/>
                    </a:lnT>
                    <a:lnB w="6350" cap="flat" cmpd="sng" algn="ctr">
                      <a:solidFill>
                        <a:srgbClr val="D6E4F0"/>
                      </a:solidFill>
                      <a:prstDash val="solid"/>
                      <a:round/>
                      <a:headEnd type="none" w="med" len="med"/>
                      <a:tailEnd type="none" w="med" len="med"/>
                    </a:lnB>
                    <a:solidFill>
                      <a:srgbClr val="FFFFFF"/>
                    </a:solidFill>
                  </a:tcPr>
                </a:tc>
                <a:tc>
                  <a:txBody>
                    <a:bodyPr/>
                    <a:lstStyle/>
                    <a:p>
                      <a:pPr indent="0" marL="0">
                        <a:buNone/>
                      </a:pPr>
                      <a:r>
                        <a:rPr lang="en-US" sz="700" i="1" dirty="0">
                          <a:solidFill>
                            <a:srgbClr val="7A8A99"/>
                          </a:solidFill>
                          <a:latin typeface="Calibri" pitchFamily="34" charset="0"/>
                          <a:ea typeface="Calibri" pitchFamily="34" charset="-122"/>
                          <a:cs typeface="Calibri" pitchFamily="34" charset="-120"/>
                        </a:rPr>
                        <a:t>To be confirmed</a:t>
                      </a:r>
                      <a:endParaRPr lang="en-US" sz="700" dirty="0">
                        <a:latin typeface="Calibri" charset="0"/>
                        <a:ea typeface="Calibri" charset="0"/>
                        <a:cs typeface="Calibri" charset="0"/>
                      </a:endParaRPr>
                    </a:p>
                  </a:txBody>
                  <a:tcPr marL="36576" marR="36576" marT="36576" marB="36576" anchor="ctr">
                    <a:lnL w="6350" cap="flat" cmpd="sng" algn="ctr">
                      <a:solidFill>
                        <a:srgbClr val="D6E4F0"/>
                      </a:solidFill>
                      <a:prstDash val="solid"/>
                      <a:round/>
                      <a:headEnd type="none" w="med" len="med"/>
                      <a:tailEnd type="none" w="med" len="med"/>
                    </a:lnL>
                    <a:lnR w="6350" cap="flat" cmpd="sng" algn="ctr">
                      <a:solidFill>
                        <a:srgbClr val="D6E4F0"/>
                      </a:solidFill>
                      <a:prstDash val="solid"/>
                      <a:round/>
                      <a:headEnd type="none" w="med" len="med"/>
                      <a:tailEnd type="none" w="med" len="med"/>
                    </a:lnR>
                    <a:lnT w="6350" cap="flat" cmpd="sng" algn="ctr">
                      <a:solidFill>
                        <a:srgbClr val="D6E4F0"/>
                      </a:solidFill>
                      <a:prstDash val="solid"/>
                      <a:round/>
                      <a:headEnd type="none" w="med" len="med"/>
                      <a:tailEnd type="none" w="med" len="med"/>
                    </a:lnT>
                    <a:lnB w="6350" cap="flat" cmpd="sng" algn="ctr">
                      <a:solidFill>
                        <a:srgbClr val="D6E4F0"/>
                      </a:solidFill>
                      <a:prstDash val="solid"/>
                      <a:round/>
                      <a:headEnd type="none" w="med" len="med"/>
                      <a:tailEnd type="none" w="med" len="med"/>
                    </a:lnB>
                    <a:solidFill>
                      <a:srgbClr val="FDF6E8"/>
                    </a:solidFill>
                  </a:tcPr>
                </a:tc>
              </a:tr>
              <a:tr h="228600">
                <a:tc>
                  <a:txBody>
                    <a:bodyPr/>
                    <a:lstStyle/>
                    <a:p>
                      <a:pPr indent="0" marL="0">
                        <a:buNone/>
                      </a:pPr>
                      <a:endParaRPr lang="en-US" sz="700" dirty="0">
                        <a:latin typeface="Calibri" charset="0"/>
                        <a:ea typeface="Calibri" charset="0"/>
                        <a:cs typeface="Calibri" charset="0"/>
                      </a:endParaRPr>
                    </a:p>
                  </a:txBody>
                  <a:tcPr marL="36576" marR="36576" marT="36576" marB="36576" anchor="ctr">
                    <a:lnL w="6350" cap="flat" cmpd="sng" algn="ctr">
                      <a:solidFill>
                        <a:srgbClr val="D6E4F0"/>
                      </a:solidFill>
                      <a:prstDash val="solid"/>
                      <a:round/>
                      <a:headEnd type="none" w="med" len="med"/>
                      <a:tailEnd type="none" w="med" len="med"/>
                    </a:lnL>
                    <a:lnR w="6350" cap="flat" cmpd="sng" algn="ctr">
                      <a:solidFill>
                        <a:srgbClr val="D6E4F0"/>
                      </a:solidFill>
                      <a:prstDash val="solid"/>
                      <a:round/>
                      <a:headEnd type="none" w="med" len="med"/>
                      <a:tailEnd type="none" w="med" len="med"/>
                    </a:lnR>
                    <a:lnT w="6350" cap="flat" cmpd="sng" algn="ctr">
                      <a:solidFill>
                        <a:srgbClr val="D6E4F0"/>
                      </a:solidFill>
                      <a:prstDash val="solid"/>
                      <a:round/>
                      <a:headEnd type="none" w="med" len="med"/>
                      <a:tailEnd type="none" w="med" len="med"/>
                    </a:lnT>
                    <a:lnB w="6350" cap="flat" cmpd="sng" algn="ctr">
                      <a:solidFill>
                        <a:srgbClr val="D6E4F0"/>
                      </a:solidFill>
                      <a:prstDash val="solid"/>
                      <a:round/>
                      <a:headEnd type="none" w="med" len="med"/>
                      <a:tailEnd type="none" w="med" len="med"/>
                    </a:lnB>
                    <a:solidFill>
                      <a:srgbClr val="FFFFFF"/>
                    </a:solidFill>
                  </a:tcPr>
                </a:tc>
                <a:tc>
                  <a:txBody>
                    <a:bodyPr/>
                    <a:lstStyle/>
                    <a:p>
                      <a:pPr indent="0" marL="0">
                        <a:buNone/>
                      </a:pPr>
                      <a:r>
                        <a:rPr lang="en-US" sz="700" b="1" dirty="0">
                          <a:solidFill>
                            <a:srgbClr val="002D72"/>
                          </a:solidFill>
                          <a:latin typeface="Calibri" pitchFamily="34" charset="0"/>
                          <a:ea typeface="Calibri" pitchFamily="34" charset="-122"/>
                          <a:cs typeface="Calibri" pitchFamily="34" charset="-120"/>
                        </a:rPr>
                        <a:t>Clearwater</a:t>
                      </a:r>
                      <a:endParaRPr lang="en-US" sz="700" dirty="0">
                        <a:latin typeface="Calibri" charset="0"/>
                        <a:ea typeface="Calibri" charset="0"/>
                        <a:cs typeface="Calibri" charset="0"/>
                      </a:endParaRPr>
                    </a:p>
                  </a:txBody>
                  <a:tcPr marL="36576" marR="36576" marT="36576" marB="36576" anchor="ctr">
                    <a:lnL w="6350" cap="flat" cmpd="sng" algn="ctr">
                      <a:solidFill>
                        <a:srgbClr val="D6E4F0"/>
                      </a:solidFill>
                      <a:prstDash val="solid"/>
                      <a:round/>
                      <a:headEnd type="none" w="med" len="med"/>
                      <a:tailEnd type="none" w="med" len="med"/>
                    </a:lnL>
                    <a:lnR w="6350" cap="flat" cmpd="sng" algn="ctr">
                      <a:solidFill>
                        <a:srgbClr val="D6E4F0"/>
                      </a:solidFill>
                      <a:prstDash val="solid"/>
                      <a:round/>
                      <a:headEnd type="none" w="med" len="med"/>
                      <a:tailEnd type="none" w="med" len="med"/>
                    </a:lnR>
                    <a:lnT w="6350" cap="flat" cmpd="sng" algn="ctr">
                      <a:solidFill>
                        <a:srgbClr val="D6E4F0"/>
                      </a:solidFill>
                      <a:prstDash val="solid"/>
                      <a:round/>
                      <a:headEnd type="none" w="med" len="med"/>
                      <a:tailEnd type="none" w="med" len="med"/>
                    </a:lnT>
                    <a:lnB w="6350" cap="flat" cmpd="sng" algn="ctr">
                      <a:solidFill>
                        <a:srgbClr val="D6E4F0"/>
                      </a:solidFill>
                      <a:prstDash val="solid"/>
                      <a:round/>
                      <a:headEnd type="none" w="med" len="med"/>
                      <a:tailEnd type="none" w="med" len="med"/>
                    </a:lnB>
                    <a:solidFill>
                      <a:srgbClr val="FFFFFF"/>
                    </a:solidFill>
                  </a:tcPr>
                </a:tc>
                <a:tc>
                  <a:txBody>
                    <a:bodyPr/>
                    <a:lstStyle/>
                    <a:p>
                      <a:pPr indent="0" marL="0">
                        <a:buNone/>
                      </a:pPr>
                      <a:r>
                        <a:rPr lang="en-US" sz="700" dirty="0">
                          <a:solidFill>
                            <a:srgbClr val="3F5265"/>
                          </a:solidFill>
                          <a:latin typeface="Calibri" pitchFamily="34" charset="0"/>
                          <a:ea typeface="Calibri" pitchFamily="34" charset="-122"/>
                          <a:cs typeface="Calibri" pitchFamily="34" charset="-120"/>
                        </a:rPr>
                        <a:t>Enfusion</a:t>
                      </a:r>
                      <a:endParaRPr lang="en-US" sz="700" dirty="0">
                        <a:latin typeface="Calibri" charset="0"/>
                        <a:ea typeface="Calibri" charset="0"/>
                        <a:cs typeface="Calibri" charset="0"/>
                      </a:endParaRPr>
                    </a:p>
                  </a:txBody>
                  <a:tcPr marL="36576" marR="36576" marT="36576" marB="36576" anchor="ctr">
                    <a:lnL w="6350" cap="flat" cmpd="sng" algn="ctr">
                      <a:solidFill>
                        <a:srgbClr val="D6E4F0"/>
                      </a:solidFill>
                      <a:prstDash val="solid"/>
                      <a:round/>
                      <a:headEnd type="none" w="med" len="med"/>
                      <a:tailEnd type="none" w="med" len="med"/>
                    </a:lnL>
                    <a:lnR w="6350" cap="flat" cmpd="sng" algn="ctr">
                      <a:solidFill>
                        <a:srgbClr val="D6E4F0"/>
                      </a:solidFill>
                      <a:prstDash val="solid"/>
                      <a:round/>
                      <a:headEnd type="none" w="med" len="med"/>
                      <a:tailEnd type="none" w="med" len="med"/>
                    </a:lnR>
                    <a:lnT w="6350" cap="flat" cmpd="sng" algn="ctr">
                      <a:solidFill>
                        <a:srgbClr val="D6E4F0"/>
                      </a:solidFill>
                      <a:prstDash val="solid"/>
                      <a:round/>
                      <a:headEnd type="none" w="med" len="med"/>
                      <a:tailEnd type="none" w="med" len="med"/>
                    </a:lnT>
                    <a:lnB w="6350" cap="flat" cmpd="sng" algn="ctr">
                      <a:solidFill>
                        <a:srgbClr val="D6E4F0"/>
                      </a:solidFill>
                      <a:prstDash val="solid"/>
                      <a:round/>
                      <a:headEnd type="none" w="med" len="med"/>
                      <a:tailEnd type="none" w="med" len="med"/>
                    </a:lnB>
                    <a:solidFill>
                      <a:srgbClr val="FFFFFF"/>
                    </a:solidFill>
                  </a:tcPr>
                </a:tc>
                <a:tc>
                  <a:txBody>
                    <a:bodyPr/>
                    <a:lstStyle/>
                    <a:p>
                      <a:pPr indent="0" marL="0">
                        <a:buNone/>
                      </a:pPr>
                      <a:r>
                        <a:rPr lang="en-US" sz="700" dirty="0">
                          <a:solidFill>
                            <a:srgbClr val="3F5265"/>
                          </a:solidFill>
                          <a:latin typeface="Calibri" pitchFamily="34" charset="0"/>
                          <a:ea typeface="Calibri" pitchFamily="34" charset="-122"/>
                          <a:cs typeface="Calibri" pitchFamily="34" charset="-120"/>
                        </a:rPr>
                        <a:t>FIX from the front-to-back platform</a:t>
                      </a:r>
                      <a:endParaRPr lang="en-US" sz="700" dirty="0">
                        <a:latin typeface="Calibri" charset="0"/>
                        <a:ea typeface="Calibri" charset="0"/>
                        <a:cs typeface="Calibri" charset="0"/>
                      </a:endParaRPr>
                    </a:p>
                  </a:txBody>
                  <a:tcPr marL="36576" marR="36576" marT="36576" marB="36576" anchor="ctr">
                    <a:lnL w="6350" cap="flat" cmpd="sng" algn="ctr">
                      <a:solidFill>
                        <a:srgbClr val="D6E4F0"/>
                      </a:solidFill>
                      <a:prstDash val="solid"/>
                      <a:round/>
                      <a:headEnd type="none" w="med" len="med"/>
                      <a:tailEnd type="none" w="med" len="med"/>
                    </a:lnL>
                    <a:lnR w="6350" cap="flat" cmpd="sng" algn="ctr">
                      <a:solidFill>
                        <a:srgbClr val="D6E4F0"/>
                      </a:solidFill>
                      <a:prstDash val="solid"/>
                      <a:round/>
                      <a:headEnd type="none" w="med" len="med"/>
                      <a:tailEnd type="none" w="med" len="med"/>
                    </a:lnR>
                    <a:lnT w="6350" cap="flat" cmpd="sng" algn="ctr">
                      <a:solidFill>
                        <a:srgbClr val="D6E4F0"/>
                      </a:solidFill>
                      <a:prstDash val="solid"/>
                      <a:round/>
                      <a:headEnd type="none" w="med" len="med"/>
                      <a:tailEnd type="none" w="med" len="med"/>
                    </a:lnT>
                    <a:lnB w="6350" cap="flat" cmpd="sng" algn="ctr">
                      <a:solidFill>
                        <a:srgbClr val="D6E4F0"/>
                      </a:solidFill>
                      <a:prstDash val="solid"/>
                      <a:round/>
                      <a:headEnd type="none" w="med" len="med"/>
                      <a:tailEnd type="none" w="med" len="med"/>
                    </a:lnB>
                    <a:solidFill>
                      <a:srgbClr val="FFFFFF"/>
                    </a:solidFill>
                  </a:tcPr>
                </a:tc>
                <a:tc>
                  <a:txBody>
                    <a:bodyPr/>
                    <a:lstStyle/>
                    <a:p>
                      <a:pPr indent="0" marL="0">
                        <a:buNone/>
                      </a:pPr>
                      <a:r>
                        <a:rPr lang="en-US" sz="700" dirty="0">
                          <a:solidFill>
                            <a:srgbClr val="3F5265"/>
                          </a:solidFill>
                          <a:latin typeface="Calibri" pitchFamily="34" charset="0"/>
                          <a:ea typeface="Calibri" pitchFamily="34" charset="-122"/>
                          <a:cs typeface="Calibri" pitchFamily="34" charset="-120"/>
                        </a:rPr>
                        <a:t>Multi-asset</a:t>
                      </a:r>
                      <a:endParaRPr lang="en-US" sz="700" dirty="0">
                        <a:latin typeface="Calibri" charset="0"/>
                        <a:ea typeface="Calibri" charset="0"/>
                        <a:cs typeface="Calibri" charset="0"/>
                      </a:endParaRPr>
                    </a:p>
                  </a:txBody>
                  <a:tcPr marL="36576" marR="36576" marT="36576" marB="36576" anchor="ctr">
                    <a:lnL w="6350" cap="flat" cmpd="sng" algn="ctr">
                      <a:solidFill>
                        <a:srgbClr val="D6E4F0"/>
                      </a:solidFill>
                      <a:prstDash val="solid"/>
                      <a:round/>
                      <a:headEnd type="none" w="med" len="med"/>
                      <a:tailEnd type="none" w="med" len="med"/>
                    </a:lnL>
                    <a:lnR w="6350" cap="flat" cmpd="sng" algn="ctr">
                      <a:solidFill>
                        <a:srgbClr val="D6E4F0"/>
                      </a:solidFill>
                      <a:prstDash val="solid"/>
                      <a:round/>
                      <a:headEnd type="none" w="med" len="med"/>
                      <a:tailEnd type="none" w="med" len="med"/>
                    </a:lnR>
                    <a:lnT w="6350" cap="flat" cmpd="sng" algn="ctr">
                      <a:solidFill>
                        <a:srgbClr val="D6E4F0"/>
                      </a:solidFill>
                      <a:prstDash val="solid"/>
                      <a:round/>
                      <a:headEnd type="none" w="med" len="med"/>
                      <a:tailEnd type="none" w="med" len="med"/>
                    </a:lnT>
                    <a:lnB w="6350" cap="flat" cmpd="sng" algn="ctr">
                      <a:solidFill>
                        <a:srgbClr val="D6E4F0"/>
                      </a:solidFill>
                      <a:prstDash val="solid"/>
                      <a:round/>
                      <a:headEnd type="none" w="med" len="med"/>
                      <a:tailEnd type="none" w="med" len="med"/>
                    </a:lnB>
                    <a:solidFill>
                      <a:srgbClr val="FFFFFF"/>
                    </a:solidFill>
                  </a:tcPr>
                </a:tc>
                <a:tc>
                  <a:txBody>
                    <a:bodyPr/>
                    <a:lstStyle/>
                    <a:p>
                      <a:pPr indent="0" marL="0">
                        <a:buNone/>
                      </a:pPr>
                      <a:r>
                        <a:rPr lang="en-US" sz="700" i="1" dirty="0">
                          <a:solidFill>
                            <a:srgbClr val="7A8A99"/>
                          </a:solidFill>
                          <a:latin typeface="Calibri" pitchFamily="34" charset="0"/>
                          <a:ea typeface="Calibri" pitchFamily="34" charset="-122"/>
                          <a:cs typeface="Calibri" pitchFamily="34" charset="-120"/>
                        </a:rPr>
                        <a:t>To be confirmed</a:t>
                      </a:r>
                      <a:endParaRPr lang="en-US" sz="700" dirty="0">
                        <a:latin typeface="Calibri" charset="0"/>
                        <a:ea typeface="Calibri" charset="0"/>
                        <a:cs typeface="Calibri" charset="0"/>
                      </a:endParaRPr>
                    </a:p>
                  </a:txBody>
                  <a:tcPr marL="36576" marR="36576" marT="36576" marB="36576" anchor="ctr">
                    <a:lnL w="6350" cap="flat" cmpd="sng" algn="ctr">
                      <a:solidFill>
                        <a:srgbClr val="D6E4F0"/>
                      </a:solidFill>
                      <a:prstDash val="solid"/>
                      <a:round/>
                      <a:headEnd type="none" w="med" len="med"/>
                      <a:tailEnd type="none" w="med" len="med"/>
                    </a:lnL>
                    <a:lnR w="6350" cap="flat" cmpd="sng" algn="ctr">
                      <a:solidFill>
                        <a:srgbClr val="D6E4F0"/>
                      </a:solidFill>
                      <a:prstDash val="solid"/>
                      <a:round/>
                      <a:headEnd type="none" w="med" len="med"/>
                      <a:tailEnd type="none" w="med" len="med"/>
                    </a:lnR>
                    <a:lnT w="6350" cap="flat" cmpd="sng" algn="ctr">
                      <a:solidFill>
                        <a:srgbClr val="D6E4F0"/>
                      </a:solidFill>
                      <a:prstDash val="solid"/>
                      <a:round/>
                      <a:headEnd type="none" w="med" len="med"/>
                      <a:tailEnd type="none" w="med" len="med"/>
                    </a:lnT>
                    <a:lnB w="6350" cap="flat" cmpd="sng" algn="ctr">
                      <a:solidFill>
                        <a:srgbClr val="D6E4F0"/>
                      </a:solidFill>
                      <a:prstDash val="solid"/>
                      <a:round/>
                      <a:headEnd type="none" w="med" len="med"/>
                      <a:tailEnd type="none" w="med" len="med"/>
                    </a:lnB>
                    <a:solidFill>
                      <a:srgbClr val="FDF6E8"/>
                    </a:solidFill>
                  </a:tcPr>
                </a:tc>
              </a:tr>
              <a:tr h="228600">
                <a:tc>
                  <a:txBody>
                    <a:bodyPr/>
                    <a:lstStyle/>
                    <a:p>
                      <a:pPr indent="0" marL="0">
                        <a:buNone/>
                      </a:pPr>
                      <a:endParaRPr lang="en-US" sz="700" dirty="0">
                        <a:latin typeface="Calibri" charset="0"/>
                        <a:ea typeface="Calibri" charset="0"/>
                        <a:cs typeface="Calibri" charset="0"/>
                      </a:endParaRPr>
                    </a:p>
                  </a:txBody>
                  <a:tcPr marL="36576" marR="36576" marT="36576" marB="36576" anchor="ctr">
                    <a:lnL w="6350" cap="flat" cmpd="sng" algn="ctr">
                      <a:solidFill>
                        <a:srgbClr val="D6E4F0"/>
                      </a:solidFill>
                      <a:prstDash val="solid"/>
                      <a:round/>
                      <a:headEnd type="none" w="med" len="med"/>
                      <a:tailEnd type="none" w="med" len="med"/>
                    </a:lnL>
                    <a:lnR w="6350" cap="flat" cmpd="sng" algn="ctr">
                      <a:solidFill>
                        <a:srgbClr val="D6E4F0"/>
                      </a:solidFill>
                      <a:prstDash val="solid"/>
                      <a:round/>
                      <a:headEnd type="none" w="med" len="med"/>
                      <a:tailEnd type="none" w="med" len="med"/>
                    </a:lnR>
                    <a:lnT w="6350" cap="flat" cmpd="sng" algn="ctr">
                      <a:solidFill>
                        <a:srgbClr val="D6E4F0"/>
                      </a:solidFill>
                      <a:prstDash val="solid"/>
                      <a:round/>
                      <a:headEnd type="none" w="med" len="med"/>
                      <a:tailEnd type="none" w="med" len="med"/>
                    </a:lnT>
                    <a:lnB w="6350" cap="flat" cmpd="sng" algn="ctr">
                      <a:solidFill>
                        <a:srgbClr val="D6E4F0"/>
                      </a:solidFill>
                      <a:prstDash val="solid"/>
                      <a:round/>
                      <a:headEnd type="none" w="med" len="med"/>
                      <a:tailEnd type="none" w="med" len="med"/>
                    </a:lnB>
                    <a:solidFill>
                      <a:srgbClr val="FFFFFF"/>
                    </a:solidFill>
                  </a:tcPr>
                </a:tc>
                <a:tc>
                  <a:txBody>
                    <a:bodyPr/>
                    <a:lstStyle/>
                    <a:p>
                      <a:pPr indent="0" marL="0">
                        <a:buNone/>
                      </a:pPr>
                      <a:r>
                        <a:rPr lang="en-US" sz="700" b="1" dirty="0">
                          <a:solidFill>
                            <a:srgbClr val="002D72"/>
                          </a:solidFill>
                          <a:latin typeface="Calibri" pitchFamily="34" charset="0"/>
                          <a:ea typeface="Calibri" pitchFamily="34" charset="-122"/>
                          <a:cs typeface="Calibri" pitchFamily="34" charset="-120"/>
                        </a:rPr>
                        <a:t>SimCorp</a:t>
                      </a:r>
                      <a:endParaRPr lang="en-US" sz="700" dirty="0">
                        <a:latin typeface="Calibri" charset="0"/>
                        <a:ea typeface="Calibri" charset="0"/>
                        <a:cs typeface="Calibri" charset="0"/>
                      </a:endParaRPr>
                    </a:p>
                  </a:txBody>
                  <a:tcPr marL="36576" marR="36576" marT="36576" marB="36576" anchor="ctr">
                    <a:lnL w="6350" cap="flat" cmpd="sng" algn="ctr">
                      <a:solidFill>
                        <a:srgbClr val="D6E4F0"/>
                      </a:solidFill>
                      <a:prstDash val="solid"/>
                      <a:round/>
                      <a:headEnd type="none" w="med" len="med"/>
                      <a:tailEnd type="none" w="med" len="med"/>
                    </a:lnL>
                    <a:lnR w="6350" cap="flat" cmpd="sng" algn="ctr">
                      <a:solidFill>
                        <a:srgbClr val="D6E4F0"/>
                      </a:solidFill>
                      <a:prstDash val="solid"/>
                      <a:round/>
                      <a:headEnd type="none" w="med" len="med"/>
                      <a:tailEnd type="none" w="med" len="med"/>
                    </a:lnR>
                    <a:lnT w="6350" cap="flat" cmpd="sng" algn="ctr">
                      <a:solidFill>
                        <a:srgbClr val="D6E4F0"/>
                      </a:solidFill>
                      <a:prstDash val="solid"/>
                      <a:round/>
                      <a:headEnd type="none" w="med" len="med"/>
                      <a:tailEnd type="none" w="med" len="med"/>
                    </a:lnT>
                    <a:lnB w="6350" cap="flat" cmpd="sng" algn="ctr">
                      <a:solidFill>
                        <a:srgbClr val="D6E4F0"/>
                      </a:solidFill>
                      <a:prstDash val="solid"/>
                      <a:round/>
                      <a:headEnd type="none" w="med" len="med"/>
                      <a:tailEnd type="none" w="med" len="med"/>
                    </a:lnB>
                    <a:solidFill>
                      <a:srgbClr val="FFFFFF"/>
                    </a:solidFill>
                  </a:tcPr>
                </a:tc>
                <a:tc>
                  <a:txBody>
                    <a:bodyPr/>
                    <a:lstStyle/>
                    <a:p>
                      <a:pPr indent="0" marL="0">
                        <a:buNone/>
                      </a:pPr>
                      <a:r>
                        <a:rPr lang="en-US" sz="700" dirty="0">
                          <a:solidFill>
                            <a:srgbClr val="3F5265"/>
                          </a:solidFill>
                          <a:latin typeface="Calibri" pitchFamily="34" charset="0"/>
                          <a:ea typeface="Calibri" pitchFamily="34" charset="-122"/>
                          <a:cs typeface="Calibri" pitchFamily="34" charset="-120"/>
                        </a:rPr>
                        <a:t>SimCorp investment platform</a:t>
                      </a:r>
                      <a:endParaRPr lang="en-US" sz="700" dirty="0">
                        <a:latin typeface="Calibri" charset="0"/>
                        <a:ea typeface="Calibri" charset="0"/>
                        <a:cs typeface="Calibri" charset="0"/>
                      </a:endParaRPr>
                    </a:p>
                  </a:txBody>
                  <a:tcPr marL="36576" marR="36576" marT="36576" marB="36576" anchor="ctr">
                    <a:lnL w="6350" cap="flat" cmpd="sng" algn="ctr">
                      <a:solidFill>
                        <a:srgbClr val="D6E4F0"/>
                      </a:solidFill>
                      <a:prstDash val="solid"/>
                      <a:round/>
                      <a:headEnd type="none" w="med" len="med"/>
                      <a:tailEnd type="none" w="med" len="med"/>
                    </a:lnL>
                    <a:lnR w="6350" cap="flat" cmpd="sng" algn="ctr">
                      <a:solidFill>
                        <a:srgbClr val="D6E4F0"/>
                      </a:solidFill>
                      <a:prstDash val="solid"/>
                      <a:round/>
                      <a:headEnd type="none" w="med" len="med"/>
                      <a:tailEnd type="none" w="med" len="med"/>
                    </a:lnR>
                    <a:lnT w="6350" cap="flat" cmpd="sng" algn="ctr">
                      <a:solidFill>
                        <a:srgbClr val="D6E4F0"/>
                      </a:solidFill>
                      <a:prstDash val="solid"/>
                      <a:round/>
                      <a:headEnd type="none" w="med" len="med"/>
                      <a:tailEnd type="none" w="med" len="med"/>
                    </a:lnT>
                    <a:lnB w="6350" cap="flat" cmpd="sng" algn="ctr">
                      <a:solidFill>
                        <a:srgbClr val="D6E4F0"/>
                      </a:solidFill>
                      <a:prstDash val="solid"/>
                      <a:round/>
                      <a:headEnd type="none" w="med" len="med"/>
                      <a:tailEnd type="none" w="med" len="med"/>
                    </a:lnB>
                    <a:solidFill>
                      <a:srgbClr val="FFFFFF"/>
                    </a:solidFill>
                  </a:tcPr>
                </a:tc>
                <a:tc>
                  <a:txBody>
                    <a:bodyPr/>
                    <a:lstStyle/>
                    <a:p>
                      <a:pPr indent="0" marL="0">
                        <a:buNone/>
                      </a:pPr>
                      <a:r>
                        <a:rPr lang="en-US" sz="700" dirty="0">
                          <a:solidFill>
                            <a:srgbClr val="3F5265"/>
                          </a:solidFill>
                          <a:latin typeface="Calibri" pitchFamily="34" charset="0"/>
                          <a:ea typeface="Calibri" pitchFamily="34" charset="-122"/>
                          <a:cs typeface="Calibri" pitchFamily="34" charset="-120"/>
                        </a:rPr>
                        <a:t>OMS; execution reached via third-party EMS</a:t>
                      </a:r>
                      <a:endParaRPr lang="en-US" sz="700" dirty="0">
                        <a:latin typeface="Calibri" charset="0"/>
                        <a:ea typeface="Calibri" charset="0"/>
                        <a:cs typeface="Calibri" charset="0"/>
                      </a:endParaRPr>
                    </a:p>
                  </a:txBody>
                  <a:tcPr marL="36576" marR="36576" marT="36576" marB="36576" anchor="ctr">
                    <a:lnL w="6350" cap="flat" cmpd="sng" algn="ctr">
                      <a:solidFill>
                        <a:srgbClr val="D6E4F0"/>
                      </a:solidFill>
                      <a:prstDash val="solid"/>
                      <a:round/>
                      <a:headEnd type="none" w="med" len="med"/>
                      <a:tailEnd type="none" w="med" len="med"/>
                    </a:lnL>
                    <a:lnR w="6350" cap="flat" cmpd="sng" algn="ctr">
                      <a:solidFill>
                        <a:srgbClr val="D6E4F0"/>
                      </a:solidFill>
                      <a:prstDash val="solid"/>
                      <a:round/>
                      <a:headEnd type="none" w="med" len="med"/>
                      <a:tailEnd type="none" w="med" len="med"/>
                    </a:lnR>
                    <a:lnT w="6350" cap="flat" cmpd="sng" algn="ctr">
                      <a:solidFill>
                        <a:srgbClr val="D6E4F0"/>
                      </a:solidFill>
                      <a:prstDash val="solid"/>
                      <a:round/>
                      <a:headEnd type="none" w="med" len="med"/>
                      <a:tailEnd type="none" w="med" len="med"/>
                    </a:lnT>
                    <a:lnB w="6350" cap="flat" cmpd="sng" algn="ctr">
                      <a:solidFill>
                        <a:srgbClr val="D6E4F0"/>
                      </a:solidFill>
                      <a:prstDash val="solid"/>
                      <a:round/>
                      <a:headEnd type="none" w="med" len="med"/>
                      <a:tailEnd type="none" w="med" len="med"/>
                    </a:lnB>
                    <a:solidFill>
                      <a:srgbClr val="FFFFFF"/>
                    </a:solidFill>
                  </a:tcPr>
                </a:tc>
                <a:tc>
                  <a:txBody>
                    <a:bodyPr/>
                    <a:lstStyle/>
                    <a:p>
                      <a:pPr indent="0" marL="0">
                        <a:buNone/>
                      </a:pPr>
                      <a:r>
                        <a:rPr lang="en-US" sz="700" dirty="0">
                          <a:solidFill>
                            <a:srgbClr val="3F5265"/>
                          </a:solidFill>
                          <a:latin typeface="Calibri" pitchFamily="34" charset="0"/>
                          <a:ea typeface="Calibri" pitchFamily="34" charset="-122"/>
                          <a:cs typeface="Calibri" pitchFamily="34" charset="-120"/>
                        </a:rPr>
                        <a:t>Multi-asset</a:t>
                      </a:r>
                      <a:endParaRPr lang="en-US" sz="700" dirty="0">
                        <a:latin typeface="Calibri" charset="0"/>
                        <a:ea typeface="Calibri" charset="0"/>
                        <a:cs typeface="Calibri" charset="0"/>
                      </a:endParaRPr>
                    </a:p>
                  </a:txBody>
                  <a:tcPr marL="36576" marR="36576" marT="36576" marB="36576" anchor="ctr">
                    <a:lnL w="6350" cap="flat" cmpd="sng" algn="ctr">
                      <a:solidFill>
                        <a:srgbClr val="D6E4F0"/>
                      </a:solidFill>
                      <a:prstDash val="solid"/>
                      <a:round/>
                      <a:headEnd type="none" w="med" len="med"/>
                      <a:tailEnd type="none" w="med" len="med"/>
                    </a:lnL>
                    <a:lnR w="6350" cap="flat" cmpd="sng" algn="ctr">
                      <a:solidFill>
                        <a:srgbClr val="D6E4F0"/>
                      </a:solidFill>
                      <a:prstDash val="solid"/>
                      <a:round/>
                      <a:headEnd type="none" w="med" len="med"/>
                      <a:tailEnd type="none" w="med" len="med"/>
                    </a:lnR>
                    <a:lnT w="6350" cap="flat" cmpd="sng" algn="ctr">
                      <a:solidFill>
                        <a:srgbClr val="D6E4F0"/>
                      </a:solidFill>
                      <a:prstDash val="solid"/>
                      <a:round/>
                      <a:headEnd type="none" w="med" len="med"/>
                      <a:tailEnd type="none" w="med" len="med"/>
                    </a:lnT>
                    <a:lnB w="6350" cap="flat" cmpd="sng" algn="ctr">
                      <a:solidFill>
                        <a:srgbClr val="D6E4F0"/>
                      </a:solidFill>
                      <a:prstDash val="solid"/>
                      <a:round/>
                      <a:headEnd type="none" w="med" len="med"/>
                      <a:tailEnd type="none" w="med" len="med"/>
                    </a:lnB>
                    <a:solidFill>
                      <a:srgbClr val="FFFFFF"/>
                    </a:solidFill>
                  </a:tcPr>
                </a:tc>
                <a:tc>
                  <a:txBody>
                    <a:bodyPr/>
                    <a:lstStyle/>
                    <a:p>
                      <a:pPr indent="0" marL="0">
                        <a:buNone/>
                      </a:pPr>
                      <a:r>
                        <a:rPr lang="en-US" sz="700" i="1" dirty="0">
                          <a:solidFill>
                            <a:srgbClr val="7A8A99"/>
                          </a:solidFill>
                          <a:latin typeface="Calibri" pitchFamily="34" charset="0"/>
                          <a:ea typeface="Calibri" pitchFamily="34" charset="-122"/>
                          <a:cs typeface="Calibri" pitchFamily="34" charset="-120"/>
                        </a:rPr>
                        <a:t>To be confirmed</a:t>
                      </a:r>
                      <a:endParaRPr lang="en-US" sz="700" dirty="0">
                        <a:latin typeface="Calibri" charset="0"/>
                        <a:ea typeface="Calibri" charset="0"/>
                        <a:cs typeface="Calibri" charset="0"/>
                      </a:endParaRPr>
                    </a:p>
                  </a:txBody>
                  <a:tcPr marL="36576" marR="36576" marT="36576" marB="36576" anchor="ctr">
                    <a:lnL w="6350" cap="flat" cmpd="sng" algn="ctr">
                      <a:solidFill>
                        <a:srgbClr val="D6E4F0"/>
                      </a:solidFill>
                      <a:prstDash val="solid"/>
                      <a:round/>
                      <a:headEnd type="none" w="med" len="med"/>
                      <a:tailEnd type="none" w="med" len="med"/>
                    </a:lnL>
                    <a:lnR w="6350" cap="flat" cmpd="sng" algn="ctr">
                      <a:solidFill>
                        <a:srgbClr val="D6E4F0"/>
                      </a:solidFill>
                      <a:prstDash val="solid"/>
                      <a:round/>
                      <a:headEnd type="none" w="med" len="med"/>
                      <a:tailEnd type="none" w="med" len="med"/>
                    </a:lnR>
                    <a:lnT w="6350" cap="flat" cmpd="sng" algn="ctr">
                      <a:solidFill>
                        <a:srgbClr val="D6E4F0"/>
                      </a:solidFill>
                      <a:prstDash val="solid"/>
                      <a:round/>
                      <a:headEnd type="none" w="med" len="med"/>
                      <a:tailEnd type="none" w="med" len="med"/>
                    </a:lnT>
                    <a:lnB w="6350" cap="flat" cmpd="sng" algn="ctr">
                      <a:solidFill>
                        <a:srgbClr val="D6E4F0"/>
                      </a:solidFill>
                      <a:prstDash val="solid"/>
                      <a:round/>
                      <a:headEnd type="none" w="med" len="med"/>
                      <a:tailEnd type="none" w="med" len="med"/>
                    </a:lnB>
                    <a:solidFill>
                      <a:srgbClr val="FDF6E8"/>
                    </a:solidFill>
                  </a:tcPr>
                </a:tc>
              </a:tr>
              <a:tr h="228600">
                <a:tc>
                  <a:txBody>
                    <a:bodyPr/>
                    <a:lstStyle/>
                    <a:p>
                      <a:pPr indent="0" marL="0">
                        <a:buNone/>
                      </a:pPr>
                      <a:r>
                        <a:rPr lang="en-US" sz="700" b="1" dirty="0">
                          <a:solidFill>
                            <a:srgbClr val="056DAE"/>
                          </a:solidFill>
                          <a:latin typeface="Calibri" pitchFamily="34" charset="0"/>
                          <a:ea typeface="Calibri" pitchFamily="34" charset="-122"/>
                          <a:cs typeface="Calibri" pitchFamily="34" charset="-120"/>
                        </a:rPr>
                        <a:t>C. Specialists</a:t>
                      </a:r>
                      <a:endParaRPr lang="en-US" sz="700" dirty="0">
                        <a:latin typeface="Calibri" charset="0"/>
                        <a:ea typeface="Calibri" charset="0"/>
                        <a:cs typeface="Calibri" charset="0"/>
                      </a:endParaRPr>
                    </a:p>
                  </a:txBody>
                  <a:tcPr marL="36576" marR="36576" marT="36576" marB="36576" anchor="ctr">
                    <a:lnL w="6350" cap="flat" cmpd="sng" algn="ctr">
                      <a:solidFill>
                        <a:srgbClr val="D6E4F0"/>
                      </a:solidFill>
                      <a:prstDash val="solid"/>
                      <a:round/>
                      <a:headEnd type="none" w="med" len="med"/>
                      <a:tailEnd type="none" w="med" len="med"/>
                    </a:lnL>
                    <a:lnR w="6350" cap="flat" cmpd="sng" algn="ctr">
                      <a:solidFill>
                        <a:srgbClr val="D6E4F0"/>
                      </a:solidFill>
                      <a:prstDash val="solid"/>
                      <a:round/>
                      <a:headEnd type="none" w="med" len="med"/>
                      <a:tailEnd type="none" w="med" len="med"/>
                    </a:lnR>
                    <a:lnT w="6350" cap="flat" cmpd="sng" algn="ctr">
                      <a:solidFill>
                        <a:srgbClr val="D6E4F0"/>
                      </a:solidFill>
                      <a:prstDash val="solid"/>
                      <a:round/>
                      <a:headEnd type="none" w="med" len="med"/>
                      <a:tailEnd type="none" w="med" len="med"/>
                    </a:lnT>
                    <a:lnB w="6350" cap="flat" cmpd="sng" algn="ctr">
                      <a:solidFill>
                        <a:srgbClr val="D6E4F0"/>
                      </a:solidFill>
                      <a:prstDash val="solid"/>
                      <a:round/>
                      <a:headEnd type="none" w="med" len="med"/>
                      <a:tailEnd type="none" w="med" len="med"/>
                    </a:lnB>
                    <a:solidFill>
                      <a:srgbClr val="EAF1F8"/>
                    </a:solidFill>
                  </a:tcPr>
                </a:tc>
                <a:tc>
                  <a:txBody>
                    <a:bodyPr/>
                    <a:lstStyle/>
                    <a:p>
                      <a:pPr indent="0" marL="0">
                        <a:buNone/>
                      </a:pPr>
                      <a:r>
                        <a:rPr lang="en-US" sz="700" b="1" dirty="0">
                          <a:solidFill>
                            <a:srgbClr val="002D72"/>
                          </a:solidFill>
                          <a:latin typeface="Calibri" pitchFamily="34" charset="0"/>
                          <a:ea typeface="Calibri" pitchFamily="34" charset="-122"/>
                          <a:cs typeface="Calibri" pitchFamily="34" charset="-120"/>
                        </a:rPr>
                        <a:t>Trading Technologies</a:t>
                      </a:r>
                      <a:endParaRPr lang="en-US" sz="700" dirty="0">
                        <a:latin typeface="Calibri" charset="0"/>
                        <a:ea typeface="Calibri" charset="0"/>
                        <a:cs typeface="Calibri" charset="0"/>
                      </a:endParaRPr>
                    </a:p>
                  </a:txBody>
                  <a:tcPr marL="36576" marR="36576" marT="36576" marB="36576" anchor="ctr">
                    <a:lnL w="6350" cap="flat" cmpd="sng" algn="ctr">
                      <a:solidFill>
                        <a:srgbClr val="D6E4F0"/>
                      </a:solidFill>
                      <a:prstDash val="solid"/>
                      <a:round/>
                      <a:headEnd type="none" w="med" len="med"/>
                      <a:tailEnd type="none" w="med" len="med"/>
                    </a:lnL>
                    <a:lnR w="6350" cap="flat" cmpd="sng" algn="ctr">
                      <a:solidFill>
                        <a:srgbClr val="D6E4F0"/>
                      </a:solidFill>
                      <a:prstDash val="solid"/>
                      <a:round/>
                      <a:headEnd type="none" w="med" len="med"/>
                      <a:tailEnd type="none" w="med" len="med"/>
                    </a:lnR>
                    <a:lnT w="6350" cap="flat" cmpd="sng" algn="ctr">
                      <a:solidFill>
                        <a:srgbClr val="D6E4F0"/>
                      </a:solidFill>
                      <a:prstDash val="solid"/>
                      <a:round/>
                      <a:headEnd type="none" w="med" len="med"/>
                      <a:tailEnd type="none" w="med" len="med"/>
                    </a:lnT>
                    <a:lnB w="6350" cap="flat" cmpd="sng" algn="ctr">
                      <a:solidFill>
                        <a:srgbClr val="D6E4F0"/>
                      </a:solidFill>
                      <a:prstDash val="solid"/>
                      <a:round/>
                      <a:headEnd type="none" w="med" len="med"/>
                      <a:tailEnd type="none" w="med" len="med"/>
                    </a:lnB>
                    <a:solidFill>
                      <a:srgbClr val="EAF1F8"/>
                    </a:solidFill>
                  </a:tcPr>
                </a:tc>
                <a:tc>
                  <a:txBody>
                    <a:bodyPr/>
                    <a:lstStyle/>
                    <a:p>
                      <a:pPr indent="0" marL="0">
                        <a:buNone/>
                      </a:pPr>
                      <a:r>
                        <a:rPr lang="en-US" sz="700" dirty="0">
                          <a:solidFill>
                            <a:srgbClr val="3F5265"/>
                          </a:solidFill>
                          <a:latin typeface="Calibri" pitchFamily="34" charset="0"/>
                          <a:ea typeface="Calibri" pitchFamily="34" charset="-122"/>
                          <a:cs typeface="Calibri" pitchFamily="34" charset="-120"/>
                        </a:rPr>
                        <a:t>TT platform</a:t>
                      </a:r>
                      <a:endParaRPr lang="en-US" sz="700" dirty="0">
                        <a:latin typeface="Calibri" charset="0"/>
                        <a:ea typeface="Calibri" charset="0"/>
                        <a:cs typeface="Calibri" charset="0"/>
                      </a:endParaRPr>
                    </a:p>
                  </a:txBody>
                  <a:tcPr marL="36576" marR="36576" marT="36576" marB="36576" anchor="ctr">
                    <a:lnL w="6350" cap="flat" cmpd="sng" algn="ctr">
                      <a:solidFill>
                        <a:srgbClr val="D6E4F0"/>
                      </a:solidFill>
                      <a:prstDash val="solid"/>
                      <a:round/>
                      <a:headEnd type="none" w="med" len="med"/>
                      <a:tailEnd type="none" w="med" len="med"/>
                    </a:lnL>
                    <a:lnR w="6350" cap="flat" cmpd="sng" algn="ctr">
                      <a:solidFill>
                        <a:srgbClr val="D6E4F0"/>
                      </a:solidFill>
                      <a:prstDash val="solid"/>
                      <a:round/>
                      <a:headEnd type="none" w="med" len="med"/>
                      <a:tailEnd type="none" w="med" len="med"/>
                    </a:lnR>
                    <a:lnT w="6350" cap="flat" cmpd="sng" algn="ctr">
                      <a:solidFill>
                        <a:srgbClr val="D6E4F0"/>
                      </a:solidFill>
                      <a:prstDash val="solid"/>
                      <a:round/>
                      <a:headEnd type="none" w="med" len="med"/>
                      <a:tailEnd type="none" w="med" len="med"/>
                    </a:lnT>
                    <a:lnB w="6350" cap="flat" cmpd="sng" algn="ctr">
                      <a:solidFill>
                        <a:srgbClr val="D6E4F0"/>
                      </a:solidFill>
                      <a:prstDash val="solid"/>
                      <a:round/>
                      <a:headEnd type="none" w="med" len="med"/>
                      <a:tailEnd type="none" w="med" len="med"/>
                    </a:lnB>
                    <a:solidFill>
                      <a:srgbClr val="EAF1F8"/>
                    </a:solidFill>
                  </a:tcPr>
                </a:tc>
                <a:tc>
                  <a:txBody>
                    <a:bodyPr/>
                    <a:lstStyle/>
                    <a:p>
                      <a:pPr indent="0" marL="0">
                        <a:buNone/>
                      </a:pPr>
                      <a:r>
                        <a:rPr lang="en-US" sz="700" dirty="0">
                          <a:solidFill>
                            <a:srgbClr val="3F5265"/>
                          </a:solidFill>
                          <a:latin typeface="Calibri" pitchFamily="34" charset="0"/>
                          <a:ea typeface="Calibri" pitchFamily="34" charset="-122"/>
                          <a:cs typeface="Calibri" pitchFamily="34" charset="-120"/>
                        </a:rPr>
                        <a:t>FIX and API; exchange and dealer connectivity</a:t>
                      </a:r>
                      <a:endParaRPr lang="en-US" sz="700" dirty="0">
                        <a:latin typeface="Calibri" charset="0"/>
                        <a:ea typeface="Calibri" charset="0"/>
                        <a:cs typeface="Calibri" charset="0"/>
                      </a:endParaRPr>
                    </a:p>
                  </a:txBody>
                  <a:tcPr marL="36576" marR="36576" marT="36576" marB="36576" anchor="ctr">
                    <a:lnL w="6350" cap="flat" cmpd="sng" algn="ctr">
                      <a:solidFill>
                        <a:srgbClr val="D6E4F0"/>
                      </a:solidFill>
                      <a:prstDash val="solid"/>
                      <a:round/>
                      <a:headEnd type="none" w="med" len="med"/>
                      <a:tailEnd type="none" w="med" len="med"/>
                    </a:lnL>
                    <a:lnR w="6350" cap="flat" cmpd="sng" algn="ctr">
                      <a:solidFill>
                        <a:srgbClr val="D6E4F0"/>
                      </a:solidFill>
                      <a:prstDash val="solid"/>
                      <a:round/>
                      <a:headEnd type="none" w="med" len="med"/>
                      <a:tailEnd type="none" w="med" len="med"/>
                    </a:lnR>
                    <a:lnT w="6350" cap="flat" cmpd="sng" algn="ctr">
                      <a:solidFill>
                        <a:srgbClr val="D6E4F0"/>
                      </a:solidFill>
                      <a:prstDash val="solid"/>
                      <a:round/>
                      <a:headEnd type="none" w="med" len="med"/>
                      <a:tailEnd type="none" w="med" len="med"/>
                    </a:lnT>
                    <a:lnB w="6350" cap="flat" cmpd="sng" algn="ctr">
                      <a:solidFill>
                        <a:srgbClr val="D6E4F0"/>
                      </a:solidFill>
                      <a:prstDash val="solid"/>
                      <a:round/>
                      <a:headEnd type="none" w="med" len="med"/>
                      <a:tailEnd type="none" w="med" len="med"/>
                    </a:lnB>
                    <a:solidFill>
                      <a:srgbClr val="EAF1F8"/>
                    </a:solidFill>
                  </a:tcPr>
                </a:tc>
                <a:tc>
                  <a:txBody>
                    <a:bodyPr/>
                    <a:lstStyle/>
                    <a:p>
                      <a:pPr indent="0" marL="0">
                        <a:buNone/>
                      </a:pPr>
                      <a:r>
                        <a:rPr lang="en-US" sz="700" dirty="0">
                          <a:solidFill>
                            <a:srgbClr val="3F5265"/>
                          </a:solidFill>
                          <a:latin typeface="Calibri" pitchFamily="34" charset="0"/>
                          <a:ea typeface="Calibri" pitchFamily="34" charset="-122"/>
                          <a:cs typeface="Calibri" pitchFamily="34" charset="-120"/>
                        </a:rPr>
                        <a:t>Listed derivatives, FX, FI, crypto</a:t>
                      </a:r>
                      <a:endParaRPr lang="en-US" sz="700" dirty="0">
                        <a:latin typeface="Calibri" charset="0"/>
                        <a:ea typeface="Calibri" charset="0"/>
                        <a:cs typeface="Calibri" charset="0"/>
                      </a:endParaRPr>
                    </a:p>
                  </a:txBody>
                  <a:tcPr marL="36576" marR="36576" marT="36576" marB="36576" anchor="ctr">
                    <a:lnL w="6350" cap="flat" cmpd="sng" algn="ctr">
                      <a:solidFill>
                        <a:srgbClr val="D6E4F0"/>
                      </a:solidFill>
                      <a:prstDash val="solid"/>
                      <a:round/>
                      <a:headEnd type="none" w="med" len="med"/>
                      <a:tailEnd type="none" w="med" len="med"/>
                    </a:lnL>
                    <a:lnR w="6350" cap="flat" cmpd="sng" algn="ctr">
                      <a:solidFill>
                        <a:srgbClr val="D6E4F0"/>
                      </a:solidFill>
                      <a:prstDash val="solid"/>
                      <a:round/>
                      <a:headEnd type="none" w="med" len="med"/>
                      <a:tailEnd type="none" w="med" len="med"/>
                    </a:lnR>
                    <a:lnT w="6350" cap="flat" cmpd="sng" algn="ctr">
                      <a:solidFill>
                        <a:srgbClr val="D6E4F0"/>
                      </a:solidFill>
                      <a:prstDash val="solid"/>
                      <a:round/>
                      <a:headEnd type="none" w="med" len="med"/>
                      <a:tailEnd type="none" w="med" len="med"/>
                    </a:lnT>
                    <a:lnB w="6350" cap="flat" cmpd="sng" algn="ctr">
                      <a:solidFill>
                        <a:srgbClr val="D6E4F0"/>
                      </a:solidFill>
                      <a:prstDash val="solid"/>
                      <a:round/>
                      <a:headEnd type="none" w="med" len="med"/>
                      <a:tailEnd type="none" w="med" len="med"/>
                    </a:lnB>
                    <a:solidFill>
                      <a:srgbClr val="EAF1F8"/>
                    </a:solidFill>
                  </a:tcPr>
                </a:tc>
                <a:tc>
                  <a:txBody>
                    <a:bodyPr/>
                    <a:lstStyle/>
                    <a:p>
                      <a:pPr indent="0" marL="0">
                        <a:buNone/>
                      </a:pPr>
                      <a:r>
                        <a:rPr lang="en-US" sz="700" i="1" dirty="0">
                          <a:solidFill>
                            <a:srgbClr val="7A8A99"/>
                          </a:solidFill>
                          <a:latin typeface="Calibri" pitchFamily="34" charset="0"/>
                          <a:ea typeface="Calibri" pitchFamily="34" charset="-122"/>
                          <a:cs typeface="Calibri" pitchFamily="34" charset="-120"/>
                        </a:rPr>
                        <a:t>To be confirmed</a:t>
                      </a:r>
                      <a:endParaRPr lang="en-US" sz="700" dirty="0">
                        <a:latin typeface="Calibri" charset="0"/>
                        <a:ea typeface="Calibri" charset="0"/>
                        <a:cs typeface="Calibri" charset="0"/>
                      </a:endParaRPr>
                    </a:p>
                  </a:txBody>
                  <a:tcPr marL="36576" marR="36576" marT="36576" marB="36576" anchor="ctr">
                    <a:lnL w="6350" cap="flat" cmpd="sng" algn="ctr">
                      <a:solidFill>
                        <a:srgbClr val="D6E4F0"/>
                      </a:solidFill>
                      <a:prstDash val="solid"/>
                      <a:round/>
                      <a:headEnd type="none" w="med" len="med"/>
                      <a:tailEnd type="none" w="med" len="med"/>
                    </a:lnL>
                    <a:lnR w="6350" cap="flat" cmpd="sng" algn="ctr">
                      <a:solidFill>
                        <a:srgbClr val="D6E4F0"/>
                      </a:solidFill>
                      <a:prstDash val="solid"/>
                      <a:round/>
                      <a:headEnd type="none" w="med" len="med"/>
                      <a:tailEnd type="none" w="med" len="med"/>
                    </a:lnR>
                    <a:lnT w="6350" cap="flat" cmpd="sng" algn="ctr">
                      <a:solidFill>
                        <a:srgbClr val="D6E4F0"/>
                      </a:solidFill>
                      <a:prstDash val="solid"/>
                      <a:round/>
                      <a:headEnd type="none" w="med" len="med"/>
                      <a:tailEnd type="none" w="med" len="med"/>
                    </a:lnT>
                    <a:lnB w="6350" cap="flat" cmpd="sng" algn="ctr">
                      <a:solidFill>
                        <a:srgbClr val="D6E4F0"/>
                      </a:solidFill>
                      <a:prstDash val="solid"/>
                      <a:round/>
                      <a:headEnd type="none" w="med" len="med"/>
                      <a:tailEnd type="none" w="med" len="med"/>
                    </a:lnB>
                    <a:solidFill>
                      <a:srgbClr val="FDF6E8"/>
                    </a:solidFill>
                  </a:tcPr>
                </a:tc>
              </a:tr>
              <a:tr h="228600">
                <a:tc>
                  <a:txBody>
                    <a:bodyPr/>
                    <a:lstStyle/>
                    <a:p>
                      <a:pPr indent="0" marL="0">
                        <a:buNone/>
                      </a:pPr>
                      <a:endParaRPr lang="en-US" sz="700" dirty="0">
                        <a:latin typeface="Calibri" charset="0"/>
                        <a:ea typeface="Calibri" charset="0"/>
                        <a:cs typeface="Calibri" charset="0"/>
                      </a:endParaRPr>
                    </a:p>
                  </a:txBody>
                  <a:tcPr marL="36576" marR="36576" marT="36576" marB="36576" anchor="ctr">
                    <a:lnL w="6350" cap="flat" cmpd="sng" algn="ctr">
                      <a:solidFill>
                        <a:srgbClr val="D6E4F0"/>
                      </a:solidFill>
                      <a:prstDash val="solid"/>
                      <a:round/>
                      <a:headEnd type="none" w="med" len="med"/>
                      <a:tailEnd type="none" w="med" len="med"/>
                    </a:lnL>
                    <a:lnR w="6350" cap="flat" cmpd="sng" algn="ctr">
                      <a:solidFill>
                        <a:srgbClr val="D6E4F0"/>
                      </a:solidFill>
                      <a:prstDash val="solid"/>
                      <a:round/>
                      <a:headEnd type="none" w="med" len="med"/>
                      <a:tailEnd type="none" w="med" len="med"/>
                    </a:lnR>
                    <a:lnT w="6350" cap="flat" cmpd="sng" algn="ctr">
                      <a:solidFill>
                        <a:srgbClr val="D6E4F0"/>
                      </a:solidFill>
                      <a:prstDash val="solid"/>
                      <a:round/>
                      <a:headEnd type="none" w="med" len="med"/>
                      <a:tailEnd type="none" w="med" len="med"/>
                    </a:lnT>
                    <a:lnB w="6350" cap="flat" cmpd="sng" algn="ctr">
                      <a:solidFill>
                        <a:srgbClr val="D6E4F0"/>
                      </a:solidFill>
                      <a:prstDash val="solid"/>
                      <a:round/>
                      <a:headEnd type="none" w="med" len="med"/>
                      <a:tailEnd type="none" w="med" len="med"/>
                    </a:lnB>
                    <a:solidFill>
                      <a:srgbClr val="FFFFFF"/>
                    </a:solidFill>
                  </a:tcPr>
                </a:tc>
                <a:tc>
                  <a:txBody>
                    <a:bodyPr/>
                    <a:lstStyle/>
                    <a:p>
                      <a:pPr indent="0" marL="0">
                        <a:buNone/>
                      </a:pPr>
                      <a:r>
                        <a:rPr lang="en-US" sz="700" b="1" dirty="0">
                          <a:solidFill>
                            <a:srgbClr val="002D72"/>
                          </a:solidFill>
                          <a:latin typeface="Calibri" pitchFamily="34" charset="0"/>
                          <a:ea typeface="Calibri" pitchFamily="34" charset="-122"/>
                          <a:cs typeface="Calibri" pitchFamily="34" charset="-120"/>
                        </a:rPr>
                        <a:t>Adroit</a:t>
                      </a:r>
                      <a:endParaRPr lang="en-US" sz="700" dirty="0">
                        <a:latin typeface="Calibri" charset="0"/>
                        <a:ea typeface="Calibri" charset="0"/>
                        <a:cs typeface="Calibri" charset="0"/>
                      </a:endParaRPr>
                    </a:p>
                  </a:txBody>
                  <a:tcPr marL="36576" marR="36576" marT="36576" marB="36576" anchor="ctr">
                    <a:lnL w="6350" cap="flat" cmpd="sng" algn="ctr">
                      <a:solidFill>
                        <a:srgbClr val="D6E4F0"/>
                      </a:solidFill>
                      <a:prstDash val="solid"/>
                      <a:round/>
                      <a:headEnd type="none" w="med" len="med"/>
                      <a:tailEnd type="none" w="med" len="med"/>
                    </a:lnL>
                    <a:lnR w="6350" cap="flat" cmpd="sng" algn="ctr">
                      <a:solidFill>
                        <a:srgbClr val="D6E4F0"/>
                      </a:solidFill>
                      <a:prstDash val="solid"/>
                      <a:round/>
                      <a:headEnd type="none" w="med" len="med"/>
                      <a:tailEnd type="none" w="med" len="med"/>
                    </a:lnR>
                    <a:lnT w="6350" cap="flat" cmpd="sng" algn="ctr">
                      <a:solidFill>
                        <a:srgbClr val="D6E4F0"/>
                      </a:solidFill>
                      <a:prstDash val="solid"/>
                      <a:round/>
                      <a:headEnd type="none" w="med" len="med"/>
                      <a:tailEnd type="none" w="med" len="med"/>
                    </a:lnT>
                    <a:lnB w="6350" cap="flat" cmpd="sng" algn="ctr">
                      <a:solidFill>
                        <a:srgbClr val="D6E4F0"/>
                      </a:solidFill>
                      <a:prstDash val="solid"/>
                      <a:round/>
                      <a:headEnd type="none" w="med" len="med"/>
                      <a:tailEnd type="none" w="med" len="med"/>
                    </a:lnB>
                    <a:solidFill>
                      <a:srgbClr val="FFFFFF"/>
                    </a:solidFill>
                  </a:tcPr>
                </a:tc>
                <a:tc>
                  <a:txBody>
                    <a:bodyPr/>
                    <a:lstStyle/>
                    <a:p>
                      <a:pPr indent="0" marL="0">
                        <a:buNone/>
                      </a:pPr>
                      <a:r>
                        <a:rPr lang="en-US" sz="700" dirty="0">
                          <a:solidFill>
                            <a:srgbClr val="3F5265"/>
                          </a:solidFill>
                          <a:latin typeface="Calibri" pitchFamily="34" charset="0"/>
                          <a:ea typeface="Calibri" pitchFamily="34" charset="-122"/>
                          <a:cs typeface="Calibri" pitchFamily="34" charset="-120"/>
                        </a:rPr>
                        <a:t>Adroit O/EMS</a:t>
                      </a:r>
                      <a:endParaRPr lang="en-US" sz="700" dirty="0">
                        <a:latin typeface="Calibri" charset="0"/>
                        <a:ea typeface="Calibri" charset="0"/>
                        <a:cs typeface="Calibri" charset="0"/>
                      </a:endParaRPr>
                    </a:p>
                  </a:txBody>
                  <a:tcPr marL="36576" marR="36576" marT="36576" marB="36576" anchor="ctr">
                    <a:lnL w="6350" cap="flat" cmpd="sng" algn="ctr">
                      <a:solidFill>
                        <a:srgbClr val="D6E4F0"/>
                      </a:solidFill>
                      <a:prstDash val="solid"/>
                      <a:round/>
                      <a:headEnd type="none" w="med" len="med"/>
                      <a:tailEnd type="none" w="med" len="med"/>
                    </a:lnL>
                    <a:lnR w="6350" cap="flat" cmpd="sng" algn="ctr">
                      <a:solidFill>
                        <a:srgbClr val="D6E4F0"/>
                      </a:solidFill>
                      <a:prstDash val="solid"/>
                      <a:round/>
                      <a:headEnd type="none" w="med" len="med"/>
                      <a:tailEnd type="none" w="med" len="med"/>
                    </a:lnR>
                    <a:lnT w="6350" cap="flat" cmpd="sng" algn="ctr">
                      <a:solidFill>
                        <a:srgbClr val="D6E4F0"/>
                      </a:solidFill>
                      <a:prstDash val="solid"/>
                      <a:round/>
                      <a:headEnd type="none" w="med" len="med"/>
                      <a:tailEnd type="none" w="med" len="med"/>
                    </a:lnT>
                    <a:lnB w="6350" cap="flat" cmpd="sng" algn="ctr">
                      <a:solidFill>
                        <a:srgbClr val="D6E4F0"/>
                      </a:solidFill>
                      <a:prstDash val="solid"/>
                      <a:round/>
                      <a:headEnd type="none" w="med" len="med"/>
                      <a:tailEnd type="none" w="med" len="med"/>
                    </a:lnB>
                    <a:solidFill>
                      <a:srgbClr val="FFFFFF"/>
                    </a:solidFill>
                  </a:tcPr>
                </a:tc>
                <a:tc>
                  <a:txBody>
                    <a:bodyPr/>
                    <a:lstStyle/>
                    <a:p>
                      <a:pPr indent="0" marL="0">
                        <a:buNone/>
                      </a:pPr>
                      <a:r>
                        <a:rPr lang="en-US" sz="700" dirty="0">
                          <a:solidFill>
                            <a:srgbClr val="3F5265"/>
                          </a:solidFill>
                          <a:latin typeface="Calibri" pitchFamily="34" charset="0"/>
                          <a:ea typeface="Calibri" pitchFamily="34" charset="-122"/>
                          <a:cs typeface="Calibri" pitchFamily="34" charset="-120"/>
                        </a:rPr>
                        <a:t>Dealer and venue connectivity, OTC-oriented</a:t>
                      </a:r>
                      <a:endParaRPr lang="en-US" sz="700" dirty="0">
                        <a:latin typeface="Calibri" charset="0"/>
                        <a:ea typeface="Calibri" charset="0"/>
                        <a:cs typeface="Calibri" charset="0"/>
                      </a:endParaRPr>
                    </a:p>
                  </a:txBody>
                  <a:tcPr marL="36576" marR="36576" marT="36576" marB="36576" anchor="ctr">
                    <a:lnL w="6350" cap="flat" cmpd="sng" algn="ctr">
                      <a:solidFill>
                        <a:srgbClr val="D6E4F0"/>
                      </a:solidFill>
                      <a:prstDash val="solid"/>
                      <a:round/>
                      <a:headEnd type="none" w="med" len="med"/>
                      <a:tailEnd type="none" w="med" len="med"/>
                    </a:lnL>
                    <a:lnR w="6350" cap="flat" cmpd="sng" algn="ctr">
                      <a:solidFill>
                        <a:srgbClr val="D6E4F0"/>
                      </a:solidFill>
                      <a:prstDash val="solid"/>
                      <a:round/>
                      <a:headEnd type="none" w="med" len="med"/>
                      <a:tailEnd type="none" w="med" len="med"/>
                    </a:lnR>
                    <a:lnT w="6350" cap="flat" cmpd="sng" algn="ctr">
                      <a:solidFill>
                        <a:srgbClr val="D6E4F0"/>
                      </a:solidFill>
                      <a:prstDash val="solid"/>
                      <a:round/>
                      <a:headEnd type="none" w="med" len="med"/>
                      <a:tailEnd type="none" w="med" len="med"/>
                    </a:lnT>
                    <a:lnB w="6350" cap="flat" cmpd="sng" algn="ctr">
                      <a:solidFill>
                        <a:srgbClr val="D6E4F0"/>
                      </a:solidFill>
                      <a:prstDash val="solid"/>
                      <a:round/>
                      <a:headEnd type="none" w="med" len="med"/>
                      <a:tailEnd type="none" w="med" len="med"/>
                    </a:lnB>
                    <a:solidFill>
                      <a:srgbClr val="FFFFFF"/>
                    </a:solidFill>
                  </a:tcPr>
                </a:tc>
                <a:tc>
                  <a:txBody>
                    <a:bodyPr/>
                    <a:lstStyle/>
                    <a:p>
                      <a:pPr indent="0" marL="0">
                        <a:buNone/>
                      </a:pPr>
                      <a:r>
                        <a:rPr lang="en-US" sz="700" dirty="0">
                          <a:solidFill>
                            <a:srgbClr val="3F5265"/>
                          </a:solidFill>
                          <a:latin typeface="Calibri" pitchFamily="34" charset="0"/>
                          <a:ea typeface="Calibri" pitchFamily="34" charset="-122"/>
                          <a:cs typeface="Calibri" pitchFamily="34" charset="-120"/>
                        </a:rPr>
                        <a:t>FI cash, OTC derivatives, FX</a:t>
                      </a:r>
                      <a:endParaRPr lang="en-US" sz="700" dirty="0">
                        <a:latin typeface="Calibri" charset="0"/>
                        <a:ea typeface="Calibri" charset="0"/>
                        <a:cs typeface="Calibri" charset="0"/>
                      </a:endParaRPr>
                    </a:p>
                  </a:txBody>
                  <a:tcPr marL="36576" marR="36576" marT="36576" marB="36576" anchor="ctr">
                    <a:lnL w="6350" cap="flat" cmpd="sng" algn="ctr">
                      <a:solidFill>
                        <a:srgbClr val="D6E4F0"/>
                      </a:solidFill>
                      <a:prstDash val="solid"/>
                      <a:round/>
                      <a:headEnd type="none" w="med" len="med"/>
                      <a:tailEnd type="none" w="med" len="med"/>
                    </a:lnL>
                    <a:lnR w="6350" cap="flat" cmpd="sng" algn="ctr">
                      <a:solidFill>
                        <a:srgbClr val="D6E4F0"/>
                      </a:solidFill>
                      <a:prstDash val="solid"/>
                      <a:round/>
                      <a:headEnd type="none" w="med" len="med"/>
                      <a:tailEnd type="none" w="med" len="med"/>
                    </a:lnR>
                    <a:lnT w="6350" cap="flat" cmpd="sng" algn="ctr">
                      <a:solidFill>
                        <a:srgbClr val="D6E4F0"/>
                      </a:solidFill>
                      <a:prstDash val="solid"/>
                      <a:round/>
                      <a:headEnd type="none" w="med" len="med"/>
                      <a:tailEnd type="none" w="med" len="med"/>
                    </a:lnT>
                    <a:lnB w="6350" cap="flat" cmpd="sng" algn="ctr">
                      <a:solidFill>
                        <a:srgbClr val="D6E4F0"/>
                      </a:solidFill>
                      <a:prstDash val="solid"/>
                      <a:round/>
                      <a:headEnd type="none" w="med" len="med"/>
                      <a:tailEnd type="none" w="med" len="med"/>
                    </a:lnB>
                    <a:solidFill>
                      <a:srgbClr val="FFFFFF"/>
                    </a:solidFill>
                  </a:tcPr>
                </a:tc>
                <a:tc>
                  <a:txBody>
                    <a:bodyPr/>
                    <a:lstStyle/>
                    <a:p>
                      <a:pPr indent="0" marL="0">
                        <a:buNone/>
                      </a:pPr>
                      <a:r>
                        <a:rPr lang="en-US" sz="700" i="1" dirty="0">
                          <a:solidFill>
                            <a:srgbClr val="7A8A99"/>
                          </a:solidFill>
                          <a:latin typeface="Calibri" pitchFamily="34" charset="0"/>
                          <a:ea typeface="Calibri" pitchFamily="34" charset="-122"/>
                          <a:cs typeface="Calibri" pitchFamily="34" charset="-120"/>
                        </a:rPr>
                        <a:t>To be confirmed</a:t>
                      </a:r>
                      <a:endParaRPr lang="en-US" sz="700" dirty="0">
                        <a:latin typeface="Calibri" charset="0"/>
                        <a:ea typeface="Calibri" charset="0"/>
                        <a:cs typeface="Calibri" charset="0"/>
                      </a:endParaRPr>
                    </a:p>
                  </a:txBody>
                  <a:tcPr marL="36576" marR="36576" marT="36576" marB="36576" anchor="ctr">
                    <a:lnL w="6350" cap="flat" cmpd="sng" algn="ctr">
                      <a:solidFill>
                        <a:srgbClr val="D6E4F0"/>
                      </a:solidFill>
                      <a:prstDash val="solid"/>
                      <a:round/>
                      <a:headEnd type="none" w="med" len="med"/>
                      <a:tailEnd type="none" w="med" len="med"/>
                    </a:lnL>
                    <a:lnR w="6350" cap="flat" cmpd="sng" algn="ctr">
                      <a:solidFill>
                        <a:srgbClr val="D6E4F0"/>
                      </a:solidFill>
                      <a:prstDash val="solid"/>
                      <a:round/>
                      <a:headEnd type="none" w="med" len="med"/>
                      <a:tailEnd type="none" w="med" len="med"/>
                    </a:lnR>
                    <a:lnT w="6350" cap="flat" cmpd="sng" algn="ctr">
                      <a:solidFill>
                        <a:srgbClr val="D6E4F0"/>
                      </a:solidFill>
                      <a:prstDash val="solid"/>
                      <a:round/>
                      <a:headEnd type="none" w="med" len="med"/>
                      <a:tailEnd type="none" w="med" len="med"/>
                    </a:lnT>
                    <a:lnB w="6350" cap="flat" cmpd="sng" algn="ctr">
                      <a:solidFill>
                        <a:srgbClr val="D6E4F0"/>
                      </a:solidFill>
                      <a:prstDash val="solid"/>
                      <a:round/>
                      <a:headEnd type="none" w="med" len="med"/>
                      <a:tailEnd type="none" w="med" len="med"/>
                    </a:lnB>
                    <a:solidFill>
                      <a:srgbClr val="FDF6E8"/>
                    </a:solidFill>
                  </a:tcPr>
                </a:tc>
              </a:tr>
              <a:tr h="228600">
                <a:tc>
                  <a:txBody>
                    <a:bodyPr/>
                    <a:lstStyle/>
                    <a:p>
                      <a:pPr indent="0" marL="0">
                        <a:buNone/>
                      </a:pPr>
                      <a:endParaRPr lang="en-US" sz="700" dirty="0">
                        <a:latin typeface="Calibri" charset="0"/>
                        <a:ea typeface="Calibri" charset="0"/>
                        <a:cs typeface="Calibri" charset="0"/>
                      </a:endParaRPr>
                    </a:p>
                  </a:txBody>
                  <a:tcPr marL="36576" marR="36576" marT="36576" marB="36576" anchor="ctr">
                    <a:lnL w="6350" cap="flat" cmpd="sng" algn="ctr">
                      <a:solidFill>
                        <a:srgbClr val="D6E4F0"/>
                      </a:solidFill>
                      <a:prstDash val="solid"/>
                      <a:round/>
                      <a:headEnd type="none" w="med" len="med"/>
                      <a:tailEnd type="none" w="med" len="med"/>
                    </a:lnL>
                    <a:lnR w="6350" cap="flat" cmpd="sng" algn="ctr">
                      <a:solidFill>
                        <a:srgbClr val="D6E4F0"/>
                      </a:solidFill>
                      <a:prstDash val="solid"/>
                      <a:round/>
                      <a:headEnd type="none" w="med" len="med"/>
                      <a:tailEnd type="none" w="med" len="med"/>
                    </a:lnR>
                    <a:lnT w="6350" cap="flat" cmpd="sng" algn="ctr">
                      <a:solidFill>
                        <a:srgbClr val="D6E4F0"/>
                      </a:solidFill>
                      <a:prstDash val="solid"/>
                      <a:round/>
                      <a:headEnd type="none" w="med" len="med"/>
                      <a:tailEnd type="none" w="med" len="med"/>
                    </a:lnT>
                    <a:lnB w="6350" cap="flat" cmpd="sng" algn="ctr">
                      <a:solidFill>
                        <a:srgbClr val="D6E4F0"/>
                      </a:solidFill>
                      <a:prstDash val="solid"/>
                      <a:round/>
                      <a:headEnd type="none" w="med" len="med"/>
                      <a:tailEnd type="none" w="med" len="med"/>
                    </a:lnB>
                    <a:solidFill>
                      <a:srgbClr val="FFFFFF"/>
                    </a:solidFill>
                  </a:tcPr>
                </a:tc>
                <a:tc>
                  <a:txBody>
                    <a:bodyPr/>
                    <a:lstStyle/>
                    <a:p>
                      <a:pPr indent="0" marL="0">
                        <a:buNone/>
                      </a:pPr>
                      <a:r>
                        <a:rPr lang="en-US" sz="700" b="1" dirty="0">
                          <a:solidFill>
                            <a:srgbClr val="002D72"/>
                          </a:solidFill>
                          <a:latin typeface="Calibri" pitchFamily="34" charset="0"/>
                          <a:ea typeface="Calibri" pitchFamily="34" charset="-122"/>
                          <a:cs typeface="Calibri" pitchFamily="34" charset="-120"/>
                        </a:rPr>
                        <a:t>Quod Financial</a:t>
                      </a:r>
                      <a:endParaRPr lang="en-US" sz="700" dirty="0">
                        <a:latin typeface="Calibri" charset="0"/>
                        <a:ea typeface="Calibri" charset="0"/>
                        <a:cs typeface="Calibri" charset="0"/>
                      </a:endParaRPr>
                    </a:p>
                  </a:txBody>
                  <a:tcPr marL="36576" marR="36576" marT="36576" marB="36576" anchor="ctr">
                    <a:lnL w="6350" cap="flat" cmpd="sng" algn="ctr">
                      <a:solidFill>
                        <a:srgbClr val="D6E4F0"/>
                      </a:solidFill>
                      <a:prstDash val="solid"/>
                      <a:round/>
                      <a:headEnd type="none" w="med" len="med"/>
                      <a:tailEnd type="none" w="med" len="med"/>
                    </a:lnL>
                    <a:lnR w="6350" cap="flat" cmpd="sng" algn="ctr">
                      <a:solidFill>
                        <a:srgbClr val="D6E4F0"/>
                      </a:solidFill>
                      <a:prstDash val="solid"/>
                      <a:round/>
                      <a:headEnd type="none" w="med" len="med"/>
                      <a:tailEnd type="none" w="med" len="med"/>
                    </a:lnR>
                    <a:lnT w="6350" cap="flat" cmpd="sng" algn="ctr">
                      <a:solidFill>
                        <a:srgbClr val="D6E4F0"/>
                      </a:solidFill>
                      <a:prstDash val="solid"/>
                      <a:round/>
                      <a:headEnd type="none" w="med" len="med"/>
                      <a:tailEnd type="none" w="med" len="med"/>
                    </a:lnT>
                    <a:lnB w="6350" cap="flat" cmpd="sng" algn="ctr">
                      <a:solidFill>
                        <a:srgbClr val="D6E4F0"/>
                      </a:solidFill>
                      <a:prstDash val="solid"/>
                      <a:round/>
                      <a:headEnd type="none" w="med" len="med"/>
                      <a:tailEnd type="none" w="med" len="med"/>
                    </a:lnB>
                    <a:solidFill>
                      <a:srgbClr val="FFFFFF"/>
                    </a:solidFill>
                  </a:tcPr>
                </a:tc>
                <a:tc>
                  <a:txBody>
                    <a:bodyPr/>
                    <a:lstStyle/>
                    <a:p>
                      <a:pPr indent="0" marL="0">
                        <a:buNone/>
                      </a:pPr>
                      <a:r>
                        <a:rPr lang="en-US" sz="700" dirty="0">
                          <a:solidFill>
                            <a:srgbClr val="3F5265"/>
                          </a:solidFill>
                          <a:latin typeface="Calibri" pitchFamily="34" charset="0"/>
                          <a:ea typeface="Calibri" pitchFamily="34" charset="-122"/>
                          <a:cs typeface="Calibri" pitchFamily="34" charset="-120"/>
                        </a:rPr>
                        <a:t>Quod O/EMS (Unity)</a:t>
                      </a:r>
                      <a:endParaRPr lang="en-US" sz="700" dirty="0">
                        <a:latin typeface="Calibri" charset="0"/>
                        <a:ea typeface="Calibri" charset="0"/>
                        <a:cs typeface="Calibri" charset="0"/>
                      </a:endParaRPr>
                    </a:p>
                  </a:txBody>
                  <a:tcPr marL="36576" marR="36576" marT="36576" marB="36576" anchor="ctr">
                    <a:lnL w="6350" cap="flat" cmpd="sng" algn="ctr">
                      <a:solidFill>
                        <a:srgbClr val="D6E4F0"/>
                      </a:solidFill>
                      <a:prstDash val="solid"/>
                      <a:round/>
                      <a:headEnd type="none" w="med" len="med"/>
                      <a:tailEnd type="none" w="med" len="med"/>
                    </a:lnL>
                    <a:lnR w="6350" cap="flat" cmpd="sng" algn="ctr">
                      <a:solidFill>
                        <a:srgbClr val="D6E4F0"/>
                      </a:solidFill>
                      <a:prstDash val="solid"/>
                      <a:round/>
                      <a:headEnd type="none" w="med" len="med"/>
                      <a:tailEnd type="none" w="med" len="med"/>
                    </a:lnR>
                    <a:lnT w="6350" cap="flat" cmpd="sng" algn="ctr">
                      <a:solidFill>
                        <a:srgbClr val="D6E4F0"/>
                      </a:solidFill>
                      <a:prstDash val="solid"/>
                      <a:round/>
                      <a:headEnd type="none" w="med" len="med"/>
                      <a:tailEnd type="none" w="med" len="med"/>
                    </a:lnT>
                    <a:lnB w="6350" cap="flat" cmpd="sng" algn="ctr">
                      <a:solidFill>
                        <a:srgbClr val="D6E4F0"/>
                      </a:solidFill>
                      <a:prstDash val="solid"/>
                      <a:round/>
                      <a:headEnd type="none" w="med" len="med"/>
                      <a:tailEnd type="none" w="med" len="med"/>
                    </a:lnB>
                    <a:solidFill>
                      <a:srgbClr val="FFFFFF"/>
                    </a:solidFill>
                  </a:tcPr>
                </a:tc>
                <a:tc>
                  <a:txBody>
                    <a:bodyPr/>
                    <a:lstStyle/>
                    <a:p>
                      <a:pPr indent="0" marL="0">
                        <a:buNone/>
                      </a:pPr>
                      <a:r>
                        <a:rPr lang="en-US" sz="700" dirty="0">
                          <a:solidFill>
                            <a:srgbClr val="3F5265"/>
                          </a:solidFill>
                          <a:latin typeface="Calibri" pitchFamily="34" charset="0"/>
                          <a:ea typeface="Calibri" pitchFamily="34" charset="-122"/>
                          <a:cs typeface="Calibri" pitchFamily="34" charset="-120"/>
                        </a:rPr>
                        <a:t>Native API and protocol gateways; proprietary SOR</a:t>
                      </a:r>
                      <a:endParaRPr lang="en-US" sz="700" dirty="0">
                        <a:latin typeface="Calibri" charset="0"/>
                        <a:ea typeface="Calibri" charset="0"/>
                        <a:cs typeface="Calibri" charset="0"/>
                      </a:endParaRPr>
                    </a:p>
                  </a:txBody>
                  <a:tcPr marL="36576" marR="36576" marT="36576" marB="36576" anchor="ctr">
                    <a:lnL w="6350" cap="flat" cmpd="sng" algn="ctr">
                      <a:solidFill>
                        <a:srgbClr val="D6E4F0"/>
                      </a:solidFill>
                      <a:prstDash val="solid"/>
                      <a:round/>
                      <a:headEnd type="none" w="med" len="med"/>
                      <a:tailEnd type="none" w="med" len="med"/>
                    </a:lnL>
                    <a:lnR w="6350" cap="flat" cmpd="sng" algn="ctr">
                      <a:solidFill>
                        <a:srgbClr val="D6E4F0"/>
                      </a:solidFill>
                      <a:prstDash val="solid"/>
                      <a:round/>
                      <a:headEnd type="none" w="med" len="med"/>
                      <a:tailEnd type="none" w="med" len="med"/>
                    </a:lnR>
                    <a:lnT w="6350" cap="flat" cmpd="sng" algn="ctr">
                      <a:solidFill>
                        <a:srgbClr val="D6E4F0"/>
                      </a:solidFill>
                      <a:prstDash val="solid"/>
                      <a:round/>
                      <a:headEnd type="none" w="med" len="med"/>
                      <a:tailEnd type="none" w="med" len="med"/>
                    </a:lnT>
                    <a:lnB w="6350" cap="flat" cmpd="sng" algn="ctr">
                      <a:solidFill>
                        <a:srgbClr val="D6E4F0"/>
                      </a:solidFill>
                      <a:prstDash val="solid"/>
                      <a:round/>
                      <a:headEnd type="none" w="med" len="med"/>
                      <a:tailEnd type="none" w="med" len="med"/>
                    </a:lnB>
                    <a:solidFill>
                      <a:srgbClr val="FFFFFF"/>
                    </a:solidFill>
                  </a:tcPr>
                </a:tc>
                <a:tc>
                  <a:txBody>
                    <a:bodyPr/>
                    <a:lstStyle/>
                    <a:p>
                      <a:pPr indent="0" marL="0">
                        <a:buNone/>
                      </a:pPr>
                      <a:r>
                        <a:rPr lang="en-US" sz="700" dirty="0">
                          <a:solidFill>
                            <a:srgbClr val="3F5265"/>
                          </a:solidFill>
                          <a:latin typeface="Calibri" pitchFamily="34" charset="0"/>
                          <a:ea typeface="Calibri" pitchFamily="34" charset="-122"/>
                          <a:cs typeface="Calibri" pitchFamily="34" charset="-120"/>
                        </a:rPr>
                        <a:t>Equities, derivatives, FX, crypto</a:t>
                      </a:r>
                      <a:endParaRPr lang="en-US" sz="700" dirty="0">
                        <a:latin typeface="Calibri" charset="0"/>
                        <a:ea typeface="Calibri" charset="0"/>
                        <a:cs typeface="Calibri" charset="0"/>
                      </a:endParaRPr>
                    </a:p>
                  </a:txBody>
                  <a:tcPr marL="36576" marR="36576" marT="36576" marB="36576" anchor="ctr">
                    <a:lnL w="6350" cap="flat" cmpd="sng" algn="ctr">
                      <a:solidFill>
                        <a:srgbClr val="D6E4F0"/>
                      </a:solidFill>
                      <a:prstDash val="solid"/>
                      <a:round/>
                      <a:headEnd type="none" w="med" len="med"/>
                      <a:tailEnd type="none" w="med" len="med"/>
                    </a:lnL>
                    <a:lnR w="6350" cap="flat" cmpd="sng" algn="ctr">
                      <a:solidFill>
                        <a:srgbClr val="D6E4F0"/>
                      </a:solidFill>
                      <a:prstDash val="solid"/>
                      <a:round/>
                      <a:headEnd type="none" w="med" len="med"/>
                      <a:tailEnd type="none" w="med" len="med"/>
                    </a:lnR>
                    <a:lnT w="6350" cap="flat" cmpd="sng" algn="ctr">
                      <a:solidFill>
                        <a:srgbClr val="D6E4F0"/>
                      </a:solidFill>
                      <a:prstDash val="solid"/>
                      <a:round/>
                      <a:headEnd type="none" w="med" len="med"/>
                      <a:tailEnd type="none" w="med" len="med"/>
                    </a:lnT>
                    <a:lnB w="6350" cap="flat" cmpd="sng" algn="ctr">
                      <a:solidFill>
                        <a:srgbClr val="D6E4F0"/>
                      </a:solidFill>
                      <a:prstDash val="solid"/>
                      <a:round/>
                      <a:headEnd type="none" w="med" len="med"/>
                      <a:tailEnd type="none" w="med" len="med"/>
                    </a:lnB>
                    <a:solidFill>
                      <a:srgbClr val="FFFFFF"/>
                    </a:solidFill>
                  </a:tcPr>
                </a:tc>
                <a:tc>
                  <a:txBody>
                    <a:bodyPr/>
                    <a:lstStyle/>
                    <a:p>
                      <a:pPr indent="0" marL="0">
                        <a:buNone/>
                      </a:pPr>
                      <a:r>
                        <a:rPr lang="en-US" sz="700" i="1" dirty="0">
                          <a:solidFill>
                            <a:srgbClr val="7A8A99"/>
                          </a:solidFill>
                          <a:latin typeface="Calibri" pitchFamily="34" charset="0"/>
                          <a:ea typeface="Calibri" pitchFamily="34" charset="-122"/>
                          <a:cs typeface="Calibri" pitchFamily="34" charset="-120"/>
                        </a:rPr>
                        <a:t>To be confirmed</a:t>
                      </a:r>
                      <a:endParaRPr lang="en-US" sz="700" dirty="0">
                        <a:latin typeface="Calibri" charset="0"/>
                        <a:ea typeface="Calibri" charset="0"/>
                        <a:cs typeface="Calibri" charset="0"/>
                      </a:endParaRPr>
                    </a:p>
                  </a:txBody>
                  <a:tcPr marL="36576" marR="36576" marT="36576" marB="36576" anchor="ctr">
                    <a:lnL w="6350" cap="flat" cmpd="sng" algn="ctr">
                      <a:solidFill>
                        <a:srgbClr val="D6E4F0"/>
                      </a:solidFill>
                      <a:prstDash val="solid"/>
                      <a:round/>
                      <a:headEnd type="none" w="med" len="med"/>
                      <a:tailEnd type="none" w="med" len="med"/>
                    </a:lnL>
                    <a:lnR w="6350" cap="flat" cmpd="sng" algn="ctr">
                      <a:solidFill>
                        <a:srgbClr val="D6E4F0"/>
                      </a:solidFill>
                      <a:prstDash val="solid"/>
                      <a:round/>
                      <a:headEnd type="none" w="med" len="med"/>
                      <a:tailEnd type="none" w="med" len="med"/>
                    </a:lnR>
                    <a:lnT w="6350" cap="flat" cmpd="sng" algn="ctr">
                      <a:solidFill>
                        <a:srgbClr val="D6E4F0"/>
                      </a:solidFill>
                      <a:prstDash val="solid"/>
                      <a:round/>
                      <a:headEnd type="none" w="med" len="med"/>
                      <a:tailEnd type="none" w="med" len="med"/>
                    </a:lnT>
                    <a:lnB w="6350" cap="flat" cmpd="sng" algn="ctr">
                      <a:solidFill>
                        <a:srgbClr val="D6E4F0"/>
                      </a:solidFill>
                      <a:prstDash val="solid"/>
                      <a:round/>
                      <a:headEnd type="none" w="med" len="med"/>
                      <a:tailEnd type="none" w="med" len="med"/>
                    </a:lnB>
                    <a:solidFill>
                      <a:srgbClr val="FDF6E8"/>
                    </a:solidFill>
                  </a:tcPr>
                </a:tc>
              </a:tr>
              <a:tr h="228600">
                <a:tc>
                  <a:txBody>
                    <a:bodyPr/>
                    <a:lstStyle/>
                    <a:p>
                      <a:pPr indent="0" marL="0">
                        <a:buNone/>
                      </a:pPr>
                      <a:r>
                        <a:rPr lang="en-US" sz="700" b="1" dirty="0">
                          <a:solidFill>
                            <a:srgbClr val="056DAE"/>
                          </a:solidFill>
                          <a:latin typeface="Calibri" pitchFamily="34" charset="0"/>
                          <a:ea typeface="Calibri" pitchFamily="34" charset="-122"/>
                          <a:cs typeface="Calibri" pitchFamily="34" charset="-120"/>
                        </a:rPr>
                        <a:t>D. Broker proprietary EMS</a:t>
                      </a:r>
                      <a:endParaRPr lang="en-US" sz="700" dirty="0">
                        <a:latin typeface="Calibri" charset="0"/>
                        <a:ea typeface="Calibri" charset="0"/>
                        <a:cs typeface="Calibri" charset="0"/>
                      </a:endParaRPr>
                    </a:p>
                  </a:txBody>
                  <a:tcPr marL="36576" marR="36576" marT="36576" marB="36576" anchor="ctr">
                    <a:lnL w="6350" cap="flat" cmpd="sng" algn="ctr">
                      <a:solidFill>
                        <a:srgbClr val="D6E4F0"/>
                      </a:solidFill>
                      <a:prstDash val="solid"/>
                      <a:round/>
                      <a:headEnd type="none" w="med" len="med"/>
                      <a:tailEnd type="none" w="med" len="med"/>
                    </a:lnL>
                    <a:lnR w="6350" cap="flat" cmpd="sng" algn="ctr">
                      <a:solidFill>
                        <a:srgbClr val="D6E4F0"/>
                      </a:solidFill>
                      <a:prstDash val="solid"/>
                      <a:round/>
                      <a:headEnd type="none" w="med" len="med"/>
                      <a:tailEnd type="none" w="med" len="med"/>
                    </a:lnR>
                    <a:lnT w="6350" cap="flat" cmpd="sng" algn="ctr">
                      <a:solidFill>
                        <a:srgbClr val="D6E4F0"/>
                      </a:solidFill>
                      <a:prstDash val="solid"/>
                      <a:round/>
                      <a:headEnd type="none" w="med" len="med"/>
                      <a:tailEnd type="none" w="med" len="med"/>
                    </a:lnT>
                    <a:lnB w="6350" cap="flat" cmpd="sng" algn="ctr">
                      <a:solidFill>
                        <a:srgbClr val="D6E4F0"/>
                      </a:solidFill>
                      <a:prstDash val="solid"/>
                      <a:round/>
                      <a:headEnd type="none" w="med" len="med"/>
                      <a:tailEnd type="none" w="med" len="med"/>
                    </a:lnB>
                    <a:solidFill>
                      <a:srgbClr val="EAF1F8"/>
                    </a:solidFill>
                  </a:tcPr>
                </a:tc>
                <a:tc>
                  <a:txBody>
                    <a:bodyPr/>
                    <a:lstStyle/>
                    <a:p>
                      <a:pPr indent="0" marL="0">
                        <a:buNone/>
                      </a:pPr>
                      <a:r>
                        <a:rPr lang="en-US" sz="700" b="1" dirty="0">
                          <a:solidFill>
                            <a:srgbClr val="002D72"/>
                          </a:solidFill>
                          <a:latin typeface="Calibri" pitchFamily="34" charset="0"/>
                          <a:ea typeface="Calibri" pitchFamily="34" charset="-122"/>
                          <a:cs typeface="Calibri" pitchFamily="34" charset="-120"/>
                        </a:rPr>
                        <a:t>Grouped as one category</a:t>
                      </a:r>
                      <a:endParaRPr lang="en-US" sz="700" dirty="0">
                        <a:latin typeface="Calibri" charset="0"/>
                        <a:ea typeface="Calibri" charset="0"/>
                        <a:cs typeface="Calibri" charset="0"/>
                      </a:endParaRPr>
                    </a:p>
                  </a:txBody>
                  <a:tcPr marL="36576" marR="36576" marT="36576" marB="36576" anchor="ctr">
                    <a:lnL w="6350" cap="flat" cmpd="sng" algn="ctr">
                      <a:solidFill>
                        <a:srgbClr val="D6E4F0"/>
                      </a:solidFill>
                      <a:prstDash val="solid"/>
                      <a:round/>
                      <a:headEnd type="none" w="med" len="med"/>
                      <a:tailEnd type="none" w="med" len="med"/>
                    </a:lnL>
                    <a:lnR w="6350" cap="flat" cmpd="sng" algn="ctr">
                      <a:solidFill>
                        <a:srgbClr val="D6E4F0"/>
                      </a:solidFill>
                      <a:prstDash val="solid"/>
                      <a:round/>
                      <a:headEnd type="none" w="med" len="med"/>
                      <a:tailEnd type="none" w="med" len="med"/>
                    </a:lnR>
                    <a:lnT w="6350" cap="flat" cmpd="sng" algn="ctr">
                      <a:solidFill>
                        <a:srgbClr val="D6E4F0"/>
                      </a:solidFill>
                      <a:prstDash val="solid"/>
                      <a:round/>
                      <a:headEnd type="none" w="med" len="med"/>
                      <a:tailEnd type="none" w="med" len="med"/>
                    </a:lnT>
                    <a:lnB w="6350" cap="flat" cmpd="sng" algn="ctr">
                      <a:solidFill>
                        <a:srgbClr val="D6E4F0"/>
                      </a:solidFill>
                      <a:prstDash val="solid"/>
                      <a:round/>
                      <a:headEnd type="none" w="med" len="med"/>
                      <a:tailEnd type="none" w="med" len="med"/>
                    </a:lnB>
                    <a:solidFill>
                      <a:srgbClr val="EAF1F8"/>
                    </a:solidFill>
                  </a:tcPr>
                </a:tc>
                <a:tc>
                  <a:txBody>
                    <a:bodyPr/>
                    <a:lstStyle/>
                    <a:p>
                      <a:pPr indent="0" marL="0">
                        <a:buNone/>
                      </a:pPr>
                      <a:r>
                        <a:rPr lang="en-US" sz="700" dirty="0">
                          <a:solidFill>
                            <a:srgbClr val="3F5265"/>
                          </a:solidFill>
                          <a:latin typeface="Calibri" pitchFamily="34" charset="0"/>
                          <a:ea typeface="Calibri" pitchFamily="34" charset="-122"/>
                          <a:cs typeface="Calibri" pitchFamily="34" charset="-120"/>
                        </a:rPr>
                        <a:t>GS Marquee, MS Passport, UBS Neo, Citi Velocity</a:t>
                      </a:r>
                      <a:endParaRPr lang="en-US" sz="700" dirty="0">
                        <a:latin typeface="Calibri" charset="0"/>
                        <a:ea typeface="Calibri" charset="0"/>
                        <a:cs typeface="Calibri" charset="0"/>
                      </a:endParaRPr>
                    </a:p>
                  </a:txBody>
                  <a:tcPr marL="36576" marR="36576" marT="36576" marB="36576" anchor="ctr">
                    <a:lnL w="6350" cap="flat" cmpd="sng" algn="ctr">
                      <a:solidFill>
                        <a:srgbClr val="D6E4F0"/>
                      </a:solidFill>
                      <a:prstDash val="solid"/>
                      <a:round/>
                      <a:headEnd type="none" w="med" len="med"/>
                      <a:tailEnd type="none" w="med" len="med"/>
                    </a:lnL>
                    <a:lnR w="6350" cap="flat" cmpd="sng" algn="ctr">
                      <a:solidFill>
                        <a:srgbClr val="D6E4F0"/>
                      </a:solidFill>
                      <a:prstDash val="solid"/>
                      <a:round/>
                      <a:headEnd type="none" w="med" len="med"/>
                      <a:tailEnd type="none" w="med" len="med"/>
                    </a:lnR>
                    <a:lnT w="6350" cap="flat" cmpd="sng" algn="ctr">
                      <a:solidFill>
                        <a:srgbClr val="D6E4F0"/>
                      </a:solidFill>
                      <a:prstDash val="solid"/>
                      <a:round/>
                      <a:headEnd type="none" w="med" len="med"/>
                      <a:tailEnd type="none" w="med" len="med"/>
                    </a:lnT>
                    <a:lnB w="6350" cap="flat" cmpd="sng" algn="ctr">
                      <a:solidFill>
                        <a:srgbClr val="D6E4F0"/>
                      </a:solidFill>
                      <a:prstDash val="solid"/>
                      <a:round/>
                      <a:headEnd type="none" w="med" len="med"/>
                      <a:tailEnd type="none" w="med" len="med"/>
                    </a:lnB>
                    <a:solidFill>
                      <a:srgbClr val="EAF1F8"/>
                    </a:solidFill>
                  </a:tcPr>
                </a:tc>
                <a:tc>
                  <a:txBody>
                    <a:bodyPr/>
                    <a:lstStyle/>
                    <a:p>
                      <a:pPr indent="0" marL="0">
                        <a:buNone/>
                      </a:pPr>
                      <a:r>
                        <a:rPr lang="en-US" sz="700" dirty="0">
                          <a:solidFill>
                            <a:srgbClr val="3F5265"/>
                          </a:solidFill>
                          <a:latin typeface="Calibri" pitchFamily="34" charset="0"/>
                          <a:ea typeface="Calibri" pitchFamily="34" charset="-122"/>
                          <a:cs typeface="Calibri" pitchFamily="34" charset="-120"/>
                        </a:rPr>
                        <a:t>Single-broker gateway to that bank's own liquidity</a:t>
                      </a:r>
                      <a:endParaRPr lang="en-US" sz="700" dirty="0">
                        <a:latin typeface="Calibri" charset="0"/>
                        <a:ea typeface="Calibri" charset="0"/>
                        <a:cs typeface="Calibri" charset="0"/>
                      </a:endParaRPr>
                    </a:p>
                  </a:txBody>
                  <a:tcPr marL="36576" marR="36576" marT="36576" marB="36576" anchor="ctr">
                    <a:lnL w="6350" cap="flat" cmpd="sng" algn="ctr">
                      <a:solidFill>
                        <a:srgbClr val="D6E4F0"/>
                      </a:solidFill>
                      <a:prstDash val="solid"/>
                      <a:round/>
                      <a:headEnd type="none" w="med" len="med"/>
                      <a:tailEnd type="none" w="med" len="med"/>
                    </a:lnL>
                    <a:lnR w="6350" cap="flat" cmpd="sng" algn="ctr">
                      <a:solidFill>
                        <a:srgbClr val="D6E4F0"/>
                      </a:solidFill>
                      <a:prstDash val="solid"/>
                      <a:round/>
                      <a:headEnd type="none" w="med" len="med"/>
                      <a:tailEnd type="none" w="med" len="med"/>
                    </a:lnR>
                    <a:lnT w="6350" cap="flat" cmpd="sng" algn="ctr">
                      <a:solidFill>
                        <a:srgbClr val="D6E4F0"/>
                      </a:solidFill>
                      <a:prstDash val="solid"/>
                      <a:round/>
                      <a:headEnd type="none" w="med" len="med"/>
                      <a:tailEnd type="none" w="med" len="med"/>
                    </a:lnT>
                    <a:lnB w="6350" cap="flat" cmpd="sng" algn="ctr">
                      <a:solidFill>
                        <a:srgbClr val="D6E4F0"/>
                      </a:solidFill>
                      <a:prstDash val="solid"/>
                      <a:round/>
                      <a:headEnd type="none" w="med" len="med"/>
                      <a:tailEnd type="none" w="med" len="med"/>
                    </a:lnB>
                    <a:solidFill>
                      <a:srgbClr val="EAF1F8"/>
                    </a:solidFill>
                  </a:tcPr>
                </a:tc>
                <a:tc>
                  <a:txBody>
                    <a:bodyPr/>
                    <a:lstStyle/>
                    <a:p>
                      <a:pPr indent="0" marL="0">
                        <a:buNone/>
                      </a:pPr>
                      <a:r>
                        <a:rPr lang="en-US" sz="700" dirty="0">
                          <a:solidFill>
                            <a:srgbClr val="3F5265"/>
                          </a:solidFill>
                          <a:latin typeface="Calibri" pitchFamily="34" charset="0"/>
                          <a:ea typeface="Calibri" pitchFamily="34" charset="-122"/>
                          <a:cs typeface="Calibri" pitchFamily="34" charset="-120"/>
                        </a:rPr>
                        <a:t>Varies by institution</a:t>
                      </a:r>
                      <a:endParaRPr lang="en-US" sz="700" dirty="0">
                        <a:latin typeface="Calibri" charset="0"/>
                        <a:ea typeface="Calibri" charset="0"/>
                        <a:cs typeface="Calibri" charset="0"/>
                      </a:endParaRPr>
                    </a:p>
                  </a:txBody>
                  <a:tcPr marL="36576" marR="36576" marT="36576" marB="36576" anchor="ctr">
                    <a:lnL w="6350" cap="flat" cmpd="sng" algn="ctr">
                      <a:solidFill>
                        <a:srgbClr val="D6E4F0"/>
                      </a:solidFill>
                      <a:prstDash val="solid"/>
                      <a:round/>
                      <a:headEnd type="none" w="med" len="med"/>
                      <a:tailEnd type="none" w="med" len="med"/>
                    </a:lnL>
                    <a:lnR w="6350" cap="flat" cmpd="sng" algn="ctr">
                      <a:solidFill>
                        <a:srgbClr val="D6E4F0"/>
                      </a:solidFill>
                      <a:prstDash val="solid"/>
                      <a:round/>
                      <a:headEnd type="none" w="med" len="med"/>
                      <a:tailEnd type="none" w="med" len="med"/>
                    </a:lnR>
                    <a:lnT w="6350" cap="flat" cmpd="sng" algn="ctr">
                      <a:solidFill>
                        <a:srgbClr val="D6E4F0"/>
                      </a:solidFill>
                      <a:prstDash val="solid"/>
                      <a:round/>
                      <a:headEnd type="none" w="med" len="med"/>
                      <a:tailEnd type="none" w="med" len="med"/>
                    </a:lnT>
                    <a:lnB w="6350" cap="flat" cmpd="sng" algn="ctr">
                      <a:solidFill>
                        <a:srgbClr val="D6E4F0"/>
                      </a:solidFill>
                      <a:prstDash val="solid"/>
                      <a:round/>
                      <a:headEnd type="none" w="med" len="med"/>
                      <a:tailEnd type="none" w="med" len="med"/>
                    </a:lnB>
                    <a:solidFill>
                      <a:srgbClr val="EAF1F8"/>
                    </a:solidFill>
                  </a:tcPr>
                </a:tc>
                <a:tc>
                  <a:txBody>
                    <a:bodyPr/>
                    <a:lstStyle/>
                    <a:p>
                      <a:pPr indent="0" marL="0">
                        <a:buNone/>
                      </a:pPr>
                      <a:r>
                        <a:rPr lang="en-US" sz="700" i="1" dirty="0">
                          <a:solidFill>
                            <a:srgbClr val="7A8A99"/>
                          </a:solidFill>
                          <a:latin typeface="Calibri" pitchFamily="34" charset="0"/>
                          <a:ea typeface="Calibri" pitchFamily="34" charset="-122"/>
                          <a:cs typeface="Calibri" pitchFamily="34" charset="-120"/>
                        </a:rPr>
                        <a:t>To be confirmed</a:t>
                      </a:r>
                      <a:endParaRPr lang="en-US" sz="700" dirty="0">
                        <a:latin typeface="Calibri" charset="0"/>
                        <a:ea typeface="Calibri" charset="0"/>
                        <a:cs typeface="Calibri" charset="0"/>
                      </a:endParaRPr>
                    </a:p>
                  </a:txBody>
                  <a:tcPr marL="36576" marR="36576" marT="36576" marB="36576" anchor="ctr">
                    <a:lnL w="6350" cap="flat" cmpd="sng" algn="ctr">
                      <a:solidFill>
                        <a:srgbClr val="D6E4F0"/>
                      </a:solidFill>
                      <a:prstDash val="solid"/>
                      <a:round/>
                      <a:headEnd type="none" w="med" len="med"/>
                      <a:tailEnd type="none" w="med" len="med"/>
                    </a:lnL>
                    <a:lnR w="6350" cap="flat" cmpd="sng" algn="ctr">
                      <a:solidFill>
                        <a:srgbClr val="D6E4F0"/>
                      </a:solidFill>
                      <a:prstDash val="solid"/>
                      <a:round/>
                      <a:headEnd type="none" w="med" len="med"/>
                      <a:tailEnd type="none" w="med" len="med"/>
                    </a:lnR>
                    <a:lnT w="6350" cap="flat" cmpd="sng" algn="ctr">
                      <a:solidFill>
                        <a:srgbClr val="D6E4F0"/>
                      </a:solidFill>
                      <a:prstDash val="solid"/>
                      <a:round/>
                      <a:headEnd type="none" w="med" len="med"/>
                      <a:tailEnd type="none" w="med" len="med"/>
                    </a:lnT>
                    <a:lnB w="6350" cap="flat" cmpd="sng" algn="ctr">
                      <a:solidFill>
                        <a:srgbClr val="D6E4F0"/>
                      </a:solidFill>
                      <a:prstDash val="solid"/>
                      <a:round/>
                      <a:headEnd type="none" w="med" len="med"/>
                      <a:tailEnd type="none" w="med" len="med"/>
                    </a:lnB>
                    <a:solidFill>
                      <a:srgbClr val="FDF6E8"/>
                    </a:solidFill>
                  </a:tcPr>
                </a:tc>
              </a:tr>
              <a:tr h="228600">
                <a:tc>
                  <a:txBody>
                    <a:bodyPr/>
                    <a:lstStyle/>
                    <a:p>
                      <a:pPr indent="0" marL="0">
                        <a:buNone/>
                      </a:pPr>
                      <a:r>
                        <a:rPr lang="en-US" sz="700" b="1" dirty="0">
                          <a:solidFill>
                            <a:srgbClr val="056DAE"/>
                          </a:solidFill>
                          <a:latin typeface="Calibri" pitchFamily="34" charset="0"/>
                          <a:ea typeface="Calibri" pitchFamily="34" charset="-122"/>
                          <a:cs typeface="Calibri" pitchFamily="34" charset="-120"/>
                        </a:rPr>
                        <a:t>E. Client-built in-house</a:t>
                      </a:r>
                      <a:endParaRPr lang="en-US" sz="700" dirty="0">
                        <a:latin typeface="Calibri" charset="0"/>
                        <a:ea typeface="Calibri" charset="0"/>
                        <a:cs typeface="Calibri" charset="0"/>
                      </a:endParaRPr>
                    </a:p>
                  </a:txBody>
                  <a:tcPr marL="36576" marR="36576" marT="36576" marB="36576" anchor="ctr">
                    <a:lnL w="6350" cap="flat" cmpd="sng" algn="ctr">
                      <a:solidFill>
                        <a:srgbClr val="D6E4F0"/>
                      </a:solidFill>
                      <a:prstDash val="solid"/>
                      <a:round/>
                      <a:headEnd type="none" w="med" len="med"/>
                      <a:tailEnd type="none" w="med" len="med"/>
                    </a:lnL>
                    <a:lnR w="6350" cap="flat" cmpd="sng" algn="ctr">
                      <a:solidFill>
                        <a:srgbClr val="D6E4F0"/>
                      </a:solidFill>
                      <a:prstDash val="solid"/>
                      <a:round/>
                      <a:headEnd type="none" w="med" len="med"/>
                      <a:tailEnd type="none" w="med" len="med"/>
                    </a:lnR>
                    <a:lnT w="6350" cap="flat" cmpd="sng" algn="ctr">
                      <a:solidFill>
                        <a:srgbClr val="D6E4F0"/>
                      </a:solidFill>
                      <a:prstDash val="solid"/>
                      <a:round/>
                      <a:headEnd type="none" w="med" len="med"/>
                      <a:tailEnd type="none" w="med" len="med"/>
                    </a:lnT>
                    <a:lnB w="6350" cap="flat" cmpd="sng" algn="ctr">
                      <a:solidFill>
                        <a:srgbClr val="D6E4F0"/>
                      </a:solidFill>
                      <a:prstDash val="solid"/>
                      <a:round/>
                      <a:headEnd type="none" w="med" len="med"/>
                      <a:tailEnd type="none" w="med" len="med"/>
                    </a:lnB>
                    <a:solidFill>
                      <a:srgbClr val="EAF1F8"/>
                    </a:solidFill>
                  </a:tcPr>
                </a:tc>
                <a:tc>
                  <a:txBody>
                    <a:bodyPr/>
                    <a:lstStyle/>
                    <a:p>
                      <a:pPr indent="0" marL="0">
                        <a:buNone/>
                      </a:pPr>
                      <a:r>
                        <a:rPr lang="en-US" sz="700" b="1" dirty="0">
                          <a:solidFill>
                            <a:srgbClr val="002D72"/>
                          </a:solidFill>
                          <a:latin typeface="Calibri" pitchFamily="34" charset="0"/>
                          <a:ea typeface="Calibri" pitchFamily="34" charset="-122"/>
                          <a:cs typeface="Calibri" pitchFamily="34" charset="-120"/>
                        </a:rPr>
                        <a:t>Grouped as one category</a:t>
                      </a:r>
                      <a:endParaRPr lang="en-US" sz="700" dirty="0">
                        <a:latin typeface="Calibri" charset="0"/>
                        <a:ea typeface="Calibri" charset="0"/>
                        <a:cs typeface="Calibri" charset="0"/>
                      </a:endParaRPr>
                    </a:p>
                  </a:txBody>
                  <a:tcPr marL="36576" marR="36576" marT="36576" marB="36576" anchor="ctr">
                    <a:lnL w="6350" cap="flat" cmpd="sng" algn="ctr">
                      <a:solidFill>
                        <a:srgbClr val="D6E4F0"/>
                      </a:solidFill>
                      <a:prstDash val="solid"/>
                      <a:round/>
                      <a:headEnd type="none" w="med" len="med"/>
                      <a:tailEnd type="none" w="med" len="med"/>
                    </a:lnL>
                    <a:lnR w="6350" cap="flat" cmpd="sng" algn="ctr">
                      <a:solidFill>
                        <a:srgbClr val="D6E4F0"/>
                      </a:solidFill>
                      <a:prstDash val="solid"/>
                      <a:round/>
                      <a:headEnd type="none" w="med" len="med"/>
                      <a:tailEnd type="none" w="med" len="med"/>
                    </a:lnR>
                    <a:lnT w="6350" cap="flat" cmpd="sng" algn="ctr">
                      <a:solidFill>
                        <a:srgbClr val="D6E4F0"/>
                      </a:solidFill>
                      <a:prstDash val="solid"/>
                      <a:round/>
                      <a:headEnd type="none" w="med" len="med"/>
                      <a:tailEnd type="none" w="med" len="med"/>
                    </a:lnT>
                    <a:lnB w="6350" cap="flat" cmpd="sng" algn="ctr">
                      <a:solidFill>
                        <a:srgbClr val="D6E4F0"/>
                      </a:solidFill>
                      <a:prstDash val="solid"/>
                      <a:round/>
                      <a:headEnd type="none" w="med" len="med"/>
                      <a:tailEnd type="none" w="med" len="med"/>
                    </a:lnB>
                    <a:solidFill>
                      <a:srgbClr val="EAF1F8"/>
                    </a:solidFill>
                  </a:tcPr>
                </a:tc>
                <a:tc>
                  <a:txBody>
                    <a:bodyPr/>
                    <a:lstStyle/>
                    <a:p>
                      <a:pPr indent="0" marL="0">
                        <a:buNone/>
                      </a:pPr>
                      <a:r>
                        <a:rPr lang="en-US" sz="700" dirty="0">
                          <a:solidFill>
                            <a:srgbClr val="3F5265"/>
                          </a:solidFill>
                          <a:latin typeface="Calibri" pitchFamily="34" charset="0"/>
                          <a:ea typeface="Calibri" pitchFamily="34" charset="-122"/>
                          <a:cs typeface="Calibri" pitchFamily="34" charset="-120"/>
                        </a:rPr>
                        <a:t>Proprietary systems</a:t>
                      </a:r>
                      <a:endParaRPr lang="en-US" sz="700" dirty="0">
                        <a:latin typeface="Calibri" charset="0"/>
                        <a:ea typeface="Calibri" charset="0"/>
                        <a:cs typeface="Calibri" charset="0"/>
                      </a:endParaRPr>
                    </a:p>
                  </a:txBody>
                  <a:tcPr marL="36576" marR="36576" marT="36576" marB="36576" anchor="ctr">
                    <a:lnL w="6350" cap="flat" cmpd="sng" algn="ctr">
                      <a:solidFill>
                        <a:srgbClr val="D6E4F0"/>
                      </a:solidFill>
                      <a:prstDash val="solid"/>
                      <a:round/>
                      <a:headEnd type="none" w="med" len="med"/>
                      <a:tailEnd type="none" w="med" len="med"/>
                    </a:lnL>
                    <a:lnR w="6350" cap="flat" cmpd="sng" algn="ctr">
                      <a:solidFill>
                        <a:srgbClr val="D6E4F0"/>
                      </a:solidFill>
                      <a:prstDash val="solid"/>
                      <a:round/>
                      <a:headEnd type="none" w="med" len="med"/>
                      <a:tailEnd type="none" w="med" len="med"/>
                    </a:lnR>
                    <a:lnT w="6350" cap="flat" cmpd="sng" algn="ctr">
                      <a:solidFill>
                        <a:srgbClr val="D6E4F0"/>
                      </a:solidFill>
                      <a:prstDash val="solid"/>
                      <a:round/>
                      <a:headEnd type="none" w="med" len="med"/>
                      <a:tailEnd type="none" w="med" len="med"/>
                    </a:lnT>
                    <a:lnB w="6350" cap="flat" cmpd="sng" algn="ctr">
                      <a:solidFill>
                        <a:srgbClr val="D6E4F0"/>
                      </a:solidFill>
                      <a:prstDash val="solid"/>
                      <a:round/>
                      <a:headEnd type="none" w="med" len="med"/>
                      <a:tailEnd type="none" w="med" len="med"/>
                    </a:lnB>
                    <a:solidFill>
                      <a:srgbClr val="EAF1F8"/>
                    </a:solidFill>
                  </a:tcPr>
                </a:tc>
                <a:tc>
                  <a:txBody>
                    <a:bodyPr/>
                    <a:lstStyle/>
                    <a:p>
                      <a:pPr indent="0" marL="0">
                        <a:buNone/>
                      </a:pPr>
                      <a:r>
                        <a:rPr lang="en-US" sz="700" dirty="0">
                          <a:solidFill>
                            <a:srgbClr val="3F5265"/>
                          </a:solidFill>
                          <a:latin typeface="Calibri" pitchFamily="34" charset="0"/>
                          <a:ea typeface="Calibri" pitchFamily="34" charset="-122"/>
                          <a:cs typeface="Calibri" pitchFamily="34" charset="-120"/>
                        </a:rPr>
                        <a:t>Direct FIX or binary sessions; no vendor intermediary</a:t>
                      </a:r>
                      <a:endParaRPr lang="en-US" sz="700" dirty="0">
                        <a:latin typeface="Calibri" charset="0"/>
                        <a:ea typeface="Calibri" charset="0"/>
                        <a:cs typeface="Calibri" charset="0"/>
                      </a:endParaRPr>
                    </a:p>
                  </a:txBody>
                  <a:tcPr marL="36576" marR="36576" marT="36576" marB="36576" anchor="ctr">
                    <a:lnL w="6350" cap="flat" cmpd="sng" algn="ctr">
                      <a:solidFill>
                        <a:srgbClr val="D6E4F0"/>
                      </a:solidFill>
                      <a:prstDash val="solid"/>
                      <a:round/>
                      <a:headEnd type="none" w="med" len="med"/>
                      <a:tailEnd type="none" w="med" len="med"/>
                    </a:lnL>
                    <a:lnR w="6350" cap="flat" cmpd="sng" algn="ctr">
                      <a:solidFill>
                        <a:srgbClr val="D6E4F0"/>
                      </a:solidFill>
                      <a:prstDash val="solid"/>
                      <a:round/>
                      <a:headEnd type="none" w="med" len="med"/>
                      <a:tailEnd type="none" w="med" len="med"/>
                    </a:lnR>
                    <a:lnT w="6350" cap="flat" cmpd="sng" algn="ctr">
                      <a:solidFill>
                        <a:srgbClr val="D6E4F0"/>
                      </a:solidFill>
                      <a:prstDash val="solid"/>
                      <a:round/>
                      <a:headEnd type="none" w="med" len="med"/>
                      <a:tailEnd type="none" w="med" len="med"/>
                    </a:lnT>
                    <a:lnB w="6350" cap="flat" cmpd="sng" algn="ctr">
                      <a:solidFill>
                        <a:srgbClr val="D6E4F0"/>
                      </a:solidFill>
                      <a:prstDash val="solid"/>
                      <a:round/>
                      <a:headEnd type="none" w="med" len="med"/>
                      <a:tailEnd type="none" w="med" len="med"/>
                    </a:lnB>
                    <a:solidFill>
                      <a:srgbClr val="EAF1F8"/>
                    </a:solidFill>
                  </a:tcPr>
                </a:tc>
                <a:tc>
                  <a:txBody>
                    <a:bodyPr/>
                    <a:lstStyle/>
                    <a:p>
                      <a:pPr indent="0" marL="0">
                        <a:buNone/>
                      </a:pPr>
                      <a:r>
                        <a:rPr lang="en-US" sz="700" dirty="0">
                          <a:solidFill>
                            <a:srgbClr val="3F5265"/>
                          </a:solidFill>
                          <a:latin typeface="Calibri" pitchFamily="34" charset="0"/>
                          <a:ea typeface="Calibri" pitchFamily="34" charset="-122"/>
                          <a:cs typeface="Calibri" pitchFamily="34" charset="-120"/>
                        </a:rPr>
                        <a:t>Typically equities and derivatives</a:t>
                      </a:r>
                      <a:endParaRPr lang="en-US" sz="700" dirty="0">
                        <a:latin typeface="Calibri" charset="0"/>
                        <a:ea typeface="Calibri" charset="0"/>
                        <a:cs typeface="Calibri" charset="0"/>
                      </a:endParaRPr>
                    </a:p>
                  </a:txBody>
                  <a:tcPr marL="36576" marR="36576" marT="36576" marB="36576" anchor="ctr">
                    <a:lnL w="6350" cap="flat" cmpd="sng" algn="ctr">
                      <a:solidFill>
                        <a:srgbClr val="D6E4F0"/>
                      </a:solidFill>
                      <a:prstDash val="solid"/>
                      <a:round/>
                      <a:headEnd type="none" w="med" len="med"/>
                      <a:tailEnd type="none" w="med" len="med"/>
                    </a:lnL>
                    <a:lnR w="6350" cap="flat" cmpd="sng" algn="ctr">
                      <a:solidFill>
                        <a:srgbClr val="D6E4F0"/>
                      </a:solidFill>
                      <a:prstDash val="solid"/>
                      <a:round/>
                      <a:headEnd type="none" w="med" len="med"/>
                      <a:tailEnd type="none" w="med" len="med"/>
                    </a:lnR>
                    <a:lnT w="6350" cap="flat" cmpd="sng" algn="ctr">
                      <a:solidFill>
                        <a:srgbClr val="D6E4F0"/>
                      </a:solidFill>
                      <a:prstDash val="solid"/>
                      <a:round/>
                      <a:headEnd type="none" w="med" len="med"/>
                      <a:tailEnd type="none" w="med" len="med"/>
                    </a:lnT>
                    <a:lnB w="6350" cap="flat" cmpd="sng" algn="ctr">
                      <a:solidFill>
                        <a:srgbClr val="D6E4F0"/>
                      </a:solidFill>
                      <a:prstDash val="solid"/>
                      <a:round/>
                      <a:headEnd type="none" w="med" len="med"/>
                      <a:tailEnd type="none" w="med" len="med"/>
                    </a:lnB>
                    <a:solidFill>
                      <a:srgbClr val="EAF1F8"/>
                    </a:solidFill>
                  </a:tcPr>
                </a:tc>
                <a:tc>
                  <a:txBody>
                    <a:bodyPr/>
                    <a:lstStyle/>
                    <a:p>
                      <a:pPr indent="0" marL="0">
                        <a:buNone/>
                      </a:pPr>
                      <a:r>
                        <a:rPr lang="en-US" sz="700" i="1" dirty="0">
                          <a:solidFill>
                            <a:srgbClr val="7A8A99"/>
                          </a:solidFill>
                          <a:latin typeface="Calibri" pitchFamily="34" charset="0"/>
                          <a:ea typeface="Calibri" pitchFamily="34" charset="-122"/>
                          <a:cs typeface="Calibri" pitchFamily="34" charset="-120"/>
                        </a:rPr>
                        <a:t>To be confirmed</a:t>
                      </a:r>
                      <a:endParaRPr lang="en-US" sz="700" dirty="0">
                        <a:latin typeface="Calibri" charset="0"/>
                        <a:ea typeface="Calibri" charset="0"/>
                        <a:cs typeface="Calibri" charset="0"/>
                      </a:endParaRPr>
                    </a:p>
                  </a:txBody>
                  <a:tcPr marL="36576" marR="36576" marT="36576" marB="36576" anchor="ctr">
                    <a:lnL w="6350" cap="flat" cmpd="sng" algn="ctr">
                      <a:solidFill>
                        <a:srgbClr val="D6E4F0"/>
                      </a:solidFill>
                      <a:prstDash val="solid"/>
                      <a:round/>
                      <a:headEnd type="none" w="med" len="med"/>
                      <a:tailEnd type="none" w="med" len="med"/>
                    </a:lnL>
                    <a:lnR w="6350" cap="flat" cmpd="sng" algn="ctr">
                      <a:solidFill>
                        <a:srgbClr val="D6E4F0"/>
                      </a:solidFill>
                      <a:prstDash val="solid"/>
                      <a:round/>
                      <a:headEnd type="none" w="med" len="med"/>
                      <a:tailEnd type="none" w="med" len="med"/>
                    </a:lnR>
                    <a:lnT w="6350" cap="flat" cmpd="sng" algn="ctr">
                      <a:solidFill>
                        <a:srgbClr val="D6E4F0"/>
                      </a:solidFill>
                      <a:prstDash val="solid"/>
                      <a:round/>
                      <a:headEnd type="none" w="med" len="med"/>
                      <a:tailEnd type="none" w="med" len="med"/>
                    </a:lnT>
                    <a:lnB w="6350" cap="flat" cmpd="sng" algn="ctr">
                      <a:solidFill>
                        <a:srgbClr val="D6E4F0"/>
                      </a:solidFill>
                      <a:prstDash val="solid"/>
                      <a:round/>
                      <a:headEnd type="none" w="med" len="med"/>
                      <a:tailEnd type="none" w="med" len="med"/>
                    </a:lnB>
                    <a:solidFill>
                      <a:srgbClr val="FDF6E8"/>
                    </a:solidFill>
                  </a:tcPr>
                </a:tc>
              </a:tr>
            </a:tbl>
          </a:graphicData>
        </a:graphic>
      </p:graphicFrame>
      <p:sp>
        <p:nvSpPr>
          <p:cNvPr id="6" name="Text 3"/>
          <p:cNvSpPr/>
          <p:nvPr/>
        </p:nvSpPr>
        <p:spPr>
          <a:xfrm>
            <a:off x="457200" y="6291072"/>
            <a:ext cx="11274552" cy="512064"/>
          </a:xfrm>
          <a:prstGeom prst="rect">
            <a:avLst/>
          </a:prstGeom>
          <a:noFill/>
          <a:ln/>
        </p:spPr>
        <p:txBody>
          <a:bodyPr wrap="square" lIns="0" tIns="0" rIns="0" bIns="0" rtlCol="0" anchor="t"/>
          <a:lstStyle/>
          <a:p>
            <a:pPr indent="0" marL="0">
              <a:lnSpc>
                <a:spcPts val="1060"/>
              </a:lnSpc>
              <a:buNone/>
            </a:pPr>
            <a:r>
              <a:rPr lang="en-US" sz="830" dirty="0">
                <a:solidFill>
                  <a:srgbClr val="7A8A99"/>
                </a:solidFill>
                <a:latin typeface="Calibri" pitchFamily="34" charset="0"/>
                <a:ea typeface="Calibri" pitchFamily="34" charset="-122"/>
                <a:cs typeface="Calibri" pitchFamily="34" charset="-120"/>
              </a:rPr>
              <a:t>Vendor set compiled from The TRADE EMS Survey 2025 and 2024, vendor product documentation and trade press; see p11. Connectivity models describe how a broker generally reaches each platform and are drawn from vendor disclosures — they do not indicate that any specific link is live for Citi. Groups D and E consolidate the “prop EMS” category as requested; note that they require different commercial approaches, the former being a competing distribution channel and the latter a direct certification opportunity.</a:t>
            </a:r>
            <a:endParaRPr lang="en-US" sz="83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457200" y="237744"/>
            <a:ext cx="11274552" cy="219456"/>
          </a:xfrm>
          <a:prstGeom prst="rect">
            <a:avLst/>
          </a:prstGeom>
          <a:noFill/>
          <a:ln/>
        </p:spPr>
        <p:txBody>
          <a:bodyPr wrap="square" lIns="0" tIns="0" rIns="0" bIns="0" rtlCol="0" anchor="ctr"/>
          <a:lstStyle/>
          <a:p>
            <a:pPr indent="0" marL="0">
              <a:buNone/>
            </a:pPr>
            <a:r>
              <a:rPr lang="en-US" sz="1000" b="1" spc="140" kern="0" dirty="0">
                <a:solidFill>
                  <a:srgbClr val="056DAE"/>
                </a:solidFill>
                <a:latin typeface="Calibri" pitchFamily="34" charset="0"/>
                <a:ea typeface="Calibri" pitchFamily="34" charset="-122"/>
                <a:cs typeface="Calibri" pitchFamily="34" charset="-120"/>
              </a:rPr>
              <a:t>DELIVERABLE 2</a:t>
            </a:r>
            <a:endParaRPr lang="en-US" sz="1000" dirty="0"/>
          </a:p>
        </p:txBody>
      </p:sp>
      <p:sp>
        <p:nvSpPr>
          <p:cNvPr id="3" name="Text 1"/>
          <p:cNvSpPr/>
          <p:nvPr/>
        </p:nvSpPr>
        <p:spPr>
          <a:xfrm>
            <a:off x="457200" y="457200"/>
            <a:ext cx="11274552" cy="512064"/>
          </a:xfrm>
          <a:prstGeom prst="rect">
            <a:avLst/>
          </a:prstGeom>
          <a:noFill/>
          <a:ln/>
        </p:spPr>
        <p:txBody>
          <a:bodyPr wrap="square" lIns="0" tIns="0" rIns="0" bIns="0" rtlCol="0" anchor="t"/>
          <a:lstStyle/>
          <a:p>
            <a:pPr indent="0" marL="0">
              <a:buNone/>
            </a:pPr>
            <a:r>
              <a:rPr lang="en-US" sz="2500" b="1" dirty="0">
                <a:solidFill>
                  <a:srgbClr val="002D72"/>
                </a:solidFill>
                <a:latin typeface="Cambria" pitchFamily="34" charset="0"/>
                <a:ea typeface="Cambria" pitchFamily="34" charset="-122"/>
                <a:cs typeface="Cambria" pitchFamily="34" charset="-120"/>
              </a:rPr>
              <a:t>Relative vendor adoption across the buy side</a:t>
            </a:r>
            <a:endParaRPr lang="en-US" sz="2500" dirty="0"/>
          </a:p>
        </p:txBody>
      </p:sp>
      <p:sp>
        <p:nvSpPr>
          <p:cNvPr id="4" name="Text 2"/>
          <p:cNvSpPr/>
          <p:nvPr/>
        </p:nvSpPr>
        <p:spPr>
          <a:xfrm>
            <a:off x="457200" y="932688"/>
            <a:ext cx="11274552" cy="274320"/>
          </a:xfrm>
          <a:prstGeom prst="rect">
            <a:avLst/>
          </a:prstGeom>
          <a:noFill/>
          <a:ln/>
        </p:spPr>
        <p:txBody>
          <a:bodyPr wrap="square" lIns="0" tIns="0" rIns="0" bIns="0" rtlCol="0" anchor="ctr"/>
          <a:lstStyle/>
          <a:p>
            <a:pPr indent="0" marL="0">
              <a:buNone/>
            </a:pPr>
            <a:r>
              <a:rPr lang="en-US" sz="1000" dirty="0">
                <a:solidFill>
                  <a:srgbClr val="3F5265"/>
                </a:solidFill>
                <a:latin typeface="Calibri" pitchFamily="34" charset="0"/>
                <a:ea typeface="Calibri" pitchFamily="34" charset="-122"/>
                <a:cs typeface="Calibri" pitchFamily="34" charset="-120"/>
              </a:rPr>
              <a:t>Two independent measures of vendor reach. Neither is market share, and the two do not rank vendors identically — the divergence is itself informative and is explained below.</a:t>
            </a:r>
            <a:endParaRPr lang="en-US" sz="1000" dirty="0"/>
          </a:p>
        </p:txBody>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457200" y="1280160"/>
          <a:ext cx="11274552" cy="914400"/>
        </p:xfrm>
        <a:graphic>
          <a:graphicData uri="http://schemas.openxmlformats.org/drawingml/2006/table">
            <a:tbl>
              <a:tblPr/>
              <a:tblGrid>
                <a:gridCol w="1993392"/>
                <a:gridCol w="1298448"/>
                <a:gridCol w="1298448"/>
                <a:gridCol w="1298448"/>
                <a:gridCol w="2487168"/>
                <a:gridCol w="2898648"/>
              </a:tblGrid>
              <a:tr h="274320">
                <a:tc>
                  <a:txBody>
                    <a:bodyPr/>
                    <a:lstStyle/>
                    <a:p>
                      <a:pPr indent="0" marL="0">
                        <a:buNone/>
                      </a:pPr>
                      <a:r>
                        <a:rPr lang="en-US" sz="760" b="1" dirty="0">
                          <a:solidFill>
                            <a:srgbClr val="FFFFFF"/>
                          </a:solidFill>
                          <a:latin typeface="Calibri" pitchFamily="34" charset="0"/>
                          <a:ea typeface="Calibri" pitchFamily="34" charset="-122"/>
                          <a:cs typeface="Calibri" pitchFamily="34" charset="-120"/>
                        </a:rPr>
                        <a:t>Vendor</a:t>
                      </a:r>
                      <a:endParaRPr lang="en-US" sz="760" dirty="0">
                        <a:latin typeface="Calibri" charset="0"/>
                        <a:ea typeface="Calibri" charset="0"/>
                        <a:cs typeface="Calibri" charset="0"/>
                      </a:endParaRPr>
                    </a:p>
                  </a:txBody>
                  <a:tcPr marL="45720" marR="45720" marT="45720" marB="45720" anchor="ctr">
                    <a:lnL w="6350" cap="flat" cmpd="sng" algn="ctr">
                      <a:solidFill>
                        <a:srgbClr val="D6E4F0"/>
                      </a:solidFill>
                      <a:prstDash val="solid"/>
                      <a:round/>
                      <a:headEnd type="none" w="med" len="med"/>
                      <a:tailEnd type="none" w="med" len="med"/>
                    </a:lnL>
                    <a:lnR w="6350" cap="flat" cmpd="sng" algn="ctr">
                      <a:solidFill>
                        <a:srgbClr val="D6E4F0"/>
                      </a:solidFill>
                      <a:prstDash val="solid"/>
                      <a:round/>
                      <a:headEnd type="none" w="med" len="med"/>
                      <a:tailEnd type="none" w="med" len="med"/>
                    </a:lnR>
                    <a:lnT w="6350" cap="flat" cmpd="sng" algn="ctr">
                      <a:solidFill>
                        <a:srgbClr val="D6E4F0"/>
                      </a:solidFill>
                      <a:prstDash val="solid"/>
                      <a:round/>
                      <a:headEnd type="none" w="med" len="med"/>
                      <a:tailEnd type="none" w="med" len="med"/>
                    </a:lnT>
                    <a:lnB w="6350" cap="flat" cmpd="sng" algn="ctr">
                      <a:solidFill>
                        <a:srgbClr val="D6E4F0"/>
                      </a:solidFill>
                      <a:prstDash val="solid"/>
                      <a:round/>
                      <a:headEnd type="none" w="med" len="med"/>
                      <a:tailEnd type="none" w="med" len="med"/>
                    </a:lnB>
                    <a:solidFill>
                      <a:srgbClr val="002D72"/>
                    </a:solidFill>
                  </a:tcPr>
                </a:tc>
                <a:tc>
                  <a:txBody>
                    <a:bodyPr/>
                    <a:lstStyle/>
                    <a:p>
                      <a:pPr indent="0" marL="0">
                        <a:buNone/>
                      </a:pPr>
                      <a:r>
                        <a:rPr lang="en-US" sz="760" b="1" dirty="0">
                          <a:solidFill>
                            <a:srgbClr val="FFFFFF"/>
                          </a:solidFill>
                          <a:latin typeface="Calibri" pitchFamily="34" charset="0"/>
                          <a:ea typeface="Calibri" pitchFamily="34" charset="-122"/>
                          <a:cs typeface="Calibri" pitchFamily="34" charset="-120"/>
                        </a:rPr>
                        <a:t>Disclosed buy-side</a:t>
                      </a:r>
                      <a:endParaRPr lang="en-US" sz="760" dirty="0">
                        <a:latin typeface="Calibri" charset="0"/>
                        <a:ea typeface="Calibri" charset="0"/>
                        <a:cs typeface="Calibri" charset="0"/>
                      </a:endParaRPr>
                    </a:p>
                    <a:p>
                      <a:pPr indent="0" marL="0">
                        <a:buNone/>
                      </a:pPr>
                      <a:r>
                        <a:rPr lang="en-US" sz="760" b="1" dirty="0">
                          <a:solidFill>
                            <a:srgbClr val="FFFFFF"/>
                          </a:solidFill>
                          <a:latin typeface="Calibri" pitchFamily="34" charset="0"/>
                          <a:ea typeface="Calibri" pitchFamily="34" charset="-122"/>
                          <a:cs typeface="Calibri" pitchFamily="34" charset="-120"/>
                        </a:rPr>
                        <a:t>clients</a:t>
                      </a:r>
                      <a:endParaRPr lang="en-US" sz="760" dirty="0">
                        <a:latin typeface="Calibri" charset="0"/>
                        <a:ea typeface="Calibri" charset="0"/>
                        <a:cs typeface="Calibri" charset="0"/>
                      </a:endParaRPr>
                    </a:p>
                  </a:txBody>
                  <a:tcPr marL="45720" marR="45720" marT="45720" marB="45720" anchor="ctr">
                    <a:lnL w="6350" cap="flat" cmpd="sng" algn="ctr">
                      <a:solidFill>
                        <a:srgbClr val="D6E4F0"/>
                      </a:solidFill>
                      <a:prstDash val="solid"/>
                      <a:round/>
                      <a:headEnd type="none" w="med" len="med"/>
                      <a:tailEnd type="none" w="med" len="med"/>
                    </a:lnL>
                    <a:lnR w="6350" cap="flat" cmpd="sng" algn="ctr">
                      <a:solidFill>
                        <a:srgbClr val="D6E4F0"/>
                      </a:solidFill>
                      <a:prstDash val="solid"/>
                      <a:round/>
                      <a:headEnd type="none" w="med" len="med"/>
                      <a:tailEnd type="none" w="med" len="med"/>
                    </a:lnR>
                    <a:lnT w="6350" cap="flat" cmpd="sng" algn="ctr">
                      <a:solidFill>
                        <a:srgbClr val="D6E4F0"/>
                      </a:solidFill>
                      <a:prstDash val="solid"/>
                      <a:round/>
                      <a:headEnd type="none" w="med" len="med"/>
                      <a:tailEnd type="none" w="med" len="med"/>
                    </a:lnT>
                    <a:lnB w="6350" cap="flat" cmpd="sng" algn="ctr">
                      <a:solidFill>
                        <a:srgbClr val="D6E4F0"/>
                      </a:solidFill>
                      <a:prstDash val="solid"/>
                      <a:round/>
                      <a:headEnd type="none" w="med" len="med"/>
                      <a:tailEnd type="none" w="med" len="med"/>
                    </a:lnB>
                    <a:solidFill>
                      <a:srgbClr val="002D72"/>
                    </a:solidFill>
                  </a:tcPr>
                </a:tc>
                <a:tc>
                  <a:txBody>
                    <a:bodyPr/>
                    <a:lstStyle/>
                    <a:p>
                      <a:pPr indent="0" marL="0">
                        <a:buNone/>
                      </a:pPr>
                      <a:r>
                        <a:rPr lang="en-US" sz="760" b="1" dirty="0">
                          <a:solidFill>
                            <a:srgbClr val="FFFFFF"/>
                          </a:solidFill>
                          <a:latin typeface="Calibri" pitchFamily="34" charset="0"/>
                          <a:ea typeface="Calibri" pitchFamily="34" charset="-122"/>
                          <a:cs typeface="Calibri" pitchFamily="34" charset="-120"/>
                        </a:rPr>
                        <a:t>Ratings received,</a:t>
                      </a:r>
                      <a:endParaRPr lang="en-US" sz="760" dirty="0">
                        <a:latin typeface="Calibri" charset="0"/>
                        <a:ea typeface="Calibri" charset="0"/>
                        <a:cs typeface="Calibri" charset="0"/>
                      </a:endParaRPr>
                    </a:p>
                    <a:p>
                      <a:pPr indent="0" marL="0">
                        <a:buNone/>
                      </a:pPr>
                      <a:r>
                        <a:rPr lang="en-US" sz="760" b="1" dirty="0">
                          <a:solidFill>
                            <a:srgbClr val="FFFFFF"/>
                          </a:solidFill>
                          <a:latin typeface="Calibri" pitchFamily="34" charset="0"/>
                          <a:ea typeface="Calibri" pitchFamily="34" charset="-122"/>
                          <a:cs typeface="Calibri" pitchFamily="34" charset="-120"/>
                        </a:rPr>
                        <a:t>2025 survey</a:t>
                      </a:r>
                      <a:endParaRPr lang="en-US" sz="760" dirty="0">
                        <a:latin typeface="Calibri" charset="0"/>
                        <a:ea typeface="Calibri" charset="0"/>
                        <a:cs typeface="Calibri" charset="0"/>
                      </a:endParaRPr>
                    </a:p>
                  </a:txBody>
                  <a:tcPr marL="45720" marR="45720" marT="45720" marB="45720" anchor="ctr">
                    <a:lnL w="6350" cap="flat" cmpd="sng" algn="ctr">
                      <a:solidFill>
                        <a:srgbClr val="D6E4F0"/>
                      </a:solidFill>
                      <a:prstDash val="solid"/>
                      <a:round/>
                      <a:headEnd type="none" w="med" len="med"/>
                      <a:tailEnd type="none" w="med" len="med"/>
                    </a:lnL>
                    <a:lnR w="6350" cap="flat" cmpd="sng" algn="ctr">
                      <a:solidFill>
                        <a:srgbClr val="D6E4F0"/>
                      </a:solidFill>
                      <a:prstDash val="solid"/>
                      <a:round/>
                      <a:headEnd type="none" w="med" len="med"/>
                      <a:tailEnd type="none" w="med" len="med"/>
                    </a:lnR>
                    <a:lnT w="6350" cap="flat" cmpd="sng" algn="ctr">
                      <a:solidFill>
                        <a:srgbClr val="D6E4F0"/>
                      </a:solidFill>
                      <a:prstDash val="solid"/>
                      <a:round/>
                      <a:headEnd type="none" w="med" len="med"/>
                      <a:tailEnd type="none" w="med" len="med"/>
                    </a:lnT>
                    <a:lnB w="6350" cap="flat" cmpd="sng" algn="ctr">
                      <a:solidFill>
                        <a:srgbClr val="D6E4F0"/>
                      </a:solidFill>
                      <a:prstDash val="solid"/>
                      <a:round/>
                      <a:headEnd type="none" w="med" len="med"/>
                      <a:tailEnd type="none" w="med" len="med"/>
                    </a:lnB>
                    <a:solidFill>
                      <a:srgbClr val="002D72"/>
                    </a:solidFill>
                  </a:tcPr>
                </a:tc>
                <a:tc>
                  <a:txBody>
                    <a:bodyPr/>
                    <a:lstStyle/>
                    <a:p>
                      <a:pPr indent="0" marL="0">
                        <a:buNone/>
                      </a:pPr>
                      <a:r>
                        <a:rPr lang="en-US" sz="760" b="1" dirty="0">
                          <a:solidFill>
                            <a:srgbClr val="FFFFFF"/>
                          </a:solidFill>
                          <a:latin typeface="Calibri" pitchFamily="34" charset="0"/>
                          <a:ea typeface="Calibri" pitchFamily="34" charset="-122"/>
                          <a:cs typeface="Calibri" pitchFamily="34" charset="-120"/>
                        </a:rPr>
                        <a:t>Share of profiled</a:t>
                      </a:r>
                      <a:endParaRPr lang="en-US" sz="760" dirty="0">
                        <a:latin typeface="Calibri" charset="0"/>
                        <a:ea typeface="Calibri" charset="0"/>
                        <a:cs typeface="Calibri" charset="0"/>
                      </a:endParaRPr>
                    </a:p>
                    <a:p>
                      <a:pPr indent="0" marL="0">
                        <a:buNone/>
                      </a:pPr>
                      <a:r>
                        <a:rPr lang="en-US" sz="760" b="1" dirty="0">
                          <a:solidFill>
                            <a:srgbClr val="FFFFFF"/>
                          </a:solidFill>
                          <a:latin typeface="Calibri" pitchFamily="34" charset="0"/>
                          <a:ea typeface="Calibri" pitchFamily="34" charset="-122"/>
                          <a:cs typeface="Calibri" pitchFamily="34" charset="-120"/>
                        </a:rPr>
                        <a:t>evaluations</a:t>
                      </a:r>
                      <a:endParaRPr lang="en-US" sz="760" dirty="0">
                        <a:latin typeface="Calibri" charset="0"/>
                        <a:ea typeface="Calibri" charset="0"/>
                        <a:cs typeface="Calibri" charset="0"/>
                      </a:endParaRPr>
                    </a:p>
                  </a:txBody>
                  <a:tcPr marL="45720" marR="45720" marT="45720" marB="45720" anchor="ctr">
                    <a:lnL w="6350" cap="flat" cmpd="sng" algn="ctr">
                      <a:solidFill>
                        <a:srgbClr val="D6E4F0"/>
                      </a:solidFill>
                      <a:prstDash val="solid"/>
                      <a:round/>
                      <a:headEnd type="none" w="med" len="med"/>
                      <a:tailEnd type="none" w="med" len="med"/>
                    </a:lnL>
                    <a:lnR w="6350" cap="flat" cmpd="sng" algn="ctr">
                      <a:solidFill>
                        <a:srgbClr val="D6E4F0"/>
                      </a:solidFill>
                      <a:prstDash val="solid"/>
                      <a:round/>
                      <a:headEnd type="none" w="med" len="med"/>
                      <a:tailEnd type="none" w="med" len="med"/>
                    </a:lnR>
                    <a:lnT w="6350" cap="flat" cmpd="sng" algn="ctr">
                      <a:solidFill>
                        <a:srgbClr val="D6E4F0"/>
                      </a:solidFill>
                      <a:prstDash val="solid"/>
                      <a:round/>
                      <a:headEnd type="none" w="med" len="med"/>
                      <a:tailEnd type="none" w="med" len="med"/>
                    </a:lnT>
                    <a:lnB w="6350" cap="flat" cmpd="sng" algn="ctr">
                      <a:solidFill>
                        <a:srgbClr val="D6E4F0"/>
                      </a:solidFill>
                      <a:prstDash val="solid"/>
                      <a:round/>
                      <a:headEnd type="none" w="med" len="med"/>
                      <a:tailEnd type="none" w="med" len="med"/>
                    </a:lnB>
                    <a:solidFill>
                      <a:srgbClr val="002D72"/>
                    </a:solidFill>
                  </a:tcPr>
                </a:tc>
                <a:tc>
                  <a:txBody>
                    <a:bodyPr/>
                    <a:lstStyle/>
                    <a:p>
                      <a:pPr indent="0" marL="0">
                        <a:buNone/>
                      </a:pPr>
                      <a:r>
                        <a:rPr lang="en-US" sz="760" b="1" dirty="0">
                          <a:solidFill>
                            <a:srgbClr val="FFFFFF"/>
                          </a:solidFill>
                          <a:latin typeface="Calibri" pitchFamily="34" charset="0"/>
                          <a:ea typeface="Calibri" pitchFamily="34" charset="-122"/>
                          <a:cs typeface="Calibri" pitchFamily="34" charset="-120"/>
                        </a:rPr>
                        <a:t>AUM concentration of rated clients</a:t>
                      </a:r>
                      <a:endParaRPr lang="en-US" sz="760" dirty="0">
                        <a:latin typeface="Calibri" charset="0"/>
                        <a:ea typeface="Calibri" charset="0"/>
                        <a:cs typeface="Calibri" charset="0"/>
                      </a:endParaRPr>
                    </a:p>
                  </a:txBody>
                  <a:tcPr marL="45720" marR="45720" marT="45720" marB="45720" anchor="ctr">
                    <a:lnL w="6350" cap="flat" cmpd="sng" algn="ctr">
                      <a:solidFill>
                        <a:srgbClr val="D6E4F0"/>
                      </a:solidFill>
                      <a:prstDash val="solid"/>
                      <a:round/>
                      <a:headEnd type="none" w="med" len="med"/>
                      <a:tailEnd type="none" w="med" len="med"/>
                    </a:lnL>
                    <a:lnR w="6350" cap="flat" cmpd="sng" algn="ctr">
                      <a:solidFill>
                        <a:srgbClr val="D6E4F0"/>
                      </a:solidFill>
                      <a:prstDash val="solid"/>
                      <a:round/>
                      <a:headEnd type="none" w="med" len="med"/>
                      <a:tailEnd type="none" w="med" len="med"/>
                    </a:lnR>
                    <a:lnT w="6350" cap="flat" cmpd="sng" algn="ctr">
                      <a:solidFill>
                        <a:srgbClr val="D6E4F0"/>
                      </a:solidFill>
                      <a:prstDash val="solid"/>
                      <a:round/>
                      <a:headEnd type="none" w="med" len="med"/>
                      <a:tailEnd type="none" w="med" len="med"/>
                    </a:lnT>
                    <a:lnB w="6350" cap="flat" cmpd="sng" algn="ctr">
                      <a:solidFill>
                        <a:srgbClr val="D6E4F0"/>
                      </a:solidFill>
                      <a:prstDash val="solid"/>
                      <a:round/>
                      <a:headEnd type="none" w="med" len="med"/>
                      <a:tailEnd type="none" w="med" len="med"/>
                    </a:lnB>
                    <a:solidFill>
                      <a:srgbClr val="002D72"/>
                    </a:solidFill>
                  </a:tcPr>
                </a:tc>
                <a:tc>
                  <a:txBody>
                    <a:bodyPr/>
                    <a:lstStyle/>
                    <a:p>
                      <a:pPr indent="0" marL="0">
                        <a:buNone/>
                      </a:pPr>
                      <a:r>
                        <a:rPr lang="en-US" sz="760" b="1" dirty="0">
                          <a:solidFill>
                            <a:srgbClr val="FFFFFF"/>
                          </a:solidFill>
                          <a:latin typeface="Calibri" pitchFamily="34" charset="0"/>
                          <a:ea typeface="Calibri" pitchFamily="34" charset="-122"/>
                          <a:cs typeface="Calibri" pitchFamily="34" charset="-120"/>
                        </a:rPr>
                        <a:t>Regional distribution of respondents</a:t>
                      </a:r>
                      <a:endParaRPr lang="en-US" sz="760" dirty="0">
                        <a:latin typeface="Calibri" charset="0"/>
                        <a:ea typeface="Calibri" charset="0"/>
                        <a:cs typeface="Calibri" charset="0"/>
                      </a:endParaRPr>
                    </a:p>
                  </a:txBody>
                  <a:tcPr marL="45720" marR="45720" marT="45720" marB="45720" anchor="ctr">
                    <a:lnL w="6350" cap="flat" cmpd="sng" algn="ctr">
                      <a:solidFill>
                        <a:srgbClr val="D6E4F0"/>
                      </a:solidFill>
                      <a:prstDash val="solid"/>
                      <a:round/>
                      <a:headEnd type="none" w="med" len="med"/>
                      <a:tailEnd type="none" w="med" len="med"/>
                    </a:lnL>
                    <a:lnR w="6350" cap="flat" cmpd="sng" algn="ctr">
                      <a:solidFill>
                        <a:srgbClr val="D6E4F0"/>
                      </a:solidFill>
                      <a:prstDash val="solid"/>
                      <a:round/>
                      <a:headEnd type="none" w="med" len="med"/>
                      <a:tailEnd type="none" w="med" len="med"/>
                    </a:lnR>
                    <a:lnT w="6350" cap="flat" cmpd="sng" algn="ctr">
                      <a:solidFill>
                        <a:srgbClr val="D6E4F0"/>
                      </a:solidFill>
                      <a:prstDash val="solid"/>
                      <a:round/>
                      <a:headEnd type="none" w="med" len="med"/>
                      <a:tailEnd type="none" w="med" len="med"/>
                    </a:lnT>
                    <a:lnB w="6350" cap="flat" cmpd="sng" algn="ctr">
                      <a:solidFill>
                        <a:srgbClr val="D6E4F0"/>
                      </a:solidFill>
                      <a:prstDash val="solid"/>
                      <a:round/>
                      <a:headEnd type="none" w="med" len="med"/>
                      <a:tailEnd type="none" w="med" len="med"/>
                    </a:lnB>
                    <a:solidFill>
                      <a:srgbClr val="002D72"/>
                    </a:solidFill>
                  </a:tcPr>
                </a:tc>
              </a:tr>
              <a:tr h="274320">
                <a:tc>
                  <a:txBody>
                    <a:bodyPr/>
                    <a:lstStyle/>
                    <a:p>
                      <a:pPr indent="0" marL="0">
                        <a:buNone/>
                      </a:pPr>
                      <a:r>
                        <a:rPr lang="en-US" sz="740" b="1" dirty="0">
                          <a:solidFill>
                            <a:srgbClr val="002D72"/>
                          </a:solidFill>
                          <a:latin typeface="Calibri" pitchFamily="34" charset="0"/>
                          <a:ea typeface="Calibri" pitchFamily="34" charset="-122"/>
                          <a:cs typeface="Calibri" pitchFamily="34" charset="-120"/>
                        </a:rPr>
                        <a:t>Bloomberg EMSX / TSOX</a:t>
                      </a:r>
                      <a:endParaRPr lang="en-US" sz="740" dirty="0">
                        <a:latin typeface="Calibri" charset="0"/>
                        <a:ea typeface="Calibri" charset="0"/>
                        <a:cs typeface="Calibri" charset="0"/>
                      </a:endParaRPr>
                    </a:p>
                  </a:txBody>
                  <a:tcPr marL="45720" marR="45720" marT="45720" marB="45720" anchor="ctr">
                    <a:lnL w="6350" cap="flat" cmpd="sng" algn="ctr">
                      <a:solidFill>
                        <a:srgbClr val="D6E4F0"/>
                      </a:solidFill>
                      <a:prstDash val="solid"/>
                      <a:round/>
                      <a:headEnd type="none" w="med" len="med"/>
                      <a:tailEnd type="none" w="med" len="med"/>
                    </a:lnL>
                    <a:lnR w="6350" cap="flat" cmpd="sng" algn="ctr">
                      <a:solidFill>
                        <a:srgbClr val="D6E4F0"/>
                      </a:solidFill>
                      <a:prstDash val="solid"/>
                      <a:round/>
                      <a:headEnd type="none" w="med" len="med"/>
                      <a:tailEnd type="none" w="med" len="med"/>
                    </a:lnR>
                    <a:lnT w="6350" cap="flat" cmpd="sng" algn="ctr">
                      <a:solidFill>
                        <a:srgbClr val="D6E4F0"/>
                      </a:solidFill>
                      <a:prstDash val="solid"/>
                      <a:round/>
                      <a:headEnd type="none" w="med" len="med"/>
                      <a:tailEnd type="none" w="med" len="med"/>
                    </a:lnT>
                    <a:lnB w="6350" cap="flat" cmpd="sng" algn="ctr">
                      <a:solidFill>
                        <a:srgbClr val="D6E4F0"/>
                      </a:solidFill>
                      <a:prstDash val="solid"/>
                      <a:round/>
                      <a:headEnd type="none" w="med" len="med"/>
                      <a:tailEnd type="none" w="med" len="med"/>
                    </a:lnB>
                    <a:solidFill>
                      <a:srgbClr val="FFFFFF"/>
                    </a:solidFill>
                  </a:tcPr>
                </a:tc>
                <a:tc>
                  <a:txBody>
                    <a:bodyPr/>
                    <a:lstStyle/>
                    <a:p>
                      <a:pPr indent="0" marL="0">
                        <a:buNone/>
                      </a:pPr>
                      <a:r>
                        <a:rPr lang="en-US" sz="740" dirty="0">
                          <a:solidFill>
                            <a:srgbClr val="3F5265"/>
                          </a:solidFill>
                          <a:latin typeface="Calibri" pitchFamily="34" charset="0"/>
                          <a:ea typeface="Calibri" pitchFamily="34" charset="-122"/>
                          <a:cs typeface="Calibri" pitchFamily="34" charset="-120"/>
                        </a:rPr>
                        <a:t>Not disclosed</a:t>
                      </a:r>
                      <a:endParaRPr lang="en-US" sz="740" dirty="0">
                        <a:latin typeface="Calibri" charset="0"/>
                        <a:ea typeface="Calibri" charset="0"/>
                        <a:cs typeface="Calibri" charset="0"/>
                      </a:endParaRPr>
                    </a:p>
                  </a:txBody>
                  <a:tcPr marL="45720" marR="45720" marT="45720" marB="45720" anchor="ctr">
                    <a:lnL w="6350" cap="flat" cmpd="sng" algn="ctr">
                      <a:solidFill>
                        <a:srgbClr val="D6E4F0"/>
                      </a:solidFill>
                      <a:prstDash val="solid"/>
                      <a:round/>
                      <a:headEnd type="none" w="med" len="med"/>
                      <a:tailEnd type="none" w="med" len="med"/>
                    </a:lnL>
                    <a:lnR w="6350" cap="flat" cmpd="sng" algn="ctr">
                      <a:solidFill>
                        <a:srgbClr val="D6E4F0"/>
                      </a:solidFill>
                      <a:prstDash val="solid"/>
                      <a:round/>
                      <a:headEnd type="none" w="med" len="med"/>
                      <a:tailEnd type="none" w="med" len="med"/>
                    </a:lnR>
                    <a:lnT w="6350" cap="flat" cmpd="sng" algn="ctr">
                      <a:solidFill>
                        <a:srgbClr val="D6E4F0"/>
                      </a:solidFill>
                      <a:prstDash val="solid"/>
                      <a:round/>
                      <a:headEnd type="none" w="med" len="med"/>
                      <a:tailEnd type="none" w="med" len="med"/>
                    </a:lnT>
                    <a:lnB w="6350" cap="flat" cmpd="sng" algn="ctr">
                      <a:solidFill>
                        <a:srgbClr val="D6E4F0"/>
                      </a:solidFill>
                      <a:prstDash val="solid"/>
                      <a:round/>
                      <a:headEnd type="none" w="med" len="med"/>
                      <a:tailEnd type="none" w="med" len="med"/>
                    </a:lnB>
                    <a:solidFill>
                      <a:srgbClr val="FFFFFF"/>
                    </a:solidFill>
                  </a:tcPr>
                </a:tc>
                <a:tc>
                  <a:txBody>
                    <a:bodyPr/>
                    <a:lstStyle/>
                    <a:p>
                      <a:pPr indent="0" marL="0">
                        <a:buNone/>
                      </a:pPr>
                      <a:r>
                        <a:rPr lang="en-US" sz="740" dirty="0">
                          <a:solidFill>
                            <a:srgbClr val="3F5265"/>
                          </a:solidFill>
                          <a:latin typeface="Calibri" pitchFamily="34" charset="0"/>
                          <a:ea typeface="Calibri" pitchFamily="34" charset="-122"/>
                          <a:cs typeface="Calibri" pitchFamily="34" charset="-120"/>
                        </a:rPr>
                        <a:t>111</a:t>
                      </a:r>
                      <a:endParaRPr lang="en-US" sz="740" dirty="0">
                        <a:latin typeface="Calibri" charset="0"/>
                        <a:ea typeface="Calibri" charset="0"/>
                        <a:cs typeface="Calibri" charset="0"/>
                      </a:endParaRPr>
                    </a:p>
                  </a:txBody>
                  <a:tcPr marL="45720" marR="45720" marT="45720" marB="45720" anchor="ctr">
                    <a:lnL w="6350" cap="flat" cmpd="sng" algn="ctr">
                      <a:solidFill>
                        <a:srgbClr val="D6E4F0"/>
                      </a:solidFill>
                      <a:prstDash val="solid"/>
                      <a:round/>
                      <a:headEnd type="none" w="med" len="med"/>
                      <a:tailEnd type="none" w="med" len="med"/>
                    </a:lnL>
                    <a:lnR w="6350" cap="flat" cmpd="sng" algn="ctr">
                      <a:solidFill>
                        <a:srgbClr val="D6E4F0"/>
                      </a:solidFill>
                      <a:prstDash val="solid"/>
                      <a:round/>
                      <a:headEnd type="none" w="med" len="med"/>
                      <a:tailEnd type="none" w="med" len="med"/>
                    </a:lnR>
                    <a:lnT w="6350" cap="flat" cmpd="sng" algn="ctr">
                      <a:solidFill>
                        <a:srgbClr val="D6E4F0"/>
                      </a:solidFill>
                      <a:prstDash val="solid"/>
                      <a:round/>
                      <a:headEnd type="none" w="med" len="med"/>
                      <a:tailEnd type="none" w="med" len="med"/>
                    </a:lnT>
                    <a:lnB w="6350" cap="flat" cmpd="sng" algn="ctr">
                      <a:solidFill>
                        <a:srgbClr val="D6E4F0"/>
                      </a:solidFill>
                      <a:prstDash val="solid"/>
                      <a:round/>
                      <a:headEnd type="none" w="med" len="med"/>
                      <a:tailEnd type="none" w="med" len="med"/>
                    </a:lnB>
                    <a:solidFill>
                      <a:srgbClr val="FFFFFF"/>
                    </a:solidFill>
                  </a:tcPr>
                </a:tc>
                <a:tc>
                  <a:txBody>
                    <a:bodyPr/>
                    <a:lstStyle/>
                    <a:p>
                      <a:pPr indent="0" marL="0">
                        <a:buNone/>
                      </a:pPr>
                      <a:r>
                        <a:rPr lang="en-US" sz="740" b="1" dirty="0">
                          <a:solidFill>
                            <a:srgbClr val="3F5265"/>
                          </a:solidFill>
                          <a:latin typeface="Calibri" pitchFamily="34" charset="0"/>
                          <a:ea typeface="Calibri" pitchFamily="34" charset="-122"/>
                          <a:cs typeface="Calibri" pitchFamily="34" charset="-120"/>
                        </a:rPr>
                        <a:t>24.7%</a:t>
                      </a:r>
                      <a:endParaRPr lang="en-US" sz="740" dirty="0">
                        <a:latin typeface="Calibri" charset="0"/>
                        <a:ea typeface="Calibri" charset="0"/>
                        <a:cs typeface="Calibri" charset="0"/>
                      </a:endParaRPr>
                    </a:p>
                  </a:txBody>
                  <a:tcPr marL="45720" marR="45720" marT="45720" marB="45720" anchor="ctr">
                    <a:lnL w="6350" cap="flat" cmpd="sng" algn="ctr">
                      <a:solidFill>
                        <a:srgbClr val="D6E4F0"/>
                      </a:solidFill>
                      <a:prstDash val="solid"/>
                      <a:round/>
                      <a:headEnd type="none" w="med" len="med"/>
                      <a:tailEnd type="none" w="med" len="med"/>
                    </a:lnL>
                    <a:lnR w="6350" cap="flat" cmpd="sng" algn="ctr">
                      <a:solidFill>
                        <a:srgbClr val="D6E4F0"/>
                      </a:solidFill>
                      <a:prstDash val="solid"/>
                      <a:round/>
                      <a:headEnd type="none" w="med" len="med"/>
                      <a:tailEnd type="none" w="med" len="med"/>
                    </a:lnR>
                    <a:lnT w="6350" cap="flat" cmpd="sng" algn="ctr">
                      <a:solidFill>
                        <a:srgbClr val="D6E4F0"/>
                      </a:solidFill>
                      <a:prstDash val="solid"/>
                      <a:round/>
                      <a:headEnd type="none" w="med" len="med"/>
                      <a:tailEnd type="none" w="med" len="med"/>
                    </a:lnT>
                    <a:lnB w="6350" cap="flat" cmpd="sng" algn="ctr">
                      <a:solidFill>
                        <a:srgbClr val="D6E4F0"/>
                      </a:solidFill>
                      <a:prstDash val="solid"/>
                      <a:round/>
                      <a:headEnd type="none" w="med" len="med"/>
                      <a:tailEnd type="none" w="med" len="med"/>
                    </a:lnB>
                    <a:solidFill>
                      <a:srgbClr val="FFFFFF"/>
                    </a:solidFill>
                  </a:tcPr>
                </a:tc>
                <a:tc>
                  <a:txBody>
                    <a:bodyPr/>
                    <a:lstStyle/>
                    <a:p>
                      <a:pPr indent="0" marL="0">
                        <a:buNone/>
                      </a:pPr>
                      <a:r>
                        <a:rPr lang="en-US" sz="740" dirty="0">
                          <a:solidFill>
                            <a:srgbClr val="3F5265"/>
                          </a:solidFill>
                          <a:latin typeface="Calibri" pitchFamily="34" charset="0"/>
                          <a:ea typeface="Calibri" pitchFamily="34" charset="-122"/>
                          <a:cs typeface="Calibri" pitchFamily="34" charset="-120"/>
                        </a:rPr>
                        <a:t>41% manage over $50bn</a:t>
                      </a:r>
                      <a:endParaRPr lang="en-US" sz="740" dirty="0">
                        <a:latin typeface="Calibri" charset="0"/>
                        <a:ea typeface="Calibri" charset="0"/>
                        <a:cs typeface="Calibri" charset="0"/>
                      </a:endParaRPr>
                    </a:p>
                  </a:txBody>
                  <a:tcPr marL="45720" marR="45720" marT="45720" marB="45720" anchor="ctr">
                    <a:lnL w="6350" cap="flat" cmpd="sng" algn="ctr">
                      <a:solidFill>
                        <a:srgbClr val="D6E4F0"/>
                      </a:solidFill>
                      <a:prstDash val="solid"/>
                      <a:round/>
                      <a:headEnd type="none" w="med" len="med"/>
                      <a:tailEnd type="none" w="med" len="med"/>
                    </a:lnL>
                    <a:lnR w="6350" cap="flat" cmpd="sng" algn="ctr">
                      <a:solidFill>
                        <a:srgbClr val="D6E4F0"/>
                      </a:solidFill>
                      <a:prstDash val="solid"/>
                      <a:round/>
                      <a:headEnd type="none" w="med" len="med"/>
                      <a:tailEnd type="none" w="med" len="med"/>
                    </a:lnR>
                    <a:lnT w="6350" cap="flat" cmpd="sng" algn="ctr">
                      <a:solidFill>
                        <a:srgbClr val="D6E4F0"/>
                      </a:solidFill>
                      <a:prstDash val="solid"/>
                      <a:round/>
                      <a:headEnd type="none" w="med" len="med"/>
                      <a:tailEnd type="none" w="med" len="med"/>
                    </a:lnT>
                    <a:lnB w="6350" cap="flat" cmpd="sng" algn="ctr">
                      <a:solidFill>
                        <a:srgbClr val="D6E4F0"/>
                      </a:solidFill>
                      <a:prstDash val="solid"/>
                      <a:round/>
                      <a:headEnd type="none" w="med" len="med"/>
                      <a:tailEnd type="none" w="med" len="med"/>
                    </a:lnB>
                    <a:solidFill>
                      <a:srgbClr val="FFFFFF"/>
                    </a:solidFill>
                  </a:tcPr>
                </a:tc>
                <a:tc>
                  <a:txBody>
                    <a:bodyPr/>
                    <a:lstStyle/>
                    <a:p>
                      <a:pPr indent="0" marL="0">
                        <a:buNone/>
                      </a:pPr>
                      <a:r>
                        <a:rPr lang="en-US" sz="740" dirty="0">
                          <a:solidFill>
                            <a:srgbClr val="3F5265"/>
                          </a:solidFill>
                          <a:latin typeface="Calibri" pitchFamily="34" charset="0"/>
                          <a:ea typeface="Calibri" pitchFamily="34" charset="-122"/>
                          <a:cs typeface="Calibri" pitchFamily="34" charset="-120"/>
                        </a:rPr>
                        <a:t>52% North America, 28% Europe</a:t>
                      </a:r>
                      <a:endParaRPr lang="en-US" sz="740" dirty="0">
                        <a:latin typeface="Calibri" charset="0"/>
                        <a:ea typeface="Calibri" charset="0"/>
                        <a:cs typeface="Calibri" charset="0"/>
                      </a:endParaRPr>
                    </a:p>
                  </a:txBody>
                  <a:tcPr marL="45720" marR="45720" marT="45720" marB="45720" anchor="ctr">
                    <a:lnL w="6350" cap="flat" cmpd="sng" algn="ctr">
                      <a:solidFill>
                        <a:srgbClr val="D6E4F0"/>
                      </a:solidFill>
                      <a:prstDash val="solid"/>
                      <a:round/>
                      <a:headEnd type="none" w="med" len="med"/>
                      <a:tailEnd type="none" w="med" len="med"/>
                    </a:lnL>
                    <a:lnR w="6350" cap="flat" cmpd="sng" algn="ctr">
                      <a:solidFill>
                        <a:srgbClr val="D6E4F0"/>
                      </a:solidFill>
                      <a:prstDash val="solid"/>
                      <a:round/>
                      <a:headEnd type="none" w="med" len="med"/>
                      <a:tailEnd type="none" w="med" len="med"/>
                    </a:lnR>
                    <a:lnT w="6350" cap="flat" cmpd="sng" algn="ctr">
                      <a:solidFill>
                        <a:srgbClr val="D6E4F0"/>
                      </a:solidFill>
                      <a:prstDash val="solid"/>
                      <a:round/>
                      <a:headEnd type="none" w="med" len="med"/>
                      <a:tailEnd type="none" w="med" len="med"/>
                    </a:lnT>
                    <a:lnB w="6350" cap="flat" cmpd="sng" algn="ctr">
                      <a:solidFill>
                        <a:srgbClr val="D6E4F0"/>
                      </a:solidFill>
                      <a:prstDash val="solid"/>
                      <a:round/>
                      <a:headEnd type="none" w="med" len="med"/>
                      <a:tailEnd type="none" w="med" len="med"/>
                    </a:lnB>
                    <a:solidFill>
                      <a:srgbClr val="FFFFFF"/>
                    </a:solidFill>
                  </a:tcPr>
                </a:tc>
              </a:tr>
              <a:tr h="274320">
                <a:tc>
                  <a:txBody>
                    <a:bodyPr/>
                    <a:lstStyle/>
                    <a:p>
                      <a:pPr indent="0" marL="0">
                        <a:buNone/>
                      </a:pPr>
                      <a:r>
                        <a:rPr lang="en-US" sz="740" b="1" dirty="0">
                          <a:solidFill>
                            <a:srgbClr val="002D72"/>
                          </a:solidFill>
                          <a:latin typeface="Calibri" pitchFamily="34" charset="0"/>
                          <a:ea typeface="Calibri" pitchFamily="34" charset="-122"/>
                          <a:cs typeface="Calibri" pitchFamily="34" charset="-120"/>
                        </a:rPr>
                        <a:t>Virtu Triton</a:t>
                      </a:r>
                      <a:endParaRPr lang="en-US" sz="740" dirty="0">
                        <a:latin typeface="Calibri" charset="0"/>
                        <a:ea typeface="Calibri" charset="0"/>
                        <a:cs typeface="Calibri" charset="0"/>
                      </a:endParaRPr>
                    </a:p>
                  </a:txBody>
                  <a:tcPr marL="45720" marR="45720" marT="45720" marB="45720" anchor="ctr">
                    <a:lnL w="6350" cap="flat" cmpd="sng" algn="ctr">
                      <a:solidFill>
                        <a:srgbClr val="D6E4F0"/>
                      </a:solidFill>
                      <a:prstDash val="solid"/>
                      <a:round/>
                      <a:headEnd type="none" w="med" len="med"/>
                      <a:tailEnd type="none" w="med" len="med"/>
                    </a:lnL>
                    <a:lnR w="6350" cap="flat" cmpd="sng" algn="ctr">
                      <a:solidFill>
                        <a:srgbClr val="D6E4F0"/>
                      </a:solidFill>
                      <a:prstDash val="solid"/>
                      <a:round/>
                      <a:headEnd type="none" w="med" len="med"/>
                      <a:tailEnd type="none" w="med" len="med"/>
                    </a:lnR>
                    <a:lnT w="6350" cap="flat" cmpd="sng" algn="ctr">
                      <a:solidFill>
                        <a:srgbClr val="D6E4F0"/>
                      </a:solidFill>
                      <a:prstDash val="solid"/>
                      <a:round/>
                      <a:headEnd type="none" w="med" len="med"/>
                      <a:tailEnd type="none" w="med" len="med"/>
                    </a:lnT>
                    <a:lnB w="6350" cap="flat" cmpd="sng" algn="ctr">
                      <a:solidFill>
                        <a:srgbClr val="D6E4F0"/>
                      </a:solidFill>
                      <a:prstDash val="solid"/>
                      <a:round/>
                      <a:headEnd type="none" w="med" len="med"/>
                      <a:tailEnd type="none" w="med" len="med"/>
                    </a:lnB>
                    <a:solidFill>
                      <a:srgbClr val="EAF1F8"/>
                    </a:solidFill>
                  </a:tcPr>
                </a:tc>
                <a:tc>
                  <a:txBody>
                    <a:bodyPr/>
                    <a:lstStyle/>
                    <a:p>
                      <a:pPr indent="0" marL="0">
                        <a:buNone/>
                      </a:pPr>
                      <a:r>
                        <a:rPr lang="en-US" sz="740" dirty="0">
                          <a:solidFill>
                            <a:srgbClr val="3F5265"/>
                          </a:solidFill>
                          <a:latin typeface="Calibri" pitchFamily="34" charset="0"/>
                          <a:ea typeface="Calibri" pitchFamily="34" charset="-122"/>
                          <a:cs typeface="Calibri" pitchFamily="34" charset="-120"/>
                        </a:rPr>
                        <a:t>300+</a:t>
                      </a:r>
                      <a:endParaRPr lang="en-US" sz="740" dirty="0">
                        <a:latin typeface="Calibri" charset="0"/>
                        <a:ea typeface="Calibri" charset="0"/>
                        <a:cs typeface="Calibri" charset="0"/>
                      </a:endParaRPr>
                    </a:p>
                  </a:txBody>
                  <a:tcPr marL="45720" marR="45720" marT="45720" marB="45720" anchor="ctr">
                    <a:lnL w="6350" cap="flat" cmpd="sng" algn="ctr">
                      <a:solidFill>
                        <a:srgbClr val="D6E4F0"/>
                      </a:solidFill>
                      <a:prstDash val="solid"/>
                      <a:round/>
                      <a:headEnd type="none" w="med" len="med"/>
                      <a:tailEnd type="none" w="med" len="med"/>
                    </a:lnL>
                    <a:lnR w="6350" cap="flat" cmpd="sng" algn="ctr">
                      <a:solidFill>
                        <a:srgbClr val="D6E4F0"/>
                      </a:solidFill>
                      <a:prstDash val="solid"/>
                      <a:round/>
                      <a:headEnd type="none" w="med" len="med"/>
                      <a:tailEnd type="none" w="med" len="med"/>
                    </a:lnR>
                    <a:lnT w="6350" cap="flat" cmpd="sng" algn="ctr">
                      <a:solidFill>
                        <a:srgbClr val="D6E4F0"/>
                      </a:solidFill>
                      <a:prstDash val="solid"/>
                      <a:round/>
                      <a:headEnd type="none" w="med" len="med"/>
                      <a:tailEnd type="none" w="med" len="med"/>
                    </a:lnT>
                    <a:lnB w="6350" cap="flat" cmpd="sng" algn="ctr">
                      <a:solidFill>
                        <a:srgbClr val="D6E4F0"/>
                      </a:solidFill>
                      <a:prstDash val="solid"/>
                      <a:round/>
                      <a:headEnd type="none" w="med" len="med"/>
                      <a:tailEnd type="none" w="med" len="med"/>
                    </a:lnB>
                    <a:solidFill>
                      <a:srgbClr val="EAF1F8"/>
                    </a:solidFill>
                  </a:tcPr>
                </a:tc>
                <a:tc>
                  <a:txBody>
                    <a:bodyPr/>
                    <a:lstStyle/>
                    <a:p>
                      <a:pPr indent="0" marL="0">
                        <a:buNone/>
                      </a:pPr>
                      <a:r>
                        <a:rPr lang="en-US" sz="740" dirty="0">
                          <a:solidFill>
                            <a:srgbClr val="3F5265"/>
                          </a:solidFill>
                          <a:latin typeface="Calibri" pitchFamily="34" charset="0"/>
                          <a:ea typeface="Calibri" pitchFamily="34" charset="-122"/>
                          <a:cs typeface="Calibri" pitchFamily="34" charset="-120"/>
                        </a:rPr>
                        <a:t>102</a:t>
                      </a:r>
                      <a:endParaRPr lang="en-US" sz="740" dirty="0">
                        <a:latin typeface="Calibri" charset="0"/>
                        <a:ea typeface="Calibri" charset="0"/>
                        <a:cs typeface="Calibri" charset="0"/>
                      </a:endParaRPr>
                    </a:p>
                  </a:txBody>
                  <a:tcPr marL="45720" marR="45720" marT="45720" marB="45720" anchor="ctr">
                    <a:lnL w="6350" cap="flat" cmpd="sng" algn="ctr">
                      <a:solidFill>
                        <a:srgbClr val="D6E4F0"/>
                      </a:solidFill>
                      <a:prstDash val="solid"/>
                      <a:round/>
                      <a:headEnd type="none" w="med" len="med"/>
                      <a:tailEnd type="none" w="med" len="med"/>
                    </a:lnL>
                    <a:lnR w="6350" cap="flat" cmpd="sng" algn="ctr">
                      <a:solidFill>
                        <a:srgbClr val="D6E4F0"/>
                      </a:solidFill>
                      <a:prstDash val="solid"/>
                      <a:round/>
                      <a:headEnd type="none" w="med" len="med"/>
                      <a:tailEnd type="none" w="med" len="med"/>
                    </a:lnR>
                    <a:lnT w="6350" cap="flat" cmpd="sng" algn="ctr">
                      <a:solidFill>
                        <a:srgbClr val="D6E4F0"/>
                      </a:solidFill>
                      <a:prstDash val="solid"/>
                      <a:round/>
                      <a:headEnd type="none" w="med" len="med"/>
                      <a:tailEnd type="none" w="med" len="med"/>
                    </a:lnT>
                    <a:lnB w="6350" cap="flat" cmpd="sng" algn="ctr">
                      <a:solidFill>
                        <a:srgbClr val="D6E4F0"/>
                      </a:solidFill>
                      <a:prstDash val="solid"/>
                      <a:round/>
                      <a:headEnd type="none" w="med" len="med"/>
                      <a:tailEnd type="none" w="med" len="med"/>
                    </a:lnB>
                    <a:solidFill>
                      <a:srgbClr val="EAF1F8"/>
                    </a:solidFill>
                  </a:tcPr>
                </a:tc>
                <a:tc>
                  <a:txBody>
                    <a:bodyPr/>
                    <a:lstStyle/>
                    <a:p>
                      <a:pPr indent="0" marL="0">
                        <a:buNone/>
                      </a:pPr>
                      <a:r>
                        <a:rPr lang="en-US" sz="740" b="1" dirty="0">
                          <a:solidFill>
                            <a:srgbClr val="3F5265"/>
                          </a:solidFill>
                          <a:latin typeface="Calibri" pitchFamily="34" charset="0"/>
                          <a:ea typeface="Calibri" pitchFamily="34" charset="-122"/>
                          <a:cs typeface="Calibri" pitchFamily="34" charset="-120"/>
                        </a:rPr>
                        <a:t>22.7%</a:t>
                      </a:r>
                      <a:endParaRPr lang="en-US" sz="740" dirty="0">
                        <a:latin typeface="Calibri" charset="0"/>
                        <a:ea typeface="Calibri" charset="0"/>
                        <a:cs typeface="Calibri" charset="0"/>
                      </a:endParaRPr>
                    </a:p>
                  </a:txBody>
                  <a:tcPr marL="45720" marR="45720" marT="45720" marB="45720" anchor="ctr">
                    <a:lnL w="6350" cap="flat" cmpd="sng" algn="ctr">
                      <a:solidFill>
                        <a:srgbClr val="D6E4F0"/>
                      </a:solidFill>
                      <a:prstDash val="solid"/>
                      <a:round/>
                      <a:headEnd type="none" w="med" len="med"/>
                      <a:tailEnd type="none" w="med" len="med"/>
                    </a:lnL>
                    <a:lnR w="6350" cap="flat" cmpd="sng" algn="ctr">
                      <a:solidFill>
                        <a:srgbClr val="D6E4F0"/>
                      </a:solidFill>
                      <a:prstDash val="solid"/>
                      <a:round/>
                      <a:headEnd type="none" w="med" len="med"/>
                      <a:tailEnd type="none" w="med" len="med"/>
                    </a:lnR>
                    <a:lnT w="6350" cap="flat" cmpd="sng" algn="ctr">
                      <a:solidFill>
                        <a:srgbClr val="D6E4F0"/>
                      </a:solidFill>
                      <a:prstDash val="solid"/>
                      <a:round/>
                      <a:headEnd type="none" w="med" len="med"/>
                      <a:tailEnd type="none" w="med" len="med"/>
                    </a:lnT>
                    <a:lnB w="6350" cap="flat" cmpd="sng" algn="ctr">
                      <a:solidFill>
                        <a:srgbClr val="D6E4F0"/>
                      </a:solidFill>
                      <a:prstDash val="solid"/>
                      <a:round/>
                      <a:headEnd type="none" w="med" len="med"/>
                      <a:tailEnd type="none" w="med" len="med"/>
                    </a:lnB>
                    <a:solidFill>
                      <a:srgbClr val="EAF1F8"/>
                    </a:solidFill>
                  </a:tcPr>
                </a:tc>
                <a:tc>
                  <a:txBody>
                    <a:bodyPr/>
                    <a:lstStyle/>
                    <a:p>
                      <a:pPr indent="0" marL="0">
                        <a:buNone/>
                      </a:pPr>
                      <a:r>
                        <a:rPr lang="en-US" sz="740" dirty="0">
                          <a:solidFill>
                            <a:srgbClr val="3F5265"/>
                          </a:solidFill>
                          <a:latin typeface="Calibri" pitchFamily="34" charset="0"/>
                          <a:ea typeface="Calibri" pitchFamily="34" charset="-122"/>
                          <a:cs typeface="Calibri" pitchFamily="34" charset="-120"/>
                        </a:rPr>
                        <a:t>45% manage over $50bn</a:t>
                      </a:r>
                      <a:endParaRPr lang="en-US" sz="740" dirty="0">
                        <a:latin typeface="Calibri" charset="0"/>
                        <a:ea typeface="Calibri" charset="0"/>
                        <a:cs typeface="Calibri" charset="0"/>
                      </a:endParaRPr>
                    </a:p>
                  </a:txBody>
                  <a:tcPr marL="45720" marR="45720" marT="45720" marB="45720" anchor="ctr">
                    <a:lnL w="6350" cap="flat" cmpd="sng" algn="ctr">
                      <a:solidFill>
                        <a:srgbClr val="D6E4F0"/>
                      </a:solidFill>
                      <a:prstDash val="solid"/>
                      <a:round/>
                      <a:headEnd type="none" w="med" len="med"/>
                      <a:tailEnd type="none" w="med" len="med"/>
                    </a:lnL>
                    <a:lnR w="6350" cap="flat" cmpd="sng" algn="ctr">
                      <a:solidFill>
                        <a:srgbClr val="D6E4F0"/>
                      </a:solidFill>
                      <a:prstDash val="solid"/>
                      <a:round/>
                      <a:headEnd type="none" w="med" len="med"/>
                      <a:tailEnd type="none" w="med" len="med"/>
                    </a:lnR>
                    <a:lnT w="6350" cap="flat" cmpd="sng" algn="ctr">
                      <a:solidFill>
                        <a:srgbClr val="D6E4F0"/>
                      </a:solidFill>
                      <a:prstDash val="solid"/>
                      <a:round/>
                      <a:headEnd type="none" w="med" len="med"/>
                      <a:tailEnd type="none" w="med" len="med"/>
                    </a:lnT>
                    <a:lnB w="6350" cap="flat" cmpd="sng" algn="ctr">
                      <a:solidFill>
                        <a:srgbClr val="D6E4F0"/>
                      </a:solidFill>
                      <a:prstDash val="solid"/>
                      <a:round/>
                      <a:headEnd type="none" w="med" len="med"/>
                      <a:tailEnd type="none" w="med" len="med"/>
                    </a:lnB>
                    <a:solidFill>
                      <a:srgbClr val="EAF1F8"/>
                    </a:solidFill>
                  </a:tcPr>
                </a:tc>
                <a:tc>
                  <a:txBody>
                    <a:bodyPr/>
                    <a:lstStyle/>
                    <a:p>
                      <a:pPr indent="0" marL="0">
                        <a:buNone/>
                      </a:pPr>
                      <a:r>
                        <a:rPr lang="en-US" sz="740" dirty="0">
                          <a:solidFill>
                            <a:srgbClr val="3F5265"/>
                          </a:solidFill>
                          <a:latin typeface="Calibri" pitchFamily="34" charset="0"/>
                          <a:ea typeface="Calibri" pitchFamily="34" charset="-122"/>
                          <a:cs typeface="Calibri" pitchFamily="34" charset="-120"/>
                        </a:rPr>
                        <a:t>81% North America</a:t>
                      </a:r>
                      <a:endParaRPr lang="en-US" sz="740" dirty="0">
                        <a:latin typeface="Calibri" charset="0"/>
                        <a:ea typeface="Calibri" charset="0"/>
                        <a:cs typeface="Calibri" charset="0"/>
                      </a:endParaRPr>
                    </a:p>
                  </a:txBody>
                  <a:tcPr marL="45720" marR="45720" marT="45720" marB="45720" anchor="ctr">
                    <a:lnL w="6350" cap="flat" cmpd="sng" algn="ctr">
                      <a:solidFill>
                        <a:srgbClr val="D6E4F0"/>
                      </a:solidFill>
                      <a:prstDash val="solid"/>
                      <a:round/>
                      <a:headEnd type="none" w="med" len="med"/>
                      <a:tailEnd type="none" w="med" len="med"/>
                    </a:lnL>
                    <a:lnR w="6350" cap="flat" cmpd="sng" algn="ctr">
                      <a:solidFill>
                        <a:srgbClr val="D6E4F0"/>
                      </a:solidFill>
                      <a:prstDash val="solid"/>
                      <a:round/>
                      <a:headEnd type="none" w="med" len="med"/>
                      <a:tailEnd type="none" w="med" len="med"/>
                    </a:lnR>
                    <a:lnT w="6350" cap="flat" cmpd="sng" algn="ctr">
                      <a:solidFill>
                        <a:srgbClr val="D6E4F0"/>
                      </a:solidFill>
                      <a:prstDash val="solid"/>
                      <a:round/>
                      <a:headEnd type="none" w="med" len="med"/>
                      <a:tailEnd type="none" w="med" len="med"/>
                    </a:lnT>
                    <a:lnB w="6350" cap="flat" cmpd="sng" algn="ctr">
                      <a:solidFill>
                        <a:srgbClr val="D6E4F0"/>
                      </a:solidFill>
                      <a:prstDash val="solid"/>
                      <a:round/>
                      <a:headEnd type="none" w="med" len="med"/>
                      <a:tailEnd type="none" w="med" len="med"/>
                    </a:lnB>
                    <a:solidFill>
                      <a:srgbClr val="EAF1F8"/>
                    </a:solidFill>
                  </a:tcPr>
                </a:tc>
              </a:tr>
              <a:tr h="274320">
                <a:tc>
                  <a:txBody>
                    <a:bodyPr/>
                    <a:lstStyle/>
                    <a:p>
                      <a:pPr indent="0" marL="0">
                        <a:buNone/>
                      </a:pPr>
                      <a:r>
                        <a:rPr lang="en-US" sz="740" b="1" dirty="0">
                          <a:solidFill>
                            <a:srgbClr val="002D72"/>
                          </a:solidFill>
                          <a:latin typeface="Calibri" pitchFamily="34" charset="0"/>
                          <a:ea typeface="Calibri" pitchFamily="34" charset="-122"/>
                          <a:cs typeface="Calibri" pitchFamily="34" charset="-120"/>
                        </a:rPr>
                        <a:t>TS Imagine TradeSmart</a:t>
                      </a:r>
                      <a:endParaRPr lang="en-US" sz="740" dirty="0">
                        <a:latin typeface="Calibri" charset="0"/>
                        <a:ea typeface="Calibri" charset="0"/>
                        <a:cs typeface="Calibri" charset="0"/>
                      </a:endParaRPr>
                    </a:p>
                  </a:txBody>
                  <a:tcPr marL="45720" marR="45720" marT="45720" marB="45720" anchor="ctr">
                    <a:lnL w="6350" cap="flat" cmpd="sng" algn="ctr">
                      <a:solidFill>
                        <a:srgbClr val="D6E4F0"/>
                      </a:solidFill>
                      <a:prstDash val="solid"/>
                      <a:round/>
                      <a:headEnd type="none" w="med" len="med"/>
                      <a:tailEnd type="none" w="med" len="med"/>
                    </a:lnL>
                    <a:lnR w="6350" cap="flat" cmpd="sng" algn="ctr">
                      <a:solidFill>
                        <a:srgbClr val="D6E4F0"/>
                      </a:solidFill>
                      <a:prstDash val="solid"/>
                      <a:round/>
                      <a:headEnd type="none" w="med" len="med"/>
                      <a:tailEnd type="none" w="med" len="med"/>
                    </a:lnR>
                    <a:lnT w="6350" cap="flat" cmpd="sng" algn="ctr">
                      <a:solidFill>
                        <a:srgbClr val="D6E4F0"/>
                      </a:solidFill>
                      <a:prstDash val="solid"/>
                      <a:round/>
                      <a:headEnd type="none" w="med" len="med"/>
                      <a:tailEnd type="none" w="med" len="med"/>
                    </a:lnT>
                    <a:lnB w="6350" cap="flat" cmpd="sng" algn="ctr">
                      <a:solidFill>
                        <a:srgbClr val="D6E4F0"/>
                      </a:solidFill>
                      <a:prstDash val="solid"/>
                      <a:round/>
                      <a:headEnd type="none" w="med" len="med"/>
                      <a:tailEnd type="none" w="med" len="med"/>
                    </a:lnB>
                    <a:solidFill>
                      <a:srgbClr val="FFFFFF"/>
                    </a:solidFill>
                  </a:tcPr>
                </a:tc>
                <a:tc>
                  <a:txBody>
                    <a:bodyPr/>
                    <a:lstStyle/>
                    <a:p>
                      <a:pPr indent="0" marL="0">
                        <a:buNone/>
                      </a:pPr>
                      <a:r>
                        <a:rPr lang="en-US" sz="740" dirty="0">
                          <a:solidFill>
                            <a:srgbClr val="3F5265"/>
                          </a:solidFill>
                          <a:latin typeface="Calibri" pitchFamily="34" charset="0"/>
                          <a:ea typeface="Calibri" pitchFamily="34" charset="-122"/>
                          <a:cs typeface="Calibri" pitchFamily="34" charset="-120"/>
                        </a:rPr>
                        <a:t>~500</a:t>
                      </a:r>
                      <a:endParaRPr lang="en-US" sz="740" dirty="0">
                        <a:latin typeface="Calibri" charset="0"/>
                        <a:ea typeface="Calibri" charset="0"/>
                        <a:cs typeface="Calibri" charset="0"/>
                      </a:endParaRPr>
                    </a:p>
                  </a:txBody>
                  <a:tcPr marL="45720" marR="45720" marT="45720" marB="45720" anchor="ctr">
                    <a:lnL w="6350" cap="flat" cmpd="sng" algn="ctr">
                      <a:solidFill>
                        <a:srgbClr val="D6E4F0"/>
                      </a:solidFill>
                      <a:prstDash val="solid"/>
                      <a:round/>
                      <a:headEnd type="none" w="med" len="med"/>
                      <a:tailEnd type="none" w="med" len="med"/>
                    </a:lnL>
                    <a:lnR w="6350" cap="flat" cmpd="sng" algn="ctr">
                      <a:solidFill>
                        <a:srgbClr val="D6E4F0"/>
                      </a:solidFill>
                      <a:prstDash val="solid"/>
                      <a:round/>
                      <a:headEnd type="none" w="med" len="med"/>
                      <a:tailEnd type="none" w="med" len="med"/>
                    </a:lnR>
                    <a:lnT w="6350" cap="flat" cmpd="sng" algn="ctr">
                      <a:solidFill>
                        <a:srgbClr val="D6E4F0"/>
                      </a:solidFill>
                      <a:prstDash val="solid"/>
                      <a:round/>
                      <a:headEnd type="none" w="med" len="med"/>
                      <a:tailEnd type="none" w="med" len="med"/>
                    </a:lnT>
                    <a:lnB w="6350" cap="flat" cmpd="sng" algn="ctr">
                      <a:solidFill>
                        <a:srgbClr val="D6E4F0"/>
                      </a:solidFill>
                      <a:prstDash val="solid"/>
                      <a:round/>
                      <a:headEnd type="none" w="med" len="med"/>
                      <a:tailEnd type="none" w="med" len="med"/>
                    </a:lnB>
                    <a:solidFill>
                      <a:srgbClr val="FFFFFF"/>
                    </a:solidFill>
                  </a:tcPr>
                </a:tc>
                <a:tc>
                  <a:txBody>
                    <a:bodyPr/>
                    <a:lstStyle/>
                    <a:p>
                      <a:pPr indent="0" marL="0">
                        <a:buNone/>
                      </a:pPr>
                      <a:r>
                        <a:rPr lang="en-US" sz="740" dirty="0">
                          <a:solidFill>
                            <a:srgbClr val="3F5265"/>
                          </a:solidFill>
                          <a:latin typeface="Calibri" pitchFamily="34" charset="0"/>
                          <a:ea typeface="Calibri" pitchFamily="34" charset="-122"/>
                          <a:cs typeface="Calibri" pitchFamily="34" charset="-120"/>
                        </a:rPr>
                        <a:t>49</a:t>
                      </a:r>
                      <a:endParaRPr lang="en-US" sz="740" dirty="0">
                        <a:latin typeface="Calibri" charset="0"/>
                        <a:ea typeface="Calibri" charset="0"/>
                        <a:cs typeface="Calibri" charset="0"/>
                      </a:endParaRPr>
                    </a:p>
                  </a:txBody>
                  <a:tcPr marL="45720" marR="45720" marT="45720" marB="45720" anchor="ctr">
                    <a:lnL w="6350" cap="flat" cmpd="sng" algn="ctr">
                      <a:solidFill>
                        <a:srgbClr val="D6E4F0"/>
                      </a:solidFill>
                      <a:prstDash val="solid"/>
                      <a:round/>
                      <a:headEnd type="none" w="med" len="med"/>
                      <a:tailEnd type="none" w="med" len="med"/>
                    </a:lnL>
                    <a:lnR w="6350" cap="flat" cmpd="sng" algn="ctr">
                      <a:solidFill>
                        <a:srgbClr val="D6E4F0"/>
                      </a:solidFill>
                      <a:prstDash val="solid"/>
                      <a:round/>
                      <a:headEnd type="none" w="med" len="med"/>
                      <a:tailEnd type="none" w="med" len="med"/>
                    </a:lnR>
                    <a:lnT w="6350" cap="flat" cmpd="sng" algn="ctr">
                      <a:solidFill>
                        <a:srgbClr val="D6E4F0"/>
                      </a:solidFill>
                      <a:prstDash val="solid"/>
                      <a:round/>
                      <a:headEnd type="none" w="med" len="med"/>
                      <a:tailEnd type="none" w="med" len="med"/>
                    </a:lnT>
                    <a:lnB w="6350" cap="flat" cmpd="sng" algn="ctr">
                      <a:solidFill>
                        <a:srgbClr val="D6E4F0"/>
                      </a:solidFill>
                      <a:prstDash val="solid"/>
                      <a:round/>
                      <a:headEnd type="none" w="med" len="med"/>
                      <a:tailEnd type="none" w="med" len="med"/>
                    </a:lnB>
                    <a:solidFill>
                      <a:srgbClr val="FFFFFF"/>
                    </a:solidFill>
                  </a:tcPr>
                </a:tc>
                <a:tc>
                  <a:txBody>
                    <a:bodyPr/>
                    <a:lstStyle/>
                    <a:p>
                      <a:pPr indent="0" marL="0">
                        <a:buNone/>
                      </a:pPr>
                      <a:r>
                        <a:rPr lang="en-US" sz="740" b="1" dirty="0">
                          <a:solidFill>
                            <a:srgbClr val="3F5265"/>
                          </a:solidFill>
                          <a:latin typeface="Calibri" pitchFamily="34" charset="0"/>
                          <a:ea typeface="Calibri" pitchFamily="34" charset="-122"/>
                          <a:cs typeface="Calibri" pitchFamily="34" charset="-120"/>
                        </a:rPr>
                        <a:t>10.9%</a:t>
                      </a:r>
                      <a:endParaRPr lang="en-US" sz="740" dirty="0">
                        <a:latin typeface="Calibri" charset="0"/>
                        <a:ea typeface="Calibri" charset="0"/>
                        <a:cs typeface="Calibri" charset="0"/>
                      </a:endParaRPr>
                    </a:p>
                  </a:txBody>
                  <a:tcPr marL="45720" marR="45720" marT="45720" marB="45720" anchor="ctr">
                    <a:lnL w="6350" cap="flat" cmpd="sng" algn="ctr">
                      <a:solidFill>
                        <a:srgbClr val="D6E4F0"/>
                      </a:solidFill>
                      <a:prstDash val="solid"/>
                      <a:round/>
                      <a:headEnd type="none" w="med" len="med"/>
                      <a:tailEnd type="none" w="med" len="med"/>
                    </a:lnL>
                    <a:lnR w="6350" cap="flat" cmpd="sng" algn="ctr">
                      <a:solidFill>
                        <a:srgbClr val="D6E4F0"/>
                      </a:solidFill>
                      <a:prstDash val="solid"/>
                      <a:round/>
                      <a:headEnd type="none" w="med" len="med"/>
                      <a:tailEnd type="none" w="med" len="med"/>
                    </a:lnR>
                    <a:lnT w="6350" cap="flat" cmpd="sng" algn="ctr">
                      <a:solidFill>
                        <a:srgbClr val="D6E4F0"/>
                      </a:solidFill>
                      <a:prstDash val="solid"/>
                      <a:round/>
                      <a:headEnd type="none" w="med" len="med"/>
                      <a:tailEnd type="none" w="med" len="med"/>
                    </a:lnT>
                    <a:lnB w="6350" cap="flat" cmpd="sng" algn="ctr">
                      <a:solidFill>
                        <a:srgbClr val="D6E4F0"/>
                      </a:solidFill>
                      <a:prstDash val="solid"/>
                      <a:round/>
                      <a:headEnd type="none" w="med" len="med"/>
                      <a:tailEnd type="none" w="med" len="med"/>
                    </a:lnB>
                    <a:solidFill>
                      <a:srgbClr val="FFFFFF"/>
                    </a:solidFill>
                  </a:tcPr>
                </a:tc>
                <a:tc>
                  <a:txBody>
                    <a:bodyPr/>
                    <a:lstStyle/>
                    <a:p>
                      <a:pPr indent="0" marL="0">
                        <a:buNone/>
                      </a:pPr>
                      <a:r>
                        <a:rPr lang="en-US" sz="740" dirty="0">
                          <a:solidFill>
                            <a:srgbClr val="3F5265"/>
                          </a:solidFill>
                          <a:latin typeface="Calibri" pitchFamily="34" charset="0"/>
                          <a:ea typeface="Calibri" pitchFamily="34" charset="-122"/>
                          <a:cs typeface="Calibri" pitchFamily="34" charset="-120"/>
                        </a:rPr>
                        <a:t>36% over $50bn; 27% at $10–50bn</a:t>
                      </a:r>
                      <a:endParaRPr lang="en-US" sz="740" dirty="0">
                        <a:latin typeface="Calibri" charset="0"/>
                        <a:ea typeface="Calibri" charset="0"/>
                        <a:cs typeface="Calibri" charset="0"/>
                      </a:endParaRPr>
                    </a:p>
                  </a:txBody>
                  <a:tcPr marL="45720" marR="45720" marT="45720" marB="45720" anchor="ctr">
                    <a:lnL w="6350" cap="flat" cmpd="sng" algn="ctr">
                      <a:solidFill>
                        <a:srgbClr val="D6E4F0"/>
                      </a:solidFill>
                      <a:prstDash val="solid"/>
                      <a:round/>
                      <a:headEnd type="none" w="med" len="med"/>
                      <a:tailEnd type="none" w="med" len="med"/>
                    </a:lnL>
                    <a:lnR w="6350" cap="flat" cmpd="sng" algn="ctr">
                      <a:solidFill>
                        <a:srgbClr val="D6E4F0"/>
                      </a:solidFill>
                      <a:prstDash val="solid"/>
                      <a:round/>
                      <a:headEnd type="none" w="med" len="med"/>
                      <a:tailEnd type="none" w="med" len="med"/>
                    </a:lnR>
                    <a:lnT w="6350" cap="flat" cmpd="sng" algn="ctr">
                      <a:solidFill>
                        <a:srgbClr val="D6E4F0"/>
                      </a:solidFill>
                      <a:prstDash val="solid"/>
                      <a:round/>
                      <a:headEnd type="none" w="med" len="med"/>
                      <a:tailEnd type="none" w="med" len="med"/>
                    </a:lnT>
                    <a:lnB w="6350" cap="flat" cmpd="sng" algn="ctr">
                      <a:solidFill>
                        <a:srgbClr val="D6E4F0"/>
                      </a:solidFill>
                      <a:prstDash val="solid"/>
                      <a:round/>
                      <a:headEnd type="none" w="med" len="med"/>
                      <a:tailEnd type="none" w="med" len="med"/>
                    </a:lnB>
                    <a:solidFill>
                      <a:srgbClr val="FFFFFF"/>
                    </a:solidFill>
                  </a:tcPr>
                </a:tc>
                <a:tc>
                  <a:txBody>
                    <a:bodyPr/>
                    <a:lstStyle/>
                    <a:p>
                      <a:pPr indent="0" marL="0">
                        <a:buNone/>
                      </a:pPr>
                      <a:r>
                        <a:rPr lang="en-US" sz="740" dirty="0">
                          <a:solidFill>
                            <a:srgbClr val="3F5265"/>
                          </a:solidFill>
                          <a:latin typeface="Calibri" pitchFamily="34" charset="0"/>
                          <a:ea typeface="Calibri" pitchFamily="34" charset="-122"/>
                          <a:cs typeface="Calibri" pitchFamily="34" charset="-120"/>
                        </a:rPr>
                        <a:t>64% Europe, 23% North America</a:t>
                      </a:r>
                      <a:endParaRPr lang="en-US" sz="740" dirty="0">
                        <a:latin typeface="Calibri" charset="0"/>
                        <a:ea typeface="Calibri" charset="0"/>
                        <a:cs typeface="Calibri" charset="0"/>
                      </a:endParaRPr>
                    </a:p>
                  </a:txBody>
                  <a:tcPr marL="45720" marR="45720" marT="45720" marB="45720" anchor="ctr">
                    <a:lnL w="6350" cap="flat" cmpd="sng" algn="ctr">
                      <a:solidFill>
                        <a:srgbClr val="D6E4F0"/>
                      </a:solidFill>
                      <a:prstDash val="solid"/>
                      <a:round/>
                      <a:headEnd type="none" w="med" len="med"/>
                      <a:tailEnd type="none" w="med" len="med"/>
                    </a:lnL>
                    <a:lnR w="6350" cap="flat" cmpd="sng" algn="ctr">
                      <a:solidFill>
                        <a:srgbClr val="D6E4F0"/>
                      </a:solidFill>
                      <a:prstDash val="solid"/>
                      <a:round/>
                      <a:headEnd type="none" w="med" len="med"/>
                      <a:tailEnd type="none" w="med" len="med"/>
                    </a:lnR>
                    <a:lnT w="6350" cap="flat" cmpd="sng" algn="ctr">
                      <a:solidFill>
                        <a:srgbClr val="D6E4F0"/>
                      </a:solidFill>
                      <a:prstDash val="solid"/>
                      <a:round/>
                      <a:headEnd type="none" w="med" len="med"/>
                      <a:tailEnd type="none" w="med" len="med"/>
                    </a:lnT>
                    <a:lnB w="6350" cap="flat" cmpd="sng" algn="ctr">
                      <a:solidFill>
                        <a:srgbClr val="D6E4F0"/>
                      </a:solidFill>
                      <a:prstDash val="solid"/>
                      <a:round/>
                      <a:headEnd type="none" w="med" len="med"/>
                      <a:tailEnd type="none" w="med" len="med"/>
                    </a:lnB>
                    <a:solidFill>
                      <a:srgbClr val="FFFFFF"/>
                    </a:solidFill>
                  </a:tcPr>
                </a:tc>
              </a:tr>
              <a:tr h="274320">
                <a:tc>
                  <a:txBody>
                    <a:bodyPr/>
                    <a:lstStyle/>
                    <a:p>
                      <a:pPr indent="0" marL="0">
                        <a:buNone/>
                      </a:pPr>
                      <a:r>
                        <a:rPr lang="en-US" sz="740" b="1" dirty="0">
                          <a:solidFill>
                            <a:srgbClr val="002D72"/>
                          </a:solidFill>
                          <a:latin typeface="Calibri" pitchFamily="34" charset="0"/>
                          <a:ea typeface="Calibri" pitchFamily="34" charset="-122"/>
                          <a:cs typeface="Calibri" pitchFamily="34" charset="-120"/>
                        </a:rPr>
                        <a:t>LSEG TORA</a:t>
                      </a:r>
                      <a:endParaRPr lang="en-US" sz="740" dirty="0">
                        <a:latin typeface="Calibri" charset="0"/>
                        <a:ea typeface="Calibri" charset="0"/>
                        <a:cs typeface="Calibri" charset="0"/>
                      </a:endParaRPr>
                    </a:p>
                  </a:txBody>
                  <a:tcPr marL="45720" marR="45720" marT="45720" marB="45720" anchor="ctr">
                    <a:lnL w="6350" cap="flat" cmpd="sng" algn="ctr">
                      <a:solidFill>
                        <a:srgbClr val="D6E4F0"/>
                      </a:solidFill>
                      <a:prstDash val="solid"/>
                      <a:round/>
                      <a:headEnd type="none" w="med" len="med"/>
                      <a:tailEnd type="none" w="med" len="med"/>
                    </a:lnL>
                    <a:lnR w="6350" cap="flat" cmpd="sng" algn="ctr">
                      <a:solidFill>
                        <a:srgbClr val="D6E4F0"/>
                      </a:solidFill>
                      <a:prstDash val="solid"/>
                      <a:round/>
                      <a:headEnd type="none" w="med" len="med"/>
                      <a:tailEnd type="none" w="med" len="med"/>
                    </a:lnR>
                    <a:lnT w="6350" cap="flat" cmpd="sng" algn="ctr">
                      <a:solidFill>
                        <a:srgbClr val="D6E4F0"/>
                      </a:solidFill>
                      <a:prstDash val="solid"/>
                      <a:round/>
                      <a:headEnd type="none" w="med" len="med"/>
                      <a:tailEnd type="none" w="med" len="med"/>
                    </a:lnT>
                    <a:lnB w="6350" cap="flat" cmpd="sng" algn="ctr">
                      <a:solidFill>
                        <a:srgbClr val="D6E4F0"/>
                      </a:solidFill>
                      <a:prstDash val="solid"/>
                      <a:round/>
                      <a:headEnd type="none" w="med" len="med"/>
                      <a:tailEnd type="none" w="med" len="med"/>
                    </a:lnB>
                    <a:solidFill>
                      <a:srgbClr val="EAF1F8"/>
                    </a:solidFill>
                  </a:tcPr>
                </a:tc>
                <a:tc>
                  <a:txBody>
                    <a:bodyPr/>
                    <a:lstStyle/>
                    <a:p>
                      <a:pPr indent="0" marL="0">
                        <a:buNone/>
                      </a:pPr>
                      <a:r>
                        <a:rPr lang="en-US" sz="740" dirty="0">
                          <a:solidFill>
                            <a:srgbClr val="3F5265"/>
                          </a:solidFill>
                          <a:latin typeface="Calibri" pitchFamily="34" charset="0"/>
                          <a:ea typeface="Calibri" pitchFamily="34" charset="-122"/>
                          <a:cs typeface="Calibri" pitchFamily="34" charset="-120"/>
                        </a:rPr>
                        <a:t>~275</a:t>
                      </a:r>
                      <a:endParaRPr lang="en-US" sz="740" dirty="0">
                        <a:latin typeface="Calibri" charset="0"/>
                        <a:ea typeface="Calibri" charset="0"/>
                        <a:cs typeface="Calibri" charset="0"/>
                      </a:endParaRPr>
                    </a:p>
                  </a:txBody>
                  <a:tcPr marL="45720" marR="45720" marT="45720" marB="45720" anchor="ctr">
                    <a:lnL w="6350" cap="flat" cmpd="sng" algn="ctr">
                      <a:solidFill>
                        <a:srgbClr val="D6E4F0"/>
                      </a:solidFill>
                      <a:prstDash val="solid"/>
                      <a:round/>
                      <a:headEnd type="none" w="med" len="med"/>
                      <a:tailEnd type="none" w="med" len="med"/>
                    </a:lnL>
                    <a:lnR w="6350" cap="flat" cmpd="sng" algn="ctr">
                      <a:solidFill>
                        <a:srgbClr val="D6E4F0"/>
                      </a:solidFill>
                      <a:prstDash val="solid"/>
                      <a:round/>
                      <a:headEnd type="none" w="med" len="med"/>
                      <a:tailEnd type="none" w="med" len="med"/>
                    </a:lnR>
                    <a:lnT w="6350" cap="flat" cmpd="sng" algn="ctr">
                      <a:solidFill>
                        <a:srgbClr val="D6E4F0"/>
                      </a:solidFill>
                      <a:prstDash val="solid"/>
                      <a:round/>
                      <a:headEnd type="none" w="med" len="med"/>
                      <a:tailEnd type="none" w="med" len="med"/>
                    </a:lnT>
                    <a:lnB w="6350" cap="flat" cmpd="sng" algn="ctr">
                      <a:solidFill>
                        <a:srgbClr val="D6E4F0"/>
                      </a:solidFill>
                      <a:prstDash val="solid"/>
                      <a:round/>
                      <a:headEnd type="none" w="med" len="med"/>
                      <a:tailEnd type="none" w="med" len="med"/>
                    </a:lnB>
                    <a:solidFill>
                      <a:srgbClr val="EAF1F8"/>
                    </a:solidFill>
                  </a:tcPr>
                </a:tc>
                <a:tc>
                  <a:txBody>
                    <a:bodyPr/>
                    <a:lstStyle/>
                    <a:p>
                      <a:pPr indent="0" marL="0">
                        <a:buNone/>
                      </a:pPr>
                      <a:r>
                        <a:rPr lang="en-US" sz="740" dirty="0">
                          <a:solidFill>
                            <a:srgbClr val="3F5265"/>
                          </a:solidFill>
                          <a:latin typeface="Calibri" pitchFamily="34" charset="0"/>
                          <a:ea typeface="Calibri" pitchFamily="34" charset="-122"/>
                          <a:cs typeface="Calibri" pitchFamily="34" charset="-120"/>
                        </a:rPr>
                        <a:t>45</a:t>
                      </a:r>
                      <a:endParaRPr lang="en-US" sz="740" dirty="0">
                        <a:latin typeface="Calibri" charset="0"/>
                        <a:ea typeface="Calibri" charset="0"/>
                        <a:cs typeface="Calibri" charset="0"/>
                      </a:endParaRPr>
                    </a:p>
                  </a:txBody>
                  <a:tcPr marL="45720" marR="45720" marT="45720" marB="45720" anchor="ctr">
                    <a:lnL w="6350" cap="flat" cmpd="sng" algn="ctr">
                      <a:solidFill>
                        <a:srgbClr val="D6E4F0"/>
                      </a:solidFill>
                      <a:prstDash val="solid"/>
                      <a:round/>
                      <a:headEnd type="none" w="med" len="med"/>
                      <a:tailEnd type="none" w="med" len="med"/>
                    </a:lnL>
                    <a:lnR w="6350" cap="flat" cmpd="sng" algn="ctr">
                      <a:solidFill>
                        <a:srgbClr val="D6E4F0"/>
                      </a:solidFill>
                      <a:prstDash val="solid"/>
                      <a:round/>
                      <a:headEnd type="none" w="med" len="med"/>
                      <a:tailEnd type="none" w="med" len="med"/>
                    </a:lnR>
                    <a:lnT w="6350" cap="flat" cmpd="sng" algn="ctr">
                      <a:solidFill>
                        <a:srgbClr val="D6E4F0"/>
                      </a:solidFill>
                      <a:prstDash val="solid"/>
                      <a:round/>
                      <a:headEnd type="none" w="med" len="med"/>
                      <a:tailEnd type="none" w="med" len="med"/>
                    </a:lnT>
                    <a:lnB w="6350" cap="flat" cmpd="sng" algn="ctr">
                      <a:solidFill>
                        <a:srgbClr val="D6E4F0"/>
                      </a:solidFill>
                      <a:prstDash val="solid"/>
                      <a:round/>
                      <a:headEnd type="none" w="med" len="med"/>
                      <a:tailEnd type="none" w="med" len="med"/>
                    </a:lnB>
                    <a:solidFill>
                      <a:srgbClr val="EAF1F8"/>
                    </a:solidFill>
                  </a:tcPr>
                </a:tc>
                <a:tc>
                  <a:txBody>
                    <a:bodyPr/>
                    <a:lstStyle/>
                    <a:p>
                      <a:pPr indent="0" marL="0">
                        <a:buNone/>
                      </a:pPr>
                      <a:r>
                        <a:rPr lang="en-US" sz="740" b="1" dirty="0">
                          <a:solidFill>
                            <a:srgbClr val="3F5265"/>
                          </a:solidFill>
                          <a:latin typeface="Calibri" pitchFamily="34" charset="0"/>
                          <a:ea typeface="Calibri" pitchFamily="34" charset="-122"/>
                          <a:cs typeface="Calibri" pitchFamily="34" charset="-120"/>
                        </a:rPr>
                        <a:t>10.0%</a:t>
                      </a:r>
                      <a:endParaRPr lang="en-US" sz="740" dirty="0">
                        <a:latin typeface="Calibri" charset="0"/>
                        <a:ea typeface="Calibri" charset="0"/>
                        <a:cs typeface="Calibri" charset="0"/>
                      </a:endParaRPr>
                    </a:p>
                  </a:txBody>
                  <a:tcPr marL="45720" marR="45720" marT="45720" marB="45720" anchor="ctr">
                    <a:lnL w="6350" cap="flat" cmpd="sng" algn="ctr">
                      <a:solidFill>
                        <a:srgbClr val="D6E4F0"/>
                      </a:solidFill>
                      <a:prstDash val="solid"/>
                      <a:round/>
                      <a:headEnd type="none" w="med" len="med"/>
                      <a:tailEnd type="none" w="med" len="med"/>
                    </a:lnL>
                    <a:lnR w="6350" cap="flat" cmpd="sng" algn="ctr">
                      <a:solidFill>
                        <a:srgbClr val="D6E4F0"/>
                      </a:solidFill>
                      <a:prstDash val="solid"/>
                      <a:round/>
                      <a:headEnd type="none" w="med" len="med"/>
                      <a:tailEnd type="none" w="med" len="med"/>
                    </a:lnR>
                    <a:lnT w="6350" cap="flat" cmpd="sng" algn="ctr">
                      <a:solidFill>
                        <a:srgbClr val="D6E4F0"/>
                      </a:solidFill>
                      <a:prstDash val="solid"/>
                      <a:round/>
                      <a:headEnd type="none" w="med" len="med"/>
                      <a:tailEnd type="none" w="med" len="med"/>
                    </a:lnT>
                    <a:lnB w="6350" cap="flat" cmpd="sng" algn="ctr">
                      <a:solidFill>
                        <a:srgbClr val="D6E4F0"/>
                      </a:solidFill>
                      <a:prstDash val="solid"/>
                      <a:round/>
                      <a:headEnd type="none" w="med" len="med"/>
                      <a:tailEnd type="none" w="med" len="med"/>
                    </a:lnB>
                    <a:solidFill>
                      <a:srgbClr val="EAF1F8"/>
                    </a:solidFill>
                  </a:tcPr>
                </a:tc>
                <a:tc>
                  <a:txBody>
                    <a:bodyPr/>
                    <a:lstStyle/>
                    <a:p>
                      <a:pPr indent="0" marL="0">
                        <a:buNone/>
                      </a:pPr>
                      <a:r>
                        <a:rPr lang="en-US" sz="740" dirty="0">
                          <a:solidFill>
                            <a:srgbClr val="3F5265"/>
                          </a:solidFill>
                          <a:latin typeface="Calibri" pitchFamily="34" charset="0"/>
                          <a:ea typeface="Calibri" pitchFamily="34" charset="-122"/>
                          <a:cs typeface="Calibri" pitchFamily="34" charset="-120"/>
                        </a:rPr>
                        <a:t>29% at $1–10bn</a:t>
                      </a:r>
                      <a:endParaRPr lang="en-US" sz="740" dirty="0">
                        <a:latin typeface="Calibri" charset="0"/>
                        <a:ea typeface="Calibri" charset="0"/>
                        <a:cs typeface="Calibri" charset="0"/>
                      </a:endParaRPr>
                    </a:p>
                  </a:txBody>
                  <a:tcPr marL="45720" marR="45720" marT="45720" marB="45720" anchor="ctr">
                    <a:lnL w="6350" cap="flat" cmpd="sng" algn="ctr">
                      <a:solidFill>
                        <a:srgbClr val="D6E4F0"/>
                      </a:solidFill>
                      <a:prstDash val="solid"/>
                      <a:round/>
                      <a:headEnd type="none" w="med" len="med"/>
                      <a:tailEnd type="none" w="med" len="med"/>
                    </a:lnL>
                    <a:lnR w="6350" cap="flat" cmpd="sng" algn="ctr">
                      <a:solidFill>
                        <a:srgbClr val="D6E4F0"/>
                      </a:solidFill>
                      <a:prstDash val="solid"/>
                      <a:round/>
                      <a:headEnd type="none" w="med" len="med"/>
                      <a:tailEnd type="none" w="med" len="med"/>
                    </a:lnR>
                    <a:lnT w="6350" cap="flat" cmpd="sng" algn="ctr">
                      <a:solidFill>
                        <a:srgbClr val="D6E4F0"/>
                      </a:solidFill>
                      <a:prstDash val="solid"/>
                      <a:round/>
                      <a:headEnd type="none" w="med" len="med"/>
                      <a:tailEnd type="none" w="med" len="med"/>
                    </a:lnT>
                    <a:lnB w="6350" cap="flat" cmpd="sng" algn="ctr">
                      <a:solidFill>
                        <a:srgbClr val="D6E4F0"/>
                      </a:solidFill>
                      <a:prstDash val="solid"/>
                      <a:round/>
                      <a:headEnd type="none" w="med" len="med"/>
                      <a:tailEnd type="none" w="med" len="med"/>
                    </a:lnB>
                    <a:solidFill>
                      <a:srgbClr val="EAF1F8"/>
                    </a:solidFill>
                  </a:tcPr>
                </a:tc>
                <a:tc>
                  <a:txBody>
                    <a:bodyPr/>
                    <a:lstStyle/>
                    <a:p>
                      <a:pPr indent="0" marL="0">
                        <a:buNone/>
                      </a:pPr>
                      <a:r>
                        <a:rPr lang="en-US" sz="740" dirty="0">
                          <a:solidFill>
                            <a:srgbClr val="3F5265"/>
                          </a:solidFill>
                          <a:latin typeface="Calibri" pitchFamily="34" charset="0"/>
                          <a:ea typeface="Calibri" pitchFamily="34" charset="-122"/>
                          <a:cs typeface="Calibri" pitchFamily="34" charset="-120"/>
                        </a:rPr>
                        <a:t>68% APAC, 29% North America</a:t>
                      </a:r>
                      <a:endParaRPr lang="en-US" sz="740" dirty="0">
                        <a:latin typeface="Calibri" charset="0"/>
                        <a:ea typeface="Calibri" charset="0"/>
                        <a:cs typeface="Calibri" charset="0"/>
                      </a:endParaRPr>
                    </a:p>
                  </a:txBody>
                  <a:tcPr marL="45720" marR="45720" marT="45720" marB="45720" anchor="ctr">
                    <a:lnL w="6350" cap="flat" cmpd="sng" algn="ctr">
                      <a:solidFill>
                        <a:srgbClr val="D6E4F0"/>
                      </a:solidFill>
                      <a:prstDash val="solid"/>
                      <a:round/>
                      <a:headEnd type="none" w="med" len="med"/>
                      <a:tailEnd type="none" w="med" len="med"/>
                    </a:lnL>
                    <a:lnR w="6350" cap="flat" cmpd="sng" algn="ctr">
                      <a:solidFill>
                        <a:srgbClr val="D6E4F0"/>
                      </a:solidFill>
                      <a:prstDash val="solid"/>
                      <a:round/>
                      <a:headEnd type="none" w="med" len="med"/>
                      <a:tailEnd type="none" w="med" len="med"/>
                    </a:lnR>
                    <a:lnT w="6350" cap="flat" cmpd="sng" algn="ctr">
                      <a:solidFill>
                        <a:srgbClr val="D6E4F0"/>
                      </a:solidFill>
                      <a:prstDash val="solid"/>
                      <a:round/>
                      <a:headEnd type="none" w="med" len="med"/>
                      <a:tailEnd type="none" w="med" len="med"/>
                    </a:lnT>
                    <a:lnB w="6350" cap="flat" cmpd="sng" algn="ctr">
                      <a:solidFill>
                        <a:srgbClr val="D6E4F0"/>
                      </a:solidFill>
                      <a:prstDash val="solid"/>
                      <a:round/>
                      <a:headEnd type="none" w="med" len="med"/>
                      <a:tailEnd type="none" w="med" len="med"/>
                    </a:lnB>
                    <a:solidFill>
                      <a:srgbClr val="EAF1F8"/>
                    </a:solidFill>
                  </a:tcPr>
                </a:tc>
              </a:tr>
              <a:tr h="274320">
                <a:tc>
                  <a:txBody>
                    <a:bodyPr/>
                    <a:lstStyle/>
                    <a:p>
                      <a:pPr indent="0" marL="0">
                        <a:buNone/>
                      </a:pPr>
                      <a:r>
                        <a:rPr lang="en-US" sz="740" b="1" dirty="0">
                          <a:solidFill>
                            <a:srgbClr val="002D72"/>
                          </a:solidFill>
                          <a:latin typeface="Calibri" pitchFamily="34" charset="0"/>
                          <a:ea typeface="Calibri" pitchFamily="34" charset="-122"/>
                          <a:cs typeface="Calibri" pitchFamily="34" charset="-120"/>
                        </a:rPr>
                        <a:t>FlexTrade</a:t>
                      </a:r>
                      <a:endParaRPr lang="en-US" sz="740" dirty="0">
                        <a:latin typeface="Calibri" charset="0"/>
                        <a:ea typeface="Calibri" charset="0"/>
                        <a:cs typeface="Calibri" charset="0"/>
                      </a:endParaRPr>
                    </a:p>
                  </a:txBody>
                  <a:tcPr marL="45720" marR="45720" marT="45720" marB="45720" anchor="ctr">
                    <a:lnL w="6350" cap="flat" cmpd="sng" algn="ctr">
                      <a:solidFill>
                        <a:srgbClr val="D6E4F0"/>
                      </a:solidFill>
                      <a:prstDash val="solid"/>
                      <a:round/>
                      <a:headEnd type="none" w="med" len="med"/>
                      <a:tailEnd type="none" w="med" len="med"/>
                    </a:lnL>
                    <a:lnR w="6350" cap="flat" cmpd="sng" algn="ctr">
                      <a:solidFill>
                        <a:srgbClr val="D6E4F0"/>
                      </a:solidFill>
                      <a:prstDash val="solid"/>
                      <a:round/>
                      <a:headEnd type="none" w="med" len="med"/>
                      <a:tailEnd type="none" w="med" len="med"/>
                    </a:lnR>
                    <a:lnT w="6350" cap="flat" cmpd="sng" algn="ctr">
                      <a:solidFill>
                        <a:srgbClr val="D6E4F0"/>
                      </a:solidFill>
                      <a:prstDash val="solid"/>
                      <a:round/>
                      <a:headEnd type="none" w="med" len="med"/>
                      <a:tailEnd type="none" w="med" len="med"/>
                    </a:lnT>
                    <a:lnB w="6350" cap="flat" cmpd="sng" algn="ctr">
                      <a:solidFill>
                        <a:srgbClr val="D6E4F0"/>
                      </a:solidFill>
                      <a:prstDash val="solid"/>
                      <a:round/>
                      <a:headEnd type="none" w="med" len="med"/>
                      <a:tailEnd type="none" w="med" len="med"/>
                    </a:lnB>
                    <a:solidFill>
                      <a:srgbClr val="FFFFFF"/>
                    </a:solidFill>
                  </a:tcPr>
                </a:tc>
                <a:tc>
                  <a:txBody>
                    <a:bodyPr/>
                    <a:lstStyle/>
                    <a:p>
                      <a:pPr indent="0" marL="0">
                        <a:buNone/>
                      </a:pPr>
                      <a:r>
                        <a:rPr lang="en-US" sz="740" dirty="0">
                          <a:solidFill>
                            <a:srgbClr val="3F5265"/>
                          </a:solidFill>
                          <a:latin typeface="Calibri" pitchFamily="34" charset="0"/>
                          <a:ea typeface="Calibri" pitchFamily="34" charset="-122"/>
                          <a:cs typeface="Calibri" pitchFamily="34" charset="-120"/>
                        </a:rPr>
                        <a:t>Not disclosed</a:t>
                      </a:r>
                      <a:endParaRPr lang="en-US" sz="740" dirty="0">
                        <a:latin typeface="Calibri" charset="0"/>
                        <a:ea typeface="Calibri" charset="0"/>
                        <a:cs typeface="Calibri" charset="0"/>
                      </a:endParaRPr>
                    </a:p>
                  </a:txBody>
                  <a:tcPr marL="45720" marR="45720" marT="45720" marB="45720" anchor="ctr">
                    <a:lnL w="6350" cap="flat" cmpd="sng" algn="ctr">
                      <a:solidFill>
                        <a:srgbClr val="D6E4F0"/>
                      </a:solidFill>
                      <a:prstDash val="solid"/>
                      <a:round/>
                      <a:headEnd type="none" w="med" len="med"/>
                      <a:tailEnd type="none" w="med" len="med"/>
                    </a:lnL>
                    <a:lnR w="6350" cap="flat" cmpd="sng" algn="ctr">
                      <a:solidFill>
                        <a:srgbClr val="D6E4F0"/>
                      </a:solidFill>
                      <a:prstDash val="solid"/>
                      <a:round/>
                      <a:headEnd type="none" w="med" len="med"/>
                      <a:tailEnd type="none" w="med" len="med"/>
                    </a:lnR>
                    <a:lnT w="6350" cap="flat" cmpd="sng" algn="ctr">
                      <a:solidFill>
                        <a:srgbClr val="D6E4F0"/>
                      </a:solidFill>
                      <a:prstDash val="solid"/>
                      <a:round/>
                      <a:headEnd type="none" w="med" len="med"/>
                      <a:tailEnd type="none" w="med" len="med"/>
                    </a:lnT>
                    <a:lnB w="6350" cap="flat" cmpd="sng" algn="ctr">
                      <a:solidFill>
                        <a:srgbClr val="D6E4F0"/>
                      </a:solidFill>
                      <a:prstDash val="solid"/>
                      <a:round/>
                      <a:headEnd type="none" w="med" len="med"/>
                      <a:tailEnd type="none" w="med" len="med"/>
                    </a:lnB>
                    <a:solidFill>
                      <a:srgbClr val="FFFFFF"/>
                    </a:solidFill>
                  </a:tcPr>
                </a:tc>
                <a:tc>
                  <a:txBody>
                    <a:bodyPr/>
                    <a:lstStyle/>
                    <a:p>
                      <a:pPr indent="0" marL="0">
                        <a:buNone/>
                      </a:pPr>
                      <a:r>
                        <a:rPr lang="en-US" sz="740" dirty="0">
                          <a:solidFill>
                            <a:srgbClr val="3F5265"/>
                          </a:solidFill>
                          <a:latin typeface="Calibri" pitchFamily="34" charset="0"/>
                          <a:ea typeface="Calibri" pitchFamily="34" charset="-122"/>
                          <a:cs typeface="Calibri" pitchFamily="34" charset="-120"/>
                        </a:rPr>
                        <a:t>35</a:t>
                      </a:r>
                      <a:endParaRPr lang="en-US" sz="740" dirty="0">
                        <a:latin typeface="Calibri" charset="0"/>
                        <a:ea typeface="Calibri" charset="0"/>
                        <a:cs typeface="Calibri" charset="0"/>
                      </a:endParaRPr>
                    </a:p>
                  </a:txBody>
                  <a:tcPr marL="45720" marR="45720" marT="45720" marB="45720" anchor="ctr">
                    <a:lnL w="6350" cap="flat" cmpd="sng" algn="ctr">
                      <a:solidFill>
                        <a:srgbClr val="D6E4F0"/>
                      </a:solidFill>
                      <a:prstDash val="solid"/>
                      <a:round/>
                      <a:headEnd type="none" w="med" len="med"/>
                      <a:tailEnd type="none" w="med" len="med"/>
                    </a:lnL>
                    <a:lnR w="6350" cap="flat" cmpd="sng" algn="ctr">
                      <a:solidFill>
                        <a:srgbClr val="D6E4F0"/>
                      </a:solidFill>
                      <a:prstDash val="solid"/>
                      <a:round/>
                      <a:headEnd type="none" w="med" len="med"/>
                      <a:tailEnd type="none" w="med" len="med"/>
                    </a:lnR>
                    <a:lnT w="6350" cap="flat" cmpd="sng" algn="ctr">
                      <a:solidFill>
                        <a:srgbClr val="D6E4F0"/>
                      </a:solidFill>
                      <a:prstDash val="solid"/>
                      <a:round/>
                      <a:headEnd type="none" w="med" len="med"/>
                      <a:tailEnd type="none" w="med" len="med"/>
                    </a:lnT>
                    <a:lnB w="6350" cap="flat" cmpd="sng" algn="ctr">
                      <a:solidFill>
                        <a:srgbClr val="D6E4F0"/>
                      </a:solidFill>
                      <a:prstDash val="solid"/>
                      <a:round/>
                      <a:headEnd type="none" w="med" len="med"/>
                      <a:tailEnd type="none" w="med" len="med"/>
                    </a:lnB>
                    <a:solidFill>
                      <a:srgbClr val="FFFFFF"/>
                    </a:solidFill>
                  </a:tcPr>
                </a:tc>
                <a:tc>
                  <a:txBody>
                    <a:bodyPr/>
                    <a:lstStyle/>
                    <a:p>
                      <a:pPr indent="0" marL="0">
                        <a:buNone/>
                      </a:pPr>
                      <a:r>
                        <a:rPr lang="en-US" sz="740" b="1" dirty="0">
                          <a:solidFill>
                            <a:srgbClr val="3F5265"/>
                          </a:solidFill>
                          <a:latin typeface="Calibri" pitchFamily="34" charset="0"/>
                          <a:ea typeface="Calibri" pitchFamily="34" charset="-122"/>
                          <a:cs typeface="Calibri" pitchFamily="34" charset="-120"/>
                        </a:rPr>
                        <a:t>7.8%</a:t>
                      </a:r>
                      <a:endParaRPr lang="en-US" sz="740" dirty="0">
                        <a:latin typeface="Calibri" charset="0"/>
                        <a:ea typeface="Calibri" charset="0"/>
                        <a:cs typeface="Calibri" charset="0"/>
                      </a:endParaRPr>
                    </a:p>
                  </a:txBody>
                  <a:tcPr marL="45720" marR="45720" marT="45720" marB="45720" anchor="ctr">
                    <a:lnL w="6350" cap="flat" cmpd="sng" algn="ctr">
                      <a:solidFill>
                        <a:srgbClr val="D6E4F0"/>
                      </a:solidFill>
                      <a:prstDash val="solid"/>
                      <a:round/>
                      <a:headEnd type="none" w="med" len="med"/>
                      <a:tailEnd type="none" w="med" len="med"/>
                    </a:lnL>
                    <a:lnR w="6350" cap="flat" cmpd="sng" algn="ctr">
                      <a:solidFill>
                        <a:srgbClr val="D6E4F0"/>
                      </a:solidFill>
                      <a:prstDash val="solid"/>
                      <a:round/>
                      <a:headEnd type="none" w="med" len="med"/>
                      <a:tailEnd type="none" w="med" len="med"/>
                    </a:lnR>
                    <a:lnT w="6350" cap="flat" cmpd="sng" algn="ctr">
                      <a:solidFill>
                        <a:srgbClr val="D6E4F0"/>
                      </a:solidFill>
                      <a:prstDash val="solid"/>
                      <a:round/>
                      <a:headEnd type="none" w="med" len="med"/>
                      <a:tailEnd type="none" w="med" len="med"/>
                    </a:lnT>
                    <a:lnB w="6350" cap="flat" cmpd="sng" algn="ctr">
                      <a:solidFill>
                        <a:srgbClr val="D6E4F0"/>
                      </a:solidFill>
                      <a:prstDash val="solid"/>
                      <a:round/>
                      <a:headEnd type="none" w="med" len="med"/>
                      <a:tailEnd type="none" w="med" len="med"/>
                    </a:lnB>
                    <a:solidFill>
                      <a:srgbClr val="FFFFFF"/>
                    </a:solidFill>
                  </a:tcPr>
                </a:tc>
                <a:tc>
                  <a:txBody>
                    <a:bodyPr/>
                    <a:lstStyle/>
                    <a:p>
                      <a:pPr indent="0" marL="0">
                        <a:buNone/>
                      </a:pPr>
                      <a:r>
                        <a:rPr lang="en-US" sz="740" dirty="0">
                          <a:solidFill>
                            <a:srgbClr val="3F5265"/>
                          </a:solidFill>
                          <a:latin typeface="Calibri" pitchFamily="34" charset="0"/>
                          <a:ea typeface="Calibri" pitchFamily="34" charset="-122"/>
                          <a:cs typeface="Calibri" pitchFamily="34" charset="-120"/>
                        </a:rPr>
                        <a:t>Over 70% manage more than $50bn</a:t>
                      </a:r>
                      <a:endParaRPr lang="en-US" sz="740" dirty="0">
                        <a:latin typeface="Calibri" charset="0"/>
                        <a:ea typeface="Calibri" charset="0"/>
                        <a:cs typeface="Calibri" charset="0"/>
                      </a:endParaRPr>
                    </a:p>
                  </a:txBody>
                  <a:tcPr marL="45720" marR="45720" marT="45720" marB="45720" anchor="ctr">
                    <a:lnL w="6350" cap="flat" cmpd="sng" algn="ctr">
                      <a:solidFill>
                        <a:srgbClr val="D6E4F0"/>
                      </a:solidFill>
                      <a:prstDash val="solid"/>
                      <a:round/>
                      <a:headEnd type="none" w="med" len="med"/>
                      <a:tailEnd type="none" w="med" len="med"/>
                    </a:lnL>
                    <a:lnR w="6350" cap="flat" cmpd="sng" algn="ctr">
                      <a:solidFill>
                        <a:srgbClr val="D6E4F0"/>
                      </a:solidFill>
                      <a:prstDash val="solid"/>
                      <a:round/>
                      <a:headEnd type="none" w="med" len="med"/>
                      <a:tailEnd type="none" w="med" len="med"/>
                    </a:lnR>
                    <a:lnT w="6350" cap="flat" cmpd="sng" algn="ctr">
                      <a:solidFill>
                        <a:srgbClr val="D6E4F0"/>
                      </a:solidFill>
                      <a:prstDash val="solid"/>
                      <a:round/>
                      <a:headEnd type="none" w="med" len="med"/>
                      <a:tailEnd type="none" w="med" len="med"/>
                    </a:lnT>
                    <a:lnB w="6350" cap="flat" cmpd="sng" algn="ctr">
                      <a:solidFill>
                        <a:srgbClr val="D6E4F0"/>
                      </a:solidFill>
                      <a:prstDash val="solid"/>
                      <a:round/>
                      <a:headEnd type="none" w="med" len="med"/>
                      <a:tailEnd type="none" w="med" len="med"/>
                    </a:lnB>
                    <a:solidFill>
                      <a:srgbClr val="FFFFFF"/>
                    </a:solidFill>
                  </a:tcPr>
                </a:tc>
                <a:tc>
                  <a:txBody>
                    <a:bodyPr/>
                    <a:lstStyle/>
                    <a:p>
                      <a:pPr indent="0" marL="0">
                        <a:buNone/>
                      </a:pPr>
                      <a:r>
                        <a:rPr lang="en-US" sz="740" dirty="0">
                          <a:solidFill>
                            <a:srgbClr val="3F5265"/>
                          </a:solidFill>
                          <a:latin typeface="Calibri" pitchFamily="34" charset="0"/>
                          <a:ea typeface="Calibri" pitchFamily="34" charset="-122"/>
                          <a:cs typeface="Calibri" pitchFamily="34" charset="-120"/>
                        </a:rPr>
                        <a:t>38% NA, 24% UK, 19% Europe, 19% APAC</a:t>
                      </a:r>
                      <a:endParaRPr lang="en-US" sz="740" dirty="0">
                        <a:latin typeface="Calibri" charset="0"/>
                        <a:ea typeface="Calibri" charset="0"/>
                        <a:cs typeface="Calibri" charset="0"/>
                      </a:endParaRPr>
                    </a:p>
                  </a:txBody>
                  <a:tcPr marL="45720" marR="45720" marT="45720" marB="45720" anchor="ctr">
                    <a:lnL w="6350" cap="flat" cmpd="sng" algn="ctr">
                      <a:solidFill>
                        <a:srgbClr val="D6E4F0"/>
                      </a:solidFill>
                      <a:prstDash val="solid"/>
                      <a:round/>
                      <a:headEnd type="none" w="med" len="med"/>
                      <a:tailEnd type="none" w="med" len="med"/>
                    </a:lnL>
                    <a:lnR w="6350" cap="flat" cmpd="sng" algn="ctr">
                      <a:solidFill>
                        <a:srgbClr val="D6E4F0"/>
                      </a:solidFill>
                      <a:prstDash val="solid"/>
                      <a:round/>
                      <a:headEnd type="none" w="med" len="med"/>
                      <a:tailEnd type="none" w="med" len="med"/>
                    </a:lnR>
                    <a:lnT w="6350" cap="flat" cmpd="sng" algn="ctr">
                      <a:solidFill>
                        <a:srgbClr val="D6E4F0"/>
                      </a:solidFill>
                      <a:prstDash val="solid"/>
                      <a:round/>
                      <a:headEnd type="none" w="med" len="med"/>
                      <a:tailEnd type="none" w="med" len="med"/>
                    </a:lnT>
                    <a:lnB w="6350" cap="flat" cmpd="sng" algn="ctr">
                      <a:solidFill>
                        <a:srgbClr val="D6E4F0"/>
                      </a:solidFill>
                      <a:prstDash val="solid"/>
                      <a:round/>
                      <a:headEnd type="none" w="med" len="med"/>
                      <a:tailEnd type="none" w="med" len="med"/>
                    </a:lnB>
                    <a:solidFill>
                      <a:srgbClr val="FFFFFF"/>
                    </a:solidFill>
                  </a:tcPr>
                </a:tc>
              </a:tr>
              <a:tr h="274320">
                <a:tc>
                  <a:txBody>
                    <a:bodyPr/>
                    <a:lstStyle/>
                    <a:p>
                      <a:pPr indent="0" marL="0">
                        <a:buNone/>
                      </a:pPr>
                      <a:r>
                        <a:rPr lang="en-US" sz="740" b="1" dirty="0">
                          <a:solidFill>
                            <a:srgbClr val="002D72"/>
                          </a:solidFill>
                          <a:latin typeface="Calibri" pitchFamily="34" charset="0"/>
                          <a:ea typeface="Calibri" pitchFamily="34" charset="-122"/>
                          <a:cs typeface="Calibri" pitchFamily="34" charset="-120"/>
                        </a:rPr>
                        <a:t>Neovest</a:t>
                      </a:r>
                      <a:endParaRPr lang="en-US" sz="740" dirty="0">
                        <a:latin typeface="Calibri" charset="0"/>
                        <a:ea typeface="Calibri" charset="0"/>
                        <a:cs typeface="Calibri" charset="0"/>
                      </a:endParaRPr>
                    </a:p>
                  </a:txBody>
                  <a:tcPr marL="45720" marR="45720" marT="45720" marB="45720" anchor="ctr">
                    <a:lnL w="6350" cap="flat" cmpd="sng" algn="ctr">
                      <a:solidFill>
                        <a:srgbClr val="D6E4F0"/>
                      </a:solidFill>
                      <a:prstDash val="solid"/>
                      <a:round/>
                      <a:headEnd type="none" w="med" len="med"/>
                      <a:tailEnd type="none" w="med" len="med"/>
                    </a:lnL>
                    <a:lnR w="6350" cap="flat" cmpd="sng" algn="ctr">
                      <a:solidFill>
                        <a:srgbClr val="D6E4F0"/>
                      </a:solidFill>
                      <a:prstDash val="solid"/>
                      <a:round/>
                      <a:headEnd type="none" w="med" len="med"/>
                      <a:tailEnd type="none" w="med" len="med"/>
                    </a:lnR>
                    <a:lnT w="6350" cap="flat" cmpd="sng" algn="ctr">
                      <a:solidFill>
                        <a:srgbClr val="D6E4F0"/>
                      </a:solidFill>
                      <a:prstDash val="solid"/>
                      <a:round/>
                      <a:headEnd type="none" w="med" len="med"/>
                      <a:tailEnd type="none" w="med" len="med"/>
                    </a:lnT>
                    <a:lnB w="6350" cap="flat" cmpd="sng" algn="ctr">
                      <a:solidFill>
                        <a:srgbClr val="D6E4F0"/>
                      </a:solidFill>
                      <a:prstDash val="solid"/>
                      <a:round/>
                      <a:headEnd type="none" w="med" len="med"/>
                      <a:tailEnd type="none" w="med" len="med"/>
                    </a:lnB>
                    <a:solidFill>
                      <a:srgbClr val="EAF1F8"/>
                    </a:solidFill>
                  </a:tcPr>
                </a:tc>
                <a:tc>
                  <a:txBody>
                    <a:bodyPr/>
                    <a:lstStyle/>
                    <a:p>
                      <a:pPr indent="0" marL="0">
                        <a:buNone/>
                      </a:pPr>
                      <a:r>
                        <a:rPr lang="en-US" sz="740" dirty="0">
                          <a:solidFill>
                            <a:srgbClr val="3F5265"/>
                          </a:solidFill>
                          <a:latin typeface="Calibri" pitchFamily="34" charset="0"/>
                          <a:ea typeface="Calibri" pitchFamily="34" charset="-122"/>
                          <a:cs typeface="Calibri" pitchFamily="34" charset="-120"/>
                        </a:rPr>
                        <a:t>~600</a:t>
                      </a:r>
                      <a:endParaRPr lang="en-US" sz="740" dirty="0">
                        <a:latin typeface="Calibri" charset="0"/>
                        <a:ea typeface="Calibri" charset="0"/>
                        <a:cs typeface="Calibri" charset="0"/>
                      </a:endParaRPr>
                    </a:p>
                  </a:txBody>
                  <a:tcPr marL="45720" marR="45720" marT="45720" marB="45720" anchor="ctr">
                    <a:lnL w="6350" cap="flat" cmpd="sng" algn="ctr">
                      <a:solidFill>
                        <a:srgbClr val="D6E4F0"/>
                      </a:solidFill>
                      <a:prstDash val="solid"/>
                      <a:round/>
                      <a:headEnd type="none" w="med" len="med"/>
                      <a:tailEnd type="none" w="med" len="med"/>
                    </a:lnL>
                    <a:lnR w="6350" cap="flat" cmpd="sng" algn="ctr">
                      <a:solidFill>
                        <a:srgbClr val="D6E4F0"/>
                      </a:solidFill>
                      <a:prstDash val="solid"/>
                      <a:round/>
                      <a:headEnd type="none" w="med" len="med"/>
                      <a:tailEnd type="none" w="med" len="med"/>
                    </a:lnR>
                    <a:lnT w="6350" cap="flat" cmpd="sng" algn="ctr">
                      <a:solidFill>
                        <a:srgbClr val="D6E4F0"/>
                      </a:solidFill>
                      <a:prstDash val="solid"/>
                      <a:round/>
                      <a:headEnd type="none" w="med" len="med"/>
                      <a:tailEnd type="none" w="med" len="med"/>
                    </a:lnT>
                    <a:lnB w="6350" cap="flat" cmpd="sng" algn="ctr">
                      <a:solidFill>
                        <a:srgbClr val="D6E4F0"/>
                      </a:solidFill>
                      <a:prstDash val="solid"/>
                      <a:round/>
                      <a:headEnd type="none" w="med" len="med"/>
                      <a:tailEnd type="none" w="med" len="med"/>
                    </a:lnB>
                    <a:solidFill>
                      <a:srgbClr val="EAF1F8"/>
                    </a:solidFill>
                  </a:tcPr>
                </a:tc>
                <a:tc>
                  <a:txBody>
                    <a:bodyPr/>
                    <a:lstStyle/>
                    <a:p>
                      <a:pPr indent="0" marL="0">
                        <a:buNone/>
                      </a:pPr>
                      <a:r>
                        <a:rPr lang="en-US" sz="740" dirty="0">
                          <a:solidFill>
                            <a:srgbClr val="3F5265"/>
                          </a:solidFill>
                          <a:latin typeface="Calibri" pitchFamily="34" charset="0"/>
                          <a:ea typeface="Calibri" pitchFamily="34" charset="-122"/>
                          <a:cs typeface="Calibri" pitchFamily="34" charset="-120"/>
                        </a:rPr>
                        <a:t>29</a:t>
                      </a:r>
                      <a:endParaRPr lang="en-US" sz="740" dirty="0">
                        <a:latin typeface="Calibri" charset="0"/>
                        <a:ea typeface="Calibri" charset="0"/>
                        <a:cs typeface="Calibri" charset="0"/>
                      </a:endParaRPr>
                    </a:p>
                  </a:txBody>
                  <a:tcPr marL="45720" marR="45720" marT="45720" marB="45720" anchor="ctr">
                    <a:lnL w="6350" cap="flat" cmpd="sng" algn="ctr">
                      <a:solidFill>
                        <a:srgbClr val="D6E4F0"/>
                      </a:solidFill>
                      <a:prstDash val="solid"/>
                      <a:round/>
                      <a:headEnd type="none" w="med" len="med"/>
                      <a:tailEnd type="none" w="med" len="med"/>
                    </a:lnL>
                    <a:lnR w="6350" cap="flat" cmpd="sng" algn="ctr">
                      <a:solidFill>
                        <a:srgbClr val="D6E4F0"/>
                      </a:solidFill>
                      <a:prstDash val="solid"/>
                      <a:round/>
                      <a:headEnd type="none" w="med" len="med"/>
                      <a:tailEnd type="none" w="med" len="med"/>
                    </a:lnR>
                    <a:lnT w="6350" cap="flat" cmpd="sng" algn="ctr">
                      <a:solidFill>
                        <a:srgbClr val="D6E4F0"/>
                      </a:solidFill>
                      <a:prstDash val="solid"/>
                      <a:round/>
                      <a:headEnd type="none" w="med" len="med"/>
                      <a:tailEnd type="none" w="med" len="med"/>
                    </a:lnT>
                    <a:lnB w="6350" cap="flat" cmpd="sng" algn="ctr">
                      <a:solidFill>
                        <a:srgbClr val="D6E4F0"/>
                      </a:solidFill>
                      <a:prstDash val="solid"/>
                      <a:round/>
                      <a:headEnd type="none" w="med" len="med"/>
                      <a:tailEnd type="none" w="med" len="med"/>
                    </a:lnB>
                    <a:solidFill>
                      <a:srgbClr val="EAF1F8"/>
                    </a:solidFill>
                  </a:tcPr>
                </a:tc>
                <a:tc>
                  <a:txBody>
                    <a:bodyPr/>
                    <a:lstStyle/>
                    <a:p>
                      <a:pPr indent="0" marL="0">
                        <a:buNone/>
                      </a:pPr>
                      <a:r>
                        <a:rPr lang="en-US" sz="740" b="1" dirty="0">
                          <a:solidFill>
                            <a:srgbClr val="3F5265"/>
                          </a:solidFill>
                          <a:latin typeface="Calibri" pitchFamily="34" charset="0"/>
                          <a:ea typeface="Calibri" pitchFamily="34" charset="-122"/>
                          <a:cs typeface="Calibri" pitchFamily="34" charset="-120"/>
                        </a:rPr>
                        <a:t>6.4%</a:t>
                      </a:r>
                      <a:endParaRPr lang="en-US" sz="740" dirty="0">
                        <a:latin typeface="Calibri" charset="0"/>
                        <a:ea typeface="Calibri" charset="0"/>
                        <a:cs typeface="Calibri" charset="0"/>
                      </a:endParaRPr>
                    </a:p>
                  </a:txBody>
                  <a:tcPr marL="45720" marR="45720" marT="45720" marB="45720" anchor="ctr">
                    <a:lnL w="6350" cap="flat" cmpd="sng" algn="ctr">
                      <a:solidFill>
                        <a:srgbClr val="D6E4F0"/>
                      </a:solidFill>
                      <a:prstDash val="solid"/>
                      <a:round/>
                      <a:headEnd type="none" w="med" len="med"/>
                      <a:tailEnd type="none" w="med" len="med"/>
                    </a:lnL>
                    <a:lnR w="6350" cap="flat" cmpd="sng" algn="ctr">
                      <a:solidFill>
                        <a:srgbClr val="D6E4F0"/>
                      </a:solidFill>
                      <a:prstDash val="solid"/>
                      <a:round/>
                      <a:headEnd type="none" w="med" len="med"/>
                      <a:tailEnd type="none" w="med" len="med"/>
                    </a:lnR>
                    <a:lnT w="6350" cap="flat" cmpd="sng" algn="ctr">
                      <a:solidFill>
                        <a:srgbClr val="D6E4F0"/>
                      </a:solidFill>
                      <a:prstDash val="solid"/>
                      <a:round/>
                      <a:headEnd type="none" w="med" len="med"/>
                      <a:tailEnd type="none" w="med" len="med"/>
                    </a:lnT>
                    <a:lnB w="6350" cap="flat" cmpd="sng" algn="ctr">
                      <a:solidFill>
                        <a:srgbClr val="D6E4F0"/>
                      </a:solidFill>
                      <a:prstDash val="solid"/>
                      <a:round/>
                      <a:headEnd type="none" w="med" len="med"/>
                      <a:tailEnd type="none" w="med" len="med"/>
                    </a:lnB>
                    <a:solidFill>
                      <a:srgbClr val="EAF1F8"/>
                    </a:solidFill>
                  </a:tcPr>
                </a:tc>
                <a:tc>
                  <a:txBody>
                    <a:bodyPr/>
                    <a:lstStyle/>
                    <a:p>
                      <a:pPr indent="0" marL="0">
                        <a:buNone/>
                      </a:pPr>
                      <a:r>
                        <a:rPr lang="en-US" sz="740" dirty="0">
                          <a:solidFill>
                            <a:srgbClr val="3F5265"/>
                          </a:solidFill>
                          <a:latin typeface="Calibri" pitchFamily="34" charset="0"/>
                          <a:ea typeface="Calibri" pitchFamily="34" charset="-122"/>
                          <a:cs typeface="Calibri" pitchFamily="34" charset="-120"/>
                        </a:rPr>
                        <a:t>40% at $1–10bn</a:t>
                      </a:r>
                      <a:endParaRPr lang="en-US" sz="740" dirty="0">
                        <a:latin typeface="Calibri" charset="0"/>
                        <a:ea typeface="Calibri" charset="0"/>
                        <a:cs typeface="Calibri" charset="0"/>
                      </a:endParaRPr>
                    </a:p>
                  </a:txBody>
                  <a:tcPr marL="45720" marR="45720" marT="45720" marB="45720" anchor="ctr">
                    <a:lnL w="6350" cap="flat" cmpd="sng" algn="ctr">
                      <a:solidFill>
                        <a:srgbClr val="D6E4F0"/>
                      </a:solidFill>
                      <a:prstDash val="solid"/>
                      <a:round/>
                      <a:headEnd type="none" w="med" len="med"/>
                      <a:tailEnd type="none" w="med" len="med"/>
                    </a:lnL>
                    <a:lnR w="6350" cap="flat" cmpd="sng" algn="ctr">
                      <a:solidFill>
                        <a:srgbClr val="D6E4F0"/>
                      </a:solidFill>
                      <a:prstDash val="solid"/>
                      <a:round/>
                      <a:headEnd type="none" w="med" len="med"/>
                      <a:tailEnd type="none" w="med" len="med"/>
                    </a:lnR>
                    <a:lnT w="6350" cap="flat" cmpd="sng" algn="ctr">
                      <a:solidFill>
                        <a:srgbClr val="D6E4F0"/>
                      </a:solidFill>
                      <a:prstDash val="solid"/>
                      <a:round/>
                      <a:headEnd type="none" w="med" len="med"/>
                      <a:tailEnd type="none" w="med" len="med"/>
                    </a:lnT>
                    <a:lnB w="6350" cap="flat" cmpd="sng" algn="ctr">
                      <a:solidFill>
                        <a:srgbClr val="D6E4F0"/>
                      </a:solidFill>
                      <a:prstDash val="solid"/>
                      <a:round/>
                      <a:headEnd type="none" w="med" len="med"/>
                      <a:tailEnd type="none" w="med" len="med"/>
                    </a:lnB>
                    <a:solidFill>
                      <a:srgbClr val="EAF1F8"/>
                    </a:solidFill>
                  </a:tcPr>
                </a:tc>
                <a:tc>
                  <a:txBody>
                    <a:bodyPr/>
                    <a:lstStyle/>
                    <a:p>
                      <a:pPr indent="0" marL="0">
                        <a:buNone/>
                      </a:pPr>
                      <a:r>
                        <a:rPr lang="en-US" sz="740" dirty="0">
                          <a:solidFill>
                            <a:srgbClr val="3F5265"/>
                          </a:solidFill>
                          <a:latin typeface="Calibri" pitchFamily="34" charset="0"/>
                          <a:ea typeface="Calibri" pitchFamily="34" charset="-122"/>
                          <a:cs typeface="Calibri" pitchFamily="34" charset="-120"/>
                        </a:rPr>
                        <a:t>47% North America, 40% APAC</a:t>
                      </a:r>
                      <a:endParaRPr lang="en-US" sz="740" dirty="0">
                        <a:latin typeface="Calibri" charset="0"/>
                        <a:ea typeface="Calibri" charset="0"/>
                        <a:cs typeface="Calibri" charset="0"/>
                      </a:endParaRPr>
                    </a:p>
                  </a:txBody>
                  <a:tcPr marL="45720" marR="45720" marT="45720" marB="45720" anchor="ctr">
                    <a:lnL w="6350" cap="flat" cmpd="sng" algn="ctr">
                      <a:solidFill>
                        <a:srgbClr val="D6E4F0"/>
                      </a:solidFill>
                      <a:prstDash val="solid"/>
                      <a:round/>
                      <a:headEnd type="none" w="med" len="med"/>
                      <a:tailEnd type="none" w="med" len="med"/>
                    </a:lnL>
                    <a:lnR w="6350" cap="flat" cmpd="sng" algn="ctr">
                      <a:solidFill>
                        <a:srgbClr val="D6E4F0"/>
                      </a:solidFill>
                      <a:prstDash val="solid"/>
                      <a:round/>
                      <a:headEnd type="none" w="med" len="med"/>
                      <a:tailEnd type="none" w="med" len="med"/>
                    </a:lnR>
                    <a:lnT w="6350" cap="flat" cmpd="sng" algn="ctr">
                      <a:solidFill>
                        <a:srgbClr val="D6E4F0"/>
                      </a:solidFill>
                      <a:prstDash val="solid"/>
                      <a:round/>
                      <a:headEnd type="none" w="med" len="med"/>
                      <a:tailEnd type="none" w="med" len="med"/>
                    </a:lnT>
                    <a:lnB w="6350" cap="flat" cmpd="sng" algn="ctr">
                      <a:solidFill>
                        <a:srgbClr val="D6E4F0"/>
                      </a:solidFill>
                      <a:prstDash val="solid"/>
                      <a:round/>
                      <a:headEnd type="none" w="med" len="med"/>
                      <a:tailEnd type="none" w="med" len="med"/>
                    </a:lnB>
                    <a:solidFill>
                      <a:srgbClr val="EAF1F8"/>
                    </a:solidFill>
                  </a:tcPr>
                </a:tc>
              </a:tr>
              <a:tr h="274320">
                <a:tc>
                  <a:txBody>
                    <a:bodyPr/>
                    <a:lstStyle/>
                    <a:p>
                      <a:pPr indent="0" marL="0">
                        <a:buNone/>
                      </a:pPr>
                      <a:r>
                        <a:rPr lang="en-US" sz="740" b="1" dirty="0">
                          <a:solidFill>
                            <a:srgbClr val="002D72"/>
                          </a:solidFill>
                          <a:latin typeface="Calibri" pitchFamily="34" charset="0"/>
                          <a:ea typeface="Calibri" pitchFamily="34" charset="-122"/>
                          <a:cs typeface="Calibri" pitchFamily="34" charset="-120"/>
                        </a:rPr>
                        <a:t>Charles River Trader</a:t>
                      </a:r>
                      <a:endParaRPr lang="en-US" sz="740" dirty="0">
                        <a:latin typeface="Calibri" charset="0"/>
                        <a:ea typeface="Calibri" charset="0"/>
                        <a:cs typeface="Calibri" charset="0"/>
                      </a:endParaRPr>
                    </a:p>
                  </a:txBody>
                  <a:tcPr marL="45720" marR="45720" marT="45720" marB="45720" anchor="ctr">
                    <a:lnL w="6350" cap="flat" cmpd="sng" algn="ctr">
                      <a:solidFill>
                        <a:srgbClr val="D6E4F0"/>
                      </a:solidFill>
                      <a:prstDash val="solid"/>
                      <a:round/>
                      <a:headEnd type="none" w="med" len="med"/>
                      <a:tailEnd type="none" w="med" len="med"/>
                    </a:lnL>
                    <a:lnR w="6350" cap="flat" cmpd="sng" algn="ctr">
                      <a:solidFill>
                        <a:srgbClr val="D6E4F0"/>
                      </a:solidFill>
                      <a:prstDash val="solid"/>
                      <a:round/>
                      <a:headEnd type="none" w="med" len="med"/>
                      <a:tailEnd type="none" w="med" len="med"/>
                    </a:lnR>
                    <a:lnT w="6350" cap="flat" cmpd="sng" algn="ctr">
                      <a:solidFill>
                        <a:srgbClr val="D6E4F0"/>
                      </a:solidFill>
                      <a:prstDash val="solid"/>
                      <a:round/>
                      <a:headEnd type="none" w="med" len="med"/>
                      <a:tailEnd type="none" w="med" len="med"/>
                    </a:lnT>
                    <a:lnB w="6350" cap="flat" cmpd="sng" algn="ctr">
                      <a:solidFill>
                        <a:srgbClr val="D6E4F0"/>
                      </a:solidFill>
                      <a:prstDash val="solid"/>
                      <a:round/>
                      <a:headEnd type="none" w="med" len="med"/>
                      <a:tailEnd type="none" w="med" len="med"/>
                    </a:lnB>
                    <a:solidFill>
                      <a:srgbClr val="FFFFFF"/>
                    </a:solidFill>
                  </a:tcPr>
                </a:tc>
                <a:tc>
                  <a:txBody>
                    <a:bodyPr/>
                    <a:lstStyle/>
                    <a:p>
                      <a:pPr indent="0" marL="0">
                        <a:buNone/>
                      </a:pPr>
                      <a:r>
                        <a:rPr lang="en-US" sz="740" dirty="0">
                          <a:solidFill>
                            <a:srgbClr val="3F5265"/>
                          </a:solidFill>
                          <a:latin typeface="Calibri" pitchFamily="34" charset="0"/>
                          <a:ea typeface="Calibri" pitchFamily="34" charset="-122"/>
                          <a:cs typeface="Calibri" pitchFamily="34" charset="-120"/>
                        </a:rPr>
                        <a:t>300</a:t>
                      </a:r>
                      <a:endParaRPr lang="en-US" sz="740" dirty="0">
                        <a:latin typeface="Calibri" charset="0"/>
                        <a:ea typeface="Calibri" charset="0"/>
                        <a:cs typeface="Calibri" charset="0"/>
                      </a:endParaRPr>
                    </a:p>
                  </a:txBody>
                  <a:tcPr marL="45720" marR="45720" marT="45720" marB="45720" anchor="ctr">
                    <a:lnL w="6350" cap="flat" cmpd="sng" algn="ctr">
                      <a:solidFill>
                        <a:srgbClr val="D6E4F0"/>
                      </a:solidFill>
                      <a:prstDash val="solid"/>
                      <a:round/>
                      <a:headEnd type="none" w="med" len="med"/>
                      <a:tailEnd type="none" w="med" len="med"/>
                    </a:lnL>
                    <a:lnR w="6350" cap="flat" cmpd="sng" algn="ctr">
                      <a:solidFill>
                        <a:srgbClr val="D6E4F0"/>
                      </a:solidFill>
                      <a:prstDash val="solid"/>
                      <a:round/>
                      <a:headEnd type="none" w="med" len="med"/>
                      <a:tailEnd type="none" w="med" len="med"/>
                    </a:lnR>
                    <a:lnT w="6350" cap="flat" cmpd="sng" algn="ctr">
                      <a:solidFill>
                        <a:srgbClr val="D6E4F0"/>
                      </a:solidFill>
                      <a:prstDash val="solid"/>
                      <a:round/>
                      <a:headEnd type="none" w="med" len="med"/>
                      <a:tailEnd type="none" w="med" len="med"/>
                    </a:lnT>
                    <a:lnB w="6350" cap="flat" cmpd="sng" algn="ctr">
                      <a:solidFill>
                        <a:srgbClr val="D6E4F0"/>
                      </a:solidFill>
                      <a:prstDash val="solid"/>
                      <a:round/>
                      <a:headEnd type="none" w="med" len="med"/>
                      <a:tailEnd type="none" w="med" len="med"/>
                    </a:lnB>
                    <a:solidFill>
                      <a:srgbClr val="FFFFFF"/>
                    </a:solidFill>
                  </a:tcPr>
                </a:tc>
                <a:tc>
                  <a:txBody>
                    <a:bodyPr/>
                    <a:lstStyle/>
                    <a:p>
                      <a:pPr indent="0" marL="0">
                        <a:buNone/>
                      </a:pPr>
                      <a:r>
                        <a:rPr lang="en-US" sz="740" dirty="0">
                          <a:solidFill>
                            <a:srgbClr val="3F5265"/>
                          </a:solidFill>
                          <a:latin typeface="Calibri" pitchFamily="34" charset="0"/>
                          <a:ea typeface="Calibri" pitchFamily="34" charset="-122"/>
                          <a:cs typeface="Calibri" pitchFamily="34" charset="-120"/>
                        </a:rPr>
                        <a:t>28</a:t>
                      </a:r>
                      <a:endParaRPr lang="en-US" sz="740" dirty="0">
                        <a:latin typeface="Calibri" charset="0"/>
                        <a:ea typeface="Calibri" charset="0"/>
                        <a:cs typeface="Calibri" charset="0"/>
                      </a:endParaRPr>
                    </a:p>
                  </a:txBody>
                  <a:tcPr marL="45720" marR="45720" marT="45720" marB="45720" anchor="ctr">
                    <a:lnL w="6350" cap="flat" cmpd="sng" algn="ctr">
                      <a:solidFill>
                        <a:srgbClr val="D6E4F0"/>
                      </a:solidFill>
                      <a:prstDash val="solid"/>
                      <a:round/>
                      <a:headEnd type="none" w="med" len="med"/>
                      <a:tailEnd type="none" w="med" len="med"/>
                    </a:lnL>
                    <a:lnR w="6350" cap="flat" cmpd="sng" algn="ctr">
                      <a:solidFill>
                        <a:srgbClr val="D6E4F0"/>
                      </a:solidFill>
                      <a:prstDash val="solid"/>
                      <a:round/>
                      <a:headEnd type="none" w="med" len="med"/>
                      <a:tailEnd type="none" w="med" len="med"/>
                    </a:lnR>
                    <a:lnT w="6350" cap="flat" cmpd="sng" algn="ctr">
                      <a:solidFill>
                        <a:srgbClr val="D6E4F0"/>
                      </a:solidFill>
                      <a:prstDash val="solid"/>
                      <a:round/>
                      <a:headEnd type="none" w="med" len="med"/>
                      <a:tailEnd type="none" w="med" len="med"/>
                    </a:lnT>
                    <a:lnB w="6350" cap="flat" cmpd="sng" algn="ctr">
                      <a:solidFill>
                        <a:srgbClr val="D6E4F0"/>
                      </a:solidFill>
                      <a:prstDash val="solid"/>
                      <a:round/>
                      <a:headEnd type="none" w="med" len="med"/>
                      <a:tailEnd type="none" w="med" len="med"/>
                    </a:lnB>
                    <a:solidFill>
                      <a:srgbClr val="FFFFFF"/>
                    </a:solidFill>
                  </a:tcPr>
                </a:tc>
                <a:tc>
                  <a:txBody>
                    <a:bodyPr/>
                    <a:lstStyle/>
                    <a:p>
                      <a:pPr indent="0" marL="0">
                        <a:buNone/>
                      </a:pPr>
                      <a:r>
                        <a:rPr lang="en-US" sz="740" b="1" dirty="0">
                          <a:solidFill>
                            <a:srgbClr val="3F5265"/>
                          </a:solidFill>
                          <a:latin typeface="Calibri" pitchFamily="34" charset="0"/>
                          <a:ea typeface="Calibri" pitchFamily="34" charset="-122"/>
                          <a:cs typeface="Calibri" pitchFamily="34" charset="-120"/>
                        </a:rPr>
                        <a:t>6.2%</a:t>
                      </a:r>
                      <a:endParaRPr lang="en-US" sz="740" dirty="0">
                        <a:latin typeface="Calibri" charset="0"/>
                        <a:ea typeface="Calibri" charset="0"/>
                        <a:cs typeface="Calibri" charset="0"/>
                      </a:endParaRPr>
                    </a:p>
                  </a:txBody>
                  <a:tcPr marL="45720" marR="45720" marT="45720" marB="45720" anchor="ctr">
                    <a:lnL w="6350" cap="flat" cmpd="sng" algn="ctr">
                      <a:solidFill>
                        <a:srgbClr val="D6E4F0"/>
                      </a:solidFill>
                      <a:prstDash val="solid"/>
                      <a:round/>
                      <a:headEnd type="none" w="med" len="med"/>
                      <a:tailEnd type="none" w="med" len="med"/>
                    </a:lnL>
                    <a:lnR w="6350" cap="flat" cmpd="sng" algn="ctr">
                      <a:solidFill>
                        <a:srgbClr val="D6E4F0"/>
                      </a:solidFill>
                      <a:prstDash val="solid"/>
                      <a:round/>
                      <a:headEnd type="none" w="med" len="med"/>
                      <a:tailEnd type="none" w="med" len="med"/>
                    </a:lnR>
                    <a:lnT w="6350" cap="flat" cmpd="sng" algn="ctr">
                      <a:solidFill>
                        <a:srgbClr val="D6E4F0"/>
                      </a:solidFill>
                      <a:prstDash val="solid"/>
                      <a:round/>
                      <a:headEnd type="none" w="med" len="med"/>
                      <a:tailEnd type="none" w="med" len="med"/>
                    </a:lnT>
                    <a:lnB w="6350" cap="flat" cmpd="sng" algn="ctr">
                      <a:solidFill>
                        <a:srgbClr val="D6E4F0"/>
                      </a:solidFill>
                      <a:prstDash val="solid"/>
                      <a:round/>
                      <a:headEnd type="none" w="med" len="med"/>
                      <a:tailEnd type="none" w="med" len="med"/>
                    </a:lnB>
                    <a:solidFill>
                      <a:srgbClr val="FFFFFF"/>
                    </a:solidFill>
                  </a:tcPr>
                </a:tc>
                <a:tc>
                  <a:txBody>
                    <a:bodyPr/>
                    <a:lstStyle/>
                    <a:p>
                      <a:pPr indent="0" marL="0">
                        <a:buNone/>
                      </a:pPr>
                      <a:r>
                        <a:rPr lang="en-US" sz="740" dirty="0">
                          <a:solidFill>
                            <a:srgbClr val="3F5265"/>
                          </a:solidFill>
                          <a:latin typeface="Calibri" pitchFamily="34" charset="0"/>
                          <a:ea typeface="Calibri" pitchFamily="34" charset="-122"/>
                          <a:cs typeface="Calibri" pitchFamily="34" charset="-120"/>
                        </a:rPr>
                        <a:t>79% manage over $50bn</a:t>
                      </a:r>
                      <a:endParaRPr lang="en-US" sz="740" dirty="0">
                        <a:latin typeface="Calibri" charset="0"/>
                        <a:ea typeface="Calibri" charset="0"/>
                        <a:cs typeface="Calibri" charset="0"/>
                      </a:endParaRPr>
                    </a:p>
                  </a:txBody>
                  <a:tcPr marL="45720" marR="45720" marT="45720" marB="45720" anchor="ctr">
                    <a:lnL w="6350" cap="flat" cmpd="sng" algn="ctr">
                      <a:solidFill>
                        <a:srgbClr val="D6E4F0"/>
                      </a:solidFill>
                      <a:prstDash val="solid"/>
                      <a:round/>
                      <a:headEnd type="none" w="med" len="med"/>
                      <a:tailEnd type="none" w="med" len="med"/>
                    </a:lnL>
                    <a:lnR w="6350" cap="flat" cmpd="sng" algn="ctr">
                      <a:solidFill>
                        <a:srgbClr val="D6E4F0"/>
                      </a:solidFill>
                      <a:prstDash val="solid"/>
                      <a:round/>
                      <a:headEnd type="none" w="med" len="med"/>
                      <a:tailEnd type="none" w="med" len="med"/>
                    </a:lnR>
                    <a:lnT w="6350" cap="flat" cmpd="sng" algn="ctr">
                      <a:solidFill>
                        <a:srgbClr val="D6E4F0"/>
                      </a:solidFill>
                      <a:prstDash val="solid"/>
                      <a:round/>
                      <a:headEnd type="none" w="med" len="med"/>
                      <a:tailEnd type="none" w="med" len="med"/>
                    </a:lnT>
                    <a:lnB w="6350" cap="flat" cmpd="sng" algn="ctr">
                      <a:solidFill>
                        <a:srgbClr val="D6E4F0"/>
                      </a:solidFill>
                      <a:prstDash val="solid"/>
                      <a:round/>
                      <a:headEnd type="none" w="med" len="med"/>
                      <a:tailEnd type="none" w="med" len="med"/>
                    </a:lnB>
                    <a:solidFill>
                      <a:srgbClr val="FFFFFF"/>
                    </a:solidFill>
                  </a:tcPr>
                </a:tc>
                <a:tc>
                  <a:txBody>
                    <a:bodyPr/>
                    <a:lstStyle/>
                    <a:p>
                      <a:pPr indent="0" marL="0">
                        <a:buNone/>
                      </a:pPr>
                      <a:r>
                        <a:rPr lang="en-US" sz="740" dirty="0">
                          <a:solidFill>
                            <a:srgbClr val="3F5265"/>
                          </a:solidFill>
                          <a:latin typeface="Calibri" pitchFamily="34" charset="0"/>
                          <a:ea typeface="Calibri" pitchFamily="34" charset="-122"/>
                          <a:cs typeface="Calibri" pitchFamily="34" charset="-120"/>
                        </a:rPr>
                        <a:t>86% North America</a:t>
                      </a:r>
                      <a:endParaRPr lang="en-US" sz="740" dirty="0">
                        <a:latin typeface="Calibri" charset="0"/>
                        <a:ea typeface="Calibri" charset="0"/>
                        <a:cs typeface="Calibri" charset="0"/>
                      </a:endParaRPr>
                    </a:p>
                  </a:txBody>
                  <a:tcPr marL="45720" marR="45720" marT="45720" marB="45720" anchor="ctr">
                    <a:lnL w="6350" cap="flat" cmpd="sng" algn="ctr">
                      <a:solidFill>
                        <a:srgbClr val="D6E4F0"/>
                      </a:solidFill>
                      <a:prstDash val="solid"/>
                      <a:round/>
                      <a:headEnd type="none" w="med" len="med"/>
                      <a:tailEnd type="none" w="med" len="med"/>
                    </a:lnL>
                    <a:lnR w="6350" cap="flat" cmpd="sng" algn="ctr">
                      <a:solidFill>
                        <a:srgbClr val="D6E4F0"/>
                      </a:solidFill>
                      <a:prstDash val="solid"/>
                      <a:round/>
                      <a:headEnd type="none" w="med" len="med"/>
                      <a:tailEnd type="none" w="med" len="med"/>
                    </a:lnR>
                    <a:lnT w="6350" cap="flat" cmpd="sng" algn="ctr">
                      <a:solidFill>
                        <a:srgbClr val="D6E4F0"/>
                      </a:solidFill>
                      <a:prstDash val="solid"/>
                      <a:round/>
                      <a:headEnd type="none" w="med" len="med"/>
                      <a:tailEnd type="none" w="med" len="med"/>
                    </a:lnT>
                    <a:lnB w="6350" cap="flat" cmpd="sng" algn="ctr">
                      <a:solidFill>
                        <a:srgbClr val="D6E4F0"/>
                      </a:solidFill>
                      <a:prstDash val="solid"/>
                      <a:round/>
                      <a:headEnd type="none" w="med" len="med"/>
                      <a:tailEnd type="none" w="med" len="med"/>
                    </a:lnB>
                    <a:solidFill>
                      <a:srgbClr val="FFFFFF"/>
                    </a:solidFill>
                  </a:tcPr>
                </a:tc>
              </a:tr>
              <a:tr h="274320">
                <a:tc>
                  <a:txBody>
                    <a:bodyPr/>
                    <a:lstStyle/>
                    <a:p>
                      <a:pPr indent="0" marL="0">
                        <a:buNone/>
                      </a:pPr>
                      <a:r>
                        <a:rPr lang="en-US" sz="740" b="1" dirty="0">
                          <a:solidFill>
                            <a:srgbClr val="002D72"/>
                          </a:solidFill>
                          <a:latin typeface="Calibri" pitchFamily="34" charset="0"/>
                          <a:ea typeface="Calibri" pitchFamily="34" charset="-122"/>
                          <a:cs typeface="Calibri" pitchFamily="34" charset="-120"/>
                        </a:rPr>
                        <a:t>Instinet Newport</a:t>
                      </a:r>
                      <a:endParaRPr lang="en-US" sz="740" dirty="0">
                        <a:latin typeface="Calibri" charset="0"/>
                        <a:ea typeface="Calibri" charset="0"/>
                        <a:cs typeface="Calibri" charset="0"/>
                      </a:endParaRPr>
                    </a:p>
                  </a:txBody>
                  <a:tcPr marL="45720" marR="45720" marT="45720" marB="45720" anchor="ctr">
                    <a:lnL w="6350" cap="flat" cmpd="sng" algn="ctr">
                      <a:solidFill>
                        <a:srgbClr val="D6E4F0"/>
                      </a:solidFill>
                      <a:prstDash val="solid"/>
                      <a:round/>
                      <a:headEnd type="none" w="med" len="med"/>
                      <a:tailEnd type="none" w="med" len="med"/>
                    </a:lnL>
                    <a:lnR w="6350" cap="flat" cmpd="sng" algn="ctr">
                      <a:solidFill>
                        <a:srgbClr val="D6E4F0"/>
                      </a:solidFill>
                      <a:prstDash val="solid"/>
                      <a:round/>
                      <a:headEnd type="none" w="med" len="med"/>
                      <a:tailEnd type="none" w="med" len="med"/>
                    </a:lnR>
                    <a:lnT w="6350" cap="flat" cmpd="sng" algn="ctr">
                      <a:solidFill>
                        <a:srgbClr val="D6E4F0"/>
                      </a:solidFill>
                      <a:prstDash val="solid"/>
                      <a:round/>
                      <a:headEnd type="none" w="med" len="med"/>
                      <a:tailEnd type="none" w="med" len="med"/>
                    </a:lnT>
                    <a:lnB w="6350" cap="flat" cmpd="sng" algn="ctr">
                      <a:solidFill>
                        <a:srgbClr val="D6E4F0"/>
                      </a:solidFill>
                      <a:prstDash val="solid"/>
                      <a:round/>
                      <a:headEnd type="none" w="med" len="med"/>
                      <a:tailEnd type="none" w="med" len="med"/>
                    </a:lnB>
                    <a:solidFill>
                      <a:srgbClr val="EAF1F8"/>
                    </a:solidFill>
                  </a:tcPr>
                </a:tc>
                <a:tc>
                  <a:txBody>
                    <a:bodyPr/>
                    <a:lstStyle/>
                    <a:p>
                      <a:pPr indent="0" marL="0">
                        <a:buNone/>
                      </a:pPr>
                      <a:r>
                        <a:rPr lang="en-US" sz="740" dirty="0">
                          <a:solidFill>
                            <a:srgbClr val="3F5265"/>
                          </a:solidFill>
                          <a:latin typeface="Calibri" pitchFamily="34" charset="0"/>
                          <a:ea typeface="Calibri" pitchFamily="34" charset="-122"/>
                          <a:cs typeface="Calibri" pitchFamily="34" charset="-120"/>
                        </a:rPr>
                        <a:t>~1,000</a:t>
                      </a:r>
                      <a:endParaRPr lang="en-US" sz="740" dirty="0">
                        <a:latin typeface="Calibri" charset="0"/>
                        <a:ea typeface="Calibri" charset="0"/>
                        <a:cs typeface="Calibri" charset="0"/>
                      </a:endParaRPr>
                    </a:p>
                  </a:txBody>
                  <a:tcPr marL="45720" marR="45720" marT="45720" marB="45720" anchor="ctr">
                    <a:lnL w="6350" cap="flat" cmpd="sng" algn="ctr">
                      <a:solidFill>
                        <a:srgbClr val="D6E4F0"/>
                      </a:solidFill>
                      <a:prstDash val="solid"/>
                      <a:round/>
                      <a:headEnd type="none" w="med" len="med"/>
                      <a:tailEnd type="none" w="med" len="med"/>
                    </a:lnL>
                    <a:lnR w="6350" cap="flat" cmpd="sng" algn="ctr">
                      <a:solidFill>
                        <a:srgbClr val="D6E4F0"/>
                      </a:solidFill>
                      <a:prstDash val="solid"/>
                      <a:round/>
                      <a:headEnd type="none" w="med" len="med"/>
                      <a:tailEnd type="none" w="med" len="med"/>
                    </a:lnR>
                    <a:lnT w="6350" cap="flat" cmpd="sng" algn="ctr">
                      <a:solidFill>
                        <a:srgbClr val="D6E4F0"/>
                      </a:solidFill>
                      <a:prstDash val="solid"/>
                      <a:round/>
                      <a:headEnd type="none" w="med" len="med"/>
                      <a:tailEnd type="none" w="med" len="med"/>
                    </a:lnT>
                    <a:lnB w="6350" cap="flat" cmpd="sng" algn="ctr">
                      <a:solidFill>
                        <a:srgbClr val="D6E4F0"/>
                      </a:solidFill>
                      <a:prstDash val="solid"/>
                      <a:round/>
                      <a:headEnd type="none" w="med" len="med"/>
                      <a:tailEnd type="none" w="med" len="med"/>
                    </a:lnB>
                    <a:solidFill>
                      <a:srgbClr val="EAF1F8"/>
                    </a:solidFill>
                  </a:tcPr>
                </a:tc>
                <a:tc>
                  <a:txBody>
                    <a:bodyPr/>
                    <a:lstStyle/>
                    <a:p>
                      <a:pPr indent="0" marL="0">
                        <a:buNone/>
                      </a:pPr>
                      <a:r>
                        <a:rPr lang="en-US" sz="740" dirty="0">
                          <a:solidFill>
                            <a:srgbClr val="3F5265"/>
                          </a:solidFill>
                          <a:latin typeface="Calibri" pitchFamily="34" charset="0"/>
                          <a:ea typeface="Calibri" pitchFamily="34" charset="-122"/>
                          <a:cs typeface="Calibri" pitchFamily="34" charset="-120"/>
                        </a:rPr>
                        <a:t>22</a:t>
                      </a:r>
                      <a:endParaRPr lang="en-US" sz="740" dirty="0">
                        <a:latin typeface="Calibri" charset="0"/>
                        <a:ea typeface="Calibri" charset="0"/>
                        <a:cs typeface="Calibri" charset="0"/>
                      </a:endParaRPr>
                    </a:p>
                  </a:txBody>
                  <a:tcPr marL="45720" marR="45720" marT="45720" marB="45720" anchor="ctr">
                    <a:lnL w="6350" cap="flat" cmpd="sng" algn="ctr">
                      <a:solidFill>
                        <a:srgbClr val="D6E4F0"/>
                      </a:solidFill>
                      <a:prstDash val="solid"/>
                      <a:round/>
                      <a:headEnd type="none" w="med" len="med"/>
                      <a:tailEnd type="none" w="med" len="med"/>
                    </a:lnL>
                    <a:lnR w="6350" cap="flat" cmpd="sng" algn="ctr">
                      <a:solidFill>
                        <a:srgbClr val="D6E4F0"/>
                      </a:solidFill>
                      <a:prstDash val="solid"/>
                      <a:round/>
                      <a:headEnd type="none" w="med" len="med"/>
                      <a:tailEnd type="none" w="med" len="med"/>
                    </a:lnR>
                    <a:lnT w="6350" cap="flat" cmpd="sng" algn="ctr">
                      <a:solidFill>
                        <a:srgbClr val="D6E4F0"/>
                      </a:solidFill>
                      <a:prstDash val="solid"/>
                      <a:round/>
                      <a:headEnd type="none" w="med" len="med"/>
                      <a:tailEnd type="none" w="med" len="med"/>
                    </a:lnT>
                    <a:lnB w="6350" cap="flat" cmpd="sng" algn="ctr">
                      <a:solidFill>
                        <a:srgbClr val="D6E4F0"/>
                      </a:solidFill>
                      <a:prstDash val="solid"/>
                      <a:round/>
                      <a:headEnd type="none" w="med" len="med"/>
                      <a:tailEnd type="none" w="med" len="med"/>
                    </a:lnB>
                    <a:solidFill>
                      <a:srgbClr val="EAF1F8"/>
                    </a:solidFill>
                  </a:tcPr>
                </a:tc>
                <a:tc>
                  <a:txBody>
                    <a:bodyPr/>
                    <a:lstStyle/>
                    <a:p>
                      <a:pPr indent="0" marL="0">
                        <a:buNone/>
                      </a:pPr>
                      <a:r>
                        <a:rPr lang="en-US" sz="740" b="1" dirty="0">
                          <a:solidFill>
                            <a:srgbClr val="3F5265"/>
                          </a:solidFill>
                          <a:latin typeface="Calibri" pitchFamily="34" charset="0"/>
                          <a:ea typeface="Calibri" pitchFamily="34" charset="-122"/>
                          <a:cs typeface="Calibri" pitchFamily="34" charset="-120"/>
                        </a:rPr>
                        <a:t>4.9%</a:t>
                      </a:r>
                      <a:endParaRPr lang="en-US" sz="740" dirty="0">
                        <a:latin typeface="Calibri" charset="0"/>
                        <a:ea typeface="Calibri" charset="0"/>
                        <a:cs typeface="Calibri" charset="0"/>
                      </a:endParaRPr>
                    </a:p>
                  </a:txBody>
                  <a:tcPr marL="45720" marR="45720" marT="45720" marB="45720" anchor="ctr">
                    <a:lnL w="6350" cap="flat" cmpd="sng" algn="ctr">
                      <a:solidFill>
                        <a:srgbClr val="D6E4F0"/>
                      </a:solidFill>
                      <a:prstDash val="solid"/>
                      <a:round/>
                      <a:headEnd type="none" w="med" len="med"/>
                      <a:tailEnd type="none" w="med" len="med"/>
                    </a:lnL>
                    <a:lnR w="6350" cap="flat" cmpd="sng" algn="ctr">
                      <a:solidFill>
                        <a:srgbClr val="D6E4F0"/>
                      </a:solidFill>
                      <a:prstDash val="solid"/>
                      <a:round/>
                      <a:headEnd type="none" w="med" len="med"/>
                      <a:tailEnd type="none" w="med" len="med"/>
                    </a:lnR>
                    <a:lnT w="6350" cap="flat" cmpd="sng" algn="ctr">
                      <a:solidFill>
                        <a:srgbClr val="D6E4F0"/>
                      </a:solidFill>
                      <a:prstDash val="solid"/>
                      <a:round/>
                      <a:headEnd type="none" w="med" len="med"/>
                      <a:tailEnd type="none" w="med" len="med"/>
                    </a:lnT>
                    <a:lnB w="6350" cap="flat" cmpd="sng" algn="ctr">
                      <a:solidFill>
                        <a:srgbClr val="D6E4F0"/>
                      </a:solidFill>
                      <a:prstDash val="solid"/>
                      <a:round/>
                      <a:headEnd type="none" w="med" len="med"/>
                      <a:tailEnd type="none" w="med" len="med"/>
                    </a:lnB>
                    <a:solidFill>
                      <a:srgbClr val="EAF1F8"/>
                    </a:solidFill>
                  </a:tcPr>
                </a:tc>
                <a:tc>
                  <a:txBody>
                    <a:bodyPr/>
                    <a:lstStyle/>
                    <a:p>
                      <a:pPr indent="0" marL="0">
                        <a:buNone/>
                      </a:pPr>
                      <a:r>
                        <a:rPr lang="en-US" sz="740" dirty="0">
                          <a:solidFill>
                            <a:srgbClr val="3F5265"/>
                          </a:solidFill>
                          <a:latin typeface="Calibri" pitchFamily="34" charset="0"/>
                          <a:ea typeface="Calibri" pitchFamily="34" charset="-122"/>
                          <a:cs typeface="Calibri" pitchFamily="34" charset="-120"/>
                        </a:rPr>
                        <a:t>45% manage over $50bn</a:t>
                      </a:r>
                      <a:endParaRPr lang="en-US" sz="740" dirty="0">
                        <a:latin typeface="Calibri" charset="0"/>
                        <a:ea typeface="Calibri" charset="0"/>
                        <a:cs typeface="Calibri" charset="0"/>
                      </a:endParaRPr>
                    </a:p>
                  </a:txBody>
                  <a:tcPr marL="45720" marR="45720" marT="45720" marB="45720" anchor="ctr">
                    <a:lnL w="6350" cap="flat" cmpd="sng" algn="ctr">
                      <a:solidFill>
                        <a:srgbClr val="D6E4F0"/>
                      </a:solidFill>
                      <a:prstDash val="solid"/>
                      <a:round/>
                      <a:headEnd type="none" w="med" len="med"/>
                      <a:tailEnd type="none" w="med" len="med"/>
                    </a:lnL>
                    <a:lnR w="6350" cap="flat" cmpd="sng" algn="ctr">
                      <a:solidFill>
                        <a:srgbClr val="D6E4F0"/>
                      </a:solidFill>
                      <a:prstDash val="solid"/>
                      <a:round/>
                      <a:headEnd type="none" w="med" len="med"/>
                      <a:tailEnd type="none" w="med" len="med"/>
                    </a:lnR>
                    <a:lnT w="6350" cap="flat" cmpd="sng" algn="ctr">
                      <a:solidFill>
                        <a:srgbClr val="D6E4F0"/>
                      </a:solidFill>
                      <a:prstDash val="solid"/>
                      <a:round/>
                      <a:headEnd type="none" w="med" len="med"/>
                      <a:tailEnd type="none" w="med" len="med"/>
                    </a:lnT>
                    <a:lnB w="6350" cap="flat" cmpd="sng" algn="ctr">
                      <a:solidFill>
                        <a:srgbClr val="D6E4F0"/>
                      </a:solidFill>
                      <a:prstDash val="solid"/>
                      <a:round/>
                      <a:headEnd type="none" w="med" len="med"/>
                      <a:tailEnd type="none" w="med" len="med"/>
                    </a:lnB>
                    <a:solidFill>
                      <a:srgbClr val="EAF1F8"/>
                    </a:solidFill>
                  </a:tcPr>
                </a:tc>
                <a:tc>
                  <a:txBody>
                    <a:bodyPr/>
                    <a:lstStyle/>
                    <a:p>
                      <a:pPr indent="0" marL="0">
                        <a:buNone/>
                      </a:pPr>
                      <a:r>
                        <a:rPr lang="en-US" sz="740" dirty="0">
                          <a:solidFill>
                            <a:srgbClr val="3F5265"/>
                          </a:solidFill>
                          <a:latin typeface="Calibri" pitchFamily="34" charset="0"/>
                          <a:ea typeface="Calibri" pitchFamily="34" charset="-122"/>
                          <a:cs typeface="Calibri" pitchFamily="34" charset="-120"/>
                        </a:rPr>
                        <a:t>64% North America, 18% UK</a:t>
                      </a:r>
                      <a:endParaRPr lang="en-US" sz="740" dirty="0">
                        <a:latin typeface="Calibri" charset="0"/>
                        <a:ea typeface="Calibri" charset="0"/>
                        <a:cs typeface="Calibri" charset="0"/>
                      </a:endParaRPr>
                    </a:p>
                  </a:txBody>
                  <a:tcPr marL="45720" marR="45720" marT="45720" marB="45720" anchor="ctr">
                    <a:lnL w="6350" cap="flat" cmpd="sng" algn="ctr">
                      <a:solidFill>
                        <a:srgbClr val="D6E4F0"/>
                      </a:solidFill>
                      <a:prstDash val="solid"/>
                      <a:round/>
                      <a:headEnd type="none" w="med" len="med"/>
                      <a:tailEnd type="none" w="med" len="med"/>
                    </a:lnL>
                    <a:lnR w="6350" cap="flat" cmpd="sng" algn="ctr">
                      <a:solidFill>
                        <a:srgbClr val="D6E4F0"/>
                      </a:solidFill>
                      <a:prstDash val="solid"/>
                      <a:round/>
                      <a:headEnd type="none" w="med" len="med"/>
                      <a:tailEnd type="none" w="med" len="med"/>
                    </a:lnR>
                    <a:lnT w="6350" cap="flat" cmpd="sng" algn="ctr">
                      <a:solidFill>
                        <a:srgbClr val="D6E4F0"/>
                      </a:solidFill>
                      <a:prstDash val="solid"/>
                      <a:round/>
                      <a:headEnd type="none" w="med" len="med"/>
                      <a:tailEnd type="none" w="med" len="med"/>
                    </a:lnT>
                    <a:lnB w="6350" cap="flat" cmpd="sng" algn="ctr">
                      <a:solidFill>
                        <a:srgbClr val="D6E4F0"/>
                      </a:solidFill>
                      <a:prstDash val="solid"/>
                      <a:round/>
                      <a:headEnd type="none" w="med" len="med"/>
                      <a:tailEnd type="none" w="med" len="med"/>
                    </a:lnB>
                    <a:solidFill>
                      <a:srgbClr val="EAF1F8"/>
                    </a:solidFill>
                  </a:tcPr>
                </a:tc>
              </a:tr>
              <a:tr h="274320">
                <a:tc>
                  <a:txBody>
                    <a:bodyPr/>
                    <a:lstStyle/>
                    <a:p>
                      <a:pPr indent="0" marL="0">
                        <a:buNone/>
                      </a:pPr>
                      <a:r>
                        <a:rPr lang="en-US" sz="740" b="1" dirty="0">
                          <a:solidFill>
                            <a:srgbClr val="002D72"/>
                          </a:solidFill>
                          <a:latin typeface="Calibri" pitchFamily="34" charset="0"/>
                          <a:ea typeface="Calibri" pitchFamily="34" charset="-122"/>
                          <a:cs typeface="Calibri" pitchFamily="34" charset="-120"/>
                        </a:rPr>
                        <a:t>SS&amp;C Eze RealTick</a:t>
                      </a:r>
                      <a:endParaRPr lang="en-US" sz="740" dirty="0">
                        <a:latin typeface="Calibri" charset="0"/>
                        <a:ea typeface="Calibri" charset="0"/>
                        <a:cs typeface="Calibri" charset="0"/>
                      </a:endParaRPr>
                    </a:p>
                  </a:txBody>
                  <a:tcPr marL="45720" marR="45720" marT="45720" marB="45720" anchor="ctr">
                    <a:lnL w="6350" cap="flat" cmpd="sng" algn="ctr">
                      <a:solidFill>
                        <a:srgbClr val="D6E4F0"/>
                      </a:solidFill>
                      <a:prstDash val="solid"/>
                      <a:round/>
                      <a:headEnd type="none" w="med" len="med"/>
                      <a:tailEnd type="none" w="med" len="med"/>
                    </a:lnL>
                    <a:lnR w="6350" cap="flat" cmpd="sng" algn="ctr">
                      <a:solidFill>
                        <a:srgbClr val="D6E4F0"/>
                      </a:solidFill>
                      <a:prstDash val="solid"/>
                      <a:round/>
                      <a:headEnd type="none" w="med" len="med"/>
                      <a:tailEnd type="none" w="med" len="med"/>
                    </a:lnR>
                    <a:lnT w="6350" cap="flat" cmpd="sng" algn="ctr">
                      <a:solidFill>
                        <a:srgbClr val="D6E4F0"/>
                      </a:solidFill>
                      <a:prstDash val="solid"/>
                      <a:round/>
                      <a:headEnd type="none" w="med" len="med"/>
                      <a:tailEnd type="none" w="med" len="med"/>
                    </a:lnT>
                    <a:lnB w="6350" cap="flat" cmpd="sng" algn="ctr">
                      <a:solidFill>
                        <a:srgbClr val="D6E4F0"/>
                      </a:solidFill>
                      <a:prstDash val="solid"/>
                      <a:round/>
                      <a:headEnd type="none" w="med" len="med"/>
                      <a:tailEnd type="none" w="med" len="med"/>
                    </a:lnB>
                    <a:solidFill>
                      <a:srgbClr val="FFFFFF"/>
                    </a:solidFill>
                  </a:tcPr>
                </a:tc>
                <a:tc>
                  <a:txBody>
                    <a:bodyPr/>
                    <a:lstStyle/>
                    <a:p>
                      <a:pPr indent="0" marL="0">
                        <a:buNone/>
                      </a:pPr>
                      <a:r>
                        <a:rPr lang="en-US" sz="740" dirty="0">
                          <a:solidFill>
                            <a:srgbClr val="3F5265"/>
                          </a:solidFill>
                          <a:latin typeface="Calibri" pitchFamily="34" charset="0"/>
                          <a:ea typeface="Calibri" pitchFamily="34" charset="-122"/>
                          <a:cs typeface="Calibri" pitchFamily="34" charset="-120"/>
                        </a:rPr>
                        <a:t>~1,000</a:t>
                      </a:r>
                      <a:endParaRPr lang="en-US" sz="740" dirty="0">
                        <a:latin typeface="Calibri" charset="0"/>
                        <a:ea typeface="Calibri" charset="0"/>
                        <a:cs typeface="Calibri" charset="0"/>
                      </a:endParaRPr>
                    </a:p>
                  </a:txBody>
                  <a:tcPr marL="45720" marR="45720" marT="45720" marB="45720" anchor="ctr">
                    <a:lnL w="6350" cap="flat" cmpd="sng" algn="ctr">
                      <a:solidFill>
                        <a:srgbClr val="D6E4F0"/>
                      </a:solidFill>
                      <a:prstDash val="solid"/>
                      <a:round/>
                      <a:headEnd type="none" w="med" len="med"/>
                      <a:tailEnd type="none" w="med" len="med"/>
                    </a:lnL>
                    <a:lnR w="6350" cap="flat" cmpd="sng" algn="ctr">
                      <a:solidFill>
                        <a:srgbClr val="D6E4F0"/>
                      </a:solidFill>
                      <a:prstDash val="solid"/>
                      <a:round/>
                      <a:headEnd type="none" w="med" len="med"/>
                      <a:tailEnd type="none" w="med" len="med"/>
                    </a:lnR>
                    <a:lnT w="6350" cap="flat" cmpd="sng" algn="ctr">
                      <a:solidFill>
                        <a:srgbClr val="D6E4F0"/>
                      </a:solidFill>
                      <a:prstDash val="solid"/>
                      <a:round/>
                      <a:headEnd type="none" w="med" len="med"/>
                      <a:tailEnd type="none" w="med" len="med"/>
                    </a:lnT>
                    <a:lnB w="6350" cap="flat" cmpd="sng" algn="ctr">
                      <a:solidFill>
                        <a:srgbClr val="D6E4F0"/>
                      </a:solidFill>
                      <a:prstDash val="solid"/>
                      <a:round/>
                      <a:headEnd type="none" w="med" len="med"/>
                      <a:tailEnd type="none" w="med" len="med"/>
                    </a:lnB>
                    <a:solidFill>
                      <a:srgbClr val="FFFFFF"/>
                    </a:solidFill>
                  </a:tcPr>
                </a:tc>
                <a:tc>
                  <a:txBody>
                    <a:bodyPr/>
                    <a:lstStyle/>
                    <a:p>
                      <a:pPr indent="0" marL="0">
                        <a:buNone/>
                      </a:pPr>
                      <a:r>
                        <a:rPr lang="en-US" sz="740" dirty="0">
                          <a:solidFill>
                            <a:srgbClr val="3F5265"/>
                          </a:solidFill>
                          <a:latin typeface="Calibri" pitchFamily="34" charset="0"/>
                          <a:ea typeface="Calibri" pitchFamily="34" charset="-122"/>
                          <a:cs typeface="Calibri" pitchFamily="34" charset="-120"/>
                        </a:rPr>
                        <a:t>15</a:t>
                      </a:r>
                      <a:endParaRPr lang="en-US" sz="740" dirty="0">
                        <a:latin typeface="Calibri" charset="0"/>
                        <a:ea typeface="Calibri" charset="0"/>
                        <a:cs typeface="Calibri" charset="0"/>
                      </a:endParaRPr>
                    </a:p>
                  </a:txBody>
                  <a:tcPr marL="45720" marR="45720" marT="45720" marB="45720" anchor="ctr">
                    <a:lnL w="6350" cap="flat" cmpd="sng" algn="ctr">
                      <a:solidFill>
                        <a:srgbClr val="D6E4F0"/>
                      </a:solidFill>
                      <a:prstDash val="solid"/>
                      <a:round/>
                      <a:headEnd type="none" w="med" len="med"/>
                      <a:tailEnd type="none" w="med" len="med"/>
                    </a:lnL>
                    <a:lnR w="6350" cap="flat" cmpd="sng" algn="ctr">
                      <a:solidFill>
                        <a:srgbClr val="D6E4F0"/>
                      </a:solidFill>
                      <a:prstDash val="solid"/>
                      <a:round/>
                      <a:headEnd type="none" w="med" len="med"/>
                      <a:tailEnd type="none" w="med" len="med"/>
                    </a:lnR>
                    <a:lnT w="6350" cap="flat" cmpd="sng" algn="ctr">
                      <a:solidFill>
                        <a:srgbClr val="D6E4F0"/>
                      </a:solidFill>
                      <a:prstDash val="solid"/>
                      <a:round/>
                      <a:headEnd type="none" w="med" len="med"/>
                      <a:tailEnd type="none" w="med" len="med"/>
                    </a:lnT>
                    <a:lnB w="6350" cap="flat" cmpd="sng" algn="ctr">
                      <a:solidFill>
                        <a:srgbClr val="D6E4F0"/>
                      </a:solidFill>
                      <a:prstDash val="solid"/>
                      <a:round/>
                      <a:headEnd type="none" w="med" len="med"/>
                      <a:tailEnd type="none" w="med" len="med"/>
                    </a:lnB>
                    <a:solidFill>
                      <a:srgbClr val="FFFFFF"/>
                    </a:solidFill>
                  </a:tcPr>
                </a:tc>
                <a:tc>
                  <a:txBody>
                    <a:bodyPr/>
                    <a:lstStyle/>
                    <a:p>
                      <a:pPr indent="0" marL="0">
                        <a:buNone/>
                      </a:pPr>
                      <a:r>
                        <a:rPr lang="en-US" sz="740" b="1" dirty="0">
                          <a:solidFill>
                            <a:srgbClr val="3F5265"/>
                          </a:solidFill>
                          <a:latin typeface="Calibri" pitchFamily="34" charset="0"/>
                          <a:ea typeface="Calibri" pitchFamily="34" charset="-122"/>
                          <a:cs typeface="Calibri" pitchFamily="34" charset="-120"/>
                        </a:rPr>
                        <a:t>3.3%</a:t>
                      </a:r>
                      <a:endParaRPr lang="en-US" sz="740" dirty="0">
                        <a:latin typeface="Calibri" charset="0"/>
                        <a:ea typeface="Calibri" charset="0"/>
                        <a:cs typeface="Calibri" charset="0"/>
                      </a:endParaRPr>
                    </a:p>
                  </a:txBody>
                  <a:tcPr marL="45720" marR="45720" marT="45720" marB="45720" anchor="ctr">
                    <a:lnL w="6350" cap="flat" cmpd="sng" algn="ctr">
                      <a:solidFill>
                        <a:srgbClr val="D6E4F0"/>
                      </a:solidFill>
                      <a:prstDash val="solid"/>
                      <a:round/>
                      <a:headEnd type="none" w="med" len="med"/>
                      <a:tailEnd type="none" w="med" len="med"/>
                    </a:lnL>
                    <a:lnR w="6350" cap="flat" cmpd="sng" algn="ctr">
                      <a:solidFill>
                        <a:srgbClr val="D6E4F0"/>
                      </a:solidFill>
                      <a:prstDash val="solid"/>
                      <a:round/>
                      <a:headEnd type="none" w="med" len="med"/>
                      <a:tailEnd type="none" w="med" len="med"/>
                    </a:lnR>
                    <a:lnT w="6350" cap="flat" cmpd="sng" algn="ctr">
                      <a:solidFill>
                        <a:srgbClr val="D6E4F0"/>
                      </a:solidFill>
                      <a:prstDash val="solid"/>
                      <a:round/>
                      <a:headEnd type="none" w="med" len="med"/>
                      <a:tailEnd type="none" w="med" len="med"/>
                    </a:lnT>
                    <a:lnB w="6350" cap="flat" cmpd="sng" algn="ctr">
                      <a:solidFill>
                        <a:srgbClr val="D6E4F0"/>
                      </a:solidFill>
                      <a:prstDash val="solid"/>
                      <a:round/>
                      <a:headEnd type="none" w="med" len="med"/>
                      <a:tailEnd type="none" w="med" len="med"/>
                    </a:lnB>
                    <a:solidFill>
                      <a:srgbClr val="FFFFFF"/>
                    </a:solidFill>
                  </a:tcPr>
                </a:tc>
                <a:tc>
                  <a:txBody>
                    <a:bodyPr/>
                    <a:lstStyle/>
                    <a:p>
                      <a:pPr indent="0" marL="0">
                        <a:buNone/>
                      </a:pPr>
                      <a:r>
                        <a:rPr lang="en-US" sz="740" dirty="0">
                          <a:solidFill>
                            <a:srgbClr val="3F5265"/>
                          </a:solidFill>
                          <a:latin typeface="Calibri" pitchFamily="34" charset="0"/>
                          <a:ea typeface="Calibri" pitchFamily="34" charset="-122"/>
                          <a:cs typeface="Calibri" pitchFamily="34" charset="-120"/>
                        </a:rPr>
                        <a:t>A third manage under $0.5bn</a:t>
                      </a:r>
                      <a:endParaRPr lang="en-US" sz="740" dirty="0">
                        <a:latin typeface="Calibri" charset="0"/>
                        <a:ea typeface="Calibri" charset="0"/>
                        <a:cs typeface="Calibri" charset="0"/>
                      </a:endParaRPr>
                    </a:p>
                  </a:txBody>
                  <a:tcPr marL="45720" marR="45720" marT="45720" marB="45720" anchor="ctr">
                    <a:lnL w="6350" cap="flat" cmpd="sng" algn="ctr">
                      <a:solidFill>
                        <a:srgbClr val="D6E4F0"/>
                      </a:solidFill>
                      <a:prstDash val="solid"/>
                      <a:round/>
                      <a:headEnd type="none" w="med" len="med"/>
                      <a:tailEnd type="none" w="med" len="med"/>
                    </a:lnL>
                    <a:lnR w="6350" cap="flat" cmpd="sng" algn="ctr">
                      <a:solidFill>
                        <a:srgbClr val="D6E4F0"/>
                      </a:solidFill>
                      <a:prstDash val="solid"/>
                      <a:round/>
                      <a:headEnd type="none" w="med" len="med"/>
                      <a:tailEnd type="none" w="med" len="med"/>
                    </a:lnR>
                    <a:lnT w="6350" cap="flat" cmpd="sng" algn="ctr">
                      <a:solidFill>
                        <a:srgbClr val="D6E4F0"/>
                      </a:solidFill>
                      <a:prstDash val="solid"/>
                      <a:round/>
                      <a:headEnd type="none" w="med" len="med"/>
                      <a:tailEnd type="none" w="med" len="med"/>
                    </a:lnT>
                    <a:lnB w="6350" cap="flat" cmpd="sng" algn="ctr">
                      <a:solidFill>
                        <a:srgbClr val="D6E4F0"/>
                      </a:solidFill>
                      <a:prstDash val="solid"/>
                      <a:round/>
                      <a:headEnd type="none" w="med" len="med"/>
                      <a:tailEnd type="none" w="med" len="med"/>
                    </a:lnB>
                    <a:solidFill>
                      <a:srgbClr val="FFFFFF"/>
                    </a:solidFill>
                  </a:tcPr>
                </a:tc>
                <a:tc>
                  <a:txBody>
                    <a:bodyPr/>
                    <a:lstStyle/>
                    <a:p>
                      <a:pPr indent="0" marL="0">
                        <a:buNone/>
                      </a:pPr>
                      <a:r>
                        <a:rPr lang="en-US" sz="740" dirty="0">
                          <a:solidFill>
                            <a:srgbClr val="3F5265"/>
                          </a:solidFill>
                          <a:latin typeface="Calibri" pitchFamily="34" charset="0"/>
                          <a:ea typeface="Calibri" pitchFamily="34" charset="-122"/>
                          <a:cs typeface="Calibri" pitchFamily="34" charset="-120"/>
                        </a:rPr>
                        <a:t>83% North America</a:t>
                      </a:r>
                      <a:endParaRPr lang="en-US" sz="740" dirty="0">
                        <a:latin typeface="Calibri" charset="0"/>
                        <a:ea typeface="Calibri" charset="0"/>
                        <a:cs typeface="Calibri" charset="0"/>
                      </a:endParaRPr>
                    </a:p>
                  </a:txBody>
                  <a:tcPr marL="45720" marR="45720" marT="45720" marB="45720" anchor="ctr">
                    <a:lnL w="6350" cap="flat" cmpd="sng" algn="ctr">
                      <a:solidFill>
                        <a:srgbClr val="D6E4F0"/>
                      </a:solidFill>
                      <a:prstDash val="solid"/>
                      <a:round/>
                      <a:headEnd type="none" w="med" len="med"/>
                      <a:tailEnd type="none" w="med" len="med"/>
                    </a:lnL>
                    <a:lnR w="6350" cap="flat" cmpd="sng" algn="ctr">
                      <a:solidFill>
                        <a:srgbClr val="D6E4F0"/>
                      </a:solidFill>
                      <a:prstDash val="solid"/>
                      <a:round/>
                      <a:headEnd type="none" w="med" len="med"/>
                      <a:tailEnd type="none" w="med" len="med"/>
                    </a:lnR>
                    <a:lnT w="6350" cap="flat" cmpd="sng" algn="ctr">
                      <a:solidFill>
                        <a:srgbClr val="D6E4F0"/>
                      </a:solidFill>
                      <a:prstDash val="solid"/>
                      <a:round/>
                      <a:headEnd type="none" w="med" len="med"/>
                      <a:tailEnd type="none" w="med" len="med"/>
                    </a:lnT>
                    <a:lnB w="6350" cap="flat" cmpd="sng" algn="ctr">
                      <a:solidFill>
                        <a:srgbClr val="D6E4F0"/>
                      </a:solidFill>
                      <a:prstDash val="solid"/>
                      <a:round/>
                      <a:headEnd type="none" w="med" len="med"/>
                      <a:tailEnd type="none" w="med" len="med"/>
                    </a:lnB>
                    <a:solidFill>
                      <a:srgbClr val="FFFFFF"/>
                    </a:solidFill>
                  </a:tcPr>
                </a:tc>
              </a:tr>
              <a:tr h="274320">
                <a:tc>
                  <a:txBody>
                    <a:bodyPr/>
                    <a:lstStyle/>
                    <a:p>
                      <a:pPr indent="0" marL="0">
                        <a:buNone/>
                      </a:pPr>
                      <a:r>
                        <a:rPr lang="en-US" sz="740" b="1" dirty="0">
                          <a:solidFill>
                            <a:srgbClr val="002D72"/>
                          </a:solidFill>
                          <a:latin typeface="Calibri" pitchFamily="34" charset="0"/>
                          <a:ea typeface="Calibri" pitchFamily="34" charset="-122"/>
                          <a:cs typeface="Calibri" pitchFamily="34" charset="-120"/>
                        </a:rPr>
                        <a:t>FactSet Portware</a:t>
                      </a:r>
                      <a:endParaRPr lang="en-US" sz="740" dirty="0">
                        <a:latin typeface="Calibri" charset="0"/>
                        <a:ea typeface="Calibri" charset="0"/>
                        <a:cs typeface="Calibri" charset="0"/>
                      </a:endParaRPr>
                    </a:p>
                  </a:txBody>
                  <a:tcPr marL="45720" marR="45720" marT="45720" marB="45720" anchor="ctr">
                    <a:lnL w="6350" cap="flat" cmpd="sng" algn="ctr">
                      <a:solidFill>
                        <a:srgbClr val="D6E4F0"/>
                      </a:solidFill>
                      <a:prstDash val="solid"/>
                      <a:round/>
                      <a:headEnd type="none" w="med" len="med"/>
                      <a:tailEnd type="none" w="med" len="med"/>
                    </a:lnL>
                    <a:lnR w="6350" cap="flat" cmpd="sng" algn="ctr">
                      <a:solidFill>
                        <a:srgbClr val="D6E4F0"/>
                      </a:solidFill>
                      <a:prstDash val="solid"/>
                      <a:round/>
                      <a:headEnd type="none" w="med" len="med"/>
                      <a:tailEnd type="none" w="med" len="med"/>
                    </a:lnR>
                    <a:lnT w="6350" cap="flat" cmpd="sng" algn="ctr">
                      <a:solidFill>
                        <a:srgbClr val="D6E4F0"/>
                      </a:solidFill>
                      <a:prstDash val="solid"/>
                      <a:round/>
                      <a:headEnd type="none" w="med" len="med"/>
                      <a:tailEnd type="none" w="med" len="med"/>
                    </a:lnT>
                    <a:lnB w="6350" cap="flat" cmpd="sng" algn="ctr">
                      <a:solidFill>
                        <a:srgbClr val="D6E4F0"/>
                      </a:solidFill>
                      <a:prstDash val="solid"/>
                      <a:round/>
                      <a:headEnd type="none" w="med" len="med"/>
                      <a:tailEnd type="none" w="med" len="med"/>
                    </a:lnB>
                    <a:solidFill>
                      <a:srgbClr val="EAF1F8"/>
                    </a:solidFill>
                  </a:tcPr>
                </a:tc>
                <a:tc>
                  <a:txBody>
                    <a:bodyPr/>
                    <a:lstStyle/>
                    <a:p>
                      <a:pPr indent="0" marL="0">
                        <a:buNone/>
                      </a:pPr>
                      <a:r>
                        <a:rPr lang="en-US" sz="740" dirty="0">
                          <a:solidFill>
                            <a:srgbClr val="3F5265"/>
                          </a:solidFill>
                          <a:latin typeface="Calibri" pitchFamily="34" charset="0"/>
                          <a:ea typeface="Calibri" pitchFamily="34" charset="-122"/>
                          <a:cs typeface="Calibri" pitchFamily="34" charset="-120"/>
                        </a:rPr>
                        <a:t>Not disclosed</a:t>
                      </a:r>
                      <a:endParaRPr lang="en-US" sz="740" dirty="0">
                        <a:latin typeface="Calibri" charset="0"/>
                        <a:ea typeface="Calibri" charset="0"/>
                        <a:cs typeface="Calibri" charset="0"/>
                      </a:endParaRPr>
                    </a:p>
                  </a:txBody>
                  <a:tcPr marL="45720" marR="45720" marT="45720" marB="45720" anchor="ctr">
                    <a:lnL w="6350" cap="flat" cmpd="sng" algn="ctr">
                      <a:solidFill>
                        <a:srgbClr val="D6E4F0"/>
                      </a:solidFill>
                      <a:prstDash val="solid"/>
                      <a:round/>
                      <a:headEnd type="none" w="med" len="med"/>
                      <a:tailEnd type="none" w="med" len="med"/>
                    </a:lnL>
                    <a:lnR w="6350" cap="flat" cmpd="sng" algn="ctr">
                      <a:solidFill>
                        <a:srgbClr val="D6E4F0"/>
                      </a:solidFill>
                      <a:prstDash val="solid"/>
                      <a:round/>
                      <a:headEnd type="none" w="med" len="med"/>
                      <a:tailEnd type="none" w="med" len="med"/>
                    </a:lnR>
                    <a:lnT w="6350" cap="flat" cmpd="sng" algn="ctr">
                      <a:solidFill>
                        <a:srgbClr val="D6E4F0"/>
                      </a:solidFill>
                      <a:prstDash val="solid"/>
                      <a:round/>
                      <a:headEnd type="none" w="med" len="med"/>
                      <a:tailEnd type="none" w="med" len="med"/>
                    </a:lnT>
                    <a:lnB w="6350" cap="flat" cmpd="sng" algn="ctr">
                      <a:solidFill>
                        <a:srgbClr val="D6E4F0"/>
                      </a:solidFill>
                      <a:prstDash val="solid"/>
                      <a:round/>
                      <a:headEnd type="none" w="med" len="med"/>
                      <a:tailEnd type="none" w="med" len="med"/>
                    </a:lnB>
                    <a:solidFill>
                      <a:srgbClr val="EAF1F8"/>
                    </a:solidFill>
                  </a:tcPr>
                </a:tc>
                <a:tc>
                  <a:txBody>
                    <a:bodyPr/>
                    <a:lstStyle/>
                    <a:p>
                      <a:pPr indent="0" marL="0">
                        <a:buNone/>
                      </a:pPr>
                      <a:r>
                        <a:rPr lang="en-US" sz="740" dirty="0">
                          <a:solidFill>
                            <a:srgbClr val="3F5265"/>
                          </a:solidFill>
                          <a:latin typeface="Calibri" pitchFamily="34" charset="0"/>
                          <a:ea typeface="Calibri" pitchFamily="34" charset="-122"/>
                          <a:cs typeface="Calibri" pitchFamily="34" charset="-120"/>
                        </a:rPr>
                        <a:t>14</a:t>
                      </a:r>
                      <a:endParaRPr lang="en-US" sz="740" dirty="0">
                        <a:latin typeface="Calibri" charset="0"/>
                        <a:ea typeface="Calibri" charset="0"/>
                        <a:cs typeface="Calibri" charset="0"/>
                      </a:endParaRPr>
                    </a:p>
                  </a:txBody>
                  <a:tcPr marL="45720" marR="45720" marT="45720" marB="45720" anchor="ctr">
                    <a:lnL w="6350" cap="flat" cmpd="sng" algn="ctr">
                      <a:solidFill>
                        <a:srgbClr val="D6E4F0"/>
                      </a:solidFill>
                      <a:prstDash val="solid"/>
                      <a:round/>
                      <a:headEnd type="none" w="med" len="med"/>
                      <a:tailEnd type="none" w="med" len="med"/>
                    </a:lnL>
                    <a:lnR w="6350" cap="flat" cmpd="sng" algn="ctr">
                      <a:solidFill>
                        <a:srgbClr val="D6E4F0"/>
                      </a:solidFill>
                      <a:prstDash val="solid"/>
                      <a:round/>
                      <a:headEnd type="none" w="med" len="med"/>
                      <a:tailEnd type="none" w="med" len="med"/>
                    </a:lnR>
                    <a:lnT w="6350" cap="flat" cmpd="sng" algn="ctr">
                      <a:solidFill>
                        <a:srgbClr val="D6E4F0"/>
                      </a:solidFill>
                      <a:prstDash val="solid"/>
                      <a:round/>
                      <a:headEnd type="none" w="med" len="med"/>
                      <a:tailEnd type="none" w="med" len="med"/>
                    </a:lnT>
                    <a:lnB w="6350" cap="flat" cmpd="sng" algn="ctr">
                      <a:solidFill>
                        <a:srgbClr val="D6E4F0"/>
                      </a:solidFill>
                      <a:prstDash val="solid"/>
                      <a:round/>
                      <a:headEnd type="none" w="med" len="med"/>
                      <a:tailEnd type="none" w="med" len="med"/>
                    </a:lnB>
                    <a:solidFill>
                      <a:srgbClr val="EAF1F8"/>
                    </a:solidFill>
                  </a:tcPr>
                </a:tc>
                <a:tc>
                  <a:txBody>
                    <a:bodyPr/>
                    <a:lstStyle/>
                    <a:p>
                      <a:pPr indent="0" marL="0">
                        <a:buNone/>
                      </a:pPr>
                      <a:r>
                        <a:rPr lang="en-US" sz="740" b="1" dirty="0">
                          <a:solidFill>
                            <a:srgbClr val="3F5265"/>
                          </a:solidFill>
                          <a:latin typeface="Calibri" pitchFamily="34" charset="0"/>
                          <a:ea typeface="Calibri" pitchFamily="34" charset="-122"/>
                          <a:cs typeface="Calibri" pitchFamily="34" charset="-120"/>
                        </a:rPr>
                        <a:t>3.1%</a:t>
                      </a:r>
                      <a:endParaRPr lang="en-US" sz="740" dirty="0">
                        <a:latin typeface="Calibri" charset="0"/>
                        <a:ea typeface="Calibri" charset="0"/>
                        <a:cs typeface="Calibri" charset="0"/>
                      </a:endParaRPr>
                    </a:p>
                  </a:txBody>
                  <a:tcPr marL="45720" marR="45720" marT="45720" marB="45720" anchor="ctr">
                    <a:lnL w="6350" cap="flat" cmpd="sng" algn="ctr">
                      <a:solidFill>
                        <a:srgbClr val="D6E4F0"/>
                      </a:solidFill>
                      <a:prstDash val="solid"/>
                      <a:round/>
                      <a:headEnd type="none" w="med" len="med"/>
                      <a:tailEnd type="none" w="med" len="med"/>
                    </a:lnL>
                    <a:lnR w="6350" cap="flat" cmpd="sng" algn="ctr">
                      <a:solidFill>
                        <a:srgbClr val="D6E4F0"/>
                      </a:solidFill>
                      <a:prstDash val="solid"/>
                      <a:round/>
                      <a:headEnd type="none" w="med" len="med"/>
                      <a:tailEnd type="none" w="med" len="med"/>
                    </a:lnR>
                    <a:lnT w="6350" cap="flat" cmpd="sng" algn="ctr">
                      <a:solidFill>
                        <a:srgbClr val="D6E4F0"/>
                      </a:solidFill>
                      <a:prstDash val="solid"/>
                      <a:round/>
                      <a:headEnd type="none" w="med" len="med"/>
                      <a:tailEnd type="none" w="med" len="med"/>
                    </a:lnT>
                    <a:lnB w="6350" cap="flat" cmpd="sng" algn="ctr">
                      <a:solidFill>
                        <a:srgbClr val="D6E4F0"/>
                      </a:solidFill>
                      <a:prstDash val="solid"/>
                      <a:round/>
                      <a:headEnd type="none" w="med" len="med"/>
                      <a:tailEnd type="none" w="med" len="med"/>
                    </a:lnB>
                    <a:solidFill>
                      <a:srgbClr val="EAF1F8"/>
                    </a:solidFill>
                  </a:tcPr>
                </a:tc>
                <a:tc>
                  <a:txBody>
                    <a:bodyPr/>
                    <a:lstStyle/>
                    <a:p>
                      <a:pPr indent="0" marL="0">
                        <a:buNone/>
                      </a:pPr>
                      <a:r>
                        <a:rPr lang="en-US" sz="740" dirty="0">
                          <a:solidFill>
                            <a:srgbClr val="3F5265"/>
                          </a:solidFill>
                          <a:latin typeface="Calibri" pitchFamily="34" charset="0"/>
                          <a:ea typeface="Calibri" pitchFamily="34" charset="-122"/>
                          <a:cs typeface="Calibri" pitchFamily="34" charset="-120"/>
                        </a:rPr>
                        <a:t>86% manage over $50bn</a:t>
                      </a:r>
                      <a:endParaRPr lang="en-US" sz="740" dirty="0">
                        <a:latin typeface="Calibri" charset="0"/>
                        <a:ea typeface="Calibri" charset="0"/>
                        <a:cs typeface="Calibri" charset="0"/>
                      </a:endParaRPr>
                    </a:p>
                  </a:txBody>
                  <a:tcPr marL="45720" marR="45720" marT="45720" marB="45720" anchor="ctr">
                    <a:lnL w="6350" cap="flat" cmpd="sng" algn="ctr">
                      <a:solidFill>
                        <a:srgbClr val="D6E4F0"/>
                      </a:solidFill>
                      <a:prstDash val="solid"/>
                      <a:round/>
                      <a:headEnd type="none" w="med" len="med"/>
                      <a:tailEnd type="none" w="med" len="med"/>
                    </a:lnL>
                    <a:lnR w="6350" cap="flat" cmpd="sng" algn="ctr">
                      <a:solidFill>
                        <a:srgbClr val="D6E4F0"/>
                      </a:solidFill>
                      <a:prstDash val="solid"/>
                      <a:round/>
                      <a:headEnd type="none" w="med" len="med"/>
                      <a:tailEnd type="none" w="med" len="med"/>
                    </a:lnR>
                    <a:lnT w="6350" cap="flat" cmpd="sng" algn="ctr">
                      <a:solidFill>
                        <a:srgbClr val="D6E4F0"/>
                      </a:solidFill>
                      <a:prstDash val="solid"/>
                      <a:round/>
                      <a:headEnd type="none" w="med" len="med"/>
                      <a:tailEnd type="none" w="med" len="med"/>
                    </a:lnT>
                    <a:lnB w="6350" cap="flat" cmpd="sng" algn="ctr">
                      <a:solidFill>
                        <a:srgbClr val="D6E4F0"/>
                      </a:solidFill>
                      <a:prstDash val="solid"/>
                      <a:round/>
                      <a:headEnd type="none" w="med" len="med"/>
                      <a:tailEnd type="none" w="med" len="med"/>
                    </a:lnB>
                    <a:solidFill>
                      <a:srgbClr val="EAF1F8"/>
                    </a:solidFill>
                  </a:tcPr>
                </a:tc>
                <a:tc>
                  <a:txBody>
                    <a:bodyPr/>
                    <a:lstStyle/>
                    <a:p>
                      <a:pPr indent="0" marL="0">
                        <a:buNone/>
                      </a:pPr>
                      <a:r>
                        <a:rPr lang="en-US" sz="740" dirty="0">
                          <a:solidFill>
                            <a:srgbClr val="3F5265"/>
                          </a:solidFill>
                          <a:latin typeface="Calibri" pitchFamily="34" charset="0"/>
                          <a:ea typeface="Calibri" pitchFamily="34" charset="-122"/>
                          <a:cs typeface="Calibri" pitchFamily="34" charset="-120"/>
                        </a:rPr>
                        <a:t>43% NA, 29% UK, 29% APAC</a:t>
                      </a:r>
                      <a:endParaRPr lang="en-US" sz="740" dirty="0">
                        <a:latin typeface="Calibri" charset="0"/>
                        <a:ea typeface="Calibri" charset="0"/>
                        <a:cs typeface="Calibri" charset="0"/>
                      </a:endParaRPr>
                    </a:p>
                  </a:txBody>
                  <a:tcPr marL="45720" marR="45720" marT="45720" marB="45720" anchor="ctr">
                    <a:lnL w="6350" cap="flat" cmpd="sng" algn="ctr">
                      <a:solidFill>
                        <a:srgbClr val="D6E4F0"/>
                      </a:solidFill>
                      <a:prstDash val="solid"/>
                      <a:round/>
                      <a:headEnd type="none" w="med" len="med"/>
                      <a:tailEnd type="none" w="med" len="med"/>
                    </a:lnL>
                    <a:lnR w="6350" cap="flat" cmpd="sng" algn="ctr">
                      <a:solidFill>
                        <a:srgbClr val="D6E4F0"/>
                      </a:solidFill>
                      <a:prstDash val="solid"/>
                      <a:round/>
                      <a:headEnd type="none" w="med" len="med"/>
                      <a:tailEnd type="none" w="med" len="med"/>
                    </a:lnR>
                    <a:lnT w="6350" cap="flat" cmpd="sng" algn="ctr">
                      <a:solidFill>
                        <a:srgbClr val="D6E4F0"/>
                      </a:solidFill>
                      <a:prstDash val="solid"/>
                      <a:round/>
                      <a:headEnd type="none" w="med" len="med"/>
                      <a:tailEnd type="none" w="med" len="med"/>
                    </a:lnT>
                    <a:lnB w="6350" cap="flat" cmpd="sng" algn="ctr">
                      <a:solidFill>
                        <a:srgbClr val="D6E4F0"/>
                      </a:solidFill>
                      <a:prstDash val="solid"/>
                      <a:round/>
                      <a:headEnd type="none" w="med" len="med"/>
                      <a:tailEnd type="none" w="med" len="med"/>
                    </a:lnB>
                    <a:solidFill>
                      <a:srgbClr val="EAF1F8"/>
                    </a:solidFill>
                  </a:tcPr>
                </a:tc>
              </a:tr>
            </a:tbl>
          </a:graphicData>
        </a:graphic>
      </p:graphicFrame>
      <p:sp>
        <p:nvSpPr>
          <p:cNvPr id="6" name="Shape 3"/>
          <p:cNvSpPr/>
          <p:nvPr/>
        </p:nvSpPr>
        <p:spPr>
          <a:xfrm>
            <a:off x="457200" y="4590288"/>
            <a:ext cx="3712464" cy="1572768"/>
          </a:xfrm>
          <a:prstGeom prst="roundRect">
            <a:avLst>
              <a:gd name="adj" fmla="val 2907"/>
            </a:avLst>
          </a:prstGeom>
          <a:solidFill>
            <a:srgbClr val="FFFFFF"/>
          </a:solidFill>
          <a:ln w="9525">
            <a:solidFill>
              <a:srgbClr val="D6E4F0"/>
            </a:solidFill>
            <a:prstDash val="solid"/>
          </a:ln>
        </p:spPr>
      </p:sp>
      <p:sp>
        <p:nvSpPr>
          <p:cNvPr id="7" name="Text 4"/>
          <p:cNvSpPr/>
          <p:nvPr/>
        </p:nvSpPr>
        <p:spPr>
          <a:xfrm>
            <a:off x="640080" y="4700016"/>
            <a:ext cx="3346704" cy="219456"/>
          </a:xfrm>
          <a:prstGeom prst="rect">
            <a:avLst/>
          </a:prstGeom>
          <a:noFill/>
          <a:ln/>
        </p:spPr>
        <p:txBody>
          <a:bodyPr wrap="square" lIns="0" tIns="0" rIns="0" bIns="0" rtlCol="0" anchor="ctr"/>
          <a:lstStyle/>
          <a:p>
            <a:pPr indent="0" marL="0">
              <a:buNone/>
            </a:pPr>
            <a:r>
              <a:rPr lang="en-US" sz="1100" b="1" dirty="0">
                <a:solidFill>
                  <a:srgbClr val="002D72"/>
                </a:solidFill>
                <a:latin typeface="Calibri" pitchFamily="34" charset="0"/>
                <a:ea typeface="Calibri" pitchFamily="34" charset="-122"/>
                <a:cs typeface="Calibri" pitchFamily="34" charset="-120"/>
              </a:rPr>
              <a:t>Why the two measures diverge</a:t>
            </a:r>
            <a:endParaRPr lang="en-US" sz="1100" dirty="0"/>
          </a:p>
        </p:txBody>
      </p:sp>
      <p:sp>
        <p:nvSpPr>
          <p:cNvPr id="8" name="Text 5"/>
          <p:cNvSpPr/>
          <p:nvPr/>
        </p:nvSpPr>
        <p:spPr>
          <a:xfrm>
            <a:off x="640080" y="4956048"/>
            <a:ext cx="3346704" cy="1097280"/>
          </a:xfrm>
          <a:prstGeom prst="rect">
            <a:avLst/>
          </a:prstGeom>
          <a:noFill/>
          <a:ln/>
        </p:spPr>
        <p:txBody>
          <a:bodyPr wrap="square" lIns="0" tIns="0" rIns="0" bIns="0" rtlCol="0" anchor="t"/>
          <a:lstStyle/>
          <a:p>
            <a:pPr indent="0" marL="0">
              <a:lnSpc>
                <a:spcPts val="1080"/>
              </a:lnSpc>
              <a:buNone/>
            </a:pPr>
            <a:r>
              <a:rPr lang="en-US" sz="840" dirty="0">
                <a:solidFill>
                  <a:srgbClr val="3F5265"/>
                </a:solidFill>
                <a:latin typeface="Calibri" pitchFamily="34" charset="0"/>
                <a:ea typeface="Calibri" pitchFamily="34" charset="-122"/>
                <a:cs typeface="Calibri" pitchFamily="34" charset="-120"/>
              </a:rPr>
              <a:t>Instinet and SS&amp;C Eze lead on client count but rank near the bottom on evaluations; Bloomberg and Virtu show the reverse. The survey weights responses by AUM and electronic trading scale, so vendors serving many smaller managers are under-represented relative to headcount. Read client count as reach, and evaluation share as presence on larger desks.</a:t>
            </a:r>
            <a:endParaRPr lang="en-US" sz="840" dirty="0"/>
          </a:p>
        </p:txBody>
      </p:sp>
      <p:sp>
        <p:nvSpPr>
          <p:cNvPr id="9" name="Shape 6"/>
          <p:cNvSpPr/>
          <p:nvPr/>
        </p:nvSpPr>
        <p:spPr>
          <a:xfrm>
            <a:off x="4297680" y="4590288"/>
            <a:ext cx="3712464" cy="1572768"/>
          </a:xfrm>
          <a:prstGeom prst="roundRect">
            <a:avLst>
              <a:gd name="adj" fmla="val 2907"/>
            </a:avLst>
          </a:prstGeom>
          <a:solidFill>
            <a:srgbClr val="EAF1F8"/>
          </a:solidFill>
          <a:ln w="9525">
            <a:solidFill>
              <a:srgbClr val="D6E4F0"/>
            </a:solidFill>
            <a:prstDash val="solid"/>
          </a:ln>
        </p:spPr>
      </p:sp>
      <p:sp>
        <p:nvSpPr>
          <p:cNvPr id="10" name="Text 7"/>
          <p:cNvSpPr/>
          <p:nvPr/>
        </p:nvSpPr>
        <p:spPr>
          <a:xfrm>
            <a:off x="4480560" y="4700016"/>
            <a:ext cx="3346704" cy="219456"/>
          </a:xfrm>
          <a:prstGeom prst="rect">
            <a:avLst/>
          </a:prstGeom>
          <a:noFill/>
          <a:ln/>
        </p:spPr>
        <p:txBody>
          <a:bodyPr wrap="square" lIns="0" tIns="0" rIns="0" bIns="0" rtlCol="0" anchor="ctr"/>
          <a:lstStyle/>
          <a:p>
            <a:pPr indent="0" marL="0">
              <a:buNone/>
            </a:pPr>
            <a:r>
              <a:rPr lang="en-US" sz="1100" b="1" dirty="0">
                <a:solidFill>
                  <a:srgbClr val="002D72"/>
                </a:solidFill>
                <a:latin typeface="Calibri" pitchFamily="34" charset="0"/>
                <a:ea typeface="Calibri" pitchFamily="34" charset="-122"/>
                <a:cs typeface="Calibri" pitchFamily="34" charset="-120"/>
              </a:rPr>
              <a:t>Relevance to APAC coverage</a:t>
            </a:r>
            <a:endParaRPr lang="en-US" sz="1100" dirty="0"/>
          </a:p>
        </p:txBody>
      </p:sp>
      <p:sp>
        <p:nvSpPr>
          <p:cNvPr id="11" name="Text 8"/>
          <p:cNvSpPr/>
          <p:nvPr/>
        </p:nvSpPr>
        <p:spPr>
          <a:xfrm>
            <a:off x="4480560" y="4956048"/>
            <a:ext cx="3346704" cy="1097280"/>
          </a:xfrm>
          <a:prstGeom prst="rect">
            <a:avLst/>
          </a:prstGeom>
          <a:noFill/>
          <a:ln/>
        </p:spPr>
        <p:txBody>
          <a:bodyPr wrap="square" lIns="0" tIns="0" rIns="0" bIns="0" rtlCol="0" anchor="t"/>
          <a:lstStyle/>
          <a:p>
            <a:pPr indent="0" marL="0">
              <a:lnSpc>
                <a:spcPts val="1080"/>
              </a:lnSpc>
              <a:buNone/>
            </a:pPr>
            <a:r>
              <a:rPr lang="en-US" sz="840" dirty="0">
                <a:solidFill>
                  <a:srgbClr val="3F5265"/>
                </a:solidFill>
                <a:latin typeface="Calibri" pitchFamily="34" charset="0"/>
                <a:ea typeface="Calibri" pitchFamily="34" charset="-122"/>
                <a:cs typeface="Calibri" pitchFamily="34" charset="-120"/>
              </a:rPr>
              <a:t>LSEG TORA and Neovest are mid-table on both measures globally but carry the highest APAC weighting of any profiled vendor, at 68% and 40% respectively. For Hong Kong coverage these two warrant disproportionate attention relative to their global ranking, and both scored above the survey average.</a:t>
            </a:r>
            <a:endParaRPr lang="en-US" sz="840" dirty="0"/>
          </a:p>
        </p:txBody>
      </p:sp>
      <p:sp>
        <p:nvSpPr>
          <p:cNvPr id="12" name="Shape 9"/>
          <p:cNvSpPr/>
          <p:nvPr/>
        </p:nvSpPr>
        <p:spPr>
          <a:xfrm>
            <a:off x="8138160" y="4590288"/>
            <a:ext cx="3593592" cy="1572768"/>
          </a:xfrm>
          <a:prstGeom prst="roundRect">
            <a:avLst>
              <a:gd name="adj" fmla="val 2907"/>
            </a:avLst>
          </a:prstGeom>
          <a:solidFill>
            <a:srgbClr val="FBEDEC"/>
          </a:solidFill>
          <a:ln w="9525">
            <a:solidFill>
              <a:srgbClr val="F0C9C6"/>
            </a:solidFill>
            <a:prstDash val="solid"/>
          </a:ln>
        </p:spPr>
      </p:sp>
      <p:sp>
        <p:nvSpPr>
          <p:cNvPr id="13" name="Shape 10"/>
          <p:cNvSpPr/>
          <p:nvPr/>
        </p:nvSpPr>
        <p:spPr>
          <a:xfrm>
            <a:off x="8138160" y="4590288"/>
            <a:ext cx="45720" cy="1572768"/>
          </a:xfrm>
          <a:prstGeom prst="rect">
            <a:avLst/>
          </a:prstGeom>
          <a:solidFill>
            <a:srgbClr val="D9261C"/>
          </a:solidFill>
          <a:ln w="12700">
            <a:solidFill>
              <a:srgbClr val="333333"/>
            </a:solidFill>
            <a:prstDash val="solid"/>
          </a:ln>
        </p:spPr>
      </p:sp>
      <p:sp>
        <p:nvSpPr>
          <p:cNvPr id="14" name="Text 11"/>
          <p:cNvSpPr/>
          <p:nvPr/>
        </p:nvSpPr>
        <p:spPr>
          <a:xfrm>
            <a:off x="8375904" y="4700016"/>
            <a:ext cx="3200400" cy="219456"/>
          </a:xfrm>
          <a:prstGeom prst="rect">
            <a:avLst/>
          </a:prstGeom>
          <a:noFill/>
          <a:ln/>
        </p:spPr>
        <p:txBody>
          <a:bodyPr wrap="square" lIns="0" tIns="0" rIns="0" bIns="0" rtlCol="0" anchor="ctr"/>
          <a:lstStyle/>
          <a:p>
            <a:pPr indent="0" marL="0">
              <a:buNone/>
            </a:pPr>
            <a:r>
              <a:rPr lang="en-US" sz="1100" b="1" dirty="0">
                <a:solidFill>
                  <a:srgbClr val="002D72"/>
                </a:solidFill>
                <a:latin typeface="Calibri" pitchFamily="34" charset="0"/>
                <a:ea typeface="Calibri" pitchFamily="34" charset="-122"/>
                <a:cs typeface="Calibri" pitchFamily="34" charset="-120"/>
              </a:rPr>
              <a:t>Constraints on these figures</a:t>
            </a:r>
            <a:endParaRPr lang="en-US" sz="1100" dirty="0"/>
          </a:p>
        </p:txBody>
      </p:sp>
      <p:sp>
        <p:nvSpPr>
          <p:cNvPr id="15" name="Text 12"/>
          <p:cNvSpPr/>
          <p:nvPr/>
        </p:nvSpPr>
        <p:spPr>
          <a:xfrm>
            <a:off x="8375904" y="4956048"/>
            <a:ext cx="3200400" cy="1097280"/>
          </a:xfrm>
          <a:prstGeom prst="rect">
            <a:avLst/>
          </a:prstGeom>
          <a:noFill/>
          <a:ln/>
        </p:spPr>
        <p:txBody>
          <a:bodyPr wrap="square" lIns="0" tIns="0" rIns="0" bIns="0" rtlCol="0" anchor="t"/>
          <a:lstStyle/>
          <a:p>
            <a:pPr marL="342900" indent="-342900">
              <a:lnSpc>
                <a:spcPts val="1082"/>
              </a:lnSpc>
              <a:spcAft>
                <a:spcPts val="350"/>
              </a:spcAft>
              <a:buSzPct val="100000"/>
              <a:buChar char="•"/>
            </a:pPr>
            <a:r>
              <a:rPr lang="en-US" sz="820" dirty="0">
                <a:solidFill>
                  <a:srgbClr val="3F5265"/>
                </a:solidFill>
                <a:latin typeface="Calibri" pitchFamily="34" charset="0"/>
                <a:ea typeface="Calibri" pitchFamily="34" charset="-122"/>
                <a:cs typeface="Calibri" pitchFamily="34" charset="-120"/>
              </a:rPr>
              <a:t>Client counts are vendor-stated and definitions of “client” differ between providers</a:t>
            </a:r>
            <a:endParaRPr lang="en-US" sz="820" dirty="0"/>
          </a:p>
          <a:p>
            <a:pPr marL="342900" indent="-342900">
              <a:lnSpc>
                <a:spcPts val="1082"/>
              </a:lnSpc>
              <a:spcAft>
                <a:spcPts val="350"/>
              </a:spcAft>
              <a:buSzPct val="100000"/>
              <a:buChar char="•"/>
            </a:pPr>
            <a:r>
              <a:rPr lang="en-US" sz="820" dirty="0">
                <a:solidFill>
                  <a:srgbClr val="3F5265"/>
                </a:solidFill>
                <a:latin typeface="Calibri" pitchFamily="34" charset="0"/>
                <a:ea typeface="Calibri" pitchFamily="34" charset="-122"/>
                <a:cs typeface="Calibri" pitchFamily="34" charset="-120"/>
              </a:rPr>
              <a:t>Evaluation shares are calculated across 450 ratings for the ten profiled vendors, not a market census</a:t>
            </a:r>
            <a:endParaRPr lang="en-US" sz="820" dirty="0"/>
          </a:p>
          <a:p>
            <a:pPr marL="342900" indent="-342900">
              <a:lnSpc>
                <a:spcPts val="1082"/>
              </a:lnSpc>
              <a:spcAft>
                <a:spcPts val="350"/>
              </a:spcAft>
              <a:buSzPct val="100000"/>
              <a:buChar char="•"/>
            </a:pPr>
            <a:r>
              <a:rPr lang="en-US" sz="820" dirty="0">
                <a:solidFill>
                  <a:srgbClr val="3F5265"/>
                </a:solidFill>
                <a:latin typeface="Calibri" pitchFamily="34" charset="0"/>
                <a:ea typeface="Calibri" pitchFamily="34" charset="-122"/>
                <a:cs typeface="Calibri" pitchFamily="34" charset="-120"/>
              </a:rPr>
              <a:t>Neither measure indicates revenue, order flow or Citi's own client distribution</a:t>
            </a:r>
            <a:endParaRPr lang="en-US" sz="820" dirty="0"/>
          </a:p>
        </p:txBody>
      </p:sp>
      <p:sp>
        <p:nvSpPr>
          <p:cNvPr id="16" name="Text 13"/>
          <p:cNvSpPr/>
          <p:nvPr/>
        </p:nvSpPr>
        <p:spPr>
          <a:xfrm>
            <a:off x="457200" y="6291072"/>
            <a:ext cx="11274552" cy="512064"/>
          </a:xfrm>
          <a:prstGeom prst="rect">
            <a:avLst/>
          </a:prstGeom>
          <a:noFill/>
          <a:ln/>
        </p:spPr>
        <p:txBody>
          <a:bodyPr wrap="square" lIns="0" tIns="0" rIns="0" bIns="0" rtlCol="0" anchor="t"/>
          <a:lstStyle/>
          <a:p>
            <a:pPr indent="0" marL="0">
              <a:lnSpc>
                <a:spcPts val="1060"/>
              </a:lnSpc>
              <a:buNone/>
            </a:pPr>
            <a:r>
              <a:rPr lang="en-US" sz="830" dirty="0">
                <a:solidFill>
                  <a:srgbClr val="7A8A99"/>
                </a:solidFill>
                <a:latin typeface="Calibri" pitchFamily="34" charset="0"/>
                <a:ea typeface="Calibri" pitchFamily="34" charset="-122"/>
                <a:cs typeface="Calibri" pitchFamily="34" charset="-120"/>
              </a:rPr>
              <a:t>Sources: The TRADE EMS Survey 2025 and 2024 provider profiles for client counts, ratings volumes and respondent characteristics. Share of profiled evaluations is calculated by Platform Sales as each vendor's ratings divided by the 450 ratings received across the ten profiled vendors. Citi-specific client distribution by vendor is internal and remains outstanding — see p11.</a:t>
            </a:r>
            <a:endParaRPr lang="en-US" sz="83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457200" y="237744"/>
            <a:ext cx="11274552" cy="219456"/>
          </a:xfrm>
          <a:prstGeom prst="rect">
            <a:avLst/>
          </a:prstGeom>
          <a:noFill/>
          <a:ln/>
        </p:spPr>
        <p:txBody>
          <a:bodyPr wrap="square" lIns="0" tIns="0" rIns="0" bIns="0" rtlCol="0" anchor="ctr"/>
          <a:lstStyle/>
          <a:p>
            <a:pPr indent="0" marL="0">
              <a:buNone/>
            </a:pPr>
            <a:r>
              <a:rPr lang="en-US" sz="1000" b="1" spc="140" kern="0" dirty="0">
                <a:solidFill>
                  <a:srgbClr val="056DAE"/>
                </a:solidFill>
                <a:latin typeface="Calibri" pitchFamily="34" charset="0"/>
                <a:ea typeface="Calibri" pitchFamily="34" charset="-122"/>
                <a:cs typeface="Calibri" pitchFamily="34" charset="-120"/>
              </a:rPr>
              <a:t>REFERENCE</a:t>
            </a:r>
            <a:endParaRPr lang="en-US" sz="1000" dirty="0"/>
          </a:p>
        </p:txBody>
      </p:sp>
      <p:sp>
        <p:nvSpPr>
          <p:cNvPr id="3" name="Text 1"/>
          <p:cNvSpPr/>
          <p:nvPr/>
        </p:nvSpPr>
        <p:spPr>
          <a:xfrm>
            <a:off x="457200" y="457200"/>
            <a:ext cx="11274552" cy="512064"/>
          </a:xfrm>
          <a:prstGeom prst="rect">
            <a:avLst/>
          </a:prstGeom>
          <a:noFill/>
          <a:ln/>
        </p:spPr>
        <p:txBody>
          <a:bodyPr wrap="square" lIns="0" tIns="0" rIns="0" bIns="0" rtlCol="0" anchor="t"/>
          <a:lstStyle/>
          <a:p>
            <a:pPr indent="0" marL="0">
              <a:buNone/>
            </a:pPr>
            <a:r>
              <a:rPr lang="en-US" sz="2500" b="1" dirty="0">
                <a:solidFill>
                  <a:srgbClr val="002D72"/>
                </a:solidFill>
                <a:latin typeface="Cambria" pitchFamily="34" charset="0"/>
                <a:ea typeface="Cambria" pitchFamily="34" charset="-122"/>
                <a:cs typeface="Cambria" pitchFamily="34" charset="-120"/>
              </a:rPr>
              <a:t>Vendor assessment and suitability</a:t>
            </a:r>
            <a:endParaRPr lang="en-US" sz="2500" dirty="0"/>
          </a:p>
        </p:txBody>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457200" y="1060704"/>
          <a:ext cx="11274552" cy="914400"/>
        </p:xfrm>
        <a:graphic>
          <a:graphicData uri="http://schemas.openxmlformats.org/drawingml/2006/table">
            <a:tbl>
              <a:tblPr/>
              <a:tblGrid>
                <a:gridCol w="1481328"/>
                <a:gridCol w="1115568"/>
                <a:gridCol w="502920"/>
                <a:gridCol w="1627632"/>
                <a:gridCol w="2231136"/>
                <a:gridCol w="4315968"/>
              </a:tblGrid>
              <a:tr h="365760">
                <a:tc>
                  <a:txBody>
                    <a:bodyPr/>
                    <a:lstStyle/>
                    <a:p>
                      <a:pPr indent="0" marL="0">
                        <a:buNone/>
                      </a:pPr>
                      <a:r>
                        <a:rPr lang="en-US" sz="760" b="1" dirty="0">
                          <a:solidFill>
                            <a:srgbClr val="FFFFFF"/>
                          </a:solidFill>
                          <a:latin typeface="Calibri" pitchFamily="34" charset="0"/>
                          <a:ea typeface="Calibri" pitchFamily="34" charset="-122"/>
                          <a:cs typeface="Calibri" pitchFamily="34" charset="-120"/>
                        </a:rPr>
                        <a:t>Vendor</a:t>
                      </a:r>
                      <a:endParaRPr lang="en-US" sz="760" dirty="0">
                        <a:latin typeface="Calibri" charset="0"/>
                        <a:ea typeface="Calibri" charset="0"/>
                        <a:cs typeface="Calibri" charset="0"/>
                      </a:endParaRPr>
                    </a:p>
                  </a:txBody>
                  <a:tcPr marL="45720" marR="45720" marT="45720" marB="45720" anchor="ctr">
                    <a:lnL w="6350" cap="flat" cmpd="sng" algn="ctr">
                      <a:solidFill>
                        <a:srgbClr val="D6E4F0"/>
                      </a:solidFill>
                      <a:prstDash val="solid"/>
                      <a:round/>
                      <a:headEnd type="none" w="med" len="med"/>
                      <a:tailEnd type="none" w="med" len="med"/>
                    </a:lnL>
                    <a:lnR w="6350" cap="flat" cmpd="sng" algn="ctr">
                      <a:solidFill>
                        <a:srgbClr val="D6E4F0"/>
                      </a:solidFill>
                      <a:prstDash val="solid"/>
                      <a:round/>
                      <a:headEnd type="none" w="med" len="med"/>
                      <a:tailEnd type="none" w="med" len="med"/>
                    </a:lnR>
                    <a:lnT w="6350" cap="flat" cmpd="sng" algn="ctr">
                      <a:solidFill>
                        <a:srgbClr val="D6E4F0"/>
                      </a:solidFill>
                      <a:prstDash val="solid"/>
                      <a:round/>
                      <a:headEnd type="none" w="med" len="med"/>
                      <a:tailEnd type="none" w="med" len="med"/>
                    </a:lnT>
                    <a:lnB w="6350" cap="flat" cmpd="sng" algn="ctr">
                      <a:solidFill>
                        <a:srgbClr val="D6E4F0"/>
                      </a:solidFill>
                      <a:prstDash val="solid"/>
                      <a:round/>
                      <a:headEnd type="none" w="med" len="med"/>
                      <a:tailEnd type="none" w="med" len="med"/>
                    </a:lnB>
                    <a:solidFill>
                      <a:srgbClr val="002D72"/>
                    </a:solidFill>
                  </a:tcPr>
                </a:tc>
                <a:tc>
                  <a:txBody>
                    <a:bodyPr/>
                    <a:lstStyle/>
                    <a:p>
                      <a:pPr indent="0" marL="0">
                        <a:buNone/>
                      </a:pPr>
                      <a:r>
                        <a:rPr lang="en-US" sz="760" b="1" dirty="0">
                          <a:solidFill>
                            <a:srgbClr val="FFFFFF"/>
                          </a:solidFill>
                          <a:latin typeface="Calibri" pitchFamily="34" charset="0"/>
                          <a:ea typeface="Calibri" pitchFamily="34" charset="-122"/>
                          <a:cs typeface="Calibri" pitchFamily="34" charset="-120"/>
                        </a:rPr>
                        <a:t>Owner</a:t>
                      </a:r>
                      <a:endParaRPr lang="en-US" sz="760" dirty="0">
                        <a:latin typeface="Calibri" charset="0"/>
                        <a:ea typeface="Calibri" charset="0"/>
                        <a:cs typeface="Calibri" charset="0"/>
                      </a:endParaRPr>
                    </a:p>
                  </a:txBody>
                  <a:tcPr marL="45720" marR="45720" marT="45720" marB="45720" anchor="ctr">
                    <a:lnL w="6350" cap="flat" cmpd="sng" algn="ctr">
                      <a:solidFill>
                        <a:srgbClr val="D6E4F0"/>
                      </a:solidFill>
                      <a:prstDash val="solid"/>
                      <a:round/>
                      <a:headEnd type="none" w="med" len="med"/>
                      <a:tailEnd type="none" w="med" len="med"/>
                    </a:lnL>
                    <a:lnR w="6350" cap="flat" cmpd="sng" algn="ctr">
                      <a:solidFill>
                        <a:srgbClr val="D6E4F0"/>
                      </a:solidFill>
                      <a:prstDash val="solid"/>
                      <a:round/>
                      <a:headEnd type="none" w="med" len="med"/>
                      <a:tailEnd type="none" w="med" len="med"/>
                    </a:lnR>
                    <a:lnT w="6350" cap="flat" cmpd="sng" algn="ctr">
                      <a:solidFill>
                        <a:srgbClr val="D6E4F0"/>
                      </a:solidFill>
                      <a:prstDash val="solid"/>
                      <a:round/>
                      <a:headEnd type="none" w="med" len="med"/>
                      <a:tailEnd type="none" w="med" len="med"/>
                    </a:lnT>
                    <a:lnB w="6350" cap="flat" cmpd="sng" algn="ctr">
                      <a:solidFill>
                        <a:srgbClr val="D6E4F0"/>
                      </a:solidFill>
                      <a:prstDash val="solid"/>
                      <a:round/>
                      <a:headEnd type="none" w="med" len="med"/>
                      <a:tailEnd type="none" w="med" len="med"/>
                    </a:lnB>
                    <a:solidFill>
                      <a:srgbClr val="002D72"/>
                    </a:solidFill>
                  </a:tcPr>
                </a:tc>
                <a:tc>
                  <a:txBody>
                    <a:bodyPr/>
                    <a:lstStyle/>
                    <a:p>
                      <a:pPr indent="0" marL="0">
                        <a:buNone/>
                      </a:pPr>
                      <a:r>
                        <a:rPr lang="en-US" sz="760" b="1" dirty="0">
                          <a:solidFill>
                            <a:srgbClr val="FFFFFF"/>
                          </a:solidFill>
                          <a:latin typeface="Calibri" pitchFamily="34" charset="0"/>
                          <a:ea typeface="Calibri" pitchFamily="34" charset="-122"/>
                          <a:cs typeface="Calibri" pitchFamily="34" charset="-120"/>
                        </a:rPr>
                        <a:t>2025</a:t>
                      </a:r>
                      <a:endParaRPr lang="en-US" sz="760" dirty="0">
                        <a:latin typeface="Calibri" charset="0"/>
                        <a:ea typeface="Calibri" charset="0"/>
                        <a:cs typeface="Calibri" charset="0"/>
                      </a:endParaRPr>
                    </a:p>
                    <a:p>
                      <a:pPr indent="0" marL="0">
                        <a:buNone/>
                      </a:pPr>
                      <a:r>
                        <a:rPr lang="en-US" sz="760" b="1" dirty="0">
                          <a:solidFill>
                            <a:srgbClr val="FFFFFF"/>
                          </a:solidFill>
                          <a:latin typeface="Calibri" pitchFamily="34" charset="0"/>
                          <a:ea typeface="Calibri" pitchFamily="34" charset="-122"/>
                          <a:cs typeface="Calibri" pitchFamily="34" charset="-120"/>
                        </a:rPr>
                        <a:t>score</a:t>
                      </a:r>
                      <a:endParaRPr lang="en-US" sz="760" dirty="0">
                        <a:latin typeface="Calibri" charset="0"/>
                        <a:ea typeface="Calibri" charset="0"/>
                        <a:cs typeface="Calibri" charset="0"/>
                      </a:endParaRPr>
                    </a:p>
                  </a:txBody>
                  <a:tcPr marL="45720" marR="45720" marT="45720" marB="45720" anchor="ctr">
                    <a:lnL w="6350" cap="flat" cmpd="sng" algn="ctr">
                      <a:solidFill>
                        <a:srgbClr val="D6E4F0"/>
                      </a:solidFill>
                      <a:prstDash val="solid"/>
                      <a:round/>
                      <a:headEnd type="none" w="med" len="med"/>
                      <a:tailEnd type="none" w="med" len="med"/>
                    </a:lnL>
                    <a:lnR w="6350" cap="flat" cmpd="sng" algn="ctr">
                      <a:solidFill>
                        <a:srgbClr val="D6E4F0"/>
                      </a:solidFill>
                      <a:prstDash val="solid"/>
                      <a:round/>
                      <a:headEnd type="none" w="med" len="med"/>
                      <a:tailEnd type="none" w="med" len="med"/>
                    </a:lnR>
                    <a:lnT w="6350" cap="flat" cmpd="sng" algn="ctr">
                      <a:solidFill>
                        <a:srgbClr val="D6E4F0"/>
                      </a:solidFill>
                      <a:prstDash val="solid"/>
                      <a:round/>
                      <a:headEnd type="none" w="med" len="med"/>
                      <a:tailEnd type="none" w="med" len="med"/>
                    </a:lnT>
                    <a:lnB w="6350" cap="flat" cmpd="sng" algn="ctr">
                      <a:solidFill>
                        <a:srgbClr val="D6E4F0"/>
                      </a:solidFill>
                      <a:prstDash val="solid"/>
                      <a:round/>
                      <a:headEnd type="none" w="med" len="med"/>
                      <a:tailEnd type="none" w="med" len="med"/>
                    </a:lnB>
                    <a:solidFill>
                      <a:srgbClr val="002D72"/>
                    </a:solidFill>
                  </a:tcPr>
                </a:tc>
                <a:tc>
                  <a:txBody>
                    <a:bodyPr/>
                    <a:lstStyle/>
                    <a:p>
                      <a:pPr indent="0" marL="0">
                        <a:buNone/>
                      </a:pPr>
                      <a:r>
                        <a:rPr lang="en-US" sz="760" b="1" dirty="0">
                          <a:solidFill>
                            <a:srgbClr val="FFFFFF"/>
                          </a:solidFill>
                          <a:latin typeface="Calibri" pitchFamily="34" charset="0"/>
                          <a:ea typeface="Calibri" pitchFamily="34" charset="-122"/>
                          <a:cs typeface="Calibri" pitchFamily="34" charset="-120"/>
                        </a:rPr>
                        <a:t>Asset coverage</a:t>
                      </a:r>
                      <a:endParaRPr lang="en-US" sz="760" dirty="0">
                        <a:latin typeface="Calibri" charset="0"/>
                        <a:ea typeface="Calibri" charset="0"/>
                        <a:cs typeface="Calibri" charset="0"/>
                      </a:endParaRPr>
                    </a:p>
                  </a:txBody>
                  <a:tcPr marL="45720" marR="45720" marT="45720" marB="45720" anchor="ctr">
                    <a:lnL w="6350" cap="flat" cmpd="sng" algn="ctr">
                      <a:solidFill>
                        <a:srgbClr val="D6E4F0"/>
                      </a:solidFill>
                      <a:prstDash val="solid"/>
                      <a:round/>
                      <a:headEnd type="none" w="med" len="med"/>
                      <a:tailEnd type="none" w="med" len="med"/>
                    </a:lnL>
                    <a:lnR w="6350" cap="flat" cmpd="sng" algn="ctr">
                      <a:solidFill>
                        <a:srgbClr val="D6E4F0"/>
                      </a:solidFill>
                      <a:prstDash val="solid"/>
                      <a:round/>
                      <a:headEnd type="none" w="med" len="med"/>
                      <a:tailEnd type="none" w="med" len="med"/>
                    </a:lnR>
                    <a:lnT w="6350" cap="flat" cmpd="sng" algn="ctr">
                      <a:solidFill>
                        <a:srgbClr val="D6E4F0"/>
                      </a:solidFill>
                      <a:prstDash val="solid"/>
                      <a:round/>
                      <a:headEnd type="none" w="med" len="med"/>
                      <a:tailEnd type="none" w="med" len="med"/>
                    </a:lnT>
                    <a:lnB w="6350" cap="flat" cmpd="sng" algn="ctr">
                      <a:solidFill>
                        <a:srgbClr val="D6E4F0"/>
                      </a:solidFill>
                      <a:prstDash val="solid"/>
                      <a:round/>
                      <a:headEnd type="none" w="med" len="med"/>
                      <a:tailEnd type="none" w="med" len="med"/>
                    </a:lnB>
                    <a:solidFill>
                      <a:srgbClr val="002D72"/>
                    </a:solidFill>
                  </a:tcPr>
                </a:tc>
                <a:tc>
                  <a:txBody>
                    <a:bodyPr/>
                    <a:lstStyle/>
                    <a:p>
                      <a:pPr indent="0" marL="0">
                        <a:buNone/>
                      </a:pPr>
                      <a:r>
                        <a:rPr lang="en-US" sz="760" b="1" dirty="0">
                          <a:solidFill>
                            <a:srgbClr val="FFFFFF"/>
                          </a:solidFill>
                          <a:latin typeface="Calibri" pitchFamily="34" charset="0"/>
                          <a:ea typeface="Calibri" pitchFamily="34" charset="-122"/>
                          <a:cs typeface="Calibri" pitchFamily="34" charset="-120"/>
                        </a:rPr>
                        <a:t>Best suited to</a:t>
                      </a:r>
                      <a:endParaRPr lang="en-US" sz="760" dirty="0">
                        <a:latin typeface="Calibri" charset="0"/>
                        <a:ea typeface="Calibri" charset="0"/>
                        <a:cs typeface="Calibri" charset="0"/>
                      </a:endParaRPr>
                    </a:p>
                  </a:txBody>
                  <a:tcPr marL="45720" marR="45720" marT="45720" marB="45720" anchor="ctr">
                    <a:lnL w="6350" cap="flat" cmpd="sng" algn="ctr">
                      <a:solidFill>
                        <a:srgbClr val="D6E4F0"/>
                      </a:solidFill>
                      <a:prstDash val="solid"/>
                      <a:round/>
                      <a:headEnd type="none" w="med" len="med"/>
                      <a:tailEnd type="none" w="med" len="med"/>
                    </a:lnL>
                    <a:lnR w="6350" cap="flat" cmpd="sng" algn="ctr">
                      <a:solidFill>
                        <a:srgbClr val="D6E4F0"/>
                      </a:solidFill>
                      <a:prstDash val="solid"/>
                      <a:round/>
                      <a:headEnd type="none" w="med" len="med"/>
                      <a:tailEnd type="none" w="med" len="med"/>
                    </a:lnR>
                    <a:lnT w="6350" cap="flat" cmpd="sng" algn="ctr">
                      <a:solidFill>
                        <a:srgbClr val="D6E4F0"/>
                      </a:solidFill>
                      <a:prstDash val="solid"/>
                      <a:round/>
                      <a:headEnd type="none" w="med" len="med"/>
                      <a:tailEnd type="none" w="med" len="med"/>
                    </a:lnT>
                    <a:lnB w="6350" cap="flat" cmpd="sng" algn="ctr">
                      <a:solidFill>
                        <a:srgbClr val="D6E4F0"/>
                      </a:solidFill>
                      <a:prstDash val="solid"/>
                      <a:round/>
                      <a:headEnd type="none" w="med" len="med"/>
                      <a:tailEnd type="none" w="med" len="med"/>
                    </a:lnB>
                    <a:solidFill>
                      <a:srgbClr val="002D72"/>
                    </a:solidFill>
                  </a:tcPr>
                </a:tc>
                <a:tc>
                  <a:txBody>
                    <a:bodyPr/>
                    <a:lstStyle/>
                    <a:p>
                      <a:pPr indent="0" marL="0">
                        <a:buNone/>
                      </a:pPr>
                      <a:r>
                        <a:rPr lang="en-US" sz="760" b="1" dirty="0">
                          <a:solidFill>
                            <a:srgbClr val="FFFFFF"/>
                          </a:solidFill>
                          <a:latin typeface="Calibri" pitchFamily="34" charset="0"/>
                          <a:ea typeface="Calibri" pitchFamily="34" charset="-122"/>
                          <a:cs typeface="Calibri" pitchFamily="34" charset="-120"/>
                        </a:rPr>
                        <a:t>Exercise caution where…</a:t>
                      </a:r>
                      <a:endParaRPr lang="en-US" sz="760" dirty="0">
                        <a:latin typeface="Calibri" charset="0"/>
                        <a:ea typeface="Calibri" charset="0"/>
                        <a:cs typeface="Calibri" charset="0"/>
                      </a:endParaRPr>
                    </a:p>
                  </a:txBody>
                  <a:tcPr marL="45720" marR="45720" marT="45720" marB="45720" anchor="ctr">
                    <a:lnL w="6350" cap="flat" cmpd="sng" algn="ctr">
                      <a:solidFill>
                        <a:srgbClr val="D6E4F0"/>
                      </a:solidFill>
                      <a:prstDash val="solid"/>
                      <a:round/>
                      <a:headEnd type="none" w="med" len="med"/>
                      <a:tailEnd type="none" w="med" len="med"/>
                    </a:lnL>
                    <a:lnR w="6350" cap="flat" cmpd="sng" algn="ctr">
                      <a:solidFill>
                        <a:srgbClr val="D6E4F0"/>
                      </a:solidFill>
                      <a:prstDash val="solid"/>
                      <a:round/>
                      <a:headEnd type="none" w="med" len="med"/>
                      <a:tailEnd type="none" w="med" len="med"/>
                    </a:lnR>
                    <a:lnT w="6350" cap="flat" cmpd="sng" algn="ctr">
                      <a:solidFill>
                        <a:srgbClr val="D6E4F0"/>
                      </a:solidFill>
                      <a:prstDash val="solid"/>
                      <a:round/>
                      <a:headEnd type="none" w="med" len="med"/>
                      <a:tailEnd type="none" w="med" len="med"/>
                    </a:lnT>
                    <a:lnB w="6350" cap="flat" cmpd="sng" algn="ctr">
                      <a:solidFill>
                        <a:srgbClr val="D6E4F0"/>
                      </a:solidFill>
                      <a:prstDash val="solid"/>
                      <a:round/>
                      <a:headEnd type="none" w="med" len="med"/>
                      <a:tailEnd type="none" w="med" len="med"/>
                    </a:lnB>
                    <a:solidFill>
                      <a:srgbClr val="002D72"/>
                    </a:solidFill>
                  </a:tcPr>
                </a:tc>
              </a:tr>
              <a:tr h="365760">
                <a:tc>
                  <a:txBody>
                    <a:bodyPr/>
                    <a:lstStyle/>
                    <a:p>
                      <a:pPr indent="0" marL="0">
                        <a:buNone/>
                      </a:pPr>
                      <a:r>
                        <a:rPr lang="en-US" sz="720" b="1" dirty="0">
                          <a:solidFill>
                            <a:srgbClr val="002D72"/>
                          </a:solidFill>
                          <a:latin typeface="Calibri" pitchFamily="34" charset="0"/>
                          <a:ea typeface="Calibri" pitchFamily="34" charset="-122"/>
                          <a:cs typeface="Calibri" pitchFamily="34" charset="-120"/>
                        </a:rPr>
                        <a:t>Virtu Triton</a:t>
                      </a:r>
                      <a:endParaRPr lang="en-US" sz="720" dirty="0">
                        <a:latin typeface="Calibri" charset="0"/>
                        <a:ea typeface="Calibri" charset="0"/>
                        <a:cs typeface="Calibri" charset="0"/>
                      </a:endParaRPr>
                    </a:p>
                  </a:txBody>
                  <a:tcPr marL="45720" marR="45720" marT="45720" marB="45720" anchor="t">
                    <a:lnL w="6350" cap="flat" cmpd="sng" algn="ctr">
                      <a:solidFill>
                        <a:srgbClr val="D6E4F0"/>
                      </a:solidFill>
                      <a:prstDash val="solid"/>
                      <a:round/>
                      <a:headEnd type="none" w="med" len="med"/>
                      <a:tailEnd type="none" w="med" len="med"/>
                    </a:lnL>
                    <a:lnR w="6350" cap="flat" cmpd="sng" algn="ctr">
                      <a:solidFill>
                        <a:srgbClr val="D6E4F0"/>
                      </a:solidFill>
                      <a:prstDash val="solid"/>
                      <a:round/>
                      <a:headEnd type="none" w="med" len="med"/>
                      <a:tailEnd type="none" w="med" len="med"/>
                    </a:lnR>
                    <a:lnT w="6350" cap="flat" cmpd="sng" algn="ctr">
                      <a:solidFill>
                        <a:srgbClr val="D6E4F0"/>
                      </a:solidFill>
                      <a:prstDash val="solid"/>
                      <a:round/>
                      <a:headEnd type="none" w="med" len="med"/>
                      <a:tailEnd type="none" w="med" len="med"/>
                    </a:lnT>
                    <a:lnB w="6350" cap="flat" cmpd="sng" algn="ctr">
                      <a:solidFill>
                        <a:srgbClr val="D6E4F0"/>
                      </a:solidFill>
                      <a:prstDash val="solid"/>
                      <a:round/>
                      <a:headEnd type="none" w="med" len="med"/>
                      <a:tailEnd type="none" w="med" len="med"/>
                    </a:lnB>
                    <a:solidFill>
                      <a:srgbClr val="FFFFFF"/>
                    </a:solidFill>
                  </a:tcPr>
                </a:tc>
                <a:tc>
                  <a:txBody>
                    <a:bodyPr/>
                    <a:lstStyle/>
                    <a:p>
                      <a:pPr indent="0" marL="0">
                        <a:buNone/>
                      </a:pPr>
                      <a:r>
                        <a:rPr lang="en-US" sz="720" dirty="0">
                          <a:solidFill>
                            <a:srgbClr val="3F5265"/>
                          </a:solidFill>
                          <a:latin typeface="Calibri" pitchFamily="34" charset="0"/>
                          <a:ea typeface="Calibri" pitchFamily="34" charset="-122"/>
                          <a:cs typeface="Calibri" pitchFamily="34" charset="-120"/>
                        </a:rPr>
                        <a:t>Virtu Financial</a:t>
                      </a:r>
                      <a:endParaRPr lang="en-US" sz="720" dirty="0">
                        <a:latin typeface="Calibri" charset="0"/>
                        <a:ea typeface="Calibri" charset="0"/>
                        <a:cs typeface="Calibri" charset="0"/>
                      </a:endParaRPr>
                    </a:p>
                  </a:txBody>
                  <a:tcPr marL="45720" marR="45720" marT="45720" marB="45720" anchor="t">
                    <a:lnL w="6350" cap="flat" cmpd="sng" algn="ctr">
                      <a:solidFill>
                        <a:srgbClr val="D6E4F0"/>
                      </a:solidFill>
                      <a:prstDash val="solid"/>
                      <a:round/>
                      <a:headEnd type="none" w="med" len="med"/>
                      <a:tailEnd type="none" w="med" len="med"/>
                    </a:lnL>
                    <a:lnR w="6350" cap="flat" cmpd="sng" algn="ctr">
                      <a:solidFill>
                        <a:srgbClr val="D6E4F0"/>
                      </a:solidFill>
                      <a:prstDash val="solid"/>
                      <a:round/>
                      <a:headEnd type="none" w="med" len="med"/>
                      <a:tailEnd type="none" w="med" len="med"/>
                    </a:lnR>
                    <a:lnT w="6350" cap="flat" cmpd="sng" algn="ctr">
                      <a:solidFill>
                        <a:srgbClr val="D6E4F0"/>
                      </a:solidFill>
                      <a:prstDash val="solid"/>
                      <a:round/>
                      <a:headEnd type="none" w="med" len="med"/>
                      <a:tailEnd type="none" w="med" len="med"/>
                    </a:lnT>
                    <a:lnB w="6350" cap="flat" cmpd="sng" algn="ctr">
                      <a:solidFill>
                        <a:srgbClr val="D6E4F0"/>
                      </a:solidFill>
                      <a:prstDash val="solid"/>
                      <a:round/>
                      <a:headEnd type="none" w="med" len="med"/>
                      <a:tailEnd type="none" w="med" len="med"/>
                    </a:lnB>
                    <a:solidFill>
                      <a:srgbClr val="FFFFFF"/>
                    </a:solidFill>
                  </a:tcPr>
                </a:tc>
                <a:tc>
                  <a:txBody>
                    <a:bodyPr/>
                    <a:lstStyle/>
                    <a:p>
                      <a:pPr indent="0" marL="0">
                        <a:buNone/>
                      </a:pPr>
                      <a:r>
                        <a:rPr lang="en-US" sz="720" dirty="0">
                          <a:solidFill>
                            <a:srgbClr val="3F5265"/>
                          </a:solidFill>
                          <a:latin typeface="Calibri" pitchFamily="34" charset="0"/>
                          <a:ea typeface="Calibri" pitchFamily="34" charset="-122"/>
                          <a:cs typeface="Calibri" pitchFamily="34" charset="-120"/>
                        </a:rPr>
                        <a:t>6.33</a:t>
                      </a:r>
                      <a:endParaRPr lang="en-US" sz="720" dirty="0">
                        <a:latin typeface="Calibri" charset="0"/>
                        <a:ea typeface="Calibri" charset="0"/>
                        <a:cs typeface="Calibri" charset="0"/>
                      </a:endParaRPr>
                    </a:p>
                  </a:txBody>
                  <a:tcPr marL="45720" marR="45720" marT="45720" marB="45720" anchor="t">
                    <a:lnL w="6350" cap="flat" cmpd="sng" algn="ctr">
                      <a:solidFill>
                        <a:srgbClr val="D6E4F0"/>
                      </a:solidFill>
                      <a:prstDash val="solid"/>
                      <a:round/>
                      <a:headEnd type="none" w="med" len="med"/>
                      <a:tailEnd type="none" w="med" len="med"/>
                    </a:lnL>
                    <a:lnR w="6350" cap="flat" cmpd="sng" algn="ctr">
                      <a:solidFill>
                        <a:srgbClr val="D6E4F0"/>
                      </a:solidFill>
                      <a:prstDash val="solid"/>
                      <a:round/>
                      <a:headEnd type="none" w="med" len="med"/>
                      <a:tailEnd type="none" w="med" len="med"/>
                    </a:lnR>
                    <a:lnT w="6350" cap="flat" cmpd="sng" algn="ctr">
                      <a:solidFill>
                        <a:srgbClr val="D6E4F0"/>
                      </a:solidFill>
                      <a:prstDash val="solid"/>
                      <a:round/>
                      <a:headEnd type="none" w="med" len="med"/>
                      <a:tailEnd type="none" w="med" len="med"/>
                    </a:lnT>
                    <a:lnB w="6350" cap="flat" cmpd="sng" algn="ctr">
                      <a:solidFill>
                        <a:srgbClr val="D6E4F0"/>
                      </a:solidFill>
                      <a:prstDash val="solid"/>
                      <a:round/>
                      <a:headEnd type="none" w="med" len="med"/>
                      <a:tailEnd type="none" w="med" len="med"/>
                    </a:lnB>
                    <a:solidFill>
                      <a:srgbClr val="FFFFFF"/>
                    </a:solidFill>
                  </a:tcPr>
                </a:tc>
                <a:tc>
                  <a:txBody>
                    <a:bodyPr/>
                    <a:lstStyle/>
                    <a:p>
                      <a:pPr indent="0" marL="0">
                        <a:buNone/>
                      </a:pPr>
                      <a:r>
                        <a:rPr lang="en-US" sz="720" dirty="0">
                          <a:solidFill>
                            <a:srgbClr val="3F5265"/>
                          </a:solidFill>
                          <a:latin typeface="Calibri" pitchFamily="34" charset="0"/>
                          <a:ea typeface="Calibri" pitchFamily="34" charset="-122"/>
                          <a:cs typeface="Calibri" pitchFamily="34" charset="-120"/>
                        </a:rPr>
                        <a:t>Equities, ETFs, FI, FX,</a:t>
                      </a:r>
                      <a:endParaRPr lang="en-US" sz="720" dirty="0">
                        <a:latin typeface="Calibri" charset="0"/>
                        <a:ea typeface="Calibri" charset="0"/>
                        <a:cs typeface="Calibri" charset="0"/>
                      </a:endParaRPr>
                    </a:p>
                    <a:p>
                      <a:pPr indent="0" marL="0">
                        <a:buNone/>
                      </a:pPr>
                      <a:r>
                        <a:rPr lang="en-US" sz="720" dirty="0">
                          <a:solidFill>
                            <a:srgbClr val="3F5265"/>
                          </a:solidFill>
                          <a:latin typeface="Calibri" pitchFamily="34" charset="0"/>
                          <a:ea typeface="Calibri" pitchFamily="34" charset="-122"/>
                          <a:cs typeface="Calibri" pitchFamily="34" charset="-120"/>
                        </a:rPr>
                        <a:t>listed derivatives</a:t>
                      </a:r>
                      <a:endParaRPr lang="en-US" sz="720" dirty="0">
                        <a:latin typeface="Calibri" charset="0"/>
                        <a:ea typeface="Calibri" charset="0"/>
                        <a:cs typeface="Calibri" charset="0"/>
                      </a:endParaRPr>
                    </a:p>
                  </a:txBody>
                  <a:tcPr marL="45720" marR="45720" marT="45720" marB="45720" anchor="t">
                    <a:lnL w="6350" cap="flat" cmpd="sng" algn="ctr">
                      <a:solidFill>
                        <a:srgbClr val="D6E4F0"/>
                      </a:solidFill>
                      <a:prstDash val="solid"/>
                      <a:round/>
                      <a:headEnd type="none" w="med" len="med"/>
                      <a:tailEnd type="none" w="med" len="med"/>
                    </a:lnL>
                    <a:lnR w="6350" cap="flat" cmpd="sng" algn="ctr">
                      <a:solidFill>
                        <a:srgbClr val="D6E4F0"/>
                      </a:solidFill>
                      <a:prstDash val="solid"/>
                      <a:round/>
                      <a:headEnd type="none" w="med" len="med"/>
                      <a:tailEnd type="none" w="med" len="med"/>
                    </a:lnR>
                    <a:lnT w="6350" cap="flat" cmpd="sng" algn="ctr">
                      <a:solidFill>
                        <a:srgbClr val="D6E4F0"/>
                      </a:solidFill>
                      <a:prstDash val="solid"/>
                      <a:round/>
                      <a:headEnd type="none" w="med" len="med"/>
                      <a:tailEnd type="none" w="med" len="med"/>
                    </a:lnT>
                    <a:lnB w="6350" cap="flat" cmpd="sng" algn="ctr">
                      <a:solidFill>
                        <a:srgbClr val="D6E4F0"/>
                      </a:solidFill>
                      <a:prstDash val="solid"/>
                      <a:round/>
                      <a:headEnd type="none" w="med" len="med"/>
                      <a:tailEnd type="none" w="med" len="med"/>
                    </a:lnB>
                    <a:solidFill>
                      <a:srgbClr val="FFFFFF"/>
                    </a:solidFill>
                  </a:tcPr>
                </a:tc>
                <a:tc>
                  <a:txBody>
                    <a:bodyPr/>
                    <a:lstStyle/>
                    <a:p>
                      <a:pPr indent="0" marL="0">
                        <a:buNone/>
                      </a:pPr>
                      <a:r>
                        <a:rPr lang="en-US" sz="720" dirty="0">
                          <a:solidFill>
                            <a:srgbClr val="3F5265"/>
                          </a:solidFill>
                          <a:latin typeface="Calibri" pitchFamily="34" charset="0"/>
                          <a:ea typeface="Calibri" pitchFamily="34" charset="-122"/>
                          <a:cs typeface="Calibri" pitchFamily="34" charset="-120"/>
                        </a:rPr>
                        <a:t>Hedge funds seeking leading execution</a:t>
                      </a:r>
                      <a:endParaRPr lang="en-US" sz="720" dirty="0">
                        <a:latin typeface="Calibri" charset="0"/>
                        <a:ea typeface="Calibri" charset="0"/>
                        <a:cs typeface="Calibri" charset="0"/>
                      </a:endParaRPr>
                    </a:p>
                    <a:p>
                      <a:pPr indent="0" marL="0">
                        <a:buNone/>
                      </a:pPr>
                      <a:r>
                        <a:rPr lang="en-US" sz="720" dirty="0">
                          <a:solidFill>
                            <a:srgbClr val="3F5265"/>
                          </a:solidFill>
                          <a:latin typeface="Calibri" pitchFamily="34" charset="0"/>
                          <a:ea typeface="Calibri" pitchFamily="34" charset="-122"/>
                          <a:cs typeface="Calibri" pitchFamily="34" charset="-120"/>
                        </a:rPr>
                        <a:t>quality with integrated analytics</a:t>
                      </a:r>
                      <a:endParaRPr lang="en-US" sz="720" dirty="0">
                        <a:latin typeface="Calibri" charset="0"/>
                        <a:ea typeface="Calibri" charset="0"/>
                        <a:cs typeface="Calibri" charset="0"/>
                      </a:endParaRPr>
                    </a:p>
                  </a:txBody>
                  <a:tcPr marL="45720" marR="45720" marT="45720" marB="45720" anchor="t">
                    <a:lnL w="6350" cap="flat" cmpd="sng" algn="ctr">
                      <a:solidFill>
                        <a:srgbClr val="D6E4F0"/>
                      </a:solidFill>
                      <a:prstDash val="solid"/>
                      <a:round/>
                      <a:headEnd type="none" w="med" len="med"/>
                      <a:tailEnd type="none" w="med" len="med"/>
                    </a:lnL>
                    <a:lnR w="6350" cap="flat" cmpd="sng" algn="ctr">
                      <a:solidFill>
                        <a:srgbClr val="D6E4F0"/>
                      </a:solidFill>
                      <a:prstDash val="solid"/>
                      <a:round/>
                      <a:headEnd type="none" w="med" len="med"/>
                      <a:tailEnd type="none" w="med" len="med"/>
                    </a:lnR>
                    <a:lnT w="6350" cap="flat" cmpd="sng" algn="ctr">
                      <a:solidFill>
                        <a:srgbClr val="D6E4F0"/>
                      </a:solidFill>
                      <a:prstDash val="solid"/>
                      <a:round/>
                      <a:headEnd type="none" w="med" len="med"/>
                      <a:tailEnd type="none" w="med" len="med"/>
                    </a:lnT>
                    <a:lnB w="6350" cap="flat" cmpd="sng" algn="ctr">
                      <a:solidFill>
                        <a:srgbClr val="D6E4F0"/>
                      </a:solidFill>
                      <a:prstDash val="solid"/>
                      <a:round/>
                      <a:headEnd type="none" w="med" len="med"/>
                      <a:tailEnd type="none" w="med" len="med"/>
                    </a:lnB>
                    <a:solidFill>
                      <a:srgbClr val="FFFFFF"/>
                    </a:solidFill>
                  </a:tcPr>
                </a:tc>
                <a:tc>
                  <a:txBody>
                    <a:bodyPr/>
                    <a:lstStyle/>
                    <a:p>
                      <a:pPr indent="0" marL="0">
                        <a:buNone/>
                      </a:pPr>
                      <a:r>
                        <a:rPr lang="en-US" sz="720" dirty="0">
                          <a:solidFill>
                            <a:srgbClr val="3F5265"/>
                          </a:solidFill>
                          <a:latin typeface="Calibri" pitchFamily="34" charset="0"/>
                          <a:ea typeface="Calibri" pitchFamily="34" charset="-122"/>
                          <a:cs typeface="Calibri" pitchFamily="34" charset="-120"/>
                        </a:rPr>
                        <a:t>The client requires depth in crypto or FX; asset breadth of 5.83 is its only sub-6 score. Ownership by a competing execution firm may also be raised</a:t>
                      </a:r>
                      <a:endParaRPr lang="en-US" sz="720" dirty="0">
                        <a:latin typeface="Calibri" charset="0"/>
                        <a:ea typeface="Calibri" charset="0"/>
                        <a:cs typeface="Calibri" charset="0"/>
                      </a:endParaRPr>
                    </a:p>
                  </a:txBody>
                  <a:tcPr marL="45720" marR="45720" marT="45720" marB="45720" anchor="t">
                    <a:lnL w="6350" cap="flat" cmpd="sng" algn="ctr">
                      <a:solidFill>
                        <a:srgbClr val="D6E4F0"/>
                      </a:solidFill>
                      <a:prstDash val="solid"/>
                      <a:round/>
                      <a:headEnd type="none" w="med" len="med"/>
                      <a:tailEnd type="none" w="med" len="med"/>
                    </a:lnL>
                    <a:lnR w="6350" cap="flat" cmpd="sng" algn="ctr">
                      <a:solidFill>
                        <a:srgbClr val="D6E4F0"/>
                      </a:solidFill>
                      <a:prstDash val="solid"/>
                      <a:round/>
                      <a:headEnd type="none" w="med" len="med"/>
                      <a:tailEnd type="none" w="med" len="med"/>
                    </a:lnR>
                    <a:lnT w="6350" cap="flat" cmpd="sng" algn="ctr">
                      <a:solidFill>
                        <a:srgbClr val="D6E4F0"/>
                      </a:solidFill>
                      <a:prstDash val="solid"/>
                      <a:round/>
                      <a:headEnd type="none" w="med" len="med"/>
                      <a:tailEnd type="none" w="med" len="med"/>
                    </a:lnT>
                    <a:lnB w="6350" cap="flat" cmpd="sng" algn="ctr">
                      <a:solidFill>
                        <a:srgbClr val="D6E4F0"/>
                      </a:solidFill>
                      <a:prstDash val="solid"/>
                      <a:round/>
                      <a:headEnd type="none" w="med" len="med"/>
                      <a:tailEnd type="none" w="med" len="med"/>
                    </a:lnB>
                    <a:solidFill>
                      <a:srgbClr val="FFFFFF"/>
                    </a:solidFill>
                  </a:tcPr>
                </a:tc>
              </a:tr>
              <a:tr h="365760">
                <a:tc>
                  <a:txBody>
                    <a:bodyPr/>
                    <a:lstStyle/>
                    <a:p>
                      <a:pPr indent="0" marL="0">
                        <a:buNone/>
                      </a:pPr>
                      <a:r>
                        <a:rPr lang="en-US" sz="720" b="1" dirty="0">
                          <a:solidFill>
                            <a:srgbClr val="002D72"/>
                          </a:solidFill>
                          <a:latin typeface="Calibri" pitchFamily="34" charset="0"/>
                          <a:ea typeface="Calibri" pitchFamily="34" charset="-122"/>
                          <a:cs typeface="Calibri" pitchFamily="34" charset="-120"/>
                        </a:rPr>
                        <a:t>LSEG TORA</a:t>
                      </a:r>
                      <a:endParaRPr lang="en-US" sz="720" dirty="0">
                        <a:latin typeface="Calibri" charset="0"/>
                        <a:ea typeface="Calibri" charset="0"/>
                        <a:cs typeface="Calibri" charset="0"/>
                      </a:endParaRPr>
                    </a:p>
                  </a:txBody>
                  <a:tcPr marL="45720" marR="45720" marT="45720" marB="45720" anchor="t">
                    <a:lnL w="6350" cap="flat" cmpd="sng" algn="ctr">
                      <a:solidFill>
                        <a:srgbClr val="D6E4F0"/>
                      </a:solidFill>
                      <a:prstDash val="solid"/>
                      <a:round/>
                      <a:headEnd type="none" w="med" len="med"/>
                      <a:tailEnd type="none" w="med" len="med"/>
                    </a:lnL>
                    <a:lnR w="6350" cap="flat" cmpd="sng" algn="ctr">
                      <a:solidFill>
                        <a:srgbClr val="D6E4F0"/>
                      </a:solidFill>
                      <a:prstDash val="solid"/>
                      <a:round/>
                      <a:headEnd type="none" w="med" len="med"/>
                      <a:tailEnd type="none" w="med" len="med"/>
                    </a:lnR>
                    <a:lnT w="6350" cap="flat" cmpd="sng" algn="ctr">
                      <a:solidFill>
                        <a:srgbClr val="D6E4F0"/>
                      </a:solidFill>
                      <a:prstDash val="solid"/>
                      <a:round/>
                      <a:headEnd type="none" w="med" len="med"/>
                      <a:tailEnd type="none" w="med" len="med"/>
                    </a:lnT>
                    <a:lnB w="6350" cap="flat" cmpd="sng" algn="ctr">
                      <a:solidFill>
                        <a:srgbClr val="D6E4F0"/>
                      </a:solidFill>
                      <a:prstDash val="solid"/>
                      <a:round/>
                      <a:headEnd type="none" w="med" len="med"/>
                      <a:tailEnd type="none" w="med" len="med"/>
                    </a:lnB>
                    <a:solidFill>
                      <a:srgbClr val="EAF1F8"/>
                    </a:solidFill>
                  </a:tcPr>
                </a:tc>
                <a:tc>
                  <a:txBody>
                    <a:bodyPr/>
                    <a:lstStyle/>
                    <a:p>
                      <a:pPr indent="0" marL="0">
                        <a:buNone/>
                      </a:pPr>
                      <a:r>
                        <a:rPr lang="en-US" sz="720" dirty="0">
                          <a:solidFill>
                            <a:srgbClr val="3F5265"/>
                          </a:solidFill>
                          <a:latin typeface="Calibri" pitchFamily="34" charset="0"/>
                          <a:ea typeface="Calibri" pitchFamily="34" charset="-122"/>
                          <a:cs typeface="Calibri" pitchFamily="34" charset="-120"/>
                        </a:rPr>
                        <a:t>LSEG</a:t>
                      </a:r>
                      <a:endParaRPr lang="en-US" sz="720" dirty="0">
                        <a:latin typeface="Calibri" charset="0"/>
                        <a:ea typeface="Calibri" charset="0"/>
                        <a:cs typeface="Calibri" charset="0"/>
                      </a:endParaRPr>
                    </a:p>
                  </a:txBody>
                  <a:tcPr marL="45720" marR="45720" marT="45720" marB="45720" anchor="t">
                    <a:lnL w="6350" cap="flat" cmpd="sng" algn="ctr">
                      <a:solidFill>
                        <a:srgbClr val="D6E4F0"/>
                      </a:solidFill>
                      <a:prstDash val="solid"/>
                      <a:round/>
                      <a:headEnd type="none" w="med" len="med"/>
                      <a:tailEnd type="none" w="med" len="med"/>
                    </a:lnL>
                    <a:lnR w="6350" cap="flat" cmpd="sng" algn="ctr">
                      <a:solidFill>
                        <a:srgbClr val="D6E4F0"/>
                      </a:solidFill>
                      <a:prstDash val="solid"/>
                      <a:round/>
                      <a:headEnd type="none" w="med" len="med"/>
                      <a:tailEnd type="none" w="med" len="med"/>
                    </a:lnR>
                    <a:lnT w="6350" cap="flat" cmpd="sng" algn="ctr">
                      <a:solidFill>
                        <a:srgbClr val="D6E4F0"/>
                      </a:solidFill>
                      <a:prstDash val="solid"/>
                      <a:round/>
                      <a:headEnd type="none" w="med" len="med"/>
                      <a:tailEnd type="none" w="med" len="med"/>
                    </a:lnT>
                    <a:lnB w="6350" cap="flat" cmpd="sng" algn="ctr">
                      <a:solidFill>
                        <a:srgbClr val="D6E4F0"/>
                      </a:solidFill>
                      <a:prstDash val="solid"/>
                      <a:round/>
                      <a:headEnd type="none" w="med" len="med"/>
                      <a:tailEnd type="none" w="med" len="med"/>
                    </a:lnB>
                    <a:solidFill>
                      <a:srgbClr val="EAF1F8"/>
                    </a:solidFill>
                  </a:tcPr>
                </a:tc>
                <a:tc>
                  <a:txBody>
                    <a:bodyPr/>
                    <a:lstStyle/>
                    <a:p>
                      <a:pPr indent="0" marL="0">
                        <a:buNone/>
                      </a:pPr>
                      <a:r>
                        <a:rPr lang="en-US" sz="720" dirty="0">
                          <a:solidFill>
                            <a:srgbClr val="3F5265"/>
                          </a:solidFill>
                          <a:latin typeface="Calibri" pitchFamily="34" charset="0"/>
                          <a:ea typeface="Calibri" pitchFamily="34" charset="-122"/>
                          <a:cs typeface="Calibri" pitchFamily="34" charset="-120"/>
                        </a:rPr>
                        <a:t>5.99</a:t>
                      </a:r>
                      <a:endParaRPr lang="en-US" sz="720" dirty="0">
                        <a:latin typeface="Calibri" charset="0"/>
                        <a:ea typeface="Calibri" charset="0"/>
                        <a:cs typeface="Calibri" charset="0"/>
                      </a:endParaRPr>
                    </a:p>
                  </a:txBody>
                  <a:tcPr marL="45720" marR="45720" marT="45720" marB="45720" anchor="t">
                    <a:lnL w="6350" cap="flat" cmpd="sng" algn="ctr">
                      <a:solidFill>
                        <a:srgbClr val="D6E4F0"/>
                      </a:solidFill>
                      <a:prstDash val="solid"/>
                      <a:round/>
                      <a:headEnd type="none" w="med" len="med"/>
                      <a:tailEnd type="none" w="med" len="med"/>
                    </a:lnL>
                    <a:lnR w="6350" cap="flat" cmpd="sng" algn="ctr">
                      <a:solidFill>
                        <a:srgbClr val="D6E4F0"/>
                      </a:solidFill>
                      <a:prstDash val="solid"/>
                      <a:round/>
                      <a:headEnd type="none" w="med" len="med"/>
                      <a:tailEnd type="none" w="med" len="med"/>
                    </a:lnR>
                    <a:lnT w="6350" cap="flat" cmpd="sng" algn="ctr">
                      <a:solidFill>
                        <a:srgbClr val="D6E4F0"/>
                      </a:solidFill>
                      <a:prstDash val="solid"/>
                      <a:round/>
                      <a:headEnd type="none" w="med" len="med"/>
                      <a:tailEnd type="none" w="med" len="med"/>
                    </a:lnT>
                    <a:lnB w="6350" cap="flat" cmpd="sng" algn="ctr">
                      <a:solidFill>
                        <a:srgbClr val="D6E4F0"/>
                      </a:solidFill>
                      <a:prstDash val="solid"/>
                      <a:round/>
                      <a:headEnd type="none" w="med" len="med"/>
                      <a:tailEnd type="none" w="med" len="med"/>
                    </a:lnB>
                    <a:solidFill>
                      <a:srgbClr val="EAF1F8"/>
                    </a:solidFill>
                  </a:tcPr>
                </a:tc>
                <a:tc>
                  <a:txBody>
                    <a:bodyPr/>
                    <a:lstStyle/>
                    <a:p>
                      <a:pPr indent="0" marL="0">
                        <a:buNone/>
                      </a:pPr>
                      <a:r>
                        <a:rPr lang="en-US" sz="720" dirty="0">
                          <a:solidFill>
                            <a:srgbClr val="3F5265"/>
                          </a:solidFill>
                          <a:latin typeface="Calibri" pitchFamily="34" charset="0"/>
                          <a:ea typeface="Calibri" pitchFamily="34" charset="-122"/>
                          <a:cs typeface="Calibri" pitchFamily="34" charset="-120"/>
                        </a:rPr>
                        <a:t>Equities, FI, FX, derivatives,</a:t>
                      </a:r>
                      <a:endParaRPr lang="en-US" sz="720" dirty="0">
                        <a:latin typeface="Calibri" charset="0"/>
                        <a:ea typeface="Calibri" charset="0"/>
                        <a:cs typeface="Calibri" charset="0"/>
                      </a:endParaRPr>
                    </a:p>
                    <a:p>
                      <a:pPr indent="0" marL="0">
                        <a:buNone/>
                      </a:pPr>
                      <a:r>
                        <a:rPr lang="en-US" sz="720" dirty="0">
                          <a:solidFill>
                            <a:srgbClr val="3F5265"/>
                          </a:solidFill>
                          <a:latin typeface="Calibri" pitchFamily="34" charset="0"/>
                          <a:ea typeface="Calibri" pitchFamily="34" charset="-122"/>
                          <a:cs typeface="Calibri" pitchFamily="34" charset="-120"/>
                        </a:rPr>
                        <a:t>digital assets</a:t>
                      </a:r>
                      <a:endParaRPr lang="en-US" sz="720" dirty="0">
                        <a:latin typeface="Calibri" charset="0"/>
                        <a:ea typeface="Calibri" charset="0"/>
                        <a:cs typeface="Calibri" charset="0"/>
                      </a:endParaRPr>
                    </a:p>
                  </a:txBody>
                  <a:tcPr marL="45720" marR="45720" marT="45720" marB="45720" anchor="t">
                    <a:lnL w="6350" cap="flat" cmpd="sng" algn="ctr">
                      <a:solidFill>
                        <a:srgbClr val="D6E4F0"/>
                      </a:solidFill>
                      <a:prstDash val="solid"/>
                      <a:round/>
                      <a:headEnd type="none" w="med" len="med"/>
                      <a:tailEnd type="none" w="med" len="med"/>
                    </a:lnL>
                    <a:lnR w="6350" cap="flat" cmpd="sng" algn="ctr">
                      <a:solidFill>
                        <a:srgbClr val="D6E4F0"/>
                      </a:solidFill>
                      <a:prstDash val="solid"/>
                      <a:round/>
                      <a:headEnd type="none" w="med" len="med"/>
                      <a:tailEnd type="none" w="med" len="med"/>
                    </a:lnR>
                    <a:lnT w="6350" cap="flat" cmpd="sng" algn="ctr">
                      <a:solidFill>
                        <a:srgbClr val="D6E4F0"/>
                      </a:solidFill>
                      <a:prstDash val="solid"/>
                      <a:round/>
                      <a:headEnd type="none" w="med" len="med"/>
                      <a:tailEnd type="none" w="med" len="med"/>
                    </a:lnT>
                    <a:lnB w="6350" cap="flat" cmpd="sng" algn="ctr">
                      <a:solidFill>
                        <a:srgbClr val="D6E4F0"/>
                      </a:solidFill>
                      <a:prstDash val="solid"/>
                      <a:round/>
                      <a:headEnd type="none" w="med" len="med"/>
                      <a:tailEnd type="none" w="med" len="med"/>
                    </a:lnB>
                    <a:solidFill>
                      <a:srgbClr val="EAF1F8"/>
                    </a:solidFill>
                  </a:tcPr>
                </a:tc>
                <a:tc>
                  <a:txBody>
                    <a:bodyPr/>
                    <a:lstStyle/>
                    <a:p>
                      <a:pPr indent="0" marL="0">
                        <a:buNone/>
                      </a:pPr>
                      <a:r>
                        <a:rPr lang="en-US" sz="720" dirty="0">
                          <a:solidFill>
                            <a:srgbClr val="3F5265"/>
                          </a:solidFill>
                          <a:latin typeface="Calibri" pitchFamily="34" charset="0"/>
                          <a:ea typeface="Calibri" pitchFamily="34" charset="-122"/>
                          <a:cs typeface="Calibri" pitchFamily="34" charset="-120"/>
                        </a:rPr>
                        <a:t>APAC managers and funds requiring</a:t>
                      </a:r>
                      <a:endParaRPr lang="en-US" sz="720" dirty="0">
                        <a:latin typeface="Calibri" charset="0"/>
                        <a:ea typeface="Calibri" charset="0"/>
                        <a:cs typeface="Calibri" charset="0"/>
                      </a:endParaRPr>
                    </a:p>
                    <a:p>
                      <a:pPr indent="0" marL="0">
                        <a:buNone/>
                      </a:pPr>
                      <a:r>
                        <a:rPr lang="en-US" sz="720" dirty="0">
                          <a:solidFill>
                            <a:srgbClr val="3F5265"/>
                          </a:solidFill>
                          <a:latin typeface="Calibri" pitchFamily="34" charset="0"/>
                          <a:ea typeface="Calibri" pitchFamily="34" charset="-122"/>
                          <a:cs typeface="Calibri" pitchFamily="34" charset="-120"/>
                        </a:rPr>
                        <a:t>multi-asset coverage with LSEG data</a:t>
                      </a:r>
                      <a:endParaRPr lang="en-US" sz="720" dirty="0">
                        <a:latin typeface="Calibri" charset="0"/>
                        <a:ea typeface="Calibri" charset="0"/>
                        <a:cs typeface="Calibri" charset="0"/>
                      </a:endParaRPr>
                    </a:p>
                  </a:txBody>
                  <a:tcPr marL="45720" marR="45720" marT="45720" marB="45720" anchor="t">
                    <a:lnL w="6350" cap="flat" cmpd="sng" algn="ctr">
                      <a:solidFill>
                        <a:srgbClr val="D6E4F0"/>
                      </a:solidFill>
                      <a:prstDash val="solid"/>
                      <a:round/>
                      <a:headEnd type="none" w="med" len="med"/>
                      <a:tailEnd type="none" w="med" len="med"/>
                    </a:lnL>
                    <a:lnR w="6350" cap="flat" cmpd="sng" algn="ctr">
                      <a:solidFill>
                        <a:srgbClr val="D6E4F0"/>
                      </a:solidFill>
                      <a:prstDash val="solid"/>
                      <a:round/>
                      <a:headEnd type="none" w="med" len="med"/>
                      <a:tailEnd type="none" w="med" len="med"/>
                    </a:lnR>
                    <a:lnT w="6350" cap="flat" cmpd="sng" algn="ctr">
                      <a:solidFill>
                        <a:srgbClr val="D6E4F0"/>
                      </a:solidFill>
                      <a:prstDash val="solid"/>
                      <a:round/>
                      <a:headEnd type="none" w="med" len="med"/>
                      <a:tailEnd type="none" w="med" len="med"/>
                    </a:lnT>
                    <a:lnB w="6350" cap="flat" cmpd="sng" algn="ctr">
                      <a:solidFill>
                        <a:srgbClr val="D6E4F0"/>
                      </a:solidFill>
                      <a:prstDash val="solid"/>
                      <a:round/>
                      <a:headEnd type="none" w="med" len="med"/>
                      <a:tailEnd type="none" w="med" len="med"/>
                    </a:lnB>
                    <a:solidFill>
                      <a:srgbClr val="EAF1F8"/>
                    </a:solidFill>
                  </a:tcPr>
                </a:tc>
                <a:tc>
                  <a:txBody>
                    <a:bodyPr/>
                    <a:lstStyle/>
                    <a:p>
                      <a:pPr indent="0" marL="0">
                        <a:buNone/>
                      </a:pPr>
                      <a:r>
                        <a:rPr lang="en-US" sz="720" dirty="0">
                          <a:solidFill>
                            <a:srgbClr val="3F5265"/>
                          </a:solidFill>
                          <a:latin typeface="Calibri" pitchFamily="34" charset="0"/>
                          <a:ea typeface="Calibri" pitchFamily="34" charset="-122"/>
                          <a:cs typeface="Calibri" pitchFamily="34" charset="-120"/>
                        </a:rPr>
                        <a:t>Cost is the determining factor; 5.57 is its weakest score, and breadth of broker algorithms declined 0.49 in 2025</a:t>
                      </a:r>
                      <a:endParaRPr lang="en-US" sz="720" dirty="0">
                        <a:latin typeface="Calibri" charset="0"/>
                        <a:ea typeface="Calibri" charset="0"/>
                        <a:cs typeface="Calibri" charset="0"/>
                      </a:endParaRPr>
                    </a:p>
                  </a:txBody>
                  <a:tcPr marL="45720" marR="45720" marT="45720" marB="45720" anchor="t">
                    <a:lnL w="6350" cap="flat" cmpd="sng" algn="ctr">
                      <a:solidFill>
                        <a:srgbClr val="D6E4F0"/>
                      </a:solidFill>
                      <a:prstDash val="solid"/>
                      <a:round/>
                      <a:headEnd type="none" w="med" len="med"/>
                      <a:tailEnd type="none" w="med" len="med"/>
                    </a:lnL>
                    <a:lnR w="6350" cap="flat" cmpd="sng" algn="ctr">
                      <a:solidFill>
                        <a:srgbClr val="D6E4F0"/>
                      </a:solidFill>
                      <a:prstDash val="solid"/>
                      <a:round/>
                      <a:headEnd type="none" w="med" len="med"/>
                      <a:tailEnd type="none" w="med" len="med"/>
                    </a:lnR>
                    <a:lnT w="6350" cap="flat" cmpd="sng" algn="ctr">
                      <a:solidFill>
                        <a:srgbClr val="D6E4F0"/>
                      </a:solidFill>
                      <a:prstDash val="solid"/>
                      <a:round/>
                      <a:headEnd type="none" w="med" len="med"/>
                      <a:tailEnd type="none" w="med" len="med"/>
                    </a:lnT>
                    <a:lnB w="6350" cap="flat" cmpd="sng" algn="ctr">
                      <a:solidFill>
                        <a:srgbClr val="D6E4F0"/>
                      </a:solidFill>
                      <a:prstDash val="solid"/>
                      <a:round/>
                      <a:headEnd type="none" w="med" len="med"/>
                      <a:tailEnd type="none" w="med" len="med"/>
                    </a:lnB>
                    <a:solidFill>
                      <a:srgbClr val="EAF1F8"/>
                    </a:solidFill>
                  </a:tcPr>
                </a:tc>
              </a:tr>
              <a:tr h="365760">
                <a:tc>
                  <a:txBody>
                    <a:bodyPr/>
                    <a:lstStyle/>
                    <a:p>
                      <a:pPr indent="0" marL="0">
                        <a:buNone/>
                      </a:pPr>
                      <a:r>
                        <a:rPr lang="en-US" sz="720" b="1" dirty="0">
                          <a:solidFill>
                            <a:srgbClr val="002D72"/>
                          </a:solidFill>
                          <a:latin typeface="Calibri" pitchFamily="34" charset="0"/>
                          <a:ea typeface="Calibri" pitchFamily="34" charset="-122"/>
                          <a:cs typeface="Calibri" pitchFamily="34" charset="-120"/>
                        </a:rPr>
                        <a:t>Neovest</a:t>
                      </a:r>
                      <a:endParaRPr lang="en-US" sz="720" dirty="0">
                        <a:latin typeface="Calibri" charset="0"/>
                        <a:ea typeface="Calibri" charset="0"/>
                        <a:cs typeface="Calibri" charset="0"/>
                      </a:endParaRPr>
                    </a:p>
                  </a:txBody>
                  <a:tcPr marL="45720" marR="45720" marT="45720" marB="45720" anchor="t">
                    <a:lnL w="6350" cap="flat" cmpd="sng" algn="ctr">
                      <a:solidFill>
                        <a:srgbClr val="D6E4F0"/>
                      </a:solidFill>
                      <a:prstDash val="solid"/>
                      <a:round/>
                      <a:headEnd type="none" w="med" len="med"/>
                      <a:tailEnd type="none" w="med" len="med"/>
                    </a:lnL>
                    <a:lnR w="6350" cap="flat" cmpd="sng" algn="ctr">
                      <a:solidFill>
                        <a:srgbClr val="D6E4F0"/>
                      </a:solidFill>
                      <a:prstDash val="solid"/>
                      <a:round/>
                      <a:headEnd type="none" w="med" len="med"/>
                      <a:tailEnd type="none" w="med" len="med"/>
                    </a:lnR>
                    <a:lnT w="6350" cap="flat" cmpd="sng" algn="ctr">
                      <a:solidFill>
                        <a:srgbClr val="D6E4F0"/>
                      </a:solidFill>
                      <a:prstDash val="solid"/>
                      <a:round/>
                      <a:headEnd type="none" w="med" len="med"/>
                      <a:tailEnd type="none" w="med" len="med"/>
                    </a:lnT>
                    <a:lnB w="6350" cap="flat" cmpd="sng" algn="ctr">
                      <a:solidFill>
                        <a:srgbClr val="D6E4F0"/>
                      </a:solidFill>
                      <a:prstDash val="solid"/>
                      <a:round/>
                      <a:headEnd type="none" w="med" len="med"/>
                      <a:tailEnd type="none" w="med" len="med"/>
                    </a:lnB>
                    <a:solidFill>
                      <a:srgbClr val="FFFFFF"/>
                    </a:solidFill>
                  </a:tcPr>
                </a:tc>
                <a:tc>
                  <a:txBody>
                    <a:bodyPr/>
                    <a:lstStyle/>
                    <a:p>
                      <a:pPr indent="0" marL="0">
                        <a:buNone/>
                      </a:pPr>
                      <a:r>
                        <a:rPr lang="en-US" sz="720" dirty="0">
                          <a:solidFill>
                            <a:srgbClr val="3F5265"/>
                          </a:solidFill>
                          <a:latin typeface="Calibri" pitchFamily="34" charset="0"/>
                          <a:ea typeface="Calibri" pitchFamily="34" charset="-122"/>
                          <a:cs typeface="Calibri" pitchFamily="34" charset="-120"/>
                        </a:rPr>
                        <a:t>J.P. Morgan</a:t>
                      </a:r>
                      <a:endParaRPr lang="en-US" sz="720" dirty="0">
                        <a:latin typeface="Calibri" charset="0"/>
                        <a:ea typeface="Calibri" charset="0"/>
                        <a:cs typeface="Calibri" charset="0"/>
                      </a:endParaRPr>
                    </a:p>
                  </a:txBody>
                  <a:tcPr marL="45720" marR="45720" marT="45720" marB="45720" anchor="t">
                    <a:lnL w="6350" cap="flat" cmpd="sng" algn="ctr">
                      <a:solidFill>
                        <a:srgbClr val="D6E4F0"/>
                      </a:solidFill>
                      <a:prstDash val="solid"/>
                      <a:round/>
                      <a:headEnd type="none" w="med" len="med"/>
                      <a:tailEnd type="none" w="med" len="med"/>
                    </a:lnL>
                    <a:lnR w="6350" cap="flat" cmpd="sng" algn="ctr">
                      <a:solidFill>
                        <a:srgbClr val="D6E4F0"/>
                      </a:solidFill>
                      <a:prstDash val="solid"/>
                      <a:round/>
                      <a:headEnd type="none" w="med" len="med"/>
                      <a:tailEnd type="none" w="med" len="med"/>
                    </a:lnR>
                    <a:lnT w="6350" cap="flat" cmpd="sng" algn="ctr">
                      <a:solidFill>
                        <a:srgbClr val="D6E4F0"/>
                      </a:solidFill>
                      <a:prstDash val="solid"/>
                      <a:round/>
                      <a:headEnd type="none" w="med" len="med"/>
                      <a:tailEnd type="none" w="med" len="med"/>
                    </a:lnT>
                    <a:lnB w="6350" cap="flat" cmpd="sng" algn="ctr">
                      <a:solidFill>
                        <a:srgbClr val="D6E4F0"/>
                      </a:solidFill>
                      <a:prstDash val="solid"/>
                      <a:round/>
                      <a:headEnd type="none" w="med" len="med"/>
                      <a:tailEnd type="none" w="med" len="med"/>
                    </a:lnB>
                    <a:solidFill>
                      <a:srgbClr val="FFFFFF"/>
                    </a:solidFill>
                  </a:tcPr>
                </a:tc>
                <a:tc>
                  <a:txBody>
                    <a:bodyPr/>
                    <a:lstStyle/>
                    <a:p>
                      <a:pPr indent="0" marL="0">
                        <a:buNone/>
                      </a:pPr>
                      <a:r>
                        <a:rPr lang="en-US" sz="720" dirty="0">
                          <a:solidFill>
                            <a:srgbClr val="3F5265"/>
                          </a:solidFill>
                          <a:latin typeface="Calibri" pitchFamily="34" charset="0"/>
                          <a:ea typeface="Calibri" pitchFamily="34" charset="-122"/>
                          <a:cs typeface="Calibri" pitchFamily="34" charset="-120"/>
                        </a:rPr>
                        <a:t>5.98</a:t>
                      </a:r>
                      <a:endParaRPr lang="en-US" sz="720" dirty="0">
                        <a:latin typeface="Calibri" charset="0"/>
                        <a:ea typeface="Calibri" charset="0"/>
                        <a:cs typeface="Calibri" charset="0"/>
                      </a:endParaRPr>
                    </a:p>
                  </a:txBody>
                  <a:tcPr marL="45720" marR="45720" marT="45720" marB="45720" anchor="t">
                    <a:lnL w="6350" cap="flat" cmpd="sng" algn="ctr">
                      <a:solidFill>
                        <a:srgbClr val="D6E4F0"/>
                      </a:solidFill>
                      <a:prstDash val="solid"/>
                      <a:round/>
                      <a:headEnd type="none" w="med" len="med"/>
                      <a:tailEnd type="none" w="med" len="med"/>
                    </a:lnL>
                    <a:lnR w="6350" cap="flat" cmpd="sng" algn="ctr">
                      <a:solidFill>
                        <a:srgbClr val="D6E4F0"/>
                      </a:solidFill>
                      <a:prstDash val="solid"/>
                      <a:round/>
                      <a:headEnd type="none" w="med" len="med"/>
                      <a:tailEnd type="none" w="med" len="med"/>
                    </a:lnR>
                    <a:lnT w="6350" cap="flat" cmpd="sng" algn="ctr">
                      <a:solidFill>
                        <a:srgbClr val="D6E4F0"/>
                      </a:solidFill>
                      <a:prstDash val="solid"/>
                      <a:round/>
                      <a:headEnd type="none" w="med" len="med"/>
                      <a:tailEnd type="none" w="med" len="med"/>
                    </a:lnT>
                    <a:lnB w="6350" cap="flat" cmpd="sng" algn="ctr">
                      <a:solidFill>
                        <a:srgbClr val="D6E4F0"/>
                      </a:solidFill>
                      <a:prstDash val="solid"/>
                      <a:round/>
                      <a:headEnd type="none" w="med" len="med"/>
                      <a:tailEnd type="none" w="med" len="med"/>
                    </a:lnB>
                    <a:solidFill>
                      <a:srgbClr val="FFFFFF"/>
                    </a:solidFill>
                  </a:tcPr>
                </a:tc>
                <a:tc>
                  <a:txBody>
                    <a:bodyPr/>
                    <a:lstStyle/>
                    <a:p>
                      <a:pPr indent="0" marL="0">
                        <a:buNone/>
                      </a:pPr>
                      <a:r>
                        <a:rPr lang="en-US" sz="720" dirty="0">
                          <a:solidFill>
                            <a:srgbClr val="3F5265"/>
                          </a:solidFill>
                          <a:latin typeface="Calibri" pitchFamily="34" charset="0"/>
                          <a:ea typeface="Calibri" pitchFamily="34" charset="-122"/>
                          <a:cs typeface="Calibri" pitchFamily="34" charset="-120"/>
                        </a:rPr>
                        <a:t>Equities, ETFs, listed</a:t>
                      </a:r>
                      <a:endParaRPr lang="en-US" sz="720" dirty="0">
                        <a:latin typeface="Calibri" charset="0"/>
                        <a:ea typeface="Calibri" charset="0"/>
                        <a:cs typeface="Calibri" charset="0"/>
                      </a:endParaRPr>
                    </a:p>
                    <a:p>
                      <a:pPr indent="0" marL="0">
                        <a:buNone/>
                      </a:pPr>
                      <a:r>
                        <a:rPr lang="en-US" sz="720" dirty="0">
                          <a:solidFill>
                            <a:srgbClr val="3F5265"/>
                          </a:solidFill>
                          <a:latin typeface="Calibri" pitchFamily="34" charset="0"/>
                          <a:ea typeface="Calibri" pitchFamily="34" charset="-122"/>
                          <a:cs typeface="Calibri" pitchFamily="34" charset="-120"/>
                        </a:rPr>
                        <a:t>derivatives, FX, commodities</a:t>
                      </a:r>
                      <a:endParaRPr lang="en-US" sz="720" dirty="0">
                        <a:latin typeface="Calibri" charset="0"/>
                        <a:ea typeface="Calibri" charset="0"/>
                        <a:cs typeface="Calibri" charset="0"/>
                      </a:endParaRPr>
                    </a:p>
                  </a:txBody>
                  <a:tcPr marL="45720" marR="45720" marT="45720" marB="45720" anchor="t">
                    <a:lnL w="6350" cap="flat" cmpd="sng" algn="ctr">
                      <a:solidFill>
                        <a:srgbClr val="D6E4F0"/>
                      </a:solidFill>
                      <a:prstDash val="solid"/>
                      <a:round/>
                      <a:headEnd type="none" w="med" len="med"/>
                      <a:tailEnd type="none" w="med" len="med"/>
                    </a:lnL>
                    <a:lnR w="6350" cap="flat" cmpd="sng" algn="ctr">
                      <a:solidFill>
                        <a:srgbClr val="D6E4F0"/>
                      </a:solidFill>
                      <a:prstDash val="solid"/>
                      <a:round/>
                      <a:headEnd type="none" w="med" len="med"/>
                      <a:tailEnd type="none" w="med" len="med"/>
                    </a:lnR>
                    <a:lnT w="6350" cap="flat" cmpd="sng" algn="ctr">
                      <a:solidFill>
                        <a:srgbClr val="D6E4F0"/>
                      </a:solidFill>
                      <a:prstDash val="solid"/>
                      <a:round/>
                      <a:headEnd type="none" w="med" len="med"/>
                      <a:tailEnd type="none" w="med" len="med"/>
                    </a:lnT>
                    <a:lnB w="6350" cap="flat" cmpd="sng" algn="ctr">
                      <a:solidFill>
                        <a:srgbClr val="D6E4F0"/>
                      </a:solidFill>
                      <a:prstDash val="solid"/>
                      <a:round/>
                      <a:headEnd type="none" w="med" len="med"/>
                      <a:tailEnd type="none" w="med" len="med"/>
                    </a:lnB>
                    <a:solidFill>
                      <a:srgbClr val="FFFFFF"/>
                    </a:solidFill>
                  </a:tcPr>
                </a:tc>
                <a:tc>
                  <a:txBody>
                    <a:bodyPr/>
                    <a:lstStyle/>
                    <a:p>
                      <a:pPr indent="0" marL="0">
                        <a:buNone/>
                      </a:pPr>
                      <a:r>
                        <a:rPr lang="en-US" sz="720" dirty="0">
                          <a:solidFill>
                            <a:srgbClr val="3F5265"/>
                          </a:solidFill>
                          <a:latin typeface="Calibri" pitchFamily="34" charset="0"/>
                          <a:ea typeface="Calibri" pitchFamily="34" charset="-122"/>
                          <a:cs typeface="Calibri" pitchFamily="34" charset="-120"/>
                        </a:rPr>
                        <a:t>Mid-sized managers ($1–10bn)</a:t>
                      </a:r>
                      <a:endParaRPr lang="en-US" sz="720" dirty="0">
                        <a:latin typeface="Calibri" charset="0"/>
                        <a:ea typeface="Calibri" charset="0"/>
                        <a:cs typeface="Calibri" charset="0"/>
                      </a:endParaRPr>
                    </a:p>
                    <a:p>
                      <a:pPr indent="0" marL="0">
                        <a:buNone/>
                      </a:pPr>
                      <a:r>
                        <a:rPr lang="en-US" sz="720" dirty="0">
                          <a:solidFill>
                            <a:srgbClr val="3F5265"/>
                          </a:solidFill>
                          <a:latin typeface="Calibri" pitchFamily="34" charset="0"/>
                          <a:ea typeface="Calibri" pitchFamily="34" charset="-122"/>
                          <a:cs typeface="Calibri" pitchFamily="34" charset="-120"/>
                        </a:rPr>
                        <a:t>prioritising cost and service</a:t>
                      </a:r>
                      <a:endParaRPr lang="en-US" sz="720" dirty="0">
                        <a:latin typeface="Calibri" charset="0"/>
                        <a:ea typeface="Calibri" charset="0"/>
                        <a:cs typeface="Calibri" charset="0"/>
                      </a:endParaRPr>
                    </a:p>
                  </a:txBody>
                  <a:tcPr marL="45720" marR="45720" marT="45720" marB="45720" anchor="t">
                    <a:lnL w="6350" cap="flat" cmpd="sng" algn="ctr">
                      <a:solidFill>
                        <a:srgbClr val="D6E4F0"/>
                      </a:solidFill>
                      <a:prstDash val="solid"/>
                      <a:round/>
                      <a:headEnd type="none" w="med" len="med"/>
                      <a:tailEnd type="none" w="med" len="med"/>
                    </a:lnL>
                    <a:lnR w="6350" cap="flat" cmpd="sng" algn="ctr">
                      <a:solidFill>
                        <a:srgbClr val="D6E4F0"/>
                      </a:solidFill>
                      <a:prstDash val="solid"/>
                      <a:round/>
                      <a:headEnd type="none" w="med" len="med"/>
                      <a:tailEnd type="none" w="med" len="med"/>
                    </a:lnR>
                    <a:lnT w="6350" cap="flat" cmpd="sng" algn="ctr">
                      <a:solidFill>
                        <a:srgbClr val="D6E4F0"/>
                      </a:solidFill>
                      <a:prstDash val="solid"/>
                      <a:round/>
                      <a:headEnd type="none" w="med" len="med"/>
                      <a:tailEnd type="none" w="med" len="med"/>
                    </a:lnT>
                    <a:lnB w="6350" cap="flat" cmpd="sng" algn="ctr">
                      <a:solidFill>
                        <a:srgbClr val="D6E4F0"/>
                      </a:solidFill>
                      <a:prstDash val="solid"/>
                      <a:round/>
                      <a:headEnd type="none" w="med" len="med"/>
                      <a:tailEnd type="none" w="med" len="med"/>
                    </a:lnB>
                    <a:solidFill>
                      <a:srgbClr val="FFFFFF"/>
                    </a:solidFill>
                  </a:tcPr>
                </a:tc>
                <a:tc>
                  <a:txBody>
                    <a:bodyPr/>
                    <a:lstStyle/>
                    <a:p>
                      <a:pPr indent="0" marL="0">
                        <a:buNone/>
                      </a:pPr>
                      <a:r>
                        <a:rPr lang="en-US" sz="720" dirty="0">
                          <a:solidFill>
                            <a:srgbClr val="3F5265"/>
                          </a:solidFill>
                          <a:latin typeface="Calibri" pitchFamily="34" charset="0"/>
                          <a:ea typeface="Calibri" pitchFamily="34" charset="-122"/>
                          <a:cs typeface="Calibri" pitchFamily="34" charset="-120"/>
                        </a:rPr>
                        <a:t>The client objects to bank ownership in principle, notwithstanding independent operation and broker-neutral routing</a:t>
                      </a:r>
                      <a:endParaRPr lang="en-US" sz="720" dirty="0">
                        <a:latin typeface="Calibri" charset="0"/>
                        <a:ea typeface="Calibri" charset="0"/>
                        <a:cs typeface="Calibri" charset="0"/>
                      </a:endParaRPr>
                    </a:p>
                  </a:txBody>
                  <a:tcPr marL="45720" marR="45720" marT="45720" marB="45720" anchor="t">
                    <a:lnL w="6350" cap="flat" cmpd="sng" algn="ctr">
                      <a:solidFill>
                        <a:srgbClr val="D6E4F0"/>
                      </a:solidFill>
                      <a:prstDash val="solid"/>
                      <a:round/>
                      <a:headEnd type="none" w="med" len="med"/>
                      <a:tailEnd type="none" w="med" len="med"/>
                    </a:lnL>
                    <a:lnR w="6350" cap="flat" cmpd="sng" algn="ctr">
                      <a:solidFill>
                        <a:srgbClr val="D6E4F0"/>
                      </a:solidFill>
                      <a:prstDash val="solid"/>
                      <a:round/>
                      <a:headEnd type="none" w="med" len="med"/>
                      <a:tailEnd type="none" w="med" len="med"/>
                    </a:lnR>
                    <a:lnT w="6350" cap="flat" cmpd="sng" algn="ctr">
                      <a:solidFill>
                        <a:srgbClr val="D6E4F0"/>
                      </a:solidFill>
                      <a:prstDash val="solid"/>
                      <a:round/>
                      <a:headEnd type="none" w="med" len="med"/>
                      <a:tailEnd type="none" w="med" len="med"/>
                    </a:lnT>
                    <a:lnB w="6350" cap="flat" cmpd="sng" algn="ctr">
                      <a:solidFill>
                        <a:srgbClr val="D6E4F0"/>
                      </a:solidFill>
                      <a:prstDash val="solid"/>
                      <a:round/>
                      <a:headEnd type="none" w="med" len="med"/>
                      <a:tailEnd type="none" w="med" len="med"/>
                    </a:lnB>
                    <a:solidFill>
                      <a:srgbClr val="FFFFFF"/>
                    </a:solidFill>
                  </a:tcPr>
                </a:tc>
              </a:tr>
              <a:tr h="365760">
                <a:tc>
                  <a:txBody>
                    <a:bodyPr/>
                    <a:lstStyle/>
                    <a:p>
                      <a:pPr indent="0" marL="0">
                        <a:buNone/>
                      </a:pPr>
                      <a:r>
                        <a:rPr lang="en-US" sz="720" b="1" dirty="0">
                          <a:solidFill>
                            <a:srgbClr val="002D72"/>
                          </a:solidFill>
                          <a:latin typeface="Calibri" pitchFamily="34" charset="0"/>
                          <a:ea typeface="Calibri" pitchFamily="34" charset="-122"/>
                          <a:cs typeface="Calibri" pitchFamily="34" charset="-120"/>
                        </a:rPr>
                        <a:t>FlexTrade</a:t>
                      </a:r>
                      <a:endParaRPr lang="en-US" sz="720" dirty="0">
                        <a:latin typeface="Calibri" charset="0"/>
                        <a:ea typeface="Calibri" charset="0"/>
                        <a:cs typeface="Calibri" charset="0"/>
                      </a:endParaRPr>
                    </a:p>
                  </a:txBody>
                  <a:tcPr marL="45720" marR="45720" marT="45720" marB="45720" anchor="t">
                    <a:lnL w="6350" cap="flat" cmpd="sng" algn="ctr">
                      <a:solidFill>
                        <a:srgbClr val="D6E4F0"/>
                      </a:solidFill>
                      <a:prstDash val="solid"/>
                      <a:round/>
                      <a:headEnd type="none" w="med" len="med"/>
                      <a:tailEnd type="none" w="med" len="med"/>
                    </a:lnL>
                    <a:lnR w="6350" cap="flat" cmpd="sng" algn="ctr">
                      <a:solidFill>
                        <a:srgbClr val="D6E4F0"/>
                      </a:solidFill>
                      <a:prstDash val="solid"/>
                      <a:round/>
                      <a:headEnd type="none" w="med" len="med"/>
                      <a:tailEnd type="none" w="med" len="med"/>
                    </a:lnR>
                    <a:lnT w="6350" cap="flat" cmpd="sng" algn="ctr">
                      <a:solidFill>
                        <a:srgbClr val="D6E4F0"/>
                      </a:solidFill>
                      <a:prstDash val="solid"/>
                      <a:round/>
                      <a:headEnd type="none" w="med" len="med"/>
                      <a:tailEnd type="none" w="med" len="med"/>
                    </a:lnT>
                    <a:lnB w="6350" cap="flat" cmpd="sng" algn="ctr">
                      <a:solidFill>
                        <a:srgbClr val="D6E4F0"/>
                      </a:solidFill>
                      <a:prstDash val="solid"/>
                      <a:round/>
                      <a:headEnd type="none" w="med" len="med"/>
                      <a:tailEnd type="none" w="med" len="med"/>
                    </a:lnB>
                    <a:solidFill>
                      <a:srgbClr val="EAF1F8"/>
                    </a:solidFill>
                  </a:tcPr>
                </a:tc>
                <a:tc>
                  <a:txBody>
                    <a:bodyPr/>
                    <a:lstStyle/>
                    <a:p>
                      <a:pPr indent="0" marL="0">
                        <a:buNone/>
                      </a:pPr>
                      <a:r>
                        <a:rPr lang="en-US" sz="720" dirty="0">
                          <a:solidFill>
                            <a:srgbClr val="3F5265"/>
                          </a:solidFill>
                          <a:latin typeface="Calibri" pitchFamily="34" charset="0"/>
                          <a:ea typeface="Calibri" pitchFamily="34" charset="-122"/>
                          <a:cs typeface="Calibri" pitchFamily="34" charset="-120"/>
                        </a:rPr>
                        <a:t>Private</a:t>
                      </a:r>
                      <a:endParaRPr lang="en-US" sz="720" dirty="0">
                        <a:latin typeface="Calibri" charset="0"/>
                        <a:ea typeface="Calibri" charset="0"/>
                        <a:cs typeface="Calibri" charset="0"/>
                      </a:endParaRPr>
                    </a:p>
                  </a:txBody>
                  <a:tcPr marL="45720" marR="45720" marT="45720" marB="45720" anchor="t">
                    <a:lnL w="6350" cap="flat" cmpd="sng" algn="ctr">
                      <a:solidFill>
                        <a:srgbClr val="D6E4F0"/>
                      </a:solidFill>
                      <a:prstDash val="solid"/>
                      <a:round/>
                      <a:headEnd type="none" w="med" len="med"/>
                      <a:tailEnd type="none" w="med" len="med"/>
                    </a:lnL>
                    <a:lnR w="6350" cap="flat" cmpd="sng" algn="ctr">
                      <a:solidFill>
                        <a:srgbClr val="D6E4F0"/>
                      </a:solidFill>
                      <a:prstDash val="solid"/>
                      <a:round/>
                      <a:headEnd type="none" w="med" len="med"/>
                      <a:tailEnd type="none" w="med" len="med"/>
                    </a:lnR>
                    <a:lnT w="6350" cap="flat" cmpd="sng" algn="ctr">
                      <a:solidFill>
                        <a:srgbClr val="D6E4F0"/>
                      </a:solidFill>
                      <a:prstDash val="solid"/>
                      <a:round/>
                      <a:headEnd type="none" w="med" len="med"/>
                      <a:tailEnd type="none" w="med" len="med"/>
                    </a:lnT>
                    <a:lnB w="6350" cap="flat" cmpd="sng" algn="ctr">
                      <a:solidFill>
                        <a:srgbClr val="D6E4F0"/>
                      </a:solidFill>
                      <a:prstDash val="solid"/>
                      <a:round/>
                      <a:headEnd type="none" w="med" len="med"/>
                      <a:tailEnd type="none" w="med" len="med"/>
                    </a:lnB>
                    <a:solidFill>
                      <a:srgbClr val="EAF1F8"/>
                    </a:solidFill>
                  </a:tcPr>
                </a:tc>
                <a:tc>
                  <a:txBody>
                    <a:bodyPr/>
                    <a:lstStyle/>
                    <a:p>
                      <a:pPr indent="0" marL="0">
                        <a:buNone/>
                      </a:pPr>
                      <a:r>
                        <a:rPr lang="en-US" sz="720" dirty="0">
                          <a:solidFill>
                            <a:srgbClr val="3F5265"/>
                          </a:solidFill>
                          <a:latin typeface="Calibri" pitchFamily="34" charset="0"/>
                          <a:ea typeface="Calibri" pitchFamily="34" charset="-122"/>
                          <a:cs typeface="Calibri" pitchFamily="34" charset="-120"/>
                        </a:rPr>
                        <a:t>5.92</a:t>
                      </a:r>
                      <a:endParaRPr lang="en-US" sz="720" dirty="0">
                        <a:latin typeface="Calibri" charset="0"/>
                        <a:ea typeface="Calibri" charset="0"/>
                        <a:cs typeface="Calibri" charset="0"/>
                      </a:endParaRPr>
                    </a:p>
                  </a:txBody>
                  <a:tcPr marL="45720" marR="45720" marT="45720" marB="45720" anchor="t">
                    <a:lnL w="6350" cap="flat" cmpd="sng" algn="ctr">
                      <a:solidFill>
                        <a:srgbClr val="D6E4F0"/>
                      </a:solidFill>
                      <a:prstDash val="solid"/>
                      <a:round/>
                      <a:headEnd type="none" w="med" len="med"/>
                      <a:tailEnd type="none" w="med" len="med"/>
                    </a:lnL>
                    <a:lnR w="6350" cap="flat" cmpd="sng" algn="ctr">
                      <a:solidFill>
                        <a:srgbClr val="D6E4F0"/>
                      </a:solidFill>
                      <a:prstDash val="solid"/>
                      <a:round/>
                      <a:headEnd type="none" w="med" len="med"/>
                      <a:tailEnd type="none" w="med" len="med"/>
                    </a:lnR>
                    <a:lnT w="6350" cap="flat" cmpd="sng" algn="ctr">
                      <a:solidFill>
                        <a:srgbClr val="D6E4F0"/>
                      </a:solidFill>
                      <a:prstDash val="solid"/>
                      <a:round/>
                      <a:headEnd type="none" w="med" len="med"/>
                      <a:tailEnd type="none" w="med" len="med"/>
                    </a:lnT>
                    <a:lnB w="6350" cap="flat" cmpd="sng" algn="ctr">
                      <a:solidFill>
                        <a:srgbClr val="D6E4F0"/>
                      </a:solidFill>
                      <a:prstDash val="solid"/>
                      <a:round/>
                      <a:headEnd type="none" w="med" len="med"/>
                      <a:tailEnd type="none" w="med" len="med"/>
                    </a:lnB>
                    <a:solidFill>
                      <a:srgbClr val="EAF1F8"/>
                    </a:solidFill>
                  </a:tcPr>
                </a:tc>
                <a:tc>
                  <a:txBody>
                    <a:bodyPr/>
                    <a:lstStyle/>
                    <a:p>
                      <a:pPr indent="0" marL="0">
                        <a:buNone/>
                      </a:pPr>
                      <a:r>
                        <a:rPr lang="en-US" sz="720" dirty="0">
                          <a:solidFill>
                            <a:srgbClr val="3F5265"/>
                          </a:solidFill>
                          <a:latin typeface="Calibri" pitchFamily="34" charset="0"/>
                          <a:ea typeface="Calibri" pitchFamily="34" charset="-122"/>
                          <a:cs typeface="Calibri" pitchFamily="34" charset="-120"/>
                        </a:rPr>
                        <a:t>Multi-asset; FlexONE</a:t>
                      </a:r>
                      <a:endParaRPr lang="en-US" sz="720" dirty="0">
                        <a:latin typeface="Calibri" charset="0"/>
                        <a:ea typeface="Calibri" charset="0"/>
                        <a:cs typeface="Calibri" charset="0"/>
                      </a:endParaRPr>
                    </a:p>
                    <a:p>
                      <a:pPr indent="0" marL="0">
                        <a:buNone/>
                      </a:pPr>
                      <a:r>
                        <a:rPr lang="en-US" sz="720" dirty="0">
                          <a:solidFill>
                            <a:srgbClr val="3F5265"/>
                          </a:solidFill>
                          <a:latin typeface="Calibri" pitchFamily="34" charset="0"/>
                          <a:ea typeface="Calibri" pitchFamily="34" charset="-122"/>
                          <a:cs typeface="Calibri" pitchFamily="34" charset="-120"/>
                        </a:rPr>
                        <a:t>provides full OEMS</a:t>
                      </a:r>
                      <a:endParaRPr lang="en-US" sz="720" dirty="0">
                        <a:latin typeface="Calibri" charset="0"/>
                        <a:ea typeface="Calibri" charset="0"/>
                        <a:cs typeface="Calibri" charset="0"/>
                      </a:endParaRPr>
                    </a:p>
                  </a:txBody>
                  <a:tcPr marL="45720" marR="45720" marT="45720" marB="45720" anchor="t">
                    <a:lnL w="6350" cap="flat" cmpd="sng" algn="ctr">
                      <a:solidFill>
                        <a:srgbClr val="D6E4F0"/>
                      </a:solidFill>
                      <a:prstDash val="solid"/>
                      <a:round/>
                      <a:headEnd type="none" w="med" len="med"/>
                      <a:tailEnd type="none" w="med" len="med"/>
                    </a:lnL>
                    <a:lnR w="6350" cap="flat" cmpd="sng" algn="ctr">
                      <a:solidFill>
                        <a:srgbClr val="D6E4F0"/>
                      </a:solidFill>
                      <a:prstDash val="solid"/>
                      <a:round/>
                      <a:headEnd type="none" w="med" len="med"/>
                      <a:tailEnd type="none" w="med" len="med"/>
                    </a:lnR>
                    <a:lnT w="6350" cap="flat" cmpd="sng" algn="ctr">
                      <a:solidFill>
                        <a:srgbClr val="D6E4F0"/>
                      </a:solidFill>
                      <a:prstDash val="solid"/>
                      <a:round/>
                      <a:headEnd type="none" w="med" len="med"/>
                      <a:tailEnd type="none" w="med" len="med"/>
                    </a:lnT>
                    <a:lnB w="6350" cap="flat" cmpd="sng" algn="ctr">
                      <a:solidFill>
                        <a:srgbClr val="D6E4F0"/>
                      </a:solidFill>
                      <a:prstDash val="solid"/>
                      <a:round/>
                      <a:headEnd type="none" w="med" len="med"/>
                      <a:tailEnd type="none" w="med" len="med"/>
                    </a:lnB>
                    <a:solidFill>
                      <a:srgbClr val="EAF1F8"/>
                    </a:solidFill>
                  </a:tcPr>
                </a:tc>
                <a:tc>
                  <a:txBody>
                    <a:bodyPr/>
                    <a:lstStyle/>
                    <a:p>
                      <a:pPr indent="0" marL="0">
                        <a:buNone/>
                      </a:pPr>
                      <a:r>
                        <a:rPr lang="en-US" sz="720" dirty="0">
                          <a:solidFill>
                            <a:srgbClr val="3F5265"/>
                          </a:solidFill>
                          <a:latin typeface="Calibri" pitchFamily="34" charset="0"/>
                          <a:ea typeface="Calibri" pitchFamily="34" charset="-122"/>
                          <a:cs typeface="Calibri" pitchFamily="34" charset="-120"/>
                        </a:rPr>
                        <a:t>Sophisticated desks requiring control</a:t>
                      </a:r>
                      <a:endParaRPr lang="en-US" sz="720" dirty="0">
                        <a:latin typeface="Calibri" charset="0"/>
                        <a:ea typeface="Calibri" charset="0"/>
                        <a:cs typeface="Calibri" charset="0"/>
                      </a:endParaRPr>
                    </a:p>
                    <a:p>
                      <a:pPr indent="0" marL="0">
                        <a:buNone/>
                      </a:pPr>
                      <a:r>
                        <a:rPr lang="en-US" sz="720" dirty="0">
                          <a:solidFill>
                            <a:srgbClr val="3F5265"/>
                          </a:solidFill>
                          <a:latin typeface="Calibri" pitchFamily="34" charset="0"/>
                          <a:ea typeface="Calibri" pitchFamily="34" charset="-122"/>
                          <a:cs typeface="Calibri" pitchFamily="34" charset="-120"/>
                        </a:rPr>
                        <a:t>over their own workflow logic</a:t>
                      </a:r>
                      <a:endParaRPr lang="en-US" sz="720" dirty="0">
                        <a:latin typeface="Calibri" charset="0"/>
                        <a:ea typeface="Calibri" charset="0"/>
                        <a:cs typeface="Calibri" charset="0"/>
                      </a:endParaRPr>
                    </a:p>
                  </a:txBody>
                  <a:tcPr marL="45720" marR="45720" marT="45720" marB="45720" anchor="t">
                    <a:lnL w="6350" cap="flat" cmpd="sng" algn="ctr">
                      <a:solidFill>
                        <a:srgbClr val="D6E4F0"/>
                      </a:solidFill>
                      <a:prstDash val="solid"/>
                      <a:round/>
                      <a:headEnd type="none" w="med" len="med"/>
                      <a:tailEnd type="none" w="med" len="med"/>
                    </a:lnL>
                    <a:lnR w="6350" cap="flat" cmpd="sng" algn="ctr">
                      <a:solidFill>
                        <a:srgbClr val="D6E4F0"/>
                      </a:solidFill>
                      <a:prstDash val="solid"/>
                      <a:round/>
                      <a:headEnd type="none" w="med" len="med"/>
                      <a:tailEnd type="none" w="med" len="med"/>
                    </a:lnR>
                    <a:lnT w="6350" cap="flat" cmpd="sng" algn="ctr">
                      <a:solidFill>
                        <a:srgbClr val="D6E4F0"/>
                      </a:solidFill>
                      <a:prstDash val="solid"/>
                      <a:round/>
                      <a:headEnd type="none" w="med" len="med"/>
                      <a:tailEnd type="none" w="med" len="med"/>
                    </a:lnT>
                    <a:lnB w="6350" cap="flat" cmpd="sng" algn="ctr">
                      <a:solidFill>
                        <a:srgbClr val="D6E4F0"/>
                      </a:solidFill>
                      <a:prstDash val="solid"/>
                      <a:round/>
                      <a:headEnd type="none" w="med" len="med"/>
                      <a:tailEnd type="none" w="med" len="med"/>
                    </a:lnB>
                    <a:solidFill>
                      <a:srgbClr val="EAF1F8"/>
                    </a:solidFill>
                  </a:tcPr>
                </a:tc>
                <a:tc>
                  <a:txBody>
                    <a:bodyPr/>
                    <a:lstStyle/>
                    <a:p>
                      <a:pPr indent="0" marL="0">
                        <a:buNone/>
                      </a:pPr>
                      <a:r>
                        <a:rPr lang="en-US" sz="720" dirty="0">
                          <a:solidFill>
                            <a:srgbClr val="3F5265"/>
                          </a:solidFill>
                          <a:latin typeface="Calibri" pitchFamily="34" charset="0"/>
                          <a:ea typeface="Calibri" pitchFamily="34" charset="-122"/>
                          <a:cs typeface="Calibri" pitchFamily="34" charset="-120"/>
                        </a:rPr>
                        <a:t>Rapid deployment is required; configurability implies longer implementation and greater client-side ownership</a:t>
                      </a:r>
                      <a:endParaRPr lang="en-US" sz="720" dirty="0">
                        <a:latin typeface="Calibri" charset="0"/>
                        <a:ea typeface="Calibri" charset="0"/>
                        <a:cs typeface="Calibri" charset="0"/>
                      </a:endParaRPr>
                    </a:p>
                  </a:txBody>
                  <a:tcPr marL="45720" marR="45720" marT="45720" marB="45720" anchor="t">
                    <a:lnL w="6350" cap="flat" cmpd="sng" algn="ctr">
                      <a:solidFill>
                        <a:srgbClr val="D6E4F0"/>
                      </a:solidFill>
                      <a:prstDash val="solid"/>
                      <a:round/>
                      <a:headEnd type="none" w="med" len="med"/>
                      <a:tailEnd type="none" w="med" len="med"/>
                    </a:lnL>
                    <a:lnR w="6350" cap="flat" cmpd="sng" algn="ctr">
                      <a:solidFill>
                        <a:srgbClr val="D6E4F0"/>
                      </a:solidFill>
                      <a:prstDash val="solid"/>
                      <a:round/>
                      <a:headEnd type="none" w="med" len="med"/>
                      <a:tailEnd type="none" w="med" len="med"/>
                    </a:lnR>
                    <a:lnT w="6350" cap="flat" cmpd="sng" algn="ctr">
                      <a:solidFill>
                        <a:srgbClr val="D6E4F0"/>
                      </a:solidFill>
                      <a:prstDash val="solid"/>
                      <a:round/>
                      <a:headEnd type="none" w="med" len="med"/>
                      <a:tailEnd type="none" w="med" len="med"/>
                    </a:lnT>
                    <a:lnB w="6350" cap="flat" cmpd="sng" algn="ctr">
                      <a:solidFill>
                        <a:srgbClr val="D6E4F0"/>
                      </a:solidFill>
                      <a:prstDash val="solid"/>
                      <a:round/>
                      <a:headEnd type="none" w="med" len="med"/>
                      <a:tailEnd type="none" w="med" len="med"/>
                    </a:lnB>
                    <a:solidFill>
                      <a:srgbClr val="EAF1F8"/>
                    </a:solidFill>
                  </a:tcPr>
                </a:tc>
              </a:tr>
              <a:tr h="365760">
                <a:tc>
                  <a:txBody>
                    <a:bodyPr/>
                    <a:lstStyle/>
                    <a:p>
                      <a:pPr indent="0" marL="0">
                        <a:buNone/>
                      </a:pPr>
                      <a:r>
                        <a:rPr lang="en-US" sz="720" b="1" dirty="0">
                          <a:solidFill>
                            <a:srgbClr val="002D72"/>
                          </a:solidFill>
                          <a:latin typeface="Calibri" pitchFamily="34" charset="0"/>
                          <a:ea typeface="Calibri" pitchFamily="34" charset="-122"/>
                          <a:cs typeface="Calibri" pitchFamily="34" charset="-120"/>
                        </a:rPr>
                        <a:t>SS&amp;C Eze RealTick</a:t>
                      </a:r>
                      <a:endParaRPr lang="en-US" sz="720" dirty="0">
                        <a:latin typeface="Calibri" charset="0"/>
                        <a:ea typeface="Calibri" charset="0"/>
                        <a:cs typeface="Calibri" charset="0"/>
                      </a:endParaRPr>
                    </a:p>
                  </a:txBody>
                  <a:tcPr marL="45720" marR="45720" marT="45720" marB="45720" anchor="t">
                    <a:lnL w="6350" cap="flat" cmpd="sng" algn="ctr">
                      <a:solidFill>
                        <a:srgbClr val="D6E4F0"/>
                      </a:solidFill>
                      <a:prstDash val="solid"/>
                      <a:round/>
                      <a:headEnd type="none" w="med" len="med"/>
                      <a:tailEnd type="none" w="med" len="med"/>
                    </a:lnL>
                    <a:lnR w="6350" cap="flat" cmpd="sng" algn="ctr">
                      <a:solidFill>
                        <a:srgbClr val="D6E4F0"/>
                      </a:solidFill>
                      <a:prstDash val="solid"/>
                      <a:round/>
                      <a:headEnd type="none" w="med" len="med"/>
                      <a:tailEnd type="none" w="med" len="med"/>
                    </a:lnR>
                    <a:lnT w="6350" cap="flat" cmpd="sng" algn="ctr">
                      <a:solidFill>
                        <a:srgbClr val="D6E4F0"/>
                      </a:solidFill>
                      <a:prstDash val="solid"/>
                      <a:round/>
                      <a:headEnd type="none" w="med" len="med"/>
                      <a:tailEnd type="none" w="med" len="med"/>
                    </a:lnT>
                    <a:lnB w="6350" cap="flat" cmpd="sng" algn="ctr">
                      <a:solidFill>
                        <a:srgbClr val="D6E4F0"/>
                      </a:solidFill>
                      <a:prstDash val="solid"/>
                      <a:round/>
                      <a:headEnd type="none" w="med" len="med"/>
                      <a:tailEnd type="none" w="med" len="med"/>
                    </a:lnB>
                    <a:solidFill>
                      <a:srgbClr val="FFFFFF"/>
                    </a:solidFill>
                  </a:tcPr>
                </a:tc>
                <a:tc>
                  <a:txBody>
                    <a:bodyPr/>
                    <a:lstStyle/>
                    <a:p>
                      <a:pPr indent="0" marL="0">
                        <a:buNone/>
                      </a:pPr>
                      <a:r>
                        <a:rPr lang="en-US" sz="720" dirty="0">
                          <a:solidFill>
                            <a:srgbClr val="3F5265"/>
                          </a:solidFill>
                          <a:latin typeface="Calibri" pitchFamily="34" charset="0"/>
                          <a:ea typeface="Calibri" pitchFamily="34" charset="-122"/>
                          <a:cs typeface="Calibri" pitchFamily="34" charset="-120"/>
                        </a:rPr>
                        <a:t>SS&amp;C Technologies</a:t>
                      </a:r>
                      <a:endParaRPr lang="en-US" sz="720" dirty="0">
                        <a:latin typeface="Calibri" charset="0"/>
                        <a:ea typeface="Calibri" charset="0"/>
                        <a:cs typeface="Calibri" charset="0"/>
                      </a:endParaRPr>
                    </a:p>
                  </a:txBody>
                  <a:tcPr marL="45720" marR="45720" marT="45720" marB="45720" anchor="t">
                    <a:lnL w="6350" cap="flat" cmpd="sng" algn="ctr">
                      <a:solidFill>
                        <a:srgbClr val="D6E4F0"/>
                      </a:solidFill>
                      <a:prstDash val="solid"/>
                      <a:round/>
                      <a:headEnd type="none" w="med" len="med"/>
                      <a:tailEnd type="none" w="med" len="med"/>
                    </a:lnL>
                    <a:lnR w="6350" cap="flat" cmpd="sng" algn="ctr">
                      <a:solidFill>
                        <a:srgbClr val="D6E4F0"/>
                      </a:solidFill>
                      <a:prstDash val="solid"/>
                      <a:round/>
                      <a:headEnd type="none" w="med" len="med"/>
                      <a:tailEnd type="none" w="med" len="med"/>
                    </a:lnR>
                    <a:lnT w="6350" cap="flat" cmpd="sng" algn="ctr">
                      <a:solidFill>
                        <a:srgbClr val="D6E4F0"/>
                      </a:solidFill>
                      <a:prstDash val="solid"/>
                      <a:round/>
                      <a:headEnd type="none" w="med" len="med"/>
                      <a:tailEnd type="none" w="med" len="med"/>
                    </a:lnT>
                    <a:lnB w="6350" cap="flat" cmpd="sng" algn="ctr">
                      <a:solidFill>
                        <a:srgbClr val="D6E4F0"/>
                      </a:solidFill>
                      <a:prstDash val="solid"/>
                      <a:round/>
                      <a:headEnd type="none" w="med" len="med"/>
                      <a:tailEnd type="none" w="med" len="med"/>
                    </a:lnB>
                    <a:solidFill>
                      <a:srgbClr val="FFFFFF"/>
                    </a:solidFill>
                  </a:tcPr>
                </a:tc>
                <a:tc>
                  <a:txBody>
                    <a:bodyPr/>
                    <a:lstStyle/>
                    <a:p>
                      <a:pPr indent="0" marL="0">
                        <a:buNone/>
                      </a:pPr>
                      <a:r>
                        <a:rPr lang="en-US" sz="720" dirty="0">
                          <a:solidFill>
                            <a:srgbClr val="3F5265"/>
                          </a:solidFill>
                          <a:latin typeface="Calibri" pitchFamily="34" charset="0"/>
                          <a:ea typeface="Calibri" pitchFamily="34" charset="-122"/>
                          <a:cs typeface="Calibri" pitchFamily="34" charset="-120"/>
                        </a:rPr>
                        <a:t>5.56</a:t>
                      </a:r>
                      <a:endParaRPr lang="en-US" sz="720" dirty="0">
                        <a:latin typeface="Calibri" charset="0"/>
                        <a:ea typeface="Calibri" charset="0"/>
                        <a:cs typeface="Calibri" charset="0"/>
                      </a:endParaRPr>
                    </a:p>
                  </a:txBody>
                  <a:tcPr marL="45720" marR="45720" marT="45720" marB="45720" anchor="t">
                    <a:lnL w="6350" cap="flat" cmpd="sng" algn="ctr">
                      <a:solidFill>
                        <a:srgbClr val="D6E4F0"/>
                      </a:solidFill>
                      <a:prstDash val="solid"/>
                      <a:round/>
                      <a:headEnd type="none" w="med" len="med"/>
                      <a:tailEnd type="none" w="med" len="med"/>
                    </a:lnL>
                    <a:lnR w="6350" cap="flat" cmpd="sng" algn="ctr">
                      <a:solidFill>
                        <a:srgbClr val="D6E4F0"/>
                      </a:solidFill>
                      <a:prstDash val="solid"/>
                      <a:round/>
                      <a:headEnd type="none" w="med" len="med"/>
                      <a:tailEnd type="none" w="med" len="med"/>
                    </a:lnR>
                    <a:lnT w="6350" cap="flat" cmpd="sng" algn="ctr">
                      <a:solidFill>
                        <a:srgbClr val="D6E4F0"/>
                      </a:solidFill>
                      <a:prstDash val="solid"/>
                      <a:round/>
                      <a:headEnd type="none" w="med" len="med"/>
                      <a:tailEnd type="none" w="med" len="med"/>
                    </a:lnT>
                    <a:lnB w="6350" cap="flat" cmpd="sng" algn="ctr">
                      <a:solidFill>
                        <a:srgbClr val="D6E4F0"/>
                      </a:solidFill>
                      <a:prstDash val="solid"/>
                      <a:round/>
                      <a:headEnd type="none" w="med" len="med"/>
                      <a:tailEnd type="none" w="med" len="med"/>
                    </a:lnB>
                    <a:solidFill>
                      <a:srgbClr val="FFFFFF"/>
                    </a:solidFill>
                  </a:tcPr>
                </a:tc>
                <a:tc>
                  <a:txBody>
                    <a:bodyPr/>
                    <a:lstStyle/>
                    <a:p>
                      <a:pPr indent="0" marL="0">
                        <a:buNone/>
                      </a:pPr>
                      <a:r>
                        <a:rPr lang="en-US" sz="720" dirty="0">
                          <a:solidFill>
                            <a:srgbClr val="3F5265"/>
                          </a:solidFill>
                          <a:latin typeface="Calibri" pitchFamily="34" charset="0"/>
                          <a:ea typeface="Calibri" pitchFamily="34" charset="-122"/>
                          <a:cs typeface="Calibri" pitchFamily="34" charset="-120"/>
                        </a:rPr>
                        <a:t>Multi-asset, broker-agnostic;</a:t>
                      </a:r>
                      <a:endParaRPr lang="en-US" sz="720" dirty="0">
                        <a:latin typeface="Calibri" charset="0"/>
                        <a:ea typeface="Calibri" charset="0"/>
                        <a:cs typeface="Calibri" charset="0"/>
                      </a:endParaRPr>
                    </a:p>
                    <a:p>
                      <a:pPr indent="0" marL="0">
                        <a:buNone/>
                      </a:pPr>
                      <a:r>
                        <a:rPr lang="en-US" sz="720" dirty="0">
                          <a:solidFill>
                            <a:srgbClr val="3F5265"/>
                          </a:solidFill>
                          <a:latin typeface="Calibri" pitchFamily="34" charset="0"/>
                          <a:ea typeface="Calibri" pitchFamily="34" charset="-122"/>
                          <a:cs typeface="Calibri" pitchFamily="34" charset="-120"/>
                        </a:rPr>
                        <a:t>FX under expansion</a:t>
                      </a:r>
                      <a:endParaRPr lang="en-US" sz="720" dirty="0">
                        <a:latin typeface="Calibri" charset="0"/>
                        <a:ea typeface="Calibri" charset="0"/>
                        <a:cs typeface="Calibri" charset="0"/>
                      </a:endParaRPr>
                    </a:p>
                  </a:txBody>
                  <a:tcPr marL="45720" marR="45720" marT="45720" marB="45720" anchor="t">
                    <a:lnL w="6350" cap="flat" cmpd="sng" algn="ctr">
                      <a:solidFill>
                        <a:srgbClr val="D6E4F0"/>
                      </a:solidFill>
                      <a:prstDash val="solid"/>
                      <a:round/>
                      <a:headEnd type="none" w="med" len="med"/>
                      <a:tailEnd type="none" w="med" len="med"/>
                    </a:lnL>
                    <a:lnR w="6350" cap="flat" cmpd="sng" algn="ctr">
                      <a:solidFill>
                        <a:srgbClr val="D6E4F0"/>
                      </a:solidFill>
                      <a:prstDash val="solid"/>
                      <a:round/>
                      <a:headEnd type="none" w="med" len="med"/>
                      <a:tailEnd type="none" w="med" len="med"/>
                    </a:lnR>
                    <a:lnT w="6350" cap="flat" cmpd="sng" algn="ctr">
                      <a:solidFill>
                        <a:srgbClr val="D6E4F0"/>
                      </a:solidFill>
                      <a:prstDash val="solid"/>
                      <a:round/>
                      <a:headEnd type="none" w="med" len="med"/>
                      <a:tailEnd type="none" w="med" len="med"/>
                    </a:lnT>
                    <a:lnB w="6350" cap="flat" cmpd="sng" algn="ctr">
                      <a:solidFill>
                        <a:srgbClr val="D6E4F0"/>
                      </a:solidFill>
                      <a:prstDash val="solid"/>
                      <a:round/>
                      <a:headEnd type="none" w="med" len="med"/>
                      <a:tailEnd type="none" w="med" len="med"/>
                    </a:lnB>
                    <a:solidFill>
                      <a:srgbClr val="FFFFFF"/>
                    </a:solidFill>
                  </a:tcPr>
                </a:tc>
                <a:tc>
                  <a:txBody>
                    <a:bodyPr/>
                    <a:lstStyle/>
                    <a:p>
                      <a:pPr indent="0" marL="0">
                        <a:buNone/>
                      </a:pPr>
                      <a:r>
                        <a:rPr lang="en-US" sz="720" dirty="0">
                          <a:solidFill>
                            <a:srgbClr val="3F5265"/>
                          </a:solidFill>
                          <a:latin typeface="Calibri" pitchFamily="34" charset="0"/>
                          <a:ea typeface="Calibri" pitchFamily="34" charset="-122"/>
                          <a:cs typeface="Calibri" pitchFamily="34" charset="-120"/>
                        </a:rPr>
                        <a:t>Smaller managers, and desks already</a:t>
                      </a:r>
                      <a:endParaRPr lang="en-US" sz="720" dirty="0">
                        <a:latin typeface="Calibri" charset="0"/>
                        <a:ea typeface="Calibri" charset="0"/>
                        <a:cs typeface="Calibri" charset="0"/>
                      </a:endParaRPr>
                    </a:p>
                    <a:p>
                      <a:pPr indent="0" marL="0">
                        <a:buNone/>
                      </a:pPr>
                      <a:r>
                        <a:rPr lang="en-US" sz="720" dirty="0">
                          <a:solidFill>
                            <a:srgbClr val="3F5265"/>
                          </a:solidFill>
                          <a:latin typeface="Calibri" pitchFamily="34" charset="0"/>
                          <a:ea typeface="Calibri" pitchFamily="34" charset="-122"/>
                          <a:cs typeface="Calibri" pitchFamily="34" charset="-120"/>
                        </a:rPr>
                        <a:t>operating Eze OMS</a:t>
                      </a:r>
                      <a:endParaRPr lang="en-US" sz="720" dirty="0">
                        <a:latin typeface="Calibri" charset="0"/>
                        <a:ea typeface="Calibri" charset="0"/>
                        <a:cs typeface="Calibri" charset="0"/>
                      </a:endParaRPr>
                    </a:p>
                  </a:txBody>
                  <a:tcPr marL="45720" marR="45720" marT="45720" marB="45720" anchor="t">
                    <a:lnL w="6350" cap="flat" cmpd="sng" algn="ctr">
                      <a:solidFill>
                        <a:srgbClr val="D6E4F0"/>
                      </a:solidFill>
                      <a:prstDash val="solid"/>
                      <a:round/>
                      <a:headEnd type="none" w="med" len="med"/>
                      <a:tailEnd type="none" w="med" len="med"/>
                    </a:lnL>
                    <a:lnR w="6350" cap="flat" cmpd="sng" algn="ctr">
                      <a:solidFill>
                        <a:srgbClr val="D6E4F0"/>
                      </a:solidFill>
                      <a:prstDash val="solid"/>
                      <a:round/>
                      <a:headEnd type="none" w="med" len="med"/>
                      <a:tailEnd type="none" w="med" len="med"/>
                    </a:lnR>
                    <a:lnT w="6350" cap="flat" cmpd="sng" algn="ctr">
                      <a:solidFill>
                        <a:srgbClr val="D6E4F0"/>
                      </a:solidFill>
                      <a:prstDash val="solid"/>
                      <a:round/>
                      <a:headEnd type="none" w="med" len="med"/>
                      <a:tailEnd type="none" w="med" len="med"/>
                    </a:lnT>
                    <a:lnB w="6350" cap="flat" cmpd="sng" algn="ctr">
                      <a:solidFill>
                        <a:srgbClr val="D6E4F0"/>
                      </a:solidFill>
                      <a:prstDash val="solid"/>
                      <a:round/>
                      <a:headEnd type="none" w="med" len="med"/>
                      <a:tailEnd type="none" w="med" len="med"/>
                    </a:lnB>
                    <a:solidFill>
                      <a:srgbClr val="FFFFFF"/>
                    </a:solidFill>
                  </a:tcPr>
                </a:tc>
                <a:tc>
                  <a:txBody>
                    <a:bodyPr/>
                    <a:lstStyle/>
                    <a:p>
                      <a:pPr indent="0" marL="0">
                        <a:buNone/>
                      </a:pPr>
                      <a:r>
                        <a:rPr lang="en-US" sz="720" dirty="0">
                          <a:solidFill>
                            <a:srgbClr val="3F5265"/>
                          </a:solidFill>
                          <a:latin typeface="Calibri" pitchFamily="34" charset="0"/>
                          <a:ea typeface="Calibri" pitchFamily="34" charset="-122"/>
                          <a:cs typeface="Calibri" pitchFamily="34" charset="-120"/>
                        </a:rPr>
                        <a:t>Multi-asset breadth is material; asset class coverage declined 0.75, its clearest weakness</a:t>
                      </a:r>
                      <a:endParaRPr lang="en-US" sz="720" dirty="0">
                        <a:latin typeface="Calibri" charset="0"/>
                        <a:ea typeface="Calibri" charset="0"/>
                        <a:cs typeface="Calibri" charset="0"/>
                      </a:endParaRPr>
                    </a:p>
                  </a:txBody>
                  <a:tcPr marL="45720" marR="45720" marT="45720" marB="45720" anchor="t">
                    <a:lnL w="6350" cap="flat" cmpd="sng" algn="ctr">
                      <a:solidFill>
                        <a:srgbClr val="D6E4F0"/>
                      </a:solidFill>
                      <a:prstDash val="solid"/>
                      <a:round/>
                      <a:headEnd type="none" w="med" len="med"/>
                      <a:tailEnd type="none" w="med" len="med"/>
                    </a:lnL>
                    <a:lnR w="6350" cap="flat" cmpd="sng" algn="ctr">
                      <a:solidFill>
                        <a:srgbClr val="D6E4F0"/>
                      </a:solidFill>
                      <a:prstDash val="solid"/>
                      <a:round/>
                      <a:headEnd type="none" w="med" len="med"/>
                      <a:tailEnd type="none" w="med" len="med"/>
                    </a:lnR>
                    <a:lnT w="6350" cap="flat" cmpd="sng" algn="ctr">
                      <a:solidFill>
                        <a:srgbClr val="D6E4F0"/>
                      </a:solidFill>
                      <a:prstDash val="solid"/>
                      <a:round/>
                      <a:headEnd type="none" w="med" len="med"/>
                      <a:tailEnd type="none" w="med" len="med"/>
                    </a:lnT>
                    <a:lnB w="6350" cap="flat" cmpd="sng" algn="ctr">
                      <a:solidFill>
                        <a:srgbClr val="D6E4F0"/>
                      </a:solidFill>
                      <a:prstDash val="solid"/>
                      <a:round/>
                      <a:headEnd type="none" w="med" len="med"/>
                      <a:tailEnd type="none" w="med" len="med"/>
                    </a:lnB>
                    <a:solidFill>
                      <a:srgbClr val="FFFFFF"/>
                    </a:solidFill>
                  </a:tcPr>
                </a:tc>
              </a:tr>
              <a:tr h="365760">
                <a:tc>
                  <a:txBody>
                    <a:bodyPr/>
                    <a:lstStyle/>
                    <a:p>
                      <a:pPr indent="0" marL="0">
                        <a:buNone/>
                      </a:pPr>
                      <a:r>
                        <a:rPr lang="en-US" sz="720" b="1" dirty="0">
                          <a:solidFill>
                            <a:srgbClr val="002D72"/>
                          </a:solidFill>
                          <a:latin typeface="Calibri" pitchFamily="34" charset="0"/>
                          <a:ea typeface="Calibri" pitchFamily="34" charset="-122"/>
                          <a:cs typeface="Calibri" pitchFamily="34" charset="-120"/>
                        </a:rPr>
                        <a:t>TS Imagine TradeSmart</a:t>
                      </a:r>
                      <a:endParaRPr lang="en-US" sz="720" dirty="0">
                        <a:latin typeface="Calibri" charset="0"/>
                        <a:ea typeface="Calibri" charset="0"/>
                        <a:cs typeface="Calibri" charset="0"/>
                      </a:endParaRPr>
                    </a:p>
                  </a:txBody>
                  <a:tcPr marL="45720" marR="45720" marT="45720" marB="45720" anchor="t">
                    <a:lnL w="6350" cap="flat" cmpd="sng" algn="ctr">
                      <a:solidFill>
                        <a:srgbClr val="D6E4F0"/>
                      </a:solidFill>
                      <a:prstDash val="solid"/>
                      <a:round/>
                      <a:headEnd type="none" w="med" len="med"/>
                      <a:tailEnd type="none" w="med" len="med"/>
                    </a:lnL>
                    <a:lnR w="6350" cap="flat" cmpd="sng" algn="ctr">
                      <a:solidFill>
                        <a:srgbClr val="D6E4F0"/>
                      </a:solidFill>
                      <a:prstDash val="solid"/>
                      <a:round/>
                      <a:headEnd type="none" w="med" len="med"/>
                      <a:tailEnd type="none" w="med" len="med"/>
                    </a:lnR>
                    <a:lnT w="6350" cap="flat" cmpd="sng" algn="ctr">
                      <a:solidFill>
                        <a:srgbClr val="D6E4F0"/>
                      </a:solidFill>
                      <a:prstDash val="solid"/>
                      <a:round/>
                      <a:headEnd type="none" w="med" len="med"/>
                      <a:tailEnd type="none" w="med" len="med"/>
                    </a:lnT>
                    <a:lnB w="6350" cap="flat" cmpd="sng" algn="ctr">
                      <a:solidFill>
                        <a:srgbClr val="D6E4F0"/>
                      </a:solidFill>
                      <a:prstDash val="solid"/>
                      <a:round/>
                      <a:headEnd type="none" w="med" len="med"/>
                      <a:tailEnd type="none" w="med" len="med"/>
                    </a:lnB>
                    <a:solidFill>
                      <a:srgbClr val="EAF1F8"/>
                    </a:solidFill>
                  </a:tcPr>
                </a:tc>
                <a:tc>
                  <a:txBody>
                    <a:bodyPr/>
                    <a:lstStyle/>
                    <a:p>
                      <a:pPr indent="0" marL="0">
                        <a:buNone/>
                      </a:pPr>
                      <a:r>
                        <a:rPr lang="en-US" sz="720" dirty="0">
                          <a:solidFill>
                            <a:srgbClr val="3F5265"/>
                          </a:solidFill>
                          <a:latin typeface="Calibri" pitchFamily="34" charset="0"/>
                          <a:ea typeface="Calibri" pitchFamily="34" charset="-122"/>
                          <a:cs typeface="Calibri" pitchFamily="34" charset="-120"/>
                        </a:rPr>
                        <a:t>Private</a:t>
                      </a:r>
                      <a:endParaRPr lang="en-US" sz="720" dirty="0">
                        <a:latin typeface="Calibri" charset="0"/>
                        <a:ea typeface="Calibri" charset="0"/>
                        <a:cs typeface="Calibri" charset="0"/>
                      </a:endParaRPr>
                    </a:p>
                  </a:txBody>
                  <a:tcPr marL="45720" marR="45720" marT="45720" marB="45720" anchor="t">
                    <a:lnL w="6350" cap="flat" cmpd="sng" algn="ctr">
                      <a:solidFill>
                        <a:srgbClr val="D6E4F0"/>
                      </a:solidFill>
                      <a:prstDash val="solid"/>
                      <a:round/>
                      <a:headEnd type="none" w="med" len="med"/>
                      <a:tailEnd type="none" w="med" len="med"/>
                    </a:lnL>
                    <a:lnR w="6350" cap="flat" cmpd="sng" algn="ctr">
                      <a:solidFill>
                        <a:srgbClr val="D6E4F0"/>
                      </a:solidFill>
                      <a:prstDash val="solid"/>
                      <a:round/>
                      <a:headEnd type="none" w="med" len="med"/>
                      <a:tailEnd type="none" w="med" len="med"/>
                    </a:lnR>
                    <a:lnT w="6350" cap="flat" cmpd="sng" algn="ctr">
                      <a:solidFill>
                        <a:srgbClr val="D6E4F0"/>
                      </a:solidFill>
                      <a:prstDash val="solid"/>
                      <a:round/>
                      <a:headEnd type="none" w="med" len="med"/>
                      <a:tailEnd type="none" w="med" len="med"/>
                    </a:lnT>
                    <a:lnB w="6350" cap="flat" cmpd="sng" algn="ctr">
                      <a:solidFill>
                        <a:srgbClr val="D6E4F0"/>
                      </a:solidFill>
                      <a:prstDash val="solid"/>
                      <a:round/>
                      <a:headEnd type="none" w="med" len="med"/>
                      <a:tailEnd type="none" w="med" len="med"/>
                    </a:lnB>
                    <a:solidFill>
                      <a:srgbClr val="EAF1F8"/>
                    </a:solidFill>
                  </a:tcPr>
                </a:tc>
                <a:tc>
                  <a:txBody>
                    <a:bodyPr/>
                    <a:lstStyle/>
                    <a:p>
                      <a:pPr indent="0" marL="0">
                        <a:buNone/>
                      </a:pPr>
                      <a:r>
                        <a:rPr lang="en-US" sz="720" dirty="0">
                          <a:solidFill>
                            <a:srgbClr val="3F5265"/>
                          </a:solidFill>
                          <a:latin typeface="Calibri" pitchFamily="34" charset="0"/>
                          <a:ea typeface="Calibri" pitchFamily="34" charset="-122"/>
                          <a:cs typeface="Calibri" pitchFamily="34" charset="-120"/>
                        </a:rPr>
                        <a:t>5.55</a:t>
                      </a:r>
                      <a:endParaRPr lang="en-US" sz="720" dirty="0">
                        <a:latin typeface="Calibri" charset="0"/>
                        <a:ea typeface="Calibri" charset="0"/>
                        <a:cs typeface="Calibri" charset="0"/>
                      </a:endParaRPr>
                    </a:p>
                  </a:txBody>
                  <a:tcPr marL="45720" marR="45720" marT="45720" marB="45720" anchor="t">
                    <a:lnL w="6350" cap="flat" cmpd="sng" algn="ctr">
                      <a:solidFill>
                        <a:srgbClr val="D6E4F0"/>
                      </a:solidFill>
                      <a:prstDash val="solid"/>
                      <a:round/>
                      <a:headEnd type="none" w="med" len="med"/>
                      <a:tailEnd type="none" w="med" len="med"/>
                    </a:lnL>
                    <a:lnR w="6350" cap="flat" cmpd="sng" algn="ctr">
                      <a:solidFill>
                        <a:srgbClr val="D6E4F0"/>
                      </a:solidFill>
                      <a:prstDash val="solid"/>
                      <a:round/>
                      <a:headEnd type="none" w="med" len="med"/>
                      <a:tailEnd type="none" w="med" len="med"/>
                    </a:lnR>
                    <a:lnT w="6350" cap="flat" cmpd="sng" algn="ctr">
                      <a:solidFill>
                        <a:srgbClr val="D6E4F0"/>
                      </a:solidFill>
                      <a:prstDash val="solid"/>
                      <a:round/>
                      <a:headEnd type="none" w="med" len="med"/>
                      <a:tailEnd type="none" w="med" len="med"/>
                    </a:lnT>
                    <a:lnB w="6350" cap="flat" cmpd="sng" algn="ctr">
                      <a:solidFill>
                        <a:srgbClr val="D6E4F0"/>
                      </a:solidFill>
                      <a:prstDash val="solid"/>
                      <a:round/>
                      <a:headEnd type="none" w="med" len="med"/>
                      <a:tailEnd type="none" w="med" len="med"/>
                    </a:lnB>
                    <a:solidFill>
                      <a:srgbClr val="EAF1F8"/>
                    </a:solidFill>
                  </a:tcPr>
                </a:tc>
                <a:tc>
                  <a:txBody>
                    <a:bodyPr/>
                    <a:lstStyle/>
                    <a:p>
                      <a:pPr indent="0" marL="0">
                        <a:buNone/>
                      </a:pPr>
                      <a:r>
                        <a:rPr lang="en-US" sz="720" dirty="0">
                          <a:solidFill>
                            <a:srgbClr val="3F5265"/>
                          </a:solidFill>
                          <a:latin typeface="Calibri" pitchFamily="34" charset="0"/>
                          <a:ea typeface="Calibri" pitchFamily="34" charset="-122"/>
                          <a:cs typeface="Calibri" pitchFamily="34" charset="-120"/>
                        </a:rPr>
                        <a:t>Equities, ETFs, FI, FX, listed</a:t>
                      </a:r>
                      <a:endParaRPr lang="en-US" sz="720" dirty="0">
                        <a:latin typeface="Calibri" charset="0"/>
                        <a:ea typeface="Calibri" charset="0"/>
                        <a:cs typeface="Calibri" charset="0"/>
                      </a:endParaRPr>
                    </a:p>
                    <a:p>
                      <a:pPr indent="0" marL="0">
                        <a:buNone/>
                      </a:pPr>
                      <a:r>
                        <a:rPr lang="en-US" sz="720" dirty="0">
                          <a:solidFill>
                            <a:srgbClr val="3F5265"/>
                          </a:solidFill>
                          <a:latin typeface="Calibri" pitchFamily="34" charset="0"/>
                          <a:ea typeface="Calibri" pitchFamily="34" charset="-122"/>
                          <a:cs typeface="Calibri" pitchFamily="34" charset="-120"/>
                        </a:rPr>
                        <a:t>and OTC derivatives</a:t>
                      </a:r>
                      <a:endParaRPr lang="en-US" sz="720" dirty="0">
                        <a:latin typeface="Calibri" charset="0"/>
                        <a:ea typeface="Calibri" charset="0"/>
                        <a:cs typeface="Calibri" charset="0"/>
                      </a:endParaRPr>
                    </a:p>
                  </a:txBody>
                  <a:tcPr marL="45720" marR="45720" marT="45720" marB="45720" anchor="t">
                    <a:lnL w="6350" cap="flat" cmpd="sng" algn="ctr">
                      <a:solidFill>
                        <a:srgbClr val="D6E4F0"/>
                      </a:solidFill>
                      <a:prstDash val="solid"/>
                      <a:round/>
                      <a:headEnd type="none" w="med" len="med"/>
                      <a:tailEnd type="none" w="med" len="med"/>
                    </a:lnL>
                    <a:lnR w="6350" cap="flat" cmpd="sng" algn="ctr">
                      <a:solidFill>
                        <a:srgbClr val="D6E4F0"/>
                      </a:solidFill>
                      <a:prstDash val="solid"/>
                      <a:round/>
                      <a:headEnd type="none" w="med" len="med"/>
                      <a:tailEnd type="none" w="med" len="med"/>
                    </a:lnR>
                    <a:lnT w="6350" cap="flat" cmpd="sng" algn="ctr">
                      <a:solidFill>
                        <a:srgbClr val="D6E4F0"/>
                      </a:solidFill>
                      <a:prstDash val="solid"/>
                      <a:round/>
                      <a:headEnd type="none" w="med" len="med"/>
                      <a:tailEnd type="none" w="med" len="med"/>
                    </a:lnT>
                    <a:lnB w="6350" cap="flat" cmpd="sng" algn="ctr">
                      <a:solidFill>
                        <a:srgbClr val="D6E4F0"/>
                      </a:solidFill>
                      <a:prstDash val="solid"/>
                      <a:round/>
                      <a:headEnd type="none" w="med" len="med"/>
                      <a:tailEnd type="none" w="med" len="med"/>
                    </a:lnB>
                    <a:solidFill>
                      <a:srgbClr val="EAF1F8"/>
                    </a:solidFill>
                  </a:tcPr>
                </a:tc>
                <a:tc>
                  <a:txBody>
                    <a:bodyPr/>
                    <a:lstStyle/>
                    <a:p>
                      <a:pPr indent="0" marL="0">
                        <a:buNone/>
                      </a:pPr>
                      <a:r>
                        <a:rPr lang="en-US" sz="720" dirty="0">
                          <a:solidFill>
                            <a:srgbClr val="3F5265"/>
                          </a:solidFill>
                          <a:latin typeface="Calibri" pitchFamily="34" charset="0"/>
                          <a:ea typeface="Calibri" pitchFamily="34" charset="-122"/>
                          <a:cs typeface="Calibri" pitchFamily="34" charset="-120"/>
                        </a:rPr>
                        <a:t>Managers requiring risk analytics and</a:t>
                      </a:r>
                      <a:endParaRPr lang="en-US" sz="720" dirty="0">
                        <a:latin typeface="Calibri" charset="0"/>
                        <a:ea typeface="Calibri" charset="0"/>
                        <a:cs typeface="Calibri" charset="0"/>
                      </a:endParaRPr>
                    </a:p>
                    <a:p>
                      <a:pPr indent="0" marL="0">
                        <a:buNone/>
                      </a:pPr>
                      <a:r>
                        <a:rPr lang="en-US" sz="720" dirty="0">
                          <a:solidFill>
                            <a:srgbClr val="3F5265"/>
                          </a:solidFill>
                          <a:latin typeface="Calibri" pitchFamily="34" charset="0"/>
                          <a:ea typeface="Calibri" pitchFamily="34" charset="-122"/>
                          <a:cs typeface="Calibri" pitchFamily="34" charset="-120"/>
                        </a:rPr>
                        <a:t>OTC derivatives within one system</a:t>
                      </a:r>
                      <a:endParaRPr lang="en-US" sz="720" dirty="0">
                        <a:latin typeface="Calibri" charset="0"/>
                        <a:ea typeface="Calibri" charset="0"/>
                        <a:cs typeface="Calibri" charset="0"/>
                      </a:endParaRPr>
                    </a:p>
                  </a:txBody>
                  <a:tcPr marL="45720" marR="45720" marT="45720" marB="45720" anchor="t">
                    <a:lnL w="6350" cap="flat" cmpd="sng" algn="ctr">
                      <a:solidFill>
                        <a:srgbClr val="D6E4F0"/>
                      </a:solidFill>
                      <a:prstDash val="solid"/>
                      <a:round/>
                      <a:headEnd type="none" w="med" len="med"/>
                      <a:tailEnd type="none" w="med" len="med"/>
                    </a:lnL>
                    <a:lnR w="6350" cap="flat" cmpd="sng" algn="ctr">
                      <a:solidFill>
                        <a:srgbClr val="D6E4F0"/>
                      </a:solidFill>
                      <a:prstDash val="solid"/>
                      <a:round/>
                      <a:headEnd type="none" w="med" len="med"/>
                      <a:tailEnd type="none" w="med" len="med"/>
                    </a:lnR>
                    <a:lnT w="6350" cap="flat" cmpd="sng" algn="ctr">
                      <a:solidFill>
                        <a:srgbClr val="D6E4F0"/>
                      </a:solidFill>
                      <a:prstDash val="solid"/>
                      <a:round/>
                      <a:headEnd type="none" w="med" len="med"/>
                      <a:tailEnd type="none" w="med" len="med"/>
                    </a:lnT>
                    <a:lnB w="6350" cap="flat" cmpd="sng" algn="ctr">
                      <a:solidFill>
                        <a:srgbClr val="D6E4F0"/>
                      </a:solidFill>
                      <a:prstDash val="solid"/>
                      <a:round/>
                      <a:headEnd type="none" w="med" len="med"/>
                      <a:tailEnd type="none" w="med" len="med"/>
                    </a:lnB>
                    <a:solidFill>
                      <a:srgbClr val="EAF1F8"/>
                    </a:solidFill>
                  </a:tcPr>
                </a:tc>
                <a:tc>
                  <a:txBody>
                    <a:bodyPr/>
                    <a:lstStyle/>
                    <a:p>
                      <a:pPr indent="0" marL="0">
                        <a:buNone/>
                      </a:pPr>
                      <a:r>
                        <a:rPr lang="en-US" sz="720" dirty="0">
                          <a:solidFill>
                            <a:srgbClr val="3F5265"/>
                          </a:solidFill>
                          <a:latin typeface="Calibri" pitchFamily="34" charset="0"/>
                          <a:ea typeface="Calibri" pitchFamily="34" charset="-122"/>
                          <a:cs typeface="Calibri" pitchFamily="34" charset="-120"/>
                        </a:rPr>
                        <a:t>Service continuity is a concern; client service fell 0.70 as the client base grew from approximately 300 to 500 within a year</a:t>
                      </a:r>
                      <a:endParaRPr lang="en-US" sz="720" dirty="0">
                        <a:latin typeface="Calibri" charset="0"/>
                        <a:ea typeface="Calibri" charset="0"/>
                        <a:cs typeface="Calibri" charset="0"/>
                      </a:endParaRPr>
                    </a:p>
                  </a:txBody>
                  <a:tcPr marL="45720" marR="45720" marT="45720" marB="45720" anchor="t">
                    <a:lnL w="6350" cap="flat" cmpd="sng" algn="ctr">
                      <a:solidFill>
                        <a:srgbClr val="D6E4F0"/>
                      </a:solidFill>
                      <a:prstDash val="solid"/>
                      <a:round/>
                      <a:headEnd type="none" w="med" len="med"/>
                      <a:tailEnd type="none" w="med" len="med"/>
                    </a:lnL>
                    <a:lnR w="6350" cap="flat" cmpd="sng" algn="ctr">
                      <a:solidFill>
                        <a:srgbClr val="D6E4F0"/>
                      </a:solidFill>
                      <a:prstDash val="solid"/>
                      <a:round/>
                      <a:headEnd type="none" w="med" len="med"/>
                      <a:tailEnd type="none" w="med" len="med"/>
                    </a:lnR>
                    <a:lnT w="6350" cap="flat" cmpd="sng" algn="ctr">
                      <a:solidFill>
                        <a:srgbClr val="D6E4F0"/>
                      </a:solidFill>
                      <a:prstDash val="solid"/>
                      <a:round/>
                      <a:headEnd type="none" w="med" len="med"/>
                      <a:tailEnd type="none" w="med" len="med"/>
                    </a:lnT>
                    <a:lnB w="6350" cap="flat" cmpd="sng" algn="ctr">
                      <a:solidFill>
                        <a:srgbClr val="D6E4F0"/>
                      </a:solidFill>
                      <a:prstDash val="solid"/>
                      <a:round/>
                      <a:headEnd type="none" w="med" len="med"/>
                      <a:tailEnd type="none" w="med" len="med"/>
                    </a:lnB>
                    <a:solidFill>
                      <a:srgbClr val="EAF1F8"/>
                    </a:solidFill>
                  </a:tcPr>
                </a:tc>
              </a:tr>
              <a:tr h="365760">
                <a:tc>
                  <a:txBody>
                    <a:bodyPr/>
                    <a:lstStyle/>
                    <a:p>
                      <a:pPr indent="0" marL="0">
                        <a:buNone/>
                      </a:pPr>
                      <a:r>
                        <a:rPr lang="en-US" sz="720" b="1" dirty="0">
                          <a:solidFill>
                            <a:srgbClr val="002D72"/>
                          </a:solidFill>
                          <a:latin typeface="Calibri" pitchFamily="34" charset="0"/>
                          <a:ea typeface="Calibri" pitchFamily="34" charset="-122"/>
                          <a:cs typeface="Calibri" pitchFamily="34" charset="-120"/>
                        </a:rPr>
                        <a:t>Instinet Newport</a:t>
                      </a:r>
                      <a:endParaRPr lang="en-US" sz="720" dirty="0">
                        <a:latin typeface="Calibri" charset="0"/>
                        <a:ea typeface="Calibri" charset="0"/>
                        <a:cs typeface="Calibri" charset="0"/>
                      </a:endParaRPr>
                    </a:p>
                  </a:txBody>
                  <a:tcPr marL="45720" marR="45720" marT="45720" marB="45720" anchor="t">
                    <a:lnL w="6350" cap="flat" cmpd="sng" algn="ctr">
                      <a:solidFill>
                        <a:srgbClr val="D6E4F0"/>
                      </a:solidFill>
                      <a:prstDash val="solid"/>
                      <a:round/>
                      <a:headEnd type="none" w="med" len="med"/>
                      <a:tailEnd type="none" w="med" len="med"/>
                    </a:lnL>
                    <a:lnR w="6350" cap="flat" cmpd="sng" algn="ctr">
                      <a:solidFill>
                        <a:srgbClr val="D6E4F0"/>
                      </a:solidFill>
                      <a:prstDash val="solid"/>
                      <a:round/>
                      <a:headEnd type="none" w="med" len="med"/>
                      <a:tailEnd type="none" w="med" len="med"/>
                    </a:lnR>
                    <a:lnT w="6350" cap="flat" cmpd="sng" algn="ctr">
                      <a:solidFill>
                        <a:srgbClr val="D6E4F0"/>
                      </a:solidFill>
                      <a:prstDash val="solid"/>
                      <a:round/>
                      <a:headEnd type="none" w="med" len="med"/>
                      <a:tailEnd type="none" w="med" len="med"/>
                    </a:lnT>
                    <a:lnB w="6350" cap="flat" cmpd="sng" algn="ctr">
                      <a:solidFill>
                        <a:srgbClr val="D6E4F0"/>
                      </a:solidFill>
                      <a:prstDash val="solid"/>
                      <a:round/>
                      <a:headEnd type="none" w="med" len="med"/>
                      <a:tailEnd type="none" w="med" len="med"/>
                    </a:lnB>
                    <a:solidFill>
                      <a:srgbClr val="FFFFFF"/>
                    </a:solidFill>
                  </a:tcPr>
                </a:tc>
                <a:tc>
                  <a:txBody>
                    <a:bodyPr/>
                    <a:lstStyle/>
                    <a:p>
                      <a:pPr indent="0" marL="0">
                        <a:buNone/>
                      </a:pPr>
                      <a:r>
                        <a:rPr lang="en-US" sz="720" dirty="0">
                          <a:solidFill>
                            <a:srgbClr val="3F5265"/>
                          </a:solidFill>
                          <a:latin typeface="Calibri" pitchFamily="34" charset="0"/>
                          <a:ea typeface="Calibri" pitchFamily="34" charset="-122"/>
                          <a:cs typeface="Calibri" pitchFamily="34" charset="-120"/>
                        </a:rPr>
                        <a:t>Nomura</a:t>
                      </a:r>
                      <a:endParaRPr lang="en-US" sz="720" dirty="0">
                        <a:latin typeface="Calibri" charset="0"/>
                        <a:ea typeface="Calibri" charset="0"/>
                        <a:cs typeface="Calibri" charset="0"/>
                      </a:endParaRPr>
                    </a:p>
                  </a:txBody>
                  <a:tcPr marL="45720" marR="45720" marT="45720" marB="45720" anchor="t">
                    <a:lnL w="6350" cap="flat" cmpd="sng" algn="ctr">
                      <a:solidFill>
                        <a:srgbClr val="D6E4F0"/>
                      </a:solidFill>
                      <a:prstDash val="solid"/>
                      <a:round/>
                      <a:headEnd type="none" w="med" len="med"/>
                      <a:tailEnd type="none" w="med" len="med"/>
                    </a:lnL>
                    <a:lnR w="6350" cap="flat" cmpd="sng" algn="ctr">
                      <a:solidFill>
                        <a:srgbClr val="D6E4F0"/>
                      </a:solidFill>
                      <a:prstDash val="solid"/>
                      <a:round/>
                      <a:headEnd type="none" w="med" len="med"/>
                      <a:tailEnd type="none" w="med" len="med"/>
                    </a:lnR>
                    <a:lnT w="6350" cap="flat" cmpd="sng" algn="ctr">
                      <a:solidFill>
                        <a:srgbClr val="D6E4F0"/>
                      </a:solidFill>
                      <a:prstDash val="solid"/>
                      <a:round/>
                      <a:headEnd type="none" w="med" len="med"/>
                      <a:tailEnd type="none" w="med" len="med"/>
                    </a:lnT>
                    <a:lnB w="6350" cap="flat" cmpd="sng" algn="ctr">
                      <a:solidFill>
                        <a:srgbClr val="D6E4F0"/>
                      </a:solidFill>
                      <a:prstDash val="solid"/>
                      <a:round/>
                      <a:headEnd type="none" w="med" len="med"/>
                      <a:tailEnd type="none" w="med" len="med"/>
                    </a:lnB>
                    <a:solidFill>
                      <a:srgbClr val="FFFFFF"/>
                    </a:solidFill>
                  </a:tcPr>
                </a:tc>
                <a:tc>
                  <a:txBody>
                    <a:bodyPr/>
                    <a:lstStyle/>
                    <a:p>
                      <a:pPr indent="0" marL="0">
                        <a:buNone/>
                      </a:pPr>
                      <a:r>
                        <a:rPr lang="en-US" sz="720" dirty="0">
                          <a:solidFill>
                            <a:srgbClr val="3F5265"/>
                          </a:solidFill>
                          <a:latin typeface="Calibri" pitchFamily="34" charset="0"/>
                          <a:ea typeface="Calibri" pitchFamily="34" charset="-122"/>
                          <a:cs typeface="Calibri" pitchFamily="34" charset="-120"/>
                        </a:rPr>
                        <a:t>5.46</a:t>
                      </a:r>
                      <a:endParaRPr lang="en-US" sz="720" dirty="0">
                        <a:latin typeface="Calibri" charset="0"/>
                        <a:ea typeface="Calibri" charset="0"/>
                        <a:cs typeface="Calibri" charset="0"/>
                      </a:endParaRPr>
                    </a:p>
                  </a:txBody>
                  <a:tcPr marL="45720" marR="45720" marT="45720" marB="45720" anchor="t">
                    <a:lnL w="6350" cap="flat" cmpd="sng" algn="ctr">
                      <a:solidFill>
                        <a:srgbClr val="D6E4F0"/>
                      </a:solidFill>
                      <a:prstDash val="solid"/>
                      <a:round/>
                      <a:headEnd type="none" w="med" len="med"/>
                      <a:tailEnd type="none" w="med" len="med"/>
                    </a:lnL>
                    <a:lnR w="6350" cap="flat" cmpd="sng" algn="ctr">
                      <a:solidFill>
                        <a:srgbClr val="D6E4F0"/>
                      </a:solidFill>
                      <a:prstDash val="solid"/>
                      <a:round/>
                      <a:headEnd type="none" w="med" len="med"/>
                      <a:tailEnd type="none" w="med" len="med"/>
                    </a:lnR>
                    <a:lnT w="6350" cap="flat" cmpd="sng" algn="ctr">
                      <a:solidFill>
                        <a:srgbClr val="D6E4F0"/>
                      </a:solidFill>
                      <a:prstDash val="solid"/>
                      <a:round/>
                      <a:headEnd type="none" w="med" len="med"/>
                      <a:tailEnd type="none" w="med" len="med"/>
                    </a:lnT>
                    <a:lnB w="6350" cap="flat" cmpd="sng" algn="ctr">
                      <a:solidFill>
                        <a:srgbClr val="D6E4F0"/>
                      </a:solidFill>
                      <a:prstDash val="solid"/>
                      <a:round/>
                      <a:headEnd type="none" w="med" len="med"/>
                      <a:tailEnd type="none" w="med" len="med"/>
                    </a:lnB>
                    <a:solidFill>
                      <a:srgbClr val="FFFFFF"/>
                    </a:solidFill>
                  </a:tcPr>
                </a:tc>
                <a:tc>
                  <a:txBody>
                    <a:bodyPr/>
                    <a:lstStyle/>
                    <a:p>
                      <a:pPr indent="0" marL="0">
                        <a:buNone/>
                      </a:pPr>
                      <a:r>
                        <a:rPr lang="en-US" sz="720" dirty="0">
                          <a:solidFill>
                            <a:srgbClr val="3F5265"/>
                          </a:solidFill>
                          <a:latin typeface="Calibri" pitchFamily="34" charset="0"/>
                          <a:ea typeface="Calibri" pitchFamily="34" charset="-122"/>
                          <a:cs typeface="Calibri" pitchFamily="34" charset="-120"/>
                        </a:rPr>
                        <a:t>Equities, complex orders,</a:t>
                      </a:r>
                      <a:endParaRPr lang="en-US" sz="720" dirty="0">
                        <a:latin typeface="Calibri" charset="0"/>
                        <a:ea typeface="Calibri" charset="0"/>
                        <a:cs typeface="Calibri" charset="0"/>
                      </a:endParaRPr>
                    </a:p>
                    <a:p>
                      <a:pPr indent="0" marL="0">
                        <a:buNone/>
                      </a:pPr>
                      <a:r>
                        <a:rPr lang="en-US" sz="720" dirty="0">
                          <a:solidFill>
                            <a:srgbClr val="3F5265"/>
                          </a:solidFill>
                          <a:latin typeface="Calibri" pitchFamily="34" charset="0"/>
                          <a:ea typeface="Calibri" pitchFamily="34" charset="-122"/>
                          <a:cs typeface="Calibri" pitchFamily="34" charset="-120"/>
                        </a:rPr>
                        <a:t>options, futures</a:t>
                      </a:r>
                      <a:endParaRPr lang="en-US" sz="720" dirty="0">
                        <a:latin typeface="Calibri" charset="0"/>
                        <a:ea typeface="Calibri" charset="0"/>
                        <a:cs typeface="Calibri" charset="0"/>
                      </a:endParaRPr>
                    </a:p>
                  </a:txBody>
                  <a:tcPr marL="45720" marR="45720" marT="45720" marB="45720" anchor="t">
                    <a:lnL w="6350" cap="flat" cmpd="sng" algn="ctr">
                      <a:solidFill>
                        <a:srgbClr val="D6E4F0"/>
                      </a:solidFill>
                      <a:prstDash val="solid"/>
                      <a:round/>
                      <a:headEnd type="none" w="med" len="med"/>
                      <a:tailEnd type="none" w="med" len="med"/>
                    </a:lnL>
                    <a:lnR w="6350" cap="flat" cmpd="sng" algn="ctr">
                      <a:solidFill>
                        <a:srgbClr val="D6E4F0"/>
                      </a:solidFill>
                      <a:prstDash val="solid"/>
                      <a:round/>
                      <a:headEnd type="none" w="med" len="med"/>
                      <a:tailEnd type="none" w="med" len="med"/>
                    </a:lnR>
                    <a:lnT w="6350" cap="flat" cmpd="sng" algn="ctr">
                      <a:solidFill>
                        <a:srgbClr val="D6E4F0"/>
                      </a:solidFill>
                      <a:prstDash val="solid"/>
                      <a:round/>
                      <a:headEnd type="none" w="med" len="med"/>
                      <a:tailEnd type="none" w="med" len="med"/>
                    </a:lnT>
                    <a:lnB w="6350" cap="flat" cmpd="sng" algn="ctr">
                      <a:solidFill>
                        <a:srgbClr val="D6E4F0"/>
                      </a:solidFill>
                      <a:prstDash val="solid"/>
                      <a:round/>
                      <a:headEnd type="none" w="med" len="med"/>
                      <a:tailEnd type="none" w="med" len="med"/>
                    </a:lnB>
                    <a:solidFill>
                      <a:srgbClr val="FFFFFF"/>
                    </a:solidFill>
                  </a:tcPr>
                </a:tc>
                <a:tc>
                  <a:txBody>
                    <a:bodyPr/>
                    <a:lstStyle/>
                    <a:p>
                      <a:pPr indent="0" marL="0">
                        <a:buNone/>
                      </a:pPr>
                      <a:r>
                        <a:rPr lang="en-US" sz="720" dirty="0">
                          <a:solidFill>
                            <a:srgbClr val="3F5265"/>
                          </a:solidFill>
                          <a:latin typeface="Calibri" pitchFamily="34" charset="0"/>
                          <a:ea typeface="Calibri" pitchFamily="34" charset="-122"/>
                          <a:cs typeface="Calibri" pitchFamily="34" charset="-120"/>
                        </a:rPr>
                        <a:t>Equity-focused desks valuing</a:t>
                      </a:r>
                      <a:endParaRPr lang="en-US" sz="720" dirty="0">
                        <a:latin typeface="Calibri" charset="0"/>
                        <a:ea typeface="Calibri" charset="0"/>
                        <a:cs typeface="Calibri" charset="0"/>
                      </a:endParaRPr>
                    </a:p>
                    <a:p>
                      <a:pPr indent="0" marL="0">
                        <a:buNone/>
                      </a:pPr>
                      <a:r>
                        <a:rPr lang="en-US" sz="720" dirty="0">
                          <a:solidFill>
                            <a:srgbClr val="3F5265"/>
                          </a:solidFill>
                          <a:latin typeface="Calibri" pitchFamily="34" charset="0"/>
                          <a:ea typeface="Calibri" pitchFamily="34" charset="-122"/>
                          <a:cs typeface="Calibri" pitchFamily="34" charset="-120"/>
                        </a:rPr>
                        <a:t>exchange-grade agency technology</a:t>
                      </a:r>
                      <a:endParaRPr lang="en-US" sz="720" dirty="0">
                        <a:latin typeface="Calibri" charset="0"/>
                        <a:ea typeface="Calibri" charset="0"/>
                        <a:cs typeface="Calibri" charset="0"/>
                      </a:endParaRPr>
                    </a:p>
                  </a:txBody>
                  <a:tcPr marL="45720" marR="45720" marT="45720" marB="45720" anchor="t">
                    <a:lnL w="6350" cap="flat" cmpd="sng" algn="ctr">
                      <a:solidFill>
                        <a:srgbClr val="D6E4F0"/>
                      </a:solidFill>
                      <a:prstDash val="solid"/>
                      <a:round/>
                      <a:headEnd type="none" w="med" len="med"/>
                      <a:tailEnd type="none" w="med" len="med"/>
                    </a:lnL>
                    <a:lnR w="6350" cap="flat" cmpd="sng" algn="ctr">
                      <a:solidFill>
                        <a:srgbClr val="D6E4F0"/>
                      </a:solidFill>
                      <a:prstDash val="solid"/>
                      <a:round/>
                      <a:headEnd type="none" w="med" len="med"/>
                      <a:tailEnd type="none" w="med" len="med"/>
                    </a:lnR>
                    <a:lnT w="6350" cap="flat" cmpd="sng" algn="ctr">
                      <a:solidFill>
                        <a:srgbClr val="D6E4F0"/>
                      </a:solidFill>
                      <a:prstDash val="solid"/>
                      <a:round/>
                      <a:headEnd type="none" w="med" len="med"/>
                      <a:tailEnd type="none" w="med" len="med"/>
                    </a:lnT>
                    <a:lnB w="6350" cap="flat" cmpd="sng" algn="ctr">
                      <a:solidFill>
                        <a:srgbClr val="D6E4F0"/>
                      </a:solidFill>
                      <a:prstDash val="solid"/>
                      <a:round/>
                      <a:headEnd type="none" w="med" len="med"/>
                      <a:tailEnd type="none" w="med" len="med"/>
                    </a:lnB>
                    <a:solidFill>
                      <a:srgbClr val="FFFFFF"/>
                    </a:solidFill>
                  </a:tcPr>
                </a:tc>
                <a:tc>
                  <a:txBody>
                    <a:bodyPr/>
                    <a:lstStyle/>
                    <a:p>
                      <a:pPr indent="0" marL="0">
                        <a:buNone/>
                      </a:pPr>
                      <a:r>
                        <a:rPr lang="en-US" sz="720" dirty="0">
                          <a:solidFill>
                            <a:srgbClr val="3F5265"/>
                          </a:solidFill>
                          <a:latin typeface="Calibri" pitchFamily="34" charset="0"/>
                          <a:ea typeface="Calibri" pitchFamily="34" charset="-122"/>
                          <a:cs typeface="Calibri" pitchFamily="34" charset="-120"/>
                        </a:rPr>
                        <a:t>The client is cost-sensitive; scores declined across every category in 2025, with cost down 1.45 and asset breadth at 5.03</a:t>
                      </a:r>
                      <a:endParaRPr lang="en-US" sz="720" dirty="0">
                        <a:latin typeface="Calibri" charset="0"/>
                        <a:ea typeface="Calibri" charset="0"/>
                        <a:cs typeface="Calibri" charset="0"/>
                      </a:endParaRPr>
                    </a:p>
                  </a:txBody>
                  <a:tcPr marL="45720" marR="45720" marT="45720" marB="45720" anchor="t">
                    <a:lnL w="6350" cap="flat" cmpd="sng" algn="ctr">
                      <a:solidFill>
                        <a:srgbClr val="D6E4F0"/>
                      </a:solidFill>
                      <a:prstDash val="solid"/>
                      <a:round/>
                      <a:headEnd type="none" w="med" len="med"/>
                      <a:tailEnd type="none" w="med" len="med"/>
                    </a:lnL>
                    <a:lnR w="6350" cap="flat" cmpd="sng" algn="ctr">
                      <a:solidFill>
                        <a:srgbClr val="D6E4F0"/>
                      </a:solidFill>
                      <a:prstDash val="solid"/>
                      <a:round/>
                      <a:headEnd type="none" w="med" len="med"/>
                      <a:tailEnd type="none" w="med" len="med"/>
                    </a:lnR>
                    <a:lnT w="6350" cap="flat" cmpd="sng" algn="ctr">
                      <a:solidFill>
                        <a:srgbClr val="D6E4F0"/>
                      </a:solidFill>
                      <a:prstDash val="solid"/>
                      <a:round/>
                      <a:headEnd type="none" w="med" len="med"/>
                      <a:tailEnd type="none" w="med" len="med"/>
                    </a:lnT>
                    <a:lnB w="6350" cap="flat" cmpd="sng" algn="ctr">
                      <a:solidFill>
                        <a:srgbClr val="D6E4F0"/>
                      </a:solidFill>
                      <a:prstDash val="solid"/>
                      <a:round/>
                      <a:headEnd type="none" w="med" len="med"/>
                      <a:tailEnd type="none" w="med" len="med"/>
                    </a:lnB>
                    <a:solidFill>
                      <a:srgbClr val="FFFFFF"/>
                    </a:solidFill>
                  </a:tcPr>
                </a:tc>
              </a:tr>
              <a:tr h="365760">
                <a:tc>
                  <a:txBody>
                    <a:bodyPr/>
                    <a:lstStyle/>
                    <a:p>
                      <a:pPr indent="0" marL="0">
                        <a:buNone/>
                      </a:pPr>
                      <a:r>
                        <a:rPr lang="en-US" sz="720" b="1" dirty="0">
                          <a:solidFill>
                            <a:srgbClr val="002D72"/>
                          </a:solidFill>
                          <a:latin typeface="Calibri" pitchFamily="34" charset="0"/>
                          <a:ea typeface="Calibri" pitchFamily="34" charset="-122"/>
                          <a:cs typeface="Calibri" pitchFamily="34" charset="-120"/>
                        </a:rPr>
                        <a:t>Bloomberg EMSX / TSOX</a:t>
                      </a:r>
                      <a:endParaRPr lang="en-US" sz="720" dirty="0">
                        <a:latin typeface="Calibri" charset="0"/>
                        <a:ea typeface="Calibri" charset="0"/>
                        <a:cs typeface="Calibri" charset="0"/>
                      </a:endParaRPr>
                    </a:p>
                  </a:txBody>
                  <a:tcPr marL="45720" marR="45720" marT="45720" marB="45720" anchor="t">
                    <a:lnL w="6350" cap="flat" cmpd="sng" algn="ctr">
                      <a:solidFill>
                        <a:srgbClr val="D6E4F0"/>
                      </a:solidFill>
                      <a:prstDash val="solid"/>
                      <a:round/>
                      <a:headEnd type="none" w="med" len="med"/>
                      <a:tailEnd type="none" w="med" len="med"/>
                    </a:lnL>
                    <a:lnR w="6350" cap="flat" cmpd="sng" algn="ctr">
                      <a:solidFill>
                        <a:srgbClr val="D6E4F0"/>
                      </a:solidFill>
                      <a:prstDash val="solid"/>
                      <a:round/>
                      <a:headEnd type="none" w="med" len="med"/>
                      <a:tailEnd type="none" w="med" len="med"/>
                    </a:lnR>
                    <a:lnT w="6350" cap="flat" cmpd="sng" algn="ctr">
                      <a:solidFill>
                        <a:srgbClr val="D6E4F0"/>
                      </a:solidFill>
                      <a:prstDash val="solid"/>
                      <a:round/>
                      <a:headEnd type="none" w="med" len="med"/>
                      <a:tailEnd type="none" w="med" len="med"/>
                    </a:lnT>
                    <a:lnB w="6350" cap="flat" cmpd="sng" algn="ctr">
                      <a:solidFill>
                        <a:srgbClr val="D6E4F0"/>
                      </a:solidFill>
                      <a:prstDash val="solid"/>
                      <a:round/>
                      <a:headEnd type="none" w="med" len="med"/>
                      <a:tailEnd type="none" w="med" len="med"/>
                    </a:lnB>
                    <a:solidFill>
                      <a:srgbClr val="EAF1F8"/>
                    </a:solidFill>
                  </a:tcPr>
                </a:tc>
                <a:tc>
                  <a:txBody>
                    <a:bodyPr/>
                    <a:lstStyle/>
                    <a:p>
                      <a:pPr indent="0" marL="0">
                        <a:buNone/>
                      </a:pPr>
                      <a:r>
                        <a:rPr lang="en-US" sz="720" dirty="0">
                          <a:solidFill>
                            <a:srgbClr val="3F5265"/>
                          </a:solidFill>
                          <a:latin typeface="Calibri" pitchFamily="34" charset="0"/>
                          <a:ea typeface="Calibri" pitchFamily="34" charset="-122"/>
                          <a:cs typeface="Calibri" pitchFamily="34" charset="-120"/>
                        </a:rPr>
                        <a:t>Bloomberg LP</a:t>
                      </a:r>
                      <a:endParaRPr lang="en-US" sz="720" dirty="0">
                        <a:latin typeface="Calibri" charset="0"/>
                        <a:ea typeface="Calibri" charset="0"/>
                        <a:cs typeface="Calibri" charset="0"/>
                      </a:endParaRPr>
                    </a:p>
                  </a:txBody>
                  <a:tcPr marL="45720" marR="45720" marT="45720" marB="45720" anchor="t">
                    <a:lnL w="6350" cap="flat" cmpd="sng" algn="ctr">
                      <a:solidFill>
                        <a:srgbClr val="D6E4F0"/>
                      </a:solidFill>
                      <a:prstDash val="solid"/>
                      <a:round/>
                      <a:headEnd type="none" w="med" len="med"/>
                      <a:tailEnd type="none" w="med" len="med"/>
                    </a:lnL>
                    <a:lnR w="6350" cap="flat" cmpd="sng" algn="ctr">
                      <a:solidFill>
                        <a:srgbClr val="D6E4F0"/>
                      </a:solidFill>
                      <a:prstDash val="solid"/>
                      <a:round/>
                      <a:headEnd type="none" w="med" len="med"/>
                      <a:tailEnd type="none" w="med" len="med"/>
                    </a:lnR>
                    <a:lnT w="6350" cap="flat" cmpd="sng" algn="ctr">
                      <a:solidFill>
                        <a:srgbClr val="D6E4F0"/>
                      </a:solidFill>
                      <a:prstDash val="solid"/>
                      <a:round/>
                      <a:headEnd type="none" w="med" len="med"/>
                      <a:tailEnd type="none" w="med" len="med"/>
                    </a:lnT>
                    <a:lnB w="6350" cap="flat" cmpd="sng" algn="ctr">
                      <a:solidFill>
                        <a:srgbClr val="D6E4F0"/>
                      </a:solidFill>
                      <a:prstDash val="solid"/>
                      <a:round/>
                      <a:headEnd type="none" w="med" len="med"/>
                      <a:tailEnd type="none" w="med" len="med"/>
                    </a:lnB>
                    <a:solidFill>
                      <a:srgbClr val="EAF1F8"/>
                    </a:solidFill>
                  </a:tcPr>
                </a:tc>
                <a:tc>
                  <a:txBody>
                    <a:bodyPr/>
                    <a:lstStyle/>
                    <a:p>
                      <a:pPr indent="0" marL="0">
                        <a:buNone/>
                      </a:pPr>
                      <a:r>
                        <a:rPr lang="en-US" sz="720" dirty="0">
                          <a:solidFill>
                            <a:srgbClr val="3F5265"/>
                          </a:solidFill>
                          <a:latin typeface="Calibri" pitchFamily="34" charset="0"/>
                          <a:ea typeface="Calibri" pitchFamily="34" charset="-122"/>
                          <a:cs typeface="Calibri" pitchFamily="34" charset="-120"/>
                        </a:rPr>
                        <a:t>5.44</a:t>
                      </a:r>
                      <a:endParaRPr lang="en-US" sz="720" dirty="0">
                        <a:latin typeface="Calibri" charset="0"/>
                        <a:ea typeface="Calibri" charset="0"/>
                        <a:cs typeface="Calibri" charset="0"/>
                      </a:endParaRPr>
                    </a:p>
                  </a:txBody>
                  <a:tcPr marL="45720" marR="45720" marT="45720" marB="45720" anchor="t">
                    <a:lnL w="6350" cap="flat" cmpd="sng" algn="ctr">
                      <a:solidFill>
                        <a:srgbClr val="D6E4F0"/>
                      </a:solidFill>
                      <a:prstDash val="solid"/>
                      <a:round/>
                      <a:headEnd type="none" w="med" len="med"/>
                      <a:tailEnd type="none" w="med" len="med"/>
                    </a:lnL>
                    <a:lnR w="6350" cap="flat" cmpd="sng" algn="ctr">
                      <a:solidFill>
                        <a:srgbClr val="D6E4F0"/>
                      </a:solidFill>
                      <a:prstDash val="solid"/>
                      <a:round/>
                      <a:headEnd type="none" w="med" len="med"/>
                      <a:tailEnd type="none" w="med" len="med"/>
                    </a:lnR>
                    <a:lnT w="6350" cap="flat" cmpd="sng" algn="ctr">
                      <a:solidFill>
                        <a:srgbClr val="D6E4F0"/>
                      </a:solidFill>
                      <a:prstDash val="solid"/>
                      <a:round/>
                      <a:headEnd type="none" w="med" len="med"/>
                      <a:tailEnd type="none" w="med" len="med"/>
                    </a:lnT>
                    <a:lnB w="6350" cap="flat" cmpd="sng" algn="ctr">
                      <a:solidFill>
                        <a:srgbClr val="D6E4F0"/>
                      </a:solidFill>
                      <a:prstDash val="solid"/>
                      <a:round/>
                      <a:headEnd type="none" w="med" len="med"/>
                      <a:tailEnd type="none" w="med" len="med"/>
                    </a:lnB>
                    <a:solidFill>
                      <a:srgbClr val="EAF1F8"/>
                    </a:solidFill>
                  </a:tcPr>
                </a:tc>
                <a:tc>
                  <a:txBody>
                    <a:bodyPr/>
                    <a:lstStyle/>
                    <a:p>
                      <a:pPr indent="0" marL="0">
                        <a:buNone/>
                      </a:pPr>
                      <a:r>
                        <a:rPr lang="en-US" sz="720" dirty="0">
                          <a:solidFill>
                            <a:srgbClr val="3F5265"/>
                          </a:solidFill>
                          <a:latin typeface="Calibri" pitchFamily="34" charset="0"/>
                          <a:ea typeface="Calibri" pitchFamily="34" charset="-122"/>
                          <a:cs typeface="Calibri" pitchFamily="34" charset="-120"/>
                        </a:rPr>
                        <a:t>Equities, futures, FI,</a:t>
                      </a:r>
                      <a:endParaRPr lang="en-US" sz="720" dirty="0">
                        <a:latin typeface="Calibri" charset="0"/>
                        <a:ea typeface="Calibri" charset="0"/>
                        <a:cs typeface="Calibri" charset="0"/>
                      </a:endParaRPr>
                    </a:p>
                    <a:p>
                      <a:pPr indent="0" marL="0">
                        <a:buNone/>
                      </a:pPr>
                      <a:r>
                        <a:rPr lang="en-US" sz="720" dirty="0">
                          <a:solidFill>
                            <a:srgbClr val="3F5265"/>
                          </a:solidFill>
                          <a:latin typeface="Calibri" pitchFamily="34" charset="0"/>
                          <a:ea typeface="Calibri" pitchFamily="34" charset="-122"/>
                          <a:cs typeface="Calibri" pitchFamily="34" charset="-120"/>
                        </a:rPr>
                        <a:t>derivatives, FX</a:t>
                      </a:r>
                      <a:endParaRPr lang="en-US" sz="720" dirty="0">
                        <a:latin typeface="Calibri" charset="0"/>
                        <a:ea typeface="Calibri" charset="0"/>
                        <a:cs typeface="Calibri" charset="0"/>
                      </a:endParaRPr>
                    </a:p>
                  </a:txBody>
                  <a:tcPr marL="45720" marR="45720" marT="45720" marB="45720" anchor="t">
                    <a:lnL w="6350" cap="flat" cmpd="sng" algn="ctr">
                      <a:solidFill>
                        <a:srgbClr val="D6E4F0"/>
                      </a:solidFill>
                      <a:prstDash val="solid"/>
                      <a:round/>
                      <a:headEnd type="none" w="med" len="med"/>
                      <a:tailEnd type="none" w="med" len="med"/>
                    </a:lnL>
                    <a:lnR w="6350" cap="flat" cmpd="sng" algn="ctr">
                      <a:solidFill>
                        <a:srgbClr val="D6E4F0"/>
                      </a:solidFill>
                      <a:prstDash val="solid"/>
                      <a:round/>
                      <a:headEnd type="none" w="med" len="med"/>
                      <a:tailEnd type="none" w="med" len="med"/>
                    </a:lnR>
                    <a:lnT w="6350" cap="flat" cmpd="sng" algn="ctr">
                      <a:solidFill>
                        <a:srgbClr val="D6E4F0"/>
                      </a:solidFill>
                      <a:prstDash val="solid"/>
                      <a:round/>
                      <a:headEnd type="none" w="med" len="med"/>
                      <a:tailEnd type="none" w="med" len="med"/>
                    </a:lnT>
                    <a:lnB w="6350" cap="flat" cmpd="sng" algn="ctr">
                      <a:solidFill>
                        <a:srgbClr val="D6E4F0"/>
                      </a:solidFill>
                      <a:prstDash val="solid"/>
                      <a:round/>
                      <a:headEnd type="none" w="med" len="med"/>
                      <a:tailEnd type="none" w="med" len="med"/>
                    </a:lnB>
                    <a:solidFill>
                      <a:srgbClr val="EAF1F8"/>
                    </a:solidFill>
                  </a:tcPr>
                </a:tc>
                <a:tc>
                  <a:txBody>
                    <a:bodyPr/>
                    <a:lstStyle/>
                    <a:p>
                      <a:pPr indent="0" marL="0">
                        <a:buNone/>
                      </a:pPr>
                      <a:r>
                        <a:rPr lang="en-US" sz="720" dirty="0">
                          <a:solidFill>
                            <a:srgbClr val="3F5265"/>
                          </a:solidFill>
                          <a:latin typeface="Calibri" pitchFamily="34" charset="0"/>
                          <a:ea typeface="Calibri" pitchFamily="34" charset="-122"/>
                          <a:cs typeface="Calibri" pitchFamily="34" charset="-120"/>
                        </a:rPr>
                        <a:t>Any desk already licensed for the</a:t>
                      </a:r>
                      <a:endParaRPr lang="en-US" sz="720" dirty="0">
                        <a:latin typeface="Calibri" charset="0"/>
                        <a:ea typeface="Calibri" charset="0"/>
                        <a:cs typeface="Calibri" charset="0"/>
                      </a:endParaRPr>
                    </a:p>
                    <a:p>
                      <a:pPr indent="0" marL="0">
                        <a:buNone/>
                      </a:pPr>
                      <a:r>
                        <a:rPr lang="en-US" sz="720" dirty="0">
                          <a:solidFill>
                            <a:srgbClr val="3F5265"/>
                          </a:solidFill>
                          <a:latin typeface="Calibri" pitchFamily="34" charset="0"/>
                          <a:ea typeface="Calibri" pitchFamily="34" charset="-122"/>
                          <a:cs typeface="Calibri" pitchFamily="34" charset="-120"/>
                        </a:rPr>
                        <a:t>Terminal; broadest broker reach</a:t>
                      </a:r>
                      <a:endParaRPr lang="en-US" sz="720" dirty="0">
                        <a:latin typeface="Calibri" charset="0"/>
                        <a:ea typeface="Calibri" charset="0"/>
                        <a:cs typeface="Calibri" charset="0"/>
                      </a:endParaRPr>
                    </a:p>
                  </a:txBody>
                  <a:tcPr marL="45720" marR="45720" marT="45720" marB="45720" anchor="t">
                    <a:lnL w="6350" cap="flat" cmpd="sng" algn="ctr">
                      <a:solidFill>
                        <a:srgbClr val="D6E4F0"/>
                      </a:solidFill>
                      <a:prstDash val="solid"/>
                      <a:round/>
                      <a:headEnd type="none" w="med" len="med"/>
                      <a:tailEnd type="none" w="med" len="med"/>
                    </a:lnL>
                    <a:lnR w="6350" cap="flat" cmpd="sng" algn="ctr">
                      <a:solidFill>
                        <a:srgbClr val="D6E4F0"/>
                      </a:solidFill>
                      <a:prstDash val="solid"/>
                      <a:round/>
                      <a:headEnd type="none" w="med" len="med"/>
                      <a:tailEnd type="none" w="med" len="med"/>
                    </a:lnR>
                    <a:lnT w="6350" cap="flat" cmpd="sng" algn="ctr">
                      <a:solidFill>
                        <a:srgbClr val="D6E4F0"/>
                      </a:solidFill>
                      <a:prstDash val="solid"/>
                      <a:round/>
                      <a:headEnd type="none" w="med" len="med"/>
                      <a:tailEnd type="none" w="med" len="med"/>
                    </a:lnT>
                    <a:lnB w="6350" cap="flat" cmpd="sng" algn="ctr">
                      <a:solidFill>
                        <a:srgbClr val="D6E4F0"/>
                      </a:solidFill>
                      <a:prstDash val="solid"/>
                      <a:round/>
                      <a:headEnd type="none" w="med" len="med"/>
                      <a:tailEnd type="none" w="med" len="med"/>
                    </a:lnB>
                    <a:solidFill>
                      <a:srgbClr val="EAF1F8"/>
                    </a:solidFill>
                  </a:tcPr>
                </a:tc>
                <a:tc>
                  <a:txBody>
                    <a:bodyPr/>
                    <a:lstStyle/>
                    <a:p>
                      <a:pPr indent="0" marL="0">
                        <a:buNone/>
                      </a:pPr>
                      <a:r>
                        <a:rPr lang="en-US" sz="720" dirty="0">
                          <a:solidFill>
                            <a:srgbClr val="3F5265"/>
                          </a:solidFill>
                          <a:latin typeface="Calibri" pitchFamily="34" charset="0"/>
                          <a:ea typeface="Calibri" pitchFamily="34" charset="-122"/>
                          <a:cs typeface="Calibri" pitchFamily="34" charset="-120"/>
                        </a:rPr>
                        <a:t>The client requires interoperability beyond the Bloomberg environment or leading-edge functionality; product development scored 4.63</a:t>
                      </a:r>
                      <a:endParaRPr lang="en-US" sz="720" dirty="0">
                        <a:latin typeface="Calibri" charset="0"/>
                        <a:ea typeface="Calibri" charset="0"/>
                        <a:cs typeface="Calibri" charset="0"/>
                      </a:endParaRPr>
                    </a:p>
                  </a:txBody>
                  <a:tcPr marL="45720" marR="45720" marT="45720" marB="45720" anchor="t">
                    <a:lnL w="6350" cap="flat" cmpd="sng" algn="ctr">
                      <a:solidFill>
                        <a:srgbClr val="D6E4F0"/>
                      </a:solidFill>
                      <a:prstDash val="solid"/>
                      <a:round/>
                      <a:headEnd type="none" w="med" len="med"/>
                      <a:tailEnd type="none" w="med" len="med"/>
                    </a:lnL>
                    <a:lnR w="6350" cap="flat" cmpd="sng" algn="ctr">
                      <a:solidFill>
                        <a:srgbClr val="D6E4F0"/>
                      </a:solidFill>
                      <a:prstDash val="solid"/>
                      <a:round/>
                      <a:headEnd type="none" w="med" len="med"/>
                      <a:tailEnd type="none" w="med" len="med"/>
                    </a:lnR>
                    <a:lnT w="6350" cap="flat" cmpd="sng" algn="ctr">
                      <a:solidFill>
                        <a:srgbClr val="D6E4F0"/>
                      </a:solidFill>
                      <a:prstDash val="solid"/>
                      <a:round/>
                      <a:headEnd type="none" w="med" len="med"/>
                      <a:tailEnd type="none" w="med" len="med"/>
                    </a:lnT>
                    <a:lnB w="6350" cap="flat" cmpd="sng" algn="ctr">
                      <a:solidFill>
                        <a:srgbClr val="D6E4F0"/>
                      </a:solidFill>
                      <a:prstDash val="solid"/>
                      <a:round/>
                      <a:headEnd type="none" w="med" len="med"/>
                      <a:tailEnd type="none" w="med" len="med"/>
                    </a:lnB>
                    <a:solidFill>
                      <a:srgbClr val="EAF1F8"/>
                    </a:solidFill>
                  </a:tcPr>
                </a:tc>
              </a:tr>
              <a:tr h="365760">
                <a:tc>
                  <a:txBody>
                    <a:bodyPr/>
                    <a:lstStyle/>
                    <a:p>
                      <a:pPr indent="0" marL="0">
                        <a:buNone/>
                      </a:pPr>
                      <a:r>
                        <a:rPr lang="en-US" sz="720" b="1" dirty="0">
                          <a:solidFill>
                            <a:srgbClr val="002D72"/>
                          </a:solidFill>
                          <a:latin typeface="Calibri" pitchFamily="34" charset="0"/>
                          <a:ea typeface="Calibri" pitchFamily="34" charset="-122"/>
                          <a:cs typeface="Calibri" pitchFamily="34" charset="-120"/>
                        </a:rPr>
                        <a:t>FactSet Portware</a:t>
                      </a:r>
                      <a:endParaRPr lang="en-US" sz="720" dirty="0">
                        <a:latin typeface="Calibri" charset="0"/>
                        <a:ea typeface="Calibri" charset="0"/>
                        <a:cs typeface="Calibri" charset="0"/>
                      </a:endParaRPr>
                    </a:p>
                  </a:txBody>
                  <a:tcPr marL="45720" marR="45720" marT="45720" marB="45720" anchor="t">
                    <a:lnL w="6350" cap="flat" cmpd="sng" algn="ctr">
                      <a:solidFill>
                        <a:srgbClr val="D6E4F0"/>
                      </a:solidFill>
                      <a:prstDash val="solid"/>
                      <a:round/>
                      <a:headEnd type="none" w="med" len="med"/>
                      <a:tailEnd type="none" w="med" len="med"/>
                    </a:lnL>
                    <a:lnR w="6350" cap="flat" cmpd="sng" algn="ctr">
                      <a:solidFill>
                        <a:srgbClr val="D6E4F0"/>
                      </a:solidFill>
                      <a:prstDash val="solid"/>
                      <a:round/>
                      <a:headEnd type="none" w="med" len="med"/>
                      <a:tailEnd type="none" w="med" len="med"/>
                    </a:lnR>
                    <a:lnT w="6350" cap="flat" cmpd="sng" algn="ctr">
                      <a:solidFill>
                        <a:srgbClr val="D6E4F0"/>
                      </a:solidFill>
                      <a:prstDash val="solid"/>
                      <a:round/>
                      <a:headEnd type="none" w="med" len="med"/>
                      <a:tailEnd type="none" w="med" len="med"/>
                    </a:lnT>
                    <a:lnB w="6350" cap="flat" cmpd="sng" algn="ctr">
                      <a:solidFill>
                        <a:srgbClr val="D6E4F0"/>
                      </a:solidFill>
                      <a:prstDash val="solid"/>
                      <a:round/>
                      <a:headEnd type="none" w="med" len="med"/>
                      <a:tailEnd type="none" w="med" len="med"/>
                    </a:lnB>
                    <a:solidFill>
                      <a:srgbClr val="FFFFFF"/>
                    </a:solidFill>
                  </a:tcPr>
                </a:tc>
                <a:tc>
                  <a:txBody>
                    <a:bodyPr/>
                    <a:lstStyle/>
                    <a:p>
                      <a:pPr indent="0" marL="0">
                        <a:buNone/>
                      </a:pPr>
                      <a:r>
                        <a:rPr lang="en-US" sz="720" dirty="0">
                          <a:solidFill>
                            <a:srgbClr val="3F5265"/>
                          </a:solidFill>
                          <a:latin typeface="Calibri" pitchFamily="34" charset="0"/>
                          <a:ea typeface="Calibri" pitchFamily="34" charset="-122"/>
                          <a:cs typeface="Calibri" pitchFamily="34" charset="-120"/>
                        </a:rPr>
                        <a:t>FactSet</a:t>
                      </a:r>
                      <a:endParaRPr lang="en-US" sz="720" dirty="0">
                        <a:latin typeface="Calibri" charset="0"/>
                        <a:ea typeface="Calibri" charset="0"/>
                        <a:cs typeface="Calibri" charset="0"/>
                      </a:endParaRPr>
                    </a:p>
                  </a:txBody>
                  <a:tcPr marL="45720" marR="45720" marT="45720" marB="45720" anchor="t">
                    <a:lnL w="6350" cap="flat" cmpd="sng" algn="ctr">
                      <a:solidFill>
                        <a:srgbClr val="D6E4F0"/>
                      </a:solidFill>
                      <a:prstDash val="solid"/>
                      <a:round/>
                      <a:headEnd type="none" w="med" len="med"/>
                      <a:tailEnd type="none" w="med" len="med"/>
                    </a:lnL>
                    <a:lnR w="6350" cap="flat" cmpd="sng" algn="ctr">
                      <a:solidFill>
                        <a:srgbClr val="D6E4F0"/>
                      </a:solidFill>
                      <a:prstDash val="solid"/>
                      <a:round/>
                      <a:headEnd type="none" w="med" len="med"/>
                      <a:tailEnd type="none" w="med" len="med"/>
                    </a:lnR>
                    <a:lnT w="6350" cap="flat" cmpd="sng" algn="ctr">
                      <a:solidFill>
                        <a:srgbClr val="D6E4F0"/>
                      </a:solidFill>
                      <a:prstDash val="solid"/>
                      <a:round/>
                      <a:headEnd type="none" w="med" len="med"/>
                      <a:tailEnd type="none" w="med" len="med"/>
                    </a:lnT>
                    <a:lnB w="6350" cap="flat" cmpd="sng" algn="ctr">
                      <a:solidFill>
                        <a:srgbClr val="D6E4F0"/>
                      </a:solidFill>
                      <a:prstDash val="solid"/>
                      <a:round/>
                      <a:headEnd type="none" w="med" len="med"/>
                      <a:tailEnd type="none" w="med" len="med"/>
                    </a:lnB>
                    <a:solidFill>
                      <a:srgbClr val="FFFFFF"/>
                    </a:solidFill>
                  </a:tcPr>
                </a:tc>
                <a:tc>
                  <a:txBody>
                    <a:bodyPr/>
                    <a:lstStyle/>
                    <a:p>
                      <a:pPr indent="0" marL="0">
                        <a:buNone/>
                      </a:pPr>
                      <a:r>
                        <a:rPr lang="en-US" sz="720" dirty="0">
                          <a:solidFill>
                            <a:srgbClr val="3F5265"/>
                          </a:solidFill>
                          <a:latin typeface="Calibri" pitchFamily="34" charset="0"/>
                          <a:ea typeface="Calibri" pitchFamily="34" charset="-122"/>
                          <a:cs typeface="Calibri" pitchFamily="34" charset="-120"/>
                        </a:rPr>
                        <a:t>5.10</a:t>
                      </a:r>
                      <a:endParaRPr lang="en-US" sz="720" dirty="0">
                        <a:latin typeface="Calibri" charset="0"/>
                        <a:ea typeface="Calibri" charset="0"/>
                        <a:cs typeface="Calibri" charset="0"/>
                      </a:endParaRPr>
                    </a:p>
                  </a:txBody>
                  <a:tcPr marL="45720" marR="45720" marT="45720" marB="45720" anchor="t">
                    <a:lnL w="6350" cap="flat" cmpd="sng" algn="ctr">
                      <a:solidFill>
                        <a:srgbClr val="D6E4F0"/>
                      </a:solidFill>
                      <a:prstDash val="solid"/>
                      <a:round/>
                      <a:headEnd type="none" w="med" len="med"/>
                      <a:tailEnd type="none" w="med" len="med"/>
                    </a:lnL>
                    <a:lnR w="6350" cap="flat" cmpd="sng" algn="ctr">
                      <a:solidFill>
                        <a:srgbClr val="D6E4F0"/>
                      </a:solidFill>
                      <a:prstDash val="solid"/>
                      <a:round/>
                      <a:headEnd type="none" w="med" len="med"/>
                      <a:tailEnd type="none" w="med" len="med"/>
                    </a:lnR>
                    <a:lnT w="6350" cap="flat" cmpd="sng" algn="ctr">
                      <a:solidFill>
                        <a:srgbClr val="D6E4F0"/>
                      </a:solidFill>
                      <a:prstDash val="solid"/>
                      <a:round/>
                      <a:headEnd type="none" w="med" len="med"/>
                      <a:tailEnd type="none" w="med" len="med"/>
                    </a:lnT>
                    <a:lnB w="6350" cap="flat" cmpd="sng" algn="ctr">
                      <a:solidFill>
                        <a:srgbClr val="D6E4F0"/>
                      </a:solidFill>
                      <a:prstDash val="solid"/>
                      <a:round/>
                      <a:headEnd type="none" w="med" len="med"/>
                      <a:tailEnd type="none" w="med" len="med"/>
                    </a:lnB>
                    <a:solidFill>
                      <a:srgbClr val="FFFFFF"/>
                    </a:solidFill>
                  </a:tcPr>
                </a:tc>
                <a:tc>
                  <a:txBody>
                    <a:bodyPr/>
                    <a:lstStyle/>
                    <a:p>
                      <a:pPr indent="0" marL="0">
                        <a:buNone/>
                      </a:pPr>
                      <a:r>
                        <a:rPr lang="en-US" sz="720" dirty="0">
                          <a:solidFill>
                            <a:srgbClr val="3F5265"/>
                          </a:solidFill>
                          <a:latin typeface="Calibri" pitchFamily="34" charset="0"/>
                          <a:ea typeface="Calibri" pitchFamily="34" charset="-122"/>
                          <a:cs typeface="Calibri" pitchFamily="34" charset="-120"/>
                        </a:rPr>
                        <a:t>Listed assets and FX core;</a:t>
                      </a:r>
                      <a:endParaRPr lang="en-US" sz="720" dirty="0">
                        <a:latin typeface="Calibri" charset="0"/>
                        <a:ea typeface="Calibri" charset="0"/>
                        <a:cs typeface="Calibri" charset="0"/>
                      </a:endParaRPr>
                    </a:p>
                    <a:p>
                      <a:pPr indent="0" marL="0">
                        <a:buNone/>
                      </a:pPr>
                      <a:r>
                        <a:rPr lang="en-US" sz="720" dirty="0">
                          <a:solidFill>
                            <a:srgbClr val="3F5265"/>
                          </a:solidFill>
                          <a:latin typeface="Calibri" pitchFamily="34" charset="0"/>
                          <a:ea typeface="Calibri" pitchFamily="34" charset="-122"/>
                          <a:cs typeface="Calibri" pitchFamily="34" charset="-120"/>
                        </a:rPr>
                        <a:t>fixed income added</a:t>
                      </a:r>
                      <a:endParaRPr lang="en-US" sz="720" dirty="0">
                        <a:latin typeface="Calibri" charset="0"/>
                        <a:ea typeface="Calibri" charset="0"/>
                        <a:cs typeface="Calibri" charset="0"/>
                      </a:endParaRPr>
                    </a:p>
                  </a:txBody>
                  <a:tcPr marL="45720" marR="45720" marT="45720" marB="45720" anchor="t">
                    <a:lnL w="6350" cap="flat" cmpd="sng" algn="ctr">
                      <a:solidFill>
                        <a:srgbClr val="D6E4F0"/>
                      </a:solidFill>
                      <a:prstDash val="solid"/>
                      <a:round/>
                      <a:headEnd type="none" w="med" len="med"/>
                      <a:tailEnd type="none" w="med" len="med"/>
                    </a:lnL>
                    <a:lnR w="6350" cap="flat" cmpd="sng" algn="ctr">
                      <a:solidFill>
                        <a:srgbClr val="D6E4F0"/>
                      </a:solidFill>
                      <a:prstDash val="solid"/>
                      <a:round/>
                      <a:headEnd type="none" w="med" len="med"/>
                      <a:tailEnd type="none" w="med" len="med"/>
                    </a:lnR>
                    <a:lnT w="6350" cap="flat" cmpd="sng" algn="ctr">
                      <a:solidFill>
                        <a:srgbClr val="D6E4F0"/>
                      </a:solidFill>
                      <a:prstDash val="solid"/>
                      <a:round/>
                      <a:headEnd type="none" w="med" len="med"/>
                      <a:tailEnd type="none" w="med" len="med"/>
                    </a:lnT>
                    <a:lnB w="6350" cap="flat" cmpd="sng" algn="ctr">
                      <a:solidFill>
                        <a:srgbClr val="D6E4F0"/>
                      </a:solidFill>
                      <a:prstDash val="solid"/>
                      <a:round/>
                      <a:headEnd type="none" w="med" len="med"/>
                      <a:tailEnd type="none" w="med" len="med"/>
                    </a:lnB>
                    <a:solidFill>
                      <a:srgbClr val="FFFFFF"/>
                    </a:solidFill>
                  </a:tcPr>
                </a:tc>
                <a:tc>
                  <a:txBody>
                    <a:bodyPr/>
                    <a:lstStyle/>
                    <a:p>
                      <a:pPr indent="0" marL="0">
                        <a:buNone/>
                      </a:pPr>
                      <a:r>
                        <a:rPr lang="en-US" sz="720" dirty="0">
                          <a:solidFill>
                            <a:srgbClr val="3F5265"/>
                          </a:solidFill>
                          <a:latin typeface="Calibri" pitchFamily="34" charset="0"/>
                          <a:ea typeface="Calibri" pitchFamily="34" charset="-122"/>
                          <a:cs typeface="Calibri" pitchFamily="34" charset="-120"/>
                        </a:rPr>
                        <a:t>Large managers with complex</a:t>
                      </a:r>
                      <a:endParaRPr lang="en-US" sz="720" dirty="0">
                        <a:latin typeface="Calibri" charset="0"/>
                        <a:ea typeface="Calibri" charset="0"/>
                        <a:cs typeface="Calibri" charset="0"/>
                      </a:endParaRPr>
                    </a:p>
                    <a:p>
                      <a:pPr indent="0" marL="0">
                        <a:buNone/>
                      </a:pPr>
                      <a:r>
                        <a:rPr lang="en-US" sz="720" dirty="0">
                          <a:solidFill>
                            <a:srgbClr val="3F5265"/>
                          </a:solidFill>
                          <a:latin typeface="Calibri" pitchFamily="34" charset="0"/>
                          <a:ea typeface="Calibri" pitchFamily="34" charset="-122"/>
                          <a:cs typeface="Calibri" pitchFamily="34" charset="-120"/>
                        </a:rPr>
                        <a:t>multi-OMS workflows</a:t>
                      </a:r>
                      <a:endParaRPr lang="en-US" sz="720" dirty="0">
                        <a:latin typeface="Calibri" charset="0"/>
                        <a:ea typeface="Calibri" charset="0"/>
                        <a:cs typeface="Calibri" charset="0"/>
                      </a:endParaRPr>
                    </a:p>
                  </a:txBody>
                  <a:tcPr marL="45720" marR="45720" marT="45720" marB="45720" anchor="t">
                    <a:lnL w="6350" cap="flat" cmpd="sng" algn="ctr">
                      <a:solidFill>
                        <a:srgbClr val="D6E4F0"/>
                      </a:solidFill>
                      <a:prstDash val="solid"/>
                      <a:round/>
                      <a:headEnd type="none" w="med" len="med"/>
                      <a:tailEnd type="none" w="med" len="med"/>
                    </a:lnL>
                    <a:lnR w="6350" cap="flat" cmpd="sng" algn="ctr">
                      <a:solidFill>
                        <a:srgbClr val="D6E4F0"/>
                      </a:solidFill>
                      <a:prstDash val="solid"/>
                      <a:round/>
                      <a:headEnd type="none" w="med" len="med"/>
                      <a:tailEnd type="none" w="med" len="med"/>
                    </a:lnR>
                    <a:lnT w="6350" cap="flat" cmpd="sng" algn="ctr">
                      <a:solidFill>
                        <a:srgbClr val="D6E4F0"/>
                      </a:solidFill>
                      <a:prstDash val="solid"/>
                      <a:round/>
                      <a:headEnd type="none" w="med" len="med"/>
                      <a:tailEnd type="none" w="med" len="med"/>
                    </a:lnT>
                    <a:lnB w="6350" cap="flat" cmpd="sng" algn="ctr">
                      <a:solidFill>
                        <a:srgbClr val="D6E4F0"/>
                      </a:solidFill>
                      <a:prstDash val="solid"/>
                      <a:round/>
                      <a:headEnd type="none" w="med" len="med"/>
                      <a:tailEnd type="none" w="med" len="med"/>
                    </a:lnB>
                    <a:solidFill>
                      <a:srgbClr val="FFFFFF"/>
                    </a:solidFill>
                  </a:tcPr>
                </a:tc>
                <a:tc>
                  <a:txBody>
                    <a:bodyPr/>
                    <a:lstStyle/>
                    <a:p>
                      <a:pPr indent="0" marL="0">
                        <a:buNone/>
                      </a:pPr>
                      <a:r>
                        <a:rPr lang="en-US" sz="720" dirty="0">
                          <a:solidFill>
                            <a:srgbClr val="3F5265"/>
                          </a:solidFill>
                          <a:latin typeface="Calibri" pitchFamily="34" charset="0"/>
                          <a:ea typeface="Calibri" pitchFamily="34" charset="-122"/>
                          <a:cs typeface="Calibri" pitchFamily="34" charset="-120"/>
                        </a:rPr>
                        <a:t>Recent trajectory matters; product development fell 1.41 and latency 1.29, though only 14 ratings were received</a:t>
                      </a:r>
                      <a:endParaRPr lang="en-US" sz="720" dirty="0">
                        <a:latin typeface="Calibri" charset="0"/>
                        <a:ea typeface="Calibri" charset="0"/>
                        <a:cs typeface="Calibri" charset="0"/>
                      </a:endParaRPr>
                    </a:p>
                  </a:txBody>
                  <a:tcPr marL="45720" marR="45720" marT="45720" marB="45720" anchor="t">
                    <a:lnL w="6350" cap="flat" cmpd="sng" algn="ctr">
                      <a:solidFill>
                        <a:srgbClr val="D6E4F0"/>
                      </a:solidFill>
                      <a:prstDash val="solid"/>
                      <a:round/>
                      <a:headEnd type="none" w="med" len="med"/>
                      <a:tailEnd type="none" w="med" len="med"/>
                    </a:lnL>
                    <a:lnR w="6350" cap="flat" cmpd="sng" algn="ctr">
                      <a:solidFill>
                        <a:srgbClr val="D6E4F0"/>
                      </a:solidFill>
                      <a:prstDash val="solid"/>
                      <a:round/>
                      <a:headEnd type="none" w="med" len="med"/>
                      <a:tailEnd type="none" w="med" len="med"/>
                    </a:lnR>
                    <a:lnT w="6350" cap="flat" cmpd="sng" algn="ctr">
                      <a:solidFill>
                        <a:srgbClr val="D6E4F0"/>
                      </a:solidFill>
                      <a:prstDash val="solid"/>
                      <a:round/>
                      <a:headEnd type="none" w="med" len="med"/>
                      <a:tailEnd type="none" w="med" len="med"/>
                    </a:lnT>
                    <a:lnB w="6350" cap="flat" cmpd="sng" algn="ctr">
                      <a:solidFill>
                        <a:srgbClr val="D6E4F0"/>
                      </a:solidFill>
                      <a:prstDash val="solid"/>
                      <a:round/>
                      <a:headEnd type="none" w="med" len="med"/>
                      <a:tailEnd type="none" w="med" len="med"/>
                    </a:lnB>
                    <a:solidFill>
                      <a:srgbClr val="FFFFFF"/>
                    </a:solidFill>
                  </a:tcPr>
                </a:tc>
              </a:tr>
              <a:tr h="365760">
                <a:tc>
                  <a:txBody>
                    <a:bodyPr/>
                    <a:lstStyle/>
                    <a:p>
                      <a:pPr indent="0" marL="0">
                        <a:buNone/>
                      </a:pPr>
                      <a:r>
                        <a:rPr lang="en-US" sz="720" b="1" dirty="0">
                          <a:solidFill>
                            <a:srgbClr val="002D72"/>
                          </a:solidFill>
                          <a:latin typeface="Calibri" pitchFamily="34" charset="0"/>
                          <a:ea typeface="Calibri" pitchFamily="34" charset="-122"/>
                          <a:cs typeface="Calibri" pitchFamily="34" charset="-120"/>
                        </a:rPr>
                        <a:t>Charles River Trader</a:t>
                      </a:r>
                      <a:endParaRPr lang="en-US" sz="720" dirty="0">
                        <a:latin typeface="Calibri" charset="0"/>
                        <a:ea typeface="Calibri" charset="0"/>
                        <a:cs typeface="Calibri" charset="0"/>
                      </a:endParaRPr>
                    </a:p>
                  </a:txBody>
                  <a:tcPr marL="45720" marR="45720" marT="45720" marB="45720" anchor="t">
                    <a:lnL w="6350" cap="flat" cmpd="sng" algn="ctr">
                      <a:solidFill>
                        <a:srgbClr val="D6E4F0"/>
                      </a:solidFill>
                      <a:prstDash val="solid"/>
                      <a:round/>
                      <a:headEnd type="none" w="med" len="med"/>
                      <a:tailEnd type="none" w="med" len="med"/>
                    </a:lnL>
                    <a:lnR w="6350" cap="flat" cmpd="sng" algn="ctr">
                      <a:solidFill>
                        <a:srgbClr val="D6E4F0"/>
                      </a:solidFill>
                      <a:prstDash val="solid"/>
                      <a:round/>
                      <a:headEnd type="none" w="med" len="med"/>
                      <a:tailEnd type="none" w="med" len="med"/>
                    </a:lnR>
                    <a:lnT w="6350" cap="flat" cmpd="sng" algn="ctr">
                      <a:solidFill>
                        <a:srgbClr val="D6E4F0"/>
                      </a:solidFill>
                      <a:prstDash val="solid"/>
                      <a:round/>
                      <a:headEnd type="none" w="med" len="med"/>
                      <a:tailEnd type="none" w="med" len="med"/>
                    </a:lnT>
                    <a:lnB w="6350" cap="flat" cmpd="sng" algn="ctr">
                      <a:solidFill>
                        <a:srgbClr val="D6E4F0"/>
                      </a:solidFill>
                      <a:prstDash val="solid"/>
                      <a:round/>
                      <a:headEnd type="none" w="med" len="med"/>
                      <a:tailEnd type="none" w="med" len="med"/>
                    </a:lnB>
                    <a:solidFill>
                      <a:srgbClr val="EAF1F8"/>
                    </a:solidFill>
                  </a:tcPr>
                </a:tc>
                <a:tc>
                  <a:txBody>
                    <a:bodyPr/>
                    <a:lstStyle/>
                    <a:p>
                      <a:pPr indent="0" marL="0">
                        <a:buNone/>
                      </a:pPr>
                      <a:r>
                        <a:rPr lang="en-US" sz="720" dirty="0">
                          <a:solidFill>
                            <a:srgbClr val="3F5265"/>
                          </a:solidFill>
                          <a:latin typeface="Calibri" pitchFamily="34" charset="0"/>
                          <a:ea typeface="Calibri" pitchFamily="34" charset="-122"/>
                          <a:cs typeface="Calibri" pitchFamily="34" charset="-120"/>
                        </a:rPr>
                        <a:t>State Street</a:t>
                      </a:r>
                      <a:endParaRPr lang="en-US" sz="720" dirty="0">
                        <a:latin typeface="Calibri" charset="0"/>
                        <a:ea typeface="Calibri" charset="0"/>
                        <a:cs typeface="Calibri" charset="0"/>
                      </a:endParaRPr>
                    </a:p>
                  </a:txBody>
                  <a:tcPr marL="45720" marR="45720" marT="45720" marB="45720" anchor="t">
                    <a:lnL w="6350" cap="flat" cmpd="sng" algn="ctr">
                      <a:solidFill>
                        <a:srgbClr val="D6E4F0"/>
                      </a:solidFill>
                      <a:prstDash val="solid"/>
                      <a:round/>
                      <a:headEnd type="none" w="med" len="med"/>
                      <a:tailEnd type="none" w="med" len="med"/>
                    </a:lnL>
                    <a:lnR w="6350" cap="flat" cmpd="sng" algn="ctr">
                      <a:solidFill>
                        <a:srgbClr val="D6E4F0"/>
                      </a:solidFill>
                      <a:prstDash val="solid"/>
                      <a:round/>
                      <a:headEnd type="none" w="med" len="med"/>
                      <a:tailEnd type="none" w="med" len="med"/>
                    </a:lnR>
                    <a:lnT w="6350" cap="flat" cmpd="sng" algn="ctr">
                      <a:solidFill>
                        <a:srgbClr val="D6E4F0"/>
                      </a:solidFill>
                      <a:prstDash val="solid"/>
                      <a:round/>
                      <a:headEnd type="none" w="med" len="med"/>
                      <a:tailEnd type="none" w="med" len="med"/>
                    </a:lnT>
                    <a:lnB w="6350" cap="flat" cmpd="sng" algn="ctr">
                      <a:solidFill>
                        <a:srgbClr val="D6E4F0"/>
                      </a:solidFill>
                      <a:prstDash val="solid"/>
                      <a:round/>
                      <a:headEnd type="none" w="med" len="med"/>
                      <a:tailEnd type="none" w="med" len="med"/>
                    </a:lnB>
                    <a:solidFill>
                      <a:srgbClr val="EAF1F8"/>
                    </a:solidFill>
                  </a:tcPr>
                </a:tc>
                <a:tc>
                  <a:txBody>
                    <a:bodyPr/>
                    <a:lstStyle/>
                    <a:p>
                      <a:pPr indent="0" marL="0">
                        <a:buNone/>
                      </a:pPr>
                      <a:r>
                        <a:rPr lang="en-US" sz="720" dirty="0">
                          <a:solidFill>
                            <a:srgbClr val="3F5265"/>
                          </a:solidFill>
                          <a:latin typeface="Calibri" pitchFamily="34" charset="0"/>
                          <a:ea typeface="Calibri" pitchFamily="34" charset="-122"/>
                          <a:cs typeface="Calibri" pitchFamily="34" charset="-120"/>
                        </a:rPr>
                        <a:t>4.93</a:t>
                      </a:r>
                      <a:endParaRPr lang="en-US" sz="720" dirty="0">
                        <a:latin typeface="Calibri" charset="0"/>
                        <a:ea typeface="Calibri" charset="0"/>
                        <a:cs typeface="Calibri" charset="0"/>
                      </a:endParaRPr>
                    </a:p>
                  </a:txBody>
                  <a:tcPr marL="45720" marR="45720" marT="45720" marB="45720" anchor="t">
                    <a:lnL w="6350" cap="flat" cmpd="sng" algn="ctr">
                      <a:solidFill>
                        <a:srgbClr val="D6E4F0"/>
                      </a:solidFill>
                      <a:prstDash val="solid"/>
                      <a:round/>
                      <a:headEnd type="none" w="med" len="med"/>
                      <a:tailEnd type="none" w="med" len="med"/>
                    </a:lnL>
                    <a:lnR w="6350" cap="flat" cmpd="sng" algn="ctr">
                      <a:solidFill>
                        <a:srgbClr val="D6E4F0"/>
                      </a:solidFill>
                      <a:prstDash val="solid"/>
                      <a:round/>
                      <a:headEnd type="none" w="med" len="med"/>
                      <a:tailEnd type="none" w="med" len="med"/>
                    </a:lnR>
                    <a:lnT w="6350" cap="flat" cmpd="sng" algn="ctr">
                      <a:solidFill>
                        <a:srgbClr val="D6E4F0"/>
                      </a:solidFill>
                      <a:prstDash val="solid"/>
                      <a:round/>
                      <a:headEnd type="none" w="med" len="med"/>
                      <a:tailEnd type="none" w="med" len="med"/>
                    </a:lnT>
                    <a:lnB w="6350" cap="flat" cmpd="sng" algn="ctr">
                      <a:solidFill>
                        <a:srgbClr val="D6E4F0"/>
                      </a:solidFill>
                      <a:prstDash val="solid"/>
                      <a:round/>
                      <a:headEnd type="none" w="med" len="med"/>
                      <a:tailEnd type="none" w="med" len="med"/>
                    </a:lnB>
                    <a:solidFill>
                      <a:srgbClr val="EAF1F8"/>
                    </a:solidFill>
                  </a:tcPr>
                </a:tc>
                <a:tc>
                  <a:txBody>
                    <a:bodyPr/>
                    <a:lstStyle/>
                    <a:p>
                      <a:pPr indent="0" marL="0">
                        <a:buNone/>
                      </a:pPr>
                      <a:r>
                        <a:rPr lang="en-US" sz="720" dirty="0">
                          <a:solidFill>
                            <a:srgbClr val="3F5265"/>
                          </a:solidFill>
                          <a:latin typeface="Calibri" pitchFamily="34" charset="0"/>
                          <a:ea typeface="Calibri" pitchFamily="34" charset="-122"/>
                          <a:cs typeface="Calibri" pitchFamily="34" charset="-120"/>
                        </a:rPr>
                        <a:t>Multi-asset OEMS within</a:t>
                      </a:r>
                      <a:endParaRPr lang="en-US" sz="720" dirty="0">
                        <a:latin typeface="Calibri" charset="0"/>
                        <a:ea typeface="Calibri" charset="0"/>
                        <a:cs typeface="Calibri" charset="0"/>
                      </a:endParaRPr>
                    </a:p>
                    <a:p>
                      <a:pPr indent="0" marL="0">
                        <a:buNone/>
                      </a:pPr>
                      <a:r>
                        <a:rPr lang="en-US" sz="720" dirty="0">
                          <a:solidFill>
                            <a:srgbClr val="3F5265"/>
                          </a:solidFill>
                          <a:latin typeface="Calibri" pitchFamily="34" charset="0"/>
                          <a:ea typeface="Calibri" pitchFamily="34" charset="-122"/>
                          <a:cs typeface="Calibri" pitchFamily="34" charset="-120"/>
                        </a:rPr>
                        <a:t>Charles River IMS</a:t>
                      </a:r>
                      <a:endParaRPr lang="en-US" sz="720" dirty="0">
                        <a:latin typeface="Calibri" charset="0"/>
                        <a:ea typeface="Calibri" charset="0"/>
                        <a:cs typeface="Calibri" charset="0"/>
                      </a:endParaRPr>
                    </a:p>
                  </a:txBody>
                  <a:tcPr marL="45720" marR="45720" marT="45720" marB="45720" anchor="t">
                    <a:lnL w="6350" cap="flat" cmpd="sng" algn="ctr">
                      <a:solidFill>
                        <a:srgbClr val="D6E4F0"/>
                      </a:solidFill>
                      <a:prstDash val="solid"/>
                      <a:round/>
                      <a:headEnd type="none" w="med" len="med"/>
                      <a:tailEnd type="none" w="med" len="med"/>
                    </a:lnL>
                    <a:lnR w="6350" cap="flat" cmpd="sng" algn="ctr">
                      <a:solidFill>
                        <a:srgbClr val="D6E4F0"/>
                      </a:solidFill>
                      <a:prstDash val="solid"/>
                      <a:round/>
                      <a:headEnd type="none" w="med" len="med"/>
                      <a:tailEnd type="none" w="med" len="med"/>
                    </a:lnR>
                    <a:lnT w="6350" cap="flat" cmpd="sng" algn="ctr">
                      <a:solidFill>
                        <a:srgbClr val="D6E4F0"/>
                      </a:solidFill>
                      <a:prstDash val="solid"/>
                      <a:round/>
                      <a:headEnd type="none" w="med" len="med"/>
                      <a:tailEnd type="none" w="med" len="med"/>
                    </a:lnT>
                    <a:lnB w="6350" cap="flat" cmpd="sng" algn="ctr">
                      <a:solidFill>
                        <a:srgbClr val="D6E4F0"/>
                      </a:solidFill>
                      <a:prstDash val="solid"/>
                      <a:round/>
                      <a:headEnd type="none" w="med" len="med"/>
                      <a:tailEnd type="none" w="med" len="med"/>
                    </a:lnB>
                    <a:solidFill>
                      <a:srgbClr val="EAF1F8"/>
                    </a:solidFill>
                  </a:tcPr>
                </a:tc>
                <a:tc>
                  <a:txBody>
                    <a:bodyPr/>
                    <a:lstStyle/>
                    <a:p>
                      <a:pPr indent="0" marL="0">
                        <a:buNone/>
                      </a:pPr>
                      <a:r>
                        <a:rPr lang="en-US" sz="720" dirty="0">
                          <a:solidFill>
                            <a:srgbClr val="3F5265"/>
                          </a:solidFill>
                          <a:latin typeface="Calibri" pitchFamily="34" charset="0"/>
                          <a:ea typeface="Calibri" pitchFamily="34" charset="-122"/>
                          <a:cs typeface="Calibri" pitchFamily="34" charset="-120"/>
                        </a:rPr>
                        <a:t>Large traditional managers already</a:t>
                      </a:r>
                      <a:endParaRPr lang="en-US" sz="720" dirty="0">
                        <a:latin typeface="Calibri" charset="0"/>
                        <a:ea typeface="Calibri" charset="0"/>
                        <a:cs typeface="Calibri" charset="0"/>
                      </a:endParaRPr>
                    </a:p>
                    <a:p>
                      <a:pPr indent="0" marL="0">
                        <a:buNone/>
                      </a:pPr>
                      <a:r>
                        <a:rPr lang="en-US" sz="720" dirty="0">
                          <a:solidFill>
                            <a:srgbClr val="3F5265"/>
                          </a:solidFill>
                          <a:latin typeface="Calibri" pitchFamily="34" charset="0"/>
                          <a:ea typeface="Calibri" pitchFamily="34" charset="-122"/>
                          <a:cs typeface="Calibri" pitchFamily="34" charset="-120"/>
                        </a:rPr>
                        <a:t>committed to the CRD platform</a:t>
                      </a:r>
                      <a:endParaRPr lang="en-US" sz="720" dirty="0">
                        <a:latin typeface="Calibri" charset="0"/>
                        <a:ea typeface="Calibri" charset="0"/>
                        <a:cs typeface="Calibri" charset="0"/>
                      </a:endParaRPr>
                    </a:p>
                  </a:txBody>
                  <a:tcPr marL="45720" marR="45720" marT="45720" marB="45720" anchor="t">
                    <a:lnL w="6350" cap="flat" cmpd="sng" algn="ctr">
                      <a:solidFill>
                        <a:srgbClr val="D6E4F0"/>
                      </a:solidFill>
                      <a:prstDash val="solid"/>
                      <a:round/>
                      <a:headEnd type="none" w="med" len="med"/>
                      <a:tailEnd type="none" w="med" len="med"/>
                    </a:lnL>
                    <a:lnR w="6350" cap="flat" cmpd="sng" algn="ctr">
                      <a:solidFill>
                        <a:srgbClr val="D6E4F0"/>
                      </a:solidFill>
                      <a:prstDash val="solid"/>
                      <a:round/>
                      <a:headEnd type="none" w="med" len="med"/>
                      <a:tailEnd type="none" w="med" len="med"/>
                    </a:lnR>
                    <a:lnT w="6350" cap="flat" cmpd="sng" algn="ctr">
                      <a:solidFill>
                        <a:srgbClr val="D6E4F0"/>
                      </a:solidFill>
                      <a:prstDash val="solid"/>
                      <a:round/>
                      <a:headEnd type="none" w="med" len="med"/>
                      <a:tailEnd type="none" w="med" len="med"/>
                    </a:lnT>
                    <a:lnB w="6350" cap="flat" cmpd="sng" algn="ctr">
                      <a:solidFill>
                        <a:srgbClr val="D6E4F0"/>
                      </a:solidFill>
                      <a:prstDash val="solid"/>
                      <a:round/>
                      <a:headEnd type="none" w="med" len="med"/>
                      <a:tailEnd type="none" w="med" len="med"/>
                    </a:lnB>
                    <a:solidFill>
                      <a:srgbClr val="EAF1F8"/>
                    </a:solidFill>
                  </a:tcPr>
                </a:tc>
                <a:tc>
                  <a:txBody>
                    <a:bodyPr/>
                    <a:lstStyle/>
                    <a:p>
                      <a:pPr indent="0" marL="0">
                        <a:buNone/>
                      </a:pPr>
                      <a:r>
                        <a:rPr lang="en-US" sz="720" dirty="0">
                          <a:solidFill>
                            <a:srgbClr val="3F5265"/>
                          </a:solidFill>
                          <a:latin typeface="Calibri" pitchFamily="34" charset="0"/>
                          <a:ea typeface="Calibri" pitchFamily="34" charset="-122"/>
                          <a:cs typeface="Calibri" pitchFamily="34" charset="-120"/>
                        </a:rPr>
                        <a:t>The client expects EMS-grade execution; this is the lowest-scoring profiled vendor, with cost at 3.94</a:t>
                      </a:r>
                      <a:endParaRPr lang="en-US" sz="720" dirty="0">
                        <a:latin typeface="Calibri" charset="0"/>
                        <a:ea typeface="Calibri" charset="0"/>
                        <a:cs typeface="Calibri" charset="0"/>
                      </a:endParaRPr>
                    </a:p>
                  </a:txBody>
                  <a:tcPr marL="45720" marR="45720" marT="45720" marB="45720" anchor="t">
                    <a:lnL w="6350" cap="flat" cmpd="sng" algn="ctr">
                      <a:solidFill>
                        <a:srgbClr val="D6E4F0"/>
                      </a:solidFill>
                      <a:prstDash val="solid"/>
                      <a:round/>
                      <a:headEnd type="none" w="med" len="med"/>
                      <a:tailEnd type="none" w="med" len="med"/>
                    </a:lnL>
                    <a:lnR w="6350" cap="flat" cmpd="sng" algn="ctr">
                      <a:solidFill>
                        <a:srgbClr val="D6E4F0"/>
                      </a:solidFill>
                      <a:prstDash val="solid"/>
                      <a:round/>
                      <a:headEnd type="none" w="med" len="med"/>
                      <a:tailEnd type="none" w="med" len="med"/>
                    </a:lnR>
                    <a:lnT w="6350" cap="flat" cmpd="sng" algn="ctr">
                      <a:solidFill>
                        <a:srgbClr val="D6E4F0"/>
                      </a:solidFill>
                      <a:prstDash val="solid"/>
                      <a:round/>
                      <a:headEnd type="none" w="med" len="med"/>
                      <a:tailEnd type="none" w="med" len="med"/>
                    </a:lnT>
                    <a:lnB w="6350" cap="flat" cmpd="sng" algn="ctr">
                      <a:solidFill>
                        <a:srgbClr val="D6E4F0"/>
                      </a:solidFill>
                      <a:prstDash val="solid"/>
                      <a:round/>
                      <a:headEnd type="none" w="med" len="med"/>
                      <a:tailEnd type="none" w="med" len="med"/>
                    </a:lnB>
                    <a:solidFill>
                      <a:srgbClr val="EAF1F8"/>
                    </a:solidFill>
                  </a:tcPr>
                </a:tc>
              </a:tr>
              <a:tr h="365760">
                <a:tc>
                  <a:txBody>
                    <a:bodyPr/>
                    <a:lstStyle/>
                    <a:p>
                      <a:pPr indent="0" marL="0">
                        <a:buNone/>
                      </a:pPr>
                      <a:r>
                        <a:rPr lang="en-US" sz="720" b="1" dirty="0">
                          <a:solidFill>
                            <a:srgbClr val="002D72"/>
                          </a:solidFill>
                          <a:latin typeface="Calibri" pitchFamily="34" charset="0"/>
                          <a:ea typeface="Calibri" pitchFamily="34" charset="-122"/>
                          <a:cs typeface="Calibri" pitchFamily="34" charset="-120"/>
                        </a:rPr>
                        <a:t>Clearwater / Enfusion</a:t>
                      </a:r>
                      <a:endParaRPr lang="en-US" sz="720" dirty="0">
                        <a:latin typeface="Calibri" charset="0"/>
                        <a:ea typeface="Calibri" charset="0"/>
                        <a:cs typeface="Calibri" charset="0"/>
                      </a:endParaRPr>
                    </a:p>
                  </a:txBody>
                  <a:tcPr marL="45720" marR="45720" marT="45720" marB="45720" anchor="t">
                    <a:lnL w="6350" cap="flat" cmpd="sng" algn="ctr">
                      <a:solidFill>
                        <a:srgbClr val="D6E4F0"/>
                      </a:solidFill>
                      <a:prstDash val="solid"/>
                      <a:round/>
                      <a:headEnd type="none" w="med" len="med"/>
                      <a:tailEnd type="none" w="med" len="med"/>
                    </a:lnL>
                    <a:lnR w="6350" cap="flat" cmpd="sng" algn="ctr">
                      <a:solidFill>
                        <a:srgbClr val="D6E4F0"/>
                      </a:solidFill>
                      <a:prstDash val="solid"/>
                      <a:round/>
                      <a:headEnd type="none" w="med" len="med"/>
                      <a:tailEnd type="none" w="med" len="med"/>
                    </a:lnR>
                    <a:lnT w="6350" cap="flat" cmpd="sng" algn="ctr">
                      <a:solidFill>
                        <a:srgbClr val="D6E4F0"/>
                      </a:solidFill>
                      <a:prstDash val="solid"/>
                      <a:round/>
                      <a:headEnd type="none" w="med" len="med"/>
                      <a:tailEnd type="none" w="med" len="med"/>
                    </a:lnT>
                    <a:lnB w="6350" cap="flat" cmpd="sng" algn="ctr">
                      <a:solidFill>
                        <a:srgbClr val="D6E4F0"/>
                      </a:solidFill>
                      <a:prstDash val="solid"/>
                      <a:round/>
                      <a:headEnd type="none" w="med" len="med"/>
                      <a:tailEnd type="none" w="med" len="med"/>
                    </a:lnB>
                    <a:solidFill>
                      <a:srgbClr val="FFFFFF"/>
                    </a:solidFill>
                  </a:tcPr>
                </a:tc>
                <a:tc>
                  <a:txBody>
                    <a:bodyPr/>
                    <a:lstStyle/>
                    <a:p>
                      <a:pPr indent="0" marL="0">
                        <a:buNone/>
                      </a:pPr>
                      <a:r>
                        <a:rPr lang="en-US" sz="720" dirty="0">
                          <a:solidFill>
                            <a:srgbClr val="3F5265"/>
                          </a:solidFill>
                          <a:latin typeface="Calibri" pitchFamily="34" charset="0"/>
                          <a:ea typeface="Calibri" pitchFamily="34" charset="-122"/>
                          <a:cs typeface="Calibri" pitchFamily="34" charset="-120"/>
                        </a:rPr>
                        <a:t>Clearwater Analytics</a:t>
                      </a:r>
                      <a:endParaRPr lang="en-US" sz="720" dirty="0">
                        <a:latin typeface="Calibri" charset="0"/>
                        <a:ea typeface="Calibri" charset="0"/>
                        <a:cs typeface="Calibri" charset="0"/>
                      </a:endParaRPr>
                    </a:p>
                  </a:txBody>
                  <a:tcPr marL="45720" marR="45720" marT="45720" marB="45720" anchor="t">
                    <a:lnL w="6350" cap="flat" cmpd="sng" algn="ctr">
                      <a:solidFill>
                        <a:srgbClr val="D6E4F0"/>
                      </a:solidFill>
                      <a:prstDash val="solid"/>
                      <a:round/>
                      <a:headEnd type="none" w="med" len="med"/>
                      <a:tailEnd type="none" w="med" len="med"/>
                    </a:lnL>
                    <a:lnR w="6350" cap="flat" cmpd="sng" algn="ctr">
                      <a:solidFill>
                        <a:srgbClr val="D6E4F0"/>
                      </a:solidFill>
                      <a:prstDash val="solid"/>
                      <a:round/>
                      <a:headEnd type="none" w="med" len="med"/>
                      <a:tailEnd type="none" w="med" len="med"/>
                    </a:lnR>
                    <a:lnT w="6350" cap="flat" cmpd="sng" algn="ctr">
                      <a:solidFill>
                        <a:srgbClr val="D6E4F0"/>
                      </a:solidFill>
                      <a:prstDash val="solid"/>
                      <a:round/>
                      <a:headEnd type="none" w="med" len="med"/>
                      <a:tailEnd type="none" w="med" len="med"/>
                    </a:lnT>
                    <a:lnB w="6350" cap="flat" cmpd="sng" algn="ctr">
                      <a:solidFill>
                        <a:srgbClr val="D6E4F0"/>
                      </a:solidFill>
                      <a:prstDash val="solid"/>
                      <a:round/>
                      <a:headEnd type="none" w="med" len="med"/>
                      <a:tailEnd type="none" w="med" len="med"/>
                    </a:lnB>
                    <a:solidFill>
                      <a:srgbClr val="FFFFFF"/>
                    </a:solidFill>
                  </a:tcPr>
                </a:tc>
                <a:tc>
                  <a:txBody>
                    <a:bodyPr/>
                    <a:lstStyle/>
                    <a:p>
                      <a:pPr indent="0" marL="0">
                        <a:buNone/>
                      </a:pPr>
                      <a:r>
                        <a:rPr lang="en-US" sz="720" dirty="0">
                          <a:solidFill>
                            <a:srgbClr val="3F5265"/>
                          </a:solidFill>
                          <a:latin typeface="Calibri" pitchFamily="34" charset="0"/>
                          <a:ea typeface="Calibri" pitchFamily="34" charset="-122"/>
                          <a:cs typeface="Calibri" pitchFamily="34" charset="-120"/>
                        </a:rPr>
                        <a:t>n/r</a:t>
                      </a:r>
                      <a:endParaRPr lang="en-US" sz="720" dirty="0">
                        <a:latin typeface="Calibri" charset="0"/>
                        <a:ea typeface="Calibri" charset="0"/>
                        <a:cs typeface="Calibri" charset="0"/>
                      </a:endParaRPr>
                    </a:p>
                  </a:txBody>
                  <a:tcPr marL="45720" marR="45720" marT="45720" marB="45720" anchor="t">
                    <a:lnL w="6350" cap="flat" cmpd="sng" algn="ctr">
                      <a:solidFill>
                        <a:srgbClr val="D6E4F0"/>
                      </a:solidFill>
                      <a:prstDash val="solid"/>
                      <a:round/>
                      <a:headEnd type="none" w="med" len="med"/>
                      <a:tailEnd type="none" w="med" len="med"/>
                    </a:lnL>
                    <a:lnR w="6350" cap="flat" cmpd="sng" algn="ctr">
                      <a:solidFill>
                        <a:srgbClr val="D6E4F0"/>
                      </a:solidFill>
                      <a:prstDash val="solid"/>
                      <a:round/>
                      <a:headEnd type="none" w="med" len="med"/>
                      <a:tailEnd type="none" w="med" len="med"/>
                    </a:lnR>
                    <a:lnT w="6350" cap="flat" cmpd="sng" algn="ctr">
                      <a:solidFill>
                        <a:srgbClr val="D6E4F0"/>
                      </a:solidFill>
                      <a:prstDash val="solid"/>
                      <a:round/>
                      <a:headEnd type="none" w="med" len="med"/>
                      <a:tailEnd type="none" w="med" len="med"/>
                    </a:lnT>
                    <a:lnB w="6350" cap="flat" cmpd="sng" algn="ctr">
                      <a:solidFill>
                        <a:srgbClr val="D6E4F0"/>
                      </a:solidFill>
                      <a:prstDash val="solid"/>
                      <a:round/>
                      <a:headEnd type="none" w="med" len="med"/>
                      <a:tailEnd type="none" w="med" len="med"/>
                    </a:lnB>
                    <a:solidFill>
                      <a:srgbClr val="FFFFFF"/>
                    </a:solidFill>
                  </a:tcPr>
                </a:tc>
                <a:tc>
                  <a:txBody>
                    <a:bodyPr/>
                    <a:lstStyle/>
                    <a:p>
                      <a:pPr indent="0" marL="0">
                        <a:buNone/>
                      </a:pPr>
                      <a:r>
                        <a:rPr lang="en-US" sz="720" dirty="0">
                          <a:solidFill>
                            <a:srgbClr val="3F5265"/>
                          </a:solidFill>
                          <a:latin typeface="Calibri" pitchFamily="34" charset="0"/>
                          <a:ea typeface="Calibri" pitchFamily="34" charset="-122"/>
                          <a:cs typeface="Calibri" pitchFamily="34" charset="-120"/>
                        </a:rPr>
                        <a:t>Front-to-back: PMS, OMS,</a:t>
                      </a:r>
                      <a:endParaRPr lang="en-US" sz="720" dirty="0">
                        <a:latin typeface="Calibri" charset="0"/>
                        <a:ea typeface="Calibri" charset="0"/>
                        <a:cs typeface="Calibri" charset="0"/>
                      </a:endParaRPr>
                    </a:p>
                    <a:p>
                      <a:pPr indent="0" marL="0">
                        <a:buNone/>
                      </a:pPr>
                      <a:r>
                        <a:rPr lang="en-US" sz="720" dirty="0">
                          <a:solidFill>
                            <a:srgbClr val="3F5265"/>
                          </a:solidFill>
                          <a:latin typeface="Calibri" pitchFamily="34" charset="0"/>
                          <a:ea typeface="Calibri" pitchFamily="34" charset="-122"/>
                          <a:cs typeface="Calibri" pitchFamily="34" charset="-120"/>
                        </a:rPr>
                        <a:t>IBOR, risk, accounting</a:t>
                      </a:r>
                      <a:endParaRPr lang="en-US" sz="720" dirty="0">
                        <a:latin typeface="Calibri" charset="0"/>
                        <a:ea typeface="Calibri" charset="0"/>
                        <a:cs typeface="Calibri" charset="0"/>
                      </a:endParaRPr>
                    </a:p>
                  </a:txBody>
                  <a:tcPr marL="45720" marR="45720" marT="45720" marB="45720" anchor="t">
                    <a:lnL w="6350" cap="flat" cmpd="sng" algn="ctr">
                      <a:solidFill>
                        <a:srgbClr val="D6E4F0"/>
                      </a:solidFill>
                      <a:prstDash val="solid"/>
                      <a:round/>
                      <a:headEnd type="none" w="med" len="med"/>
                      <a:tailEnd type="none" w="med" len="med"/>
                    </a:lnL>
                    <a:lnR w="6350" cap="flat" cmpd="sng" algn="ctr">
                      <a:solidFill>
                        <a:srgbClr val="D6E4F0"/>
                      </a:solidFill>
                      <a:prstDash val="solid"/>
                      <a:round/>
                      <a:headEnd type="none" w="med" len="med"/>
                      <a:tailEnd type="none" w="med" len="med"/>
                    </a:lnR>
                    <a:lnT w="6350" cap="flat" cmpd="sng" algn="ctr">
                      <a:solidFill>
                        <a:srgbClr val="D6E4F0"/>
                      </a:solidFill>
                      <a:prstDash val="solid"/>
                      <a:round/>
                      <a:headEnd type="none" w="med" len="med"/>
                      <a:tailEnd type="none" w="med" len="med"/>
                    </a:lnT>
                    <a:lnB w="6350" cap="flat" cmpd="sng" algn="ctr">
                      <a:solidFill>
                        <a:srgbClr val="D6E4F0"/>
                      </a:solidFill>
                      <a:prstDash val="solid"/>
                      <a:round/>
                      <a:headEnd type="none" w="med" len="med"/>
                      <a:tailEnd type="none" w="med" len="med"/>
                    </a:lnB>
                    <a:solidFill>
                      <a:srgbClr val="FFFFFF"/>
                    </a:solidFill>
                  </a:tcPr>
                </a:tc>
                <a:tc>
                  <a:txBody>
                    <a:bodyPr/>
                    <a:lstStyle/>
                    <a:p>
                      <a:pPr indent="0" marL="0">
                        <a:buNone/>
                      </a:pPr>
                      <a:r>
                        <a:rPr lang="en-US" sz="720" dirty="0">
                          <a:solidFill>
                            <a:srgbClr val="3F5265"/>
                          </a:solidFill>
                          <a:latin typeface="Calibri" pitchFamily="34" charset="0"/>
                          <a:ea typeface="Calibri" pitchFamily="34" charset="-122"/>
                          <a:cs typeface="Calibri" pitchFamily="34" charset="-120"/>
                        </a:rPr>
                        <a:t>Fund launches seeking a single vendor</a:t>
                      </a:r>
                      <a:endParaRPr lang="en-US" sz="720" dirty="0">
                        <a:latin typeface="Calibri" charset="0"/>
                        <a:ea typeface="Calibri" charset="0"/>
                        <a:cs typeface="Calibri" charset="0"/>
                      </a:endParaRPr>
                    </a:p>
                    <a:p>
                      <a:pPr indent="0" marL="0">
                        <a:buNone/>
                      </a:pPr>
                      <a:r>
                        <a:rPr lang="en-US" sz="720" dirty="0">
                          <a:solidFill>
                            <a:srgbClr val="3F5265"/>
                          </a:solidFill>
                          <a:latin typeface="Calibri" pitchFamily="34" charset="0"/>
                          <a:ea typeface="Calibri" pitchFamily="34" charset="-122"/>
                          <a:cs typeface="Calibri" pitchFamily="34" charset="-120"/>
                        </a:rPr>
                        <a:t>and minimal operational overhead</a:t>
                      </a:r>
                      <a:endParaRPr lang="en-US" sz="720" dirty="0">
                        <a:latin typeface="Calibri" charset="0"/>
                        <a:ea typeface="Calibri" charset="0"/>
                        <a:cs typeface="Calibri" charset="0"/>
                      </a:endParaRPr>
                    </a:p>
                  </a:txBody>
                  <a:tcPr marL="45720" marR="45720" marT="45720" marB="45720" anchor="t">
                    <a:lnL w="6350" cap="flat" cmpd="sng" algn="ctr">
                      <a:solidFill>
                        <a:srgbClr val="D6E4F0"/>
                      </a:solidFill>
                      <a:prstDash val="solid"/>
                      <a:round/>
                      <a:headEnd type="none" w="med" len="med"/>
                      <a:tailEnd type="none" w="med" len="med"/>
                    </a:lnL>
                    <a:lnR w="6350" cap="flat" cmpd="sng" algn="ctr">
                      <a:solidFill>
                        <a:srgbClr val="D6E4F0"/>
                      </a:solidFill>
                      <a:prstDash val="solid"/>
                      <a:round/>
                      <a:headEnd type="none" w="med" len="med"/>
                      <a:tailEnd type="none" w="med" len="med"/>
                    </a:lnR>
                    <a:lnT w="6350" cap="flat" cmpd="sng" algn="ctr">
                      <a:solidFill>
                        <a:srgbClr val="D6E4F0"/>
                      </a:solidFill>
                      <a:prstDash val="solid"/>
                      <a:round/>
                      <a:headEnd type="none" w="med" len="med"/>
                      <a:tailEnd type="none" w="med" len="med"/>
                    </a:lnT>
                    <a:lnB w="6350" cap="flat" cmpd="sng" algn="ctr">
                      <a:solidFill>
                        <a:srgbClr val="D6E4F0"/>
                      </a:solidFill>
                      <a:prstDash val="solid"/>
                      <a:round/>
                      <a:headEnd type="none" w="med" len="med"/>
                      <a:tailEnd type="none" w="med" len="med"/>
                    </a:lnB>
                    <a:solidFill>
                      <a:srgbClr val="FFFFFF"/>
                    </a:solidFill>
                  </a:tcPr>
                </a:tc>
                <a:tc>
                  <a:txBody>
                    <a:bodyPr/>
                    <a:lstStyle/>
                    <a:p>
                      <a:pPr indent="0" marL="0">
                        <a:buNone/>
                      </a:pPr>
                      <a:r>
                        <a:rPr lang="en-US" sz="720" dirty="0">
                          <a:solidFill>
                            <a:srgbClr val="3F5265"/>
                          </a:solidFill>
                          <a:latin typeface="Calibri" pitchFamily="34" charset="0"/>
                          <a:ea typeface="Calibri" pitchFamily="34" charset="-122"/>
                          <a:cs typeface="Calibri" pitchFamily="34" charset="-120"/>
                        </a:rPr>
                        <a:t>Execution depth is material; broker algorithm and venue coverage is narrower than a specialist EMS</a:t>
                      </a:r>
                      <a:endParaRPr lang="en-US" sz="720" dirty="0">
                        <a:latin typeface="Calibri" charset="0"/>
                        <a:ea typeface="Calibri" charset="0"/>
                        <a:cs typeface="Calibri" charset="0"/>
                      </a:endParaRPr>
                    </a:p>
                  </a:txBody>
                  <a:tcPr marL="45720" marR="45720" marT="45720" marB="45720" anchor="t">
                    <a:lnL w="6350" cap="flat" cmpd="sng" algn="ctr">
                      <a:solidFill>
                        <a:srgbClr val="D6E4F0"/>
                      </a:solidFill>
                      <a:prstDash val="solid"/>
                      <a:round/>
                      <a:headEnd type="none" w="med" len="med"/>
                      <a:tailEnd type="none" w="med" len="med"/>
                    </a:lnL>
                    <a:lnR w="6350" cap="flat" cmpd="sng" algn="ctr">
                      <a:solidFill>
                        <a:srgbClr val="D6E4F0"/>
                      </a:solidFill>
                      <a:prstDash val="solid"/>
                      <a:round/>
                      <a:headEnd type="none" w="med" len="med"/>
                      <a:tailEnd type="none" w="med" len="med"/>
                    </a:lnR>
                    <a:lnT w="6350" cap="flat" cmpd="sng" algn="ctr">
                      <a:solidFill>
                        <a:srgbClr val="D6E4F0"/>
                      </a:solidFill>
                      <a:prstDash val="solid"/>
                      <a:round/>
                      <a:headEnd type="none" w="med" len="med"/>
                      <a:tailEnd type="none" w="med" len="med"/>
                    </a:lnT>
                    <a:lnB w="6350" cap="flat" cmpd="sng" algn="ctr">
                      <a:solidFill>
                        <a:srgbClr val="D6E4F0"/>
                      </a:solidFill>
                      <a:prstDash val="solid"/>
                      <a:round/>
                      <a:headEnd type="none" w="med" len="med"/>
                      <a:tailEnd type="none" w="med" len="med"/>
                    </a:lnB>
                    <a:solidFill>
                      <a:srgbClr val="FFFFFF"/>
                    </a:solidFill>
                  </a:tcPr>
                </a:tc>
              </a:tr>
              <a:tr h="365760">
                <a:tc>
                  <a:txBody>
                    <a:bodyPr/>
                    <a:lstStyle/>
                    <a:p>
                      <a:pPr indent="0" marL="0">
                        <a:buNone/>
                      </a:pPr>
                      <a:r>
                        <a:rPr lang="en-US" sz="720" b="1" dirty="0">
                          <a:solidFill>
                            <a:srgbClr val="002D72"/>
                          </a:solidFill>
                          <a:latin typeface="Calibri" pitchFamily="34" charset="0"/>
                          <a:ea typeface="Calibri" pitchFamily="34" charset="-122"/>
                          <a:cs typeface="Calibri" pitchFamily="34" charset="-120"/>
                        </a:rPr>
                        <a:t>Trading Technologies</a:t>
                      </a:r>
                      <a:endParaRPr lang="en-US" sz="720" dirty="0">
                        <a:latin typeface="Calibri" charset="0"/>
                        <a:ea typeface="Calibri" charset="0"/>
                        <a:cs typeface="Calibri" charset="0"/>
                      </a:endParaRPr>
                    </a:p>
                  </a:txBody>
                  <a:tcPr marL="45720" marR="45720" marT="45720" marB="45720" anchor="t">
                    <a:lnL w="6350" cap="flat" cmpd="sng" algn="ctr">
                      <a:solidFill>
                        <a:srgbClr val="D6E4F0"/>
                      </a:solidFill>
                      <a:prstDash val="solid"/>
                      <a:round/>
                      <a:headEnd type="none" w="med" len="med"/>
                      <a:tailEnd type="none" w="med" len="med"/>
                    </a:lnL>
                    <a:lnR w="6350" cap="flat" cmpd="sng" algn="ctr">
                      <a:solidFill>
                        <a:srgbClr val="D6E4F0"/>
                      </a:solidFill>
                      <a:prstDash val="solid"/>
                      <a:round/>
                      <a:headEnd type="none" w="med" len="med"/>
                      <a:tailEnd type="none" w="med" len="med"/>
                    </a:lnR>
                    <a:lnT w="6350" cap="flat" cmpd="sng" algn="ctr">
                      <a:solidFill>
                        <a:srgbClr val="D6E4F0"/>
                      </a:solidFill>
                      <a:prstDash val="solid"/>
                      <a:round/>
                      <a:headEnd type="none" w="med" len="med"/>
                      <a:tailEnd type="none" w="med" len="med"/>
                    </a:lnT>
                    <a:lnB w="6350" cap="flat" cmpd="sng" algn="ctr">
                      <a:solidFill>
                        <a:srgbClr val="D6E4F0"/>
                      </a:solidFill>
                      <a:prstDash val="solid"/>
                      <a:round/>
                      <a:headEnd type="none" w="med" len="med"/>
                      <a:tailEnd type="none" w="med" len="med"/>
                    </a:lnB>
                    <a:solidFill>
                      <a:srgbClr val="EAF1F8"/>
                    </a:solidFill>
                  </a:tcPr>
                </a:tc>
                <a:tc>
                  <a:txBody>
                    <a:bodyPr/>
                    <a:lstStyle/>
                    <a:p>
                      <a:pPr indent="0" marL="0">
                        <a:buNone/>
                      </a:pPr>
                      <a:r>
                        <a:rPr lang="en-US" sz="720" dirty="0">
                          <a:solidFill>
                            <a:srgbClr val="3F5265"/>
                          </a:solidFill>
                          <a:latin typeface="Calibri" pitchFamily="34" charset="0"/>
                          <a:ea typeface="Calibri" pitchFamily="34" charset="-122"/>
                          <a:cs typeface="Calibri" pitchFamily="34" charset="-120"/>
                        </a:rPr>
                        <a:t>Private</a:t>
                      </a:r>
                      <a:endParaRPr lang="en-US" sz="720" dirty="0">
                        <a:latin typeface="Calibri" charset="0"/>
                        <a:ea typeface="Calibri" charset="0"/>
                        <a:cs typeface="Calibri" charset="0"/>
                      </a:endParaRPr>
                    </a:p>
                  </a:txBody>
                  <a:tcPr marL="45720" marR="45720" marT="45720" marB="45720" anchor="t">
                    <a:lnL w="6350" cap="flat" cmpd="sng" algn="ctr">
                      <a:solidFill>
                        <a:srgbClr val="D6E4F0"/>
                      </a:solidFill>
                      <a:prstDash val="solid"/>
                      <a:round/>
                      <a:headEnd type="none" w="med" len="med"/>
                      <a:tailEnd type="none" w="med" len="med"/>
                    </a:lnL>
                    <a:lnR w="6350" cap="flat" cmpd="sng" algn="ctr">
                      <a:solidFill>
                        <a:srgbClr val="D6E4F0"/>
                      </a:solidFill>
                      <a:prstDash val="solid"/>
                      <a:round/>
                      <a:headEnd type="none" w="med" len="med"/>
                      <a:tailEnd type="none" w="med" len="med"/>
                    </a:lnR>
                    <a:lnT w="6350" cap="flat" cmpd="sng" algn="ctr">
                      <a:solidFill>
                        <a:srgbClr val="D6E4F0"/>
                      </a:solidFill>
                      <a:prstDash val="solid"/>
                      <a:round/>
                      <a:headEnd type="none" w="med" len="med"/>
                      <a:tailEnd type="none" w="med" len="med"/>
                    </a:lnT>
                    <a:lnB w="6350" cap="flat" cmpd="sng" algn="ctr">
                      <a:solidFill>
                        <a:srgbClr val="D6E4F0"/>
                      </a:solidFill>
                      <a:prstDash val="solid"/>
                      <a:round/>
                      <a:headEnd type="none" w="med" len="med"/>
                      <a:tailEnd type="none" w="med" len="med"/>
                    </a:lnB>
                    <a:solidFill>
                      <a:srgbClr val="EAF1F8"/>
                    </a:solidFill>
                  </a:tcPr>
                </a:tc>
                <a:tc>
                  <a:txBody>
                    <a:bodyPr/>
                    <a:lstStyle/>
                    <a:p>
                      <a:pPr indent="0" marL="0">
                        <a:buNone/>
                      </a:pPr>
                      <a:r>
                        <a:rPr lang="en-US" sz="720" dirty="0">
                          <a:solidFill>
                            <a:srgbClr val="3F5265"/>
                          </a:solidFill>
                          <a:latin typeface="Calibri" pitchFamily="34" charset="0"/>
                          <a:ea typeface="Calibri" pitchFamily="34" charset="-122"/>
                          <a:cs typeface="Calibri" pitchFamily="34" charset="-120"/>
                        </a:rPr>
                        <a:t>n/r</a:t>
                      </a:r>
                      <a:endParaRPr lang="en-US" sz="720" dirty="0">
                        <a:latin typeface="Calibri" charset="0"/>
                        <a:ea typeface="Calibri" charset="0"/>
                        <a:cs typeface="Calibri" charset="0"/>
                      </a:endParaRPr>
                    </a:p>
                  </a:txBody>
                  <a:tcPr marL="45720" marR="45720" marT="45720" marB="45720" anchor="t">
                    <a:lnL w="6350" cap="flat" cmpd="sng" algn="ctr">
                      <a:solidFill>
                        <a:srgbClr val="D6E4F0"/>
                      </a:solidFill>
                      <a:prstDash val="solid"/>
                      <a:round/>
                      <a:headEnd type="none" w="med" len="med"/>
                      <a:tailEnd type="none" w="med" len="med"/>
                    </a:lnL>
                    <a:lnR w="6350" cap="flat" cmpd="sng" algn="ctr">
                      <a:solidFill>
                        <a:srgbClr val="D6E4F0"/>
                      </a:solidFill>
                      <a:prstDash val="solid"/>
                      <a:round/>
                      <a:headEnd type="none" w="med" len="med"/>
                      <a:tailEnd type="none" w="med" len="med"/>
                    </a:lnR>
                    <a:lnT w="6350" cap="flat" cmpd="sng" algn="ctr">
                      <a:solidFill>
                        <a:srgbClr val="D6E4F0"/>
                      </a:solidFill>
                      <a:prstDash val="solid"/>
                      <a:round/>
                      <a:headEnd type="none" w="med" len="med"/>
                      <a:tailEnd type="none" w="med" len="med"/>
                    </a:lnT>
                    <a:lnB w="6350" cap="flat" cmpd="sng" algn="ctr">
                      <a:solidFill>
                        <a:srgbClr val="D6E4F0"/>
                      </a:solidFill>
                      <a:prstDash val="solid"/>
                      <a:round/>
                      <a:headEnd type="none" w="med" len="med"/>
                      <a:tailEnd type="none" w="med" len="med"/>
                    </a:lnB>
                    <a:solidFill>
                      <a:srgbClr val="EAF1F8"/>
                    </a:solidFill>
                  </a:tcPr>
                </a:tc>
                <a:tc>
                  <a:txBody>
                    <a:bodyPr/>
                    <a:lstStyle/>
                    <a:p>
                      <a:pPr indent="0" marL="0">
                        <a:buNone/>
                      </a:pPr>
                      <a:r>
                        <a:rPr lang="en-US" sz="720" dirty="0">
                          <a:solidFill>
                            <a:srgbClr val="3F5265"/>
                          </a:solidFill>
                          <a:latin typeface="Calibri" pitchFamily="34" charset="0"/>
                          <a:ea typeface="Calibri" pitchFamily="34" charset="-122"/>
                          <a:cs typeface="Calibri" pitchFamily="34" charset="-120"/>
                        </a:rPr>
                        <a:t>Listed derivatives core; FX,</a:t>
                      </a:r>
                      <a:endParaRPr lang="en-US" sz="720" dirty="0">
                        <a:latin typeface="Calibri" charset="0"/>
                        <a:ea typeface="Calibri" charset="0"/>
                        <a:cs typeface="Calibri" charset="0"/>
                      </a:endParaRPr>
                    </a:p>
                    <a:p>
                      <a:pPr indent="0" marL="0">
                        <a:buNone/>
                      </a:pPr>
                      <a:r>
                        <a:rPr lang="en-US" sz="720" dirty="0">
                          <a:solidFill>
                            <a:srgbClr val="3F5265"/>
                          </a:solidFill>
                          <a:latin typeface="Calibri" pitchFamily="34" charset="0"/>
                          <a:ea typeface="Calibri" pitchFamily="34" charset="-122"/>
                          <a:cs typeface="Calibri" pitchFamily="34" charset="-120"/>
                        </a:rPr>
                        <a:t>FI and crypto added 2026</a:t>
                      </a:r>
                      <a:endParaRPr lang="en-US" sz="720" dirty="0">
                        <a:latin typeface="Calibri" charset="0"/>
                        <a:ea typeface="Calibri" charset="0"/>
                        <a:cs typeface="Calibri" charset="0"/>
                      </a:endParaRPr>
                    </a:p>
                  </a:txBody>
                  <a:tcPr marL="45720" marR="45720" marT="45720" marB="45720" anchor="t">
                    <a:lnL w="6350" cap="flat" cmpd="sng" algn="ctr">
                      <a:solidFill>
                        <a:srgbClr val="D6E4F0"/>
                      </a:solidFill>
                      <a:prstDash val="solid"/>
                      <a:round/>
                      <a:headEnd type="none" w="med" len="med"/>
                      <a:tailEnd type="none" w="med" len="med"/>
                    </a:lnL>
                    <a:lnR w="6350" cap="flat" cmpd="sng" algn="ctr">
                      <a:solidFill>
                        <a:srgbClr val="D6E4F0"/>
                      </a:solidFill>
                      <a:prstDash val="solid"/>
                      <a:round/>
                      <a:headEnd type="none" w="med" len="med"/>
                      <a:tailEnd type="none" w="med" len="med"/>
                    </a:lnR>
                    <a:lnT w="6350" cap="flat" cmpd="sng" algn="ctr">
                      <a:solidFill>
                        <a:srgbClr val="D6E4F0"/>
                      </a:solidFill>
                      <a:prstDash val="solid"/>
                      <a:round/>
                      <a:headEnd type="none" w="med" len="med"/>
                      <a:tailEnd type="none" w="med" len="med"/>
                    </a:lnT>
                    <a:lnB w="6350" cap="flat" cmpd="sng" algn="ctr">
                      <a:solidFill>
                        <a:srgbClr val="D6E4F0"/>
                      </a:solidFill>
                      <a:prstDash val="solid"/>
                      <a:round/>
                      <a:headEnd type="none" w="med" len="med"/>
                      <a:tailEnd type="none" w="med" len="med"/>
                    </a:lnB>
                    <a:solidFill>
                      <a:srgbClr val="EAF1F8"/>
                    </a:solidFill>
                  </a:tcPr>
                </a:tc>
                <a:tc>
                  <a:txBody>
                    <a:bodyPr/>
                    <a:lstStyle/>
                    <a:p>
                      <a:pPr indent="0" marL="0">
                        <a:buNone/>
                      </a:pPr>
                      <a:r>
                        <a:rPr lang="en-US" sz="720" dirty="0">
                          <a:solidFill>
                            <a:srgbClr val="3F5265"/>
                          </a:solidFill>
                          <a:latin typeface="Calibri" pitchFamily="34" charset="0"/>
                          <a:ea typeface="Calibri" pitchFamily="34" charset="-122"/>
                          <a:cs typeface="Calibri" pitchFamily="34" charset="-120"/>
                        </a:rPr>
                        <a:t>Quantitative managers, CTAs and</a:t>
                      </a:r>
                      <a:endParaRPr lang="en-US" sz="720" dirty="0">
                        <a:latin typeface="Calibri" charset="0"/>
                        <a:ea typeface="Calibri" charset="0"/>
                        <a:cs typeface="Calibri" charset="0"/>
                      </a:endParaRPr>
                    </a:p>
                    <a:p>
                      <a:pPr indent="0" marL="0">
                        <a:buNone/>
                      </a:pPr>
                      <a:r>
                        <a:rPr lang="en-US" sz="720" dirty="0">
                          <a:solidFill>
                            <a:srgbClr val="3F5265"/>
                          </a:solidFill>
                          <a:latin typeface="Calibri" pitchFamily="34" charset="0"/>
                          <a:ea typeface="Calibri" pitchFamily="34" charset="-122"/>
                          <a:cs typeface="Calibri" pitchFamily="34" charset="-120"/>
                        </a:rPr>
                        <a:t>proprietary desks</a:t>
                      </a:r>
                      <a:endParaRPr lang="en-US" sz="720" dirty="0">
                        <a:latin typeface="Calibri" charset="0"/>
                        <a:ea typeface="Calibri" charset="0"/>
                        <a:cs typeface="Calibri" charset="0"/>
                      </a:endParaRPr>
                    </a:p>
                  </a:txBody>
                  <a:tcPr marL="45720" marR="45720" marT="45720" marB="45720" anchor="t">
                    <a:lnL w="6350" cap="flat" cmpd="sng" algn="ctr">
                      <a:solidFill>
                        <a:srgbClr val="D6E4F0"/>
                      </a:solidFill>
                      <a:prstDash val="solid"/>
                      <a:round/>
                      <a:headEnd type="none" w="med" len="med"/>
                      <a:tailEnd type="none" w="med" len="med"/>
                    </a:lnL>
                    <a:lnR w="6350" cap="flat" cmpd="sng" algn="ctr">
                      <a:solidFill>
                        <a:srgbClr val="D6E4F0"/>
                      </a:solidFill>
                      <a:prstDash val="solid"/>
                      <a:round/>
                      <a:headEnd type="none" w="med" len="med"/>
                      <a:tailEnd type="none" w="med" len="med"/>
                    </a:lnR>
                    <a:lnT w="6350" cap="flat" cmpd="sng" algn="ctr">
                      <a:solidFill>
                        <a:srgbClr val="D6E4F0"/>
                      </a:solidFill>
                      <a:prstDash val="solid"/>
                      <a:round/>
                      <a:headEnd type="none" w="med" len="med"/>
                      <a:tailEnd type="none" w="med" len="med"/>
                    </a:lnT>
                    <a:lnB w="6350" cap="flat" cmpd="sng" algn="ctr">
                      <a:solidFill>
                        <a:srgbClr val="D6E4F0"/>
                      </a:solidFill>
                      <a:prstDash val="solid"/>
                      <a:round/>
                      <a:headEnd type="none" w="med" len="med"/>
                      <a:tailEnd type="none" w="med" len="med"/>
                    </a:lnB>
                    <a:solidFill>
                      <a:srgbClr val="EAF1F8"/>
                    </a:solidFill>
                  </a:tcPr>
                </a:tc>
                <a:tc>
                  <a:txBody>
                    <a:bodyPr/>
                    <a:lstStyle/>
                    <a:p>
                      <a:pPr indent="0" marL="0">
                        <a:buNone/>
                      </a:pPr>
                      <a:r>
                        <a:rPr lang="en-US" sz="720" dirty="0">
                          <a:solidFill>
                            <a:srgbClr val="3F5265"/>
                          </a:solidFill>
                          <a:latin typeface="Calibri" pitchFamily="34" charset="0"/>
                          <a:ea typeface="Calibri" pitchFamily="34" charset="-122"/>
                          <a:cs typeface="Calibri" pitchFamily="34" charset="-120"/>
                        </a:rPr>
                        <a:t>Equities are the primary requirement; this is a derivatives-native platform extending outwards</a:t>
                      </a:r>
                      <a:endParaRPr lang="en-US" sz="720" dirty="0">
                        <a:latin typeface="Calibri" charset="0"/>
                        <a:ea typeface="Calibri" charset="0"/>
                        <a:cs typeface="Calibri" charset="0"/>
                      </a:endParaRPr>
                    </a:p>
                  </a:txBody>
                  <a:tcPr marL="45720" marR="45720" marT="45720" marB="45720" anchor="t">
                    <a:lnL w="6350" cap="flat" cmpd="sng" algn="ctr">
                      <a:solidFill>
                        <a:srgbClr val="D6E4F0"/>
                      </a:solidFill>
                      <a:prstDash val="solid"/>
                      <a:round/>
                      <a:headEnd type="none" w="med" len="med"/>
                      <a:tailEnd type="none" w="med" len="med"/>
                    </a:lnL>
                    <a:lnR w="6350" cap="flat" cmpd="sng" algn="ctr">
                      <a:solidFill>
                        <a:srgbClr val="D6E4F0"/>
                      </a:solidFill>
                      <a:prstDash val="solid"/>
                      <a:round/>
                      <a:headEnd type="none" w="med" len="med"/>
                      <a:tailEnd type="none" w="med" len="med"/>
                    </a:lnR>
                    <a:lnT w="6350" cap="flat" cmpd="sng" algn="ctr">
                      <a:solidFill>
                        <a:srgbClr val="D6E4F0"/>
                      </a:solidFill>
                      <a:prstDash val="solid"/>
                      <a:round/>
                      <a:headEnd type="none" w="med" len="med"/>
                      <a:tailEnd type="none" w="med" len="med"/>
                    </a:lnT>
                    <a:lnB w="6350" cap="flat" cmpd="sng" algn="ctr">
                      <a:solidFill>
                        <a:srgbClr val="D6E4F0"/>
                      </a:solidFill>
                      <a:prstDash val="solid"/>
                      <a:round/>
                      <a:headEnd type="none" w="med" len="med"/>
                      <a:tailEnd type="none" w="med" len="med"/>
                    </a:lnB>
                    <a:solidFill>
                      <a:srgbClr val="EAF1F8"/>
                    </a:solidFill>
                  </a:tcPr>
                </a:tc>
              </a:tr>
            </a:tbl>
          </a:graphicData>
        </a:graphic>
      </p:graphicFrame>
      <p:sp>
        <p:nvSpPr>
          <p:cNvPr id="5" name="Text 2"/>
          <p:cNvSpPr/>
          <p:nvPr/>
        </p:nvSpPr>
        <p:spPr>
          <a:xfrm>
            <a:off x="457200" y="6291072"/>
            <a:ext cx="11274552" cy="512064"/>
          </a:xfrm>
          <a:prstGeom prst="rect">
            <a:avLst/>
          </a:prstGeom>
          <a:noFill/>
          <a:ln/>
        </p:spPr>
        <p:txBody>
          <a:bodyPr wrap="square" lIns="0" tIns="0" rIns="0" bIns="0" rtlCol="0" anchor="t"/>
          <a:lstStyle/>
          <a:p>
            <a:pPr indent="0" marL="0">
              <a:lnSpc>
                <a:spcPts val="1060"/>
              </a:lnSpc>
              <a:buNone/>
            </a:pPr>
            <a:r>
              <a:rPr lang="en-US" sz="830" dirty="0">
                <a:solidFill>
                  <a:srgbClr val="7A8A99"/>
                </a:solidFill>
                <a:latin typeface="Calibri" pitchFamily="34" charset="0"/>
                <a:ea typeface="Calibri" pitchFamily="34" charset="-122"/>
                <a:cs typeface="Calibri" pitchFamily="34" charset="-120"/>
              </a:rPr>
              <a:t>Scores are overall weighted ratings from 1 (very weak) to 7 (excellent), from The TRADE EMS Survey 2025; the survey average was 5.71. n/r denotes a vendor below the survey's profiling threshold, which should not be read as a negative assessment. Also present in the market but not separately profiled: BlackRock Aladdin, Adroit (ranked highest for fixed income by Coalition Greenwich in 2025), Quod Financial, and broker proprietary platforms.</a:t>
            </a:r>
            <a:endParaRPr lang="en-US" sz="83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457200" y="237744"/>
            <a:ext cx="11274552" cy="219456"/>
          </a:xfrm>
          <a:prstGeom prst="rect">
            <a:avLst/>
          </a:prstGeom>
          <a:noFill/>
          <a:ln/>
        </p:spPr>
        <p:txBody>
          <a:bodyPr wrap="square" lIns="0" tIns="0" rIns="0" bIns="0" rtlCol="0" anchor="ctr"/>
          <a:lstStyle/>
          <a:p>
            <a:pPr indent="0" marL="0">
              <a:buNone/>
            </a:pPr>
            <a:r>
              <a:rPr lang="en-US" sz="1000" b="1" spc="140" kern="0" dirty="0">
                <a:solidFill>
                  <a:srgbClr val="056DAE"/>
                </a:solidFill>
                <a:latin typeface="Calibri" pitchFamily="34" charset="0"/>
                <a:ea typeface="Calibri" pitchFamily="34" charset="-122"/>
                <a:cs typeface="Calibri" pitchFamily="34" charset="-120"/>
              </a:rPr>
              <a:t>BUY-SIDE BEHAVIOUR</a:t>
            </a:r>
            <a:endParaRPr lang="en-US" sz="1000" dirty="0"/>
          </a:p>
        </p:txBody>
      </p:sp>
      <p:sp>
        <p:nvSpPr>
          <p:cNvPr id="3" name="Text 1"/>
          <p:cNvSpPr/>
          <p:nvPr/>
        </p:nvSpPr>
        <p:spPr>
          <a:xfrm>
            <a:off x="457200" y="457200"/>
            <a:ext cx="11274552" cy="512064"/>
          </a:xfrm>
          <a:prstGeom prst="rect">
            <a:avLst/>
          </a:prstGeom>
          <a:noFill/>
          <a:ln/>
        </p:spPr>
        <p:txBody>
          <a:bodyPr wrap="square" lIns="0" tIns="0" rIns="0" bIns="0" rtlCol="0" anchor="t"/>
          <a:lstStyle/>
          <a:p>
            <a:pPr indent="0" marL="0">
              <a:buNone/>
            </a:pPr>
            <a:r>
              <a:rPr lang="en-US" sz="2500" b="1" dirty="0">
                <a:solidFill>
                  <a:srgbClr val="002D72"/>
                </a:solidFill>
                <a:latin typeface="Cambria" pitchFamily="34" charset="0"/>
                <a:ea typeface="Cambria" pitchFamily="34" charset="-122"/>
                <a:cs typeface="Cambria" pitchFamily="34" charset="-120"/>
              </a:rPr>
              <a:t>Selection criteria and coverage gaps</a:t>
            </a:r>
            <a:endParaRPr lang="en-US" sz="2500" dirty="0"/>
          </a:p>
        </p:txBody>
      </p:sp>
      <p:graphicFrame>
        <p:nvGraphicFramePr>
          <p:cNvPr id="4" name="Chart 0" descr=""/>
          <p:cNvGraphicFramePr/>
          <p:nvPr/>
        </p:nvGraphicFramePr>
        <p:xfrm>
          <a:off x="457200" y="1042416"/>
          <a:ext cx="6035040" cy="3657600"/>
        </p:xfrm>
        <a:graphic xmlns:a="http://schemas.openxmlformats.org/drawingml/2006/main">
          <a:graphicData uri="http://schemas.openxmlformats.org/drawingml/2006/chart">
            <c:chart xmlns:c="http://schemas.openxmlformats.org/drawingml/2006/chart" r:id="rId1"/>
          </a:graphicData>
        </a:graphic>
      </p:graphicFrame>
      <p:sp>
        <p:nvSpPr>
          <p:cNvPr id="5" name="Shape 2"/>
          <p:cNvSpPr/>
          <p:nvPr/>
        </p:nvSpPr>
        <p:spPr>
          <a:xfrm>
            <a:off x="6675120" y="1042416"/>
            <a:ext cx="5056632" cy="1755648"/>
          </a:xfrm>
          <a:prstGeom prst="roundRect">
            <a:avLst>
              <a:gd name="adj" fmla="val 2604"/>
            </a:avLst>
          </a:prstGeom>
          <a:solidFill>
            <a:srgbClr val="EAF1F8"/>
          </a:solidFill>
          <a:ln w="9525">
            <a:solidFill>
              <a:srgbClr val="D6E4F0"/>
            </a:solidFill>
            <a:prstDash val="solid"/>
          </a:ln>
        </p:spPr>
      </p:sp>
      <p:sp>
        <p:nvSpPr>
          <p:cNvPr id="6" name="Text 3"/>
          <p:cNvSpPr/>
          <p:nvPr/>
        </p:nvSpPr>
        <p:spPr>
          <a:xfrm>
            <a:off x="6876288" y="1152144"/>
            <a:ext cx="4654296" cy="237744"/>
          </a:xfrm>
          <a:prstGeom prst="rect">
            <a:avLst/>
          </a:prstGeom>
          <a:noFill/>
          <a:ln/>
        </p:spPr>
        <p:txBody>
          <a:bodyPr wrap="square" lIns="0" tIns="0" rIns="0" bIns="0" rtlCol="0" anchor="ctr"/>
          <a:lstStyle/>
          <a:p>
            <a:pPr indent="0" marL="0">
              <a:buNone/>
            </a:pPr>
            <a:r>
              <a:rPr lang="en-US" sz="1150" b="1" dirty="0">
                <a:solidFill>
                  <a:srgbClr val="002D72"/>
                </a:solidFill>
                <a:latin typeface="Calibri" pitchFamily="34" charset="0"/>
                <a:ea typeface="Calibri" pitchFamily="34" charset="-122"/>
                <a:cs typeface="Calibri" pitchFamily="34" charset="-120"/>
              </a:rPr>
              <a:t>Application in client discussion</a:t>
            </a:r>
            <a:endParaRPr lang="en-US" sz="1150" dirty="0"/>
          </a:p>
        </p:txBody>
      </p:sp>
      <p:sp>
        <p:nvSpPr>
          <p:cNvPr id="7" name="Text 4"/>
          <p:cNvSpPr/>
          <p:nvPr/>
        </p:nvSpPr>
        <p:spPr>
          <a:xfrm>
            <a:off x="6876288" y="1444752"/>
            <a:ext cx="4654296" cy="1261872"/>
          </a:xfrm>
          <a:prstGeom prst="rect">
            <a:avLst/>
          </a:prstGeom>
          <a:noFill/>
          <a:ln/>
        </p:spPr>
        <p:txBody>
          <a:bodyPr wrap="square" lIns="0" tIns="0" rIns="0" bIns="0" rtlCol="0" anchor="t"/>
          <a:lstStyle/>
          <a:p>
            <a:pPr marL="342900" indent="-342900">
              <a:lnSpc>
                <a:spcPts val="1162"/>
              </a:lnSpc>
              <a:spcAft>
                <a:spcPts val="350"/>
              </a:spcAft>
              <a:buSzPct val="100000"/>
              <a:buChar char="•"/>
            </a:pPr>
            <a:r>
              <a:rPr lang="en-US" sz="880" dirty="0">
                <a:solidFill>
                  <a:srgbClr val="3F5265"/>
                </a:solidFill>
                <a:latin typeface="Calibri" pitchFamily="34" charset="0"/>
                <a:ea typeface="Calibri" pitchFamily="34" charset="-122"/>
                <a:cs typeface="Calibri" pitchFamily="34" charset="-120"/>
              </a:rPr>
              <a:t>FIX capability ranks last at 16.3% and is regarded as table stakes; presenting it as a differentiator is unlikely to be persuasive</a:t>
            </a:r>
            <a:endParaRPr lang="en-US" sz="880" dirty="0"/>
          </a:p>
          <a:p>
            <a:pPr marL="342900" indent="-342900">
              <a:lnSpc>
                <a:spcPts val="1162"/>
              </a:lnSpc>
              <a:spcAft>
                <a:spcPts val="350"/>
              </a:spcAft>
              <a:buSzPct val="100000"/>
              <a:buChar char="•"/>
            </a:pPr>
            <a:r>
              <a:rPr lang="en-US" sz="880" dirty="0">
                <a:solidFill>
                  <a:srgbClr val="3F5265"/>
                </a:solidFill>
                <a:latin typeface="Calibri" pitchFamily="34" charset="0"/>
                <a:ea typeface="Calibri" pitchFamily="34" charset="-122"/>
                <a:cs typeface="Calibri" pitchFamily="34" charset="-120"/>
              </a:rPr>
              <a:t>Connectivity and integration rose 6.7 points, and breadth of asset coverage 8.9 points, as desks extend beyond equities</a:t>
            </a:r>
            <a:endParaRPr lang="en-US" sz="880" dirty="0"/>
          </a:p>
          <a:p>
            <a:pPr marL="342900" indent="-342900">
              <a:lnSpc>
                <a:spcPts val="1162"/>
              </a:lnSpc>
              <a:spcAft>
                <a:spcPts val="350"/>
              </a:spcAft>
              <a:buSzPct val="100000"/>
              <a:buChar char="•"/>
            </a:pPr>
            <a:r>
              <a:rPr lang="en-US" sz="880" dirty="0">
                <a:solidFill>
                  <a:srgbClr val="3F5265"/>
                </a:solidFill>
                <a:latin typeface="Calibri" pitchFamily="34" charset="0"/>
                <a:ea typeface="Calibri" pitchFamily="34" charset="-122"/>
                <a:cs typeface="Calibri" pitchFamily="34" charset="-120"/>
              </a:rPr>
              <a:t>Ease of use is the dominant criterion at 63.7%, which frames the discussion around workflow rather than technology</a:t>
            </a:r>
            <a:endParaRPr lang="en-US" sz="880" dirty="0"/>
          </a:p>
        </p:txBody>
      </p:sp>
      <p:sp>
        <p:nvSpPr>
          <p:cNvPr id="8" name="Shape 5"/>
          <p:cNvSpPr/>
          <p:nvPr/>
        </p:nvSpPr>
        <p:spPr>
          <a:xfrm>
            <a:off x="6675120" y="2944368"/>
            <a:ext cx="5056632" cy="1755648"/>
          </a:xfrm>
          <a:prstGeom prst="roundRect">
            <a:avLst>
              <a:gd name="adj" fmla="val 2604"/>
            </a:avLst>
          </a:prstGeom>
          <a:solidFill>
            <a:srgbClr val="FBEDEC"/>
          </a:solidFill>
          <a:ln w="9525">
            <a:solidFill>
              <a:srgbClr val="F0C9C6"/>
            </a:solidFill>
            <a:prstDash val="solid"/>
          </a:ln>
        </p:spPr>
      </p:sp>
      <p:sp>
        <p:nvSpPr>
          <p:cNvPr id="9" name="Shape 6"/>
          <p:cNvSpPr/>
          <p:nvPr/>
        </p:nvSpPr>
        <p:spPr>
          <a:xfrm>
            <a:off x="6675120" y="2944368"/>
            <a:ext cx="45720" cy="1755648"/>
          </a:xfrm>
          <a:prstGeom prst="rect">
            <a:avLst/>
          </a:prstGeom>
          <a:solidFill>
            <a:srgbClr val="D9261C"/>
          </a:solidFill>
          <a:ln w="12700">
            <a:solidFill>
              <a:srgbClr val="333333"/>
            </a:solidFill>
            <a:prstDash val="solid"/>
          </a:ln>
        </p:spPr>
      </p:sp>
      <p:sp>
        <p:nvSpPr>
          <p:cNvPr id="10" name="Text 7"/>
          <p:cNvSpPr/>
          <p:nvPr/>
        </p:nvSpPr>
        <p:spPr>
          <a:xfrm>
            <a:off x="6931152" y="3054096"/>
            <a:ext cx="4599432" cy="237744"/>
          </a:xfrm>
          <a:prstGeom prst="rect">
            <a:avLst/>
          </a:prstGeom>
          <a:noFill/>
          <a:ln/>
        </p:spPr>
        <p:txBody>
          <a:bodyPr wrap="square" lIns="0" tIns="0" rIns="0" bIns="0" rtlCol="0" anchor="ctr"/>
          <a:lstStyle/>
          <a:p>
            <a:pPr indent="0" marL="0">
              <a:buNone/>
            </a:pPr>
            <a:r>
              <a:rPr lang="en-US" sz="1150" b="1" dirty="0">
                <a:solidFill>
                  <a:srgbClr val="002D72"/>
                </a:solidFill>
                <a:latin typeface="Calibri" pitchFamily="34" charset="0"/>
                <a:ea typeface="Calibri" pitchFamily="34" charset="-122"/>
                <a:cs typeface="Calibri" pitchFamily="34" charset="-120"/>
              </a:rPr>
              <a:t>The constraint on platform-level advocacy</a:t>
            </a:r>
            <a:endParaRPr lang="en-US" sz="1150" dirty="0"/>
          </a:p>
        </p:txBody>
      </p:sp>
      <p:sp>
        <p:nvSpPr>
          <p:cNvPr id="11" name="Text 8"/>
          <p:cNvSpPr/>
          <p:nvPr/>
        </p:nvSpPr>
        <p:spPr>
          <a:xfrm>
            <a:off x="6931152" y="3328416"/>
            <a:ext cx="4599432" cy="804672"/>
          </a:xfrm>
          <a:prstGeom prst="rect">
            <a:avLst/>
          </a:prstGeom>
          <a:noFill/>
          <a:ln/>
        </p:spPr>
        <p:txBody>
          <a:bodyPr wrap="square" lIns="0" tIns="0" rIns="0" bIns="0" rtlCol="0" anchor="ctr"/>
          <a:lstStyle/>
          <a:p>
            <a:pPr indent="0" marL="0">
              <a:lnSpc>
                <a:spcPts val="2000"/>
              </a:lnSpc>
              <a:buNone/>
            </a:pPr>
            <a:r>
              <a:rPr lang="en-US" sz="1500" b="1" dirty="0">
                <a:solidFill>
                  <a:srgbClr val="D9261C"/>
                </a:solidFill>
                <a:latin typeface="Calibri" pitchFamily="34" charset="0"/>
                <a:ea typeface="Calibri" pitchFamily="34" charset="-122"/>
                <a:cs typeface="Calibri" pitchFamily="34" charset="-120"/>
              </a:rPr>
              <a:t>86%</a:t>
            </a:r>
            <a:pPr indent="0" marL="0">
              <a:lnSpc>
                <a:spcPts val="2000"/>
              </a:lnSpc>
              <a:buNone/>
            </a:pPr>
            <a:r>
              <a:rPr lang="en-US" sz="950" dirty="0">
                <a:solidFill>
                  <a:srgbClr val="3F5265"/>
                </a:solidFill>
                <a:latin typeface="Calibri" pitchFamily="34" charset="0"/>
                <a:ea typeface="Calibri" pitchFamily="34" charset="-122"/>
                <a:cs typeface="Calibri" pitchFamily="34" charset="-120"/>
              </a:rPr>
              <a:t>  report no interest in adding an EMS
</a:t>
            </a:r>
            <a:pPr indent="0" marL="0">
              <a:lnSpc>
                <a:spcPts val="2000"/>
              </a:lnSpc>
              <a:buNone/>
            </a:pPr>
            <a:r>
              <a:rPr lang="en-US" sz="1500" b="1" dirty="0">
                <a:solidFill>
                  <a:srgbClr val="D9261C"/>
                </a:solidFill>
                <a:latin typeface="Calibri" pitchFamily="34" charset="0"/>
                <a:ea typeface="Calibri" pitchFamily="34" charset="-122"/>
                <a:cs typeface="Calibri" pitchFamily="34" charset="-120"/>
              </a:rPr>
              <a:t>88%</a:t>
            </a:r>
            <a:pPr indent="0" marL="0">
              <a:lnSpc>
                <a:spcPts val="2000"/>
              </a:lnSpc>
              <a:buNone/>
            </a:pPr>
            <a:r>
              <a:rPr lang="en-US" sz="950" dirty="0">
                <a:solidFill>
                  <a:srgbClr val="3F5265"/>
                </a:solidFill>
                <a:latin typeface="Calibri" pitchFamily="34" charset="0"/>
                <a:ea typeface="Calibri" pitchFamily="34" charset="-122"/>
                <a:cs typeface="Calibri" pitchFamily="34" charset="-120"/>
              </a:rPr>
              <a:t>  report no plans to replace their current system</a:t>
            </a:r>
            <a:endParaRPr lang="en-US" sz="1500" dirty="0"/>
          </a:p>
        </p:txBody>
      </p:sp>
      <p:sp>
        <p:nvSpPr>
          <p:cNvPr id="12" name="Text 9"/>
          <p:cNvSpPr/>
          <p:nvPr/>
        </p:nvSpPr>
        <p:spPr>
          <a:xfrm>
            <a:off x="6931152" y="4151376"/>
            <a:ext cx="4599432" cy="512064"/>
          </a:xfrm>
          <a:prstGeom prst="rect">
            <a:avLst/>
          </a:prstGeom>
          <a:noFill/>
          <a:ln/>
        </p:spPr>
        <p:txBody>
          <a:bodyPr wrap="square" lIns="0" tIns="0" rIns="0" bIns="0" rtlCol="0" anchor="t"/>
          <a:lstStyle/>
          <a:p>
            <a:pPr indent="0" marL="0">
              <a:lnSpc>
                <a:spcPts val="1120"/>
              </a:lnSpc>
              <a:buNone/>
            </a:pPr>
            <a:r>
              <a:rPr lang="en-US" sz="880" dirty="0">
                <a:solidFill>
                  <a:srgbClr val="3F5265"/>
                </a:solidFill>
                <a:latin typeface="Calibri" pitchFamily="34" charset="0"/>
                <a:ea typeface="Calibri" pitchFamily="34" charset="-122"/>
                <a:cs typeface="Calibri" pitchFamily="34" charset="-120"/>
              </a:rPr>
              <a:t>Recommending a platform change to a satisfied incumbent user is unlikely to be well received. The objective should be inclusion, and strong representation, within the system the client already operates.</a:t>
            </a:r>
            <a:endParaRPr lang="en-US" sz="880" dirty="0"/>
          </a:p>
        </p:txBody>
      </p:sp>
      <p:sp>
        <p:nvSpPr>
          <p:cNvPr id="13" name="Shape 10"/>
          <p:cNvSpPr/>
          <p:nvPr/>
        </p:nvSpPr>
        <p:spPr>
          <a:xfrm>
            <a:off x="457200" y="4864608"/>
            <a:ext cx="11274552" cy="1298448"/>
          </a:xfrm>
          <a:prstGeom prst="roundRect">
            <a:avLst>
              <a:gd name="adj" fmla="val 3521"/>
            </a:avLst>
          </a:prstGeom>
          <a:solidFill>
            <a:srgbClr val="FFFFFF"/>
          </a:solidFill>
          <a:ln w="9525">
            <a:solidFill>
              <a:srgbClr val="D6E4F0"/>
            </a:solidFill>
            <a:prstDash val="solid"/>
          </a:ln>
        </p:spPr>
      </p:sp>
      <p:sp>
        <p:nvSpPr>
          <p:cNvPr id="14" name="Text 11"/>
          <p:cNvSpPr/>
          <p:nvPr/>
        </p:nvSpPr>
        <p:spPr>
          <a:xfrm>
            <a:off x="676656" y="4974336"/>
            <a:ext cx="6400800" cy="237744"/>
          </a:xfrm>
          <a:prstGeom prst="rect">
            <a:avLst/>
          </a:prstGeom>
          <a:noFill/>
          <a:ln/>
        </p:spPr>
        <p:txBody>
          <a:bodyPr wrap="square" lIns="0" tIns="0" rIns="0" bIns="0" rtlCol="0" anchor="ctr"/>
          <a:lstStyle/>
          <a:p>
            <a:pPr indent="0" marL="0">
              <a:buNone/>
            </a:pPr>
            <a:r>
              <a:rPr lang="en-US" sz="1150" b="1" dirty="0">
                <a:solidFill>
                  <a:srgbClr val="002D72"/>
                </a:solidFill>
                <a:latin typeface="Calibri" pitchFamily="34" charset="0"/>
                <a:ea typeface="Calibri" pitchFamily="34" charset="-122"/>
                <a:cs typeface="Calibri" pitchFamily="34" charset="-120"/>
              </a:rPr>
              <a:t>Asset coverage gaps — where engagement opportunities are documented</a:t>
            </a:r>
            <a:endParaRPr lang="en-US" sz="1150" dirty="0"/>
          </a:p>
        </p:txBody>
      </p:sp>
      <p:sp>
        <p:nvSpPr>
          <p:cNvPr id="15" name="Text 12"/>
          <p:cNvSpPr/>
          <p:nvPr/>
        </p:nvSpPr>
        <p:spPr>
          <a:xfrm>
            <a:off x="676656" y="5248656"/>
            <a:ext cx="5029200" cy="219456"/>
          </a:xfrm>
          <a:prstGeom prst="rect">
            <a:avLst/>
          </a:prstGeom>
          <a:noFill/>
          <a:ln/>
        </p:spPr>
        <p:txBody>
          <a:bodyPr wrap="square" lIns="0" tIns="0" rIns="0" bIns="0" rtlCol="0" anchor="ctr"/>
          <a:lstStyle/>
          <a:p>
            <a:pPr indent="0" marL="0">
              <a:buNone/>
            </a:pPr>
            <a:r>
              <a:rPr lang="en-US" sz="900" dirty="0">
                <a:solidFill>
                  <a:srgbClr val="7A8A99"/>
                </a:solidFill>
                <a:latin typeface="Calibri" pitchFamily="34" charset="0"/>
                <a:ea typeface="Calibri" pitchFamily="34" charset="-122"/>
                <a:cs typeface="Calibri" pitchFamily="34" charset="-120"/>
              </a:rPr>
              <a:t>Proportion of desks trading each asset class through their EMS, 2025:</a:t>
            </a:r>
            <a:endParaRPr lang="en-US" sz="900" dirty="0"/>
          </a:p>
        </p:txBody>
      </p:sp>
      <p:sp>
        <p:nvSpPr>
          <p:cNvPr id="16" name="Text 13"/>
          <p:cNvSpPr/>
          <p:nvPr/>
        </p:nvSpPr>
        <p:spPr>
          <a:xfrm>
            <a:off x="676656" y="5468112"/>
            <a:ext cx="1371600" cy="384048"/>
          </a:xfrm>
          <a:prstGeom prst="rect">
            <a:avLst/>
          </a:prstGeom>
          <a:noFill/>
          <a:ln/>
        </p:spPr>
        <p:txBody>
          <a:bodyPr wrap="square" lIns="0" tIns="0" rIns="0" bIns="0" rtlCol="0" anchor="ctr"/>
          <a:lstStyle/>
          <a:p>
            <a:pPr indent="0" marL="0">
              <a:buNone/>
            </a:pPr>
            <a:r>
              <a:rPr lang="en-US" sz="1900" b="1" dirty="0">
                <a:solidFill>
                  <a:srgbClr val="056DAE"/>
                </a:solidFill>
                <a:latin typeface="Cambria" pitchFamily="34" charset="0"/>
                <a:ea typeface="Cambria" pitchFamily="34" charset="-122"/>
                <a:cs typeface="Cambria" pitchFamily="34" charset="-120"/>
              </a:rPr>
              <a:t>91%</a:t>
            </a:r>
            <a:endParaRPr lang="en-US" sz="1900" dirty="0"/>
          </a:p>
        </p:txBody>
      </p:sp>
      <p:sp>
        <p:nvSpPr>
          <p:cNvPr id="17" name="Text 14"/>
          <p:cNvSpPr/>
          <p:nvPr/>
        </p:nvSpPr>
        <p:spPr>
          <a:xfrm>
            <a:off x="676656" y="5852160"/>
            <a:ext cx="1371600" cy="237744"/>
          </a:xfrm>
          <a:prstGeom prst="rect">
            <a:avLst/>
          </a:prstGeom>
          <a:noFill/>
          <a:ln/>
        </p:spPr>
        <p:txBody>
          <a:bodyPr wrap="square" lIns="0" tIns="0" rIns="0" bIns="0" rtlCol="0" anchor="ctr"/>
          <a:lstStyle/>
          <a:p>
            <a:pPr indent="0" marL="0">
              <a:buNone/>
            </a:pPr>
            <a:r>
              <a:rPr lang="en-US" sz="850" dirty="0">
                <a:solidFill>
                  <a:srgbClr val="3F5265"/>
                </a:solidFill>
                <a:latin typeface="Calibri" pitchFamily="34" charset="0"/>
                <a:ea typeface="Calibri" pitchFamily="34" charset="-122"/>
                <a:cs typeface="Calibri" pitchFamily="34" charset="-120"/>
              </a:rPr>
              <a:t>Equities</a:t>
            </a:r>
            <a:endParaRPr lang="en-US" sz="850" dirty="0"/>
          </a:p>
        </p:txBody>
      </p:sp>
      <p:sp>
        <p:nvSpPr>
          <p:cNvPr id="18" name="Text 15"/>
          <p:cNvSpPr/>
          <p:nvPr/>
        </p:nvSpPr>
        <p:spPr>
          <a:xfrm>
            <a:off x="2167128" y="5468112"/>
            <a:ext cx="1371600" cy="384048"/>
          </a:xfrm>
          <a:prstGeom prst="rect">
            <a:avLst/>
          </a:prstGeom>
          <a:noFill/>
          <a:ln/>
        </p:spPr>
        <p:txBody>
          <a:bodyPr wrap="square" lIns="0" tIns="0" rIns="0" bIns="0" rtlCol="0" anchor="ctr"/>
          <a:lstStyle/>
          <a:p>
            <a:pPr indent="0" marL="0">
              <a:buNone/>
            </a:pPr>
            <a:r>
              <a:rPr lang="en-US" sz="1900" b="1" dirty="0">
                <a:solidFill>
                  <a:srgbClr val="056DAE"/>
                </a:solidFill>
                <a:latin typeface="Cambria" pitchFamily="34" charset="0"/>
                <a:ea typeface="Cambria" pitchFamily="34" charset="-122"/>
                <a:cs typeface="Cambria" pitchFamily="34" charset="-120"/>
              </a:rPr>
              <a:t>68%</a:t>
            </a:r>
            <a:endParaRPr lang="en-US" sz="1900" dirty="0"/>
          </a:p>
        </p:txBody>
      </p:sp>
      <p:sp>
        <p:nvSpPr>
          <p:cNvPr id="19" name="Text 16"/>
          <p:cNvSpPr/>
          <p:nvPr/>
        </p:nvSpPr>
        <p:spPr>
          <a:xfrm>
            <a:off x="2167128" y="5852160"/>
            <a:ext cx="1371600" cy="237744"/>
          </a:xfrm>
          <a:prstGeom prst="rect">
            <a:avLst/>
          </a:prstGeom>
          <a:noFill/>
          <a:ln/>
        </p:spPr>
        <p:txBody>
          <a:bodyPr wrap="square" lIns="0" tIns="0" rIns="0" bIns="0" rtlCol="0" anchor="ctr"/>
          <a:lstStyle/>
          <a:p>
            <a:pPr indent="0" marL="0">
              <a:buNone/>
            </a:pPr>
            <a:r>
              <a:rPr lang="en-US" sz="850" dirty="0">
                <a:solidFill>
                  <a:srgbClr val="3F5265"/>
                </a:solidFill>
                <a:latin typeface="Calibri" pitchFamily="34" charset="0"/>
                <a:ea typeface="Calibri" pitchFamily="34" charset="-122"/>
                <a:cs typeface="Calibri" pitchFamily="34" charset="-120"/>
              </a:rPr>
              <a:t>ETFs</a:t>
            </a:r>
            <a:endParaRPr lang="en-US" sz="850" dirty="0"/>
          </a:p>
        </p:txBody>
      </p:sp>
      <p:sp>
        <p:nvSpPr>
          <p:cNvPr id="20" name="Text 17"/>
          <p:cNvSpPr/>
          <p:nvPr/>
        </p:nvSpPr>
        <p:spPr>
          <a:xfrm>
            <a:off x="3657600" y="5468112"/>
            <a:ext cx="1371600" cy="384048"/>
          </a:xfrm>
          <a:prstGeom prst="rect">
            <a:avLst/>
          </a:prstGeom>
          <a:noFill/>
          <a:ln/>
        </p:spPr>
        <p:txBody>
          <a:bodyPr wrap="square" lIns="0" tIns="0" rIns="0" bIns="0" rtlCol="0" anchor="ctr"/>
          <a:lstStyle/>
          <a:p>
            <a:pPr indent="0" marL="0">
              <a:buNone/>
            </a:pPr>
            <a:r>
              <a:rPr lang="en-US" sz="1900" b="1" dirty="0">
                <a:solidFill>
                  <a:srgbClr val="056DAE"/>
                </a:solidFill>
                <a:latin typeface="Cambria" pitchFamily="34" charset="0"/>
                <a:ea typeface="Cambria" pitchFamily="34" charset="-122"/>
                <a:cs typeface="Cambria" pitchFamily="34" charset="-120"/>
              </a:rPr>
              <a:t>64%</a:t>
            </a:r>
            <a:endParaRPr lang="en-US" sz="1900" dirty="0"/>
          </a:p>
        </p:txBody>
      </p:sp>
      <p:sp>
        <p:nvSpPr>
          <p:cNvPr id="21" name="Text 18"/>
          <p:cNvSpPr/>
          <p:nvPr/>
        </p:nvSpPr>
        <p:spPr>
          <a:xfrm>
            <a:off x="3657600" y="5852160"/>
            <a:ext cx="1371600" cy="237744"/>
          </a:xfrm>
          <a:prstGeom prst="rect">
            <a:avLst/>
          </a:prstGeom>
          <a:noFill/>
          <a:ln/>
        </p:spPr>
        <p:txBody>
          <a:bodyPr wrap="square" lIns="0" tIns="0" rIns="0" bIns="0" rtlCol="0" anchor="ctr"/>
          <a:lstStyle/>
          <a:p>
            <a:pPr indent="0" marL="0">
              <a:buNone/>
            </a:pPr>
            <a:r>
              <a:rPr lang="en-US" sz="850" dirty="0">
                <a:solidFill>
                  <a:srgbClr val="3F5265"/>
                </a:solidFill>
                <a:latin typeface="Calibri" pitchFamily="34" charset="0"/>
                <a:ea typeface="Calibri" pitchFamily="34" charset="-122"/>
                <a:cs typeface="Calibri" pitchFamily="34" charset="-120"/>
              </a:rPr>
              <a:t>Listed derivatives</a:t>
            </a:r>
            <a:endParaRPr lang="en-US" sz="850" dirty="0"/>
          </a:p>
        </p:txBody>
      </p:sp>
      <p:sp>
        <p:nvSpPr>
          <p:cNvPr id="22" name="Text 19"/>
          <p:cNvSpPr/>
          <p:nvPr/>
        </p:nvSpPr>
        <p:spPr>
          <a:xfrm>
            <a:off x="5148072" y="5468112"/>
            <a:ext cx="1371600" cy="384048"/>
          </a:xfrm>
          <a:prstGeom prst="rect">
            <a:avLst/>
          </a:prstGeom>
          <a:noFill/>
          <a:ln/>
        </p:spPr>
        <p:txBody>
          <a:bodyPr wrap="square" lIns="0" tIns="0" rIns="0" bIns="0" rtlCol="0" anchor="ctr"/>
          <a:lstStyle/>
          <a:p>
            <a:pPr indent="0" marL="0">
              <a:buNone/>
            </a:pPr>
            <a:r>
              <a:rPr lang="en-US" sz="1900" b="1" dirty="0">
                <a:solidFill>
                  <a:srgbClr val="D9261C"/>
                </a:solidFill>
                <a:latin typeface="Cambria" pitchFamily="34" charset="0"/>
                <a:ea typeface="Cambria" pitchFamily="34" charset="-122"/>
                <a:cs typeface="Cambria" pitchFamily="34" charset="-120"/>
              </a:rPr>
              <a:t>52%</a:t>
            </a:r>
            <a:endParaRPr lang="en-US" sz="1900" dirty="0"/>
          </a:p>
        </p:txBody>
      </p:sp>
      <p:sp>
        <p:nvSpPr>
          <p:cNvPr id="23" name="Text 20"/>
          <p:cNvSpPr/>
          <p:nvPr/>
        </p:nvSpPr>
        <p:spPr>
          <a:xfrm>
            <a:off x="5148072" y="5852160"/>
            <a:ext cx="1371600" cy="237744"/>
          </a:xfrm>
          <a:prstGeom prst="rect">
            <a:avLst/>
          </a:prstGeom>
          <a:noFill/>
          <a:ln/>
        </p:spPr>
        <p:txBody>
          <a:bodyPr wrap="square" lIns="0" tIns="0" rIns="0" bIns="0" rtlCol="0" anchor="ctr"/>
          <a:lstStyle/>
          <a:p>
            <a:pPr indent="0" marL="0">
              <a:buNone/>
            </a:pPr>
            <a:r>
              <a:rPr lang="en-US" sz="850" dirty="0">
                <a:solidFill>
                  <a:srgbClr val="3F5265"/>
                </a:solidFill>
                <a:latin typeface="Calibri" pitchFamily="34" charset="0"/>
                <a:ea typeface="Calibri" pitchFamily="34" charset="-122"/>
                <a:cs typeface="Calibri" pitchFamily="34" charset="-120"/>
              </a:rPr>
              <a:t>FX</a:t>
            </a:r>
            <a:endParaRPr lang="en-US" sz="850" dirty="0"/>
          </a:p>
        </p:txBody>
      </p:sp>
      <p:sp>
        <p:nvSpPr>
          <p:cNvPr id="24" name="Text 21"/>
          <p:cNvSpPr/>
          <p:nvPr/>
        </p:nvSpPr>
        <p:spPr>
          <a:xfrm>
            <a:off x="6638544" y="5468112"/>
            <a:ext cx="1371600" cy="384048"/>
          </a:xfrm>
          <a:prstGeom prst="rect">
            <a:avLst/>
          </a:prstGeom>
          <a:noFill/>
          <a:ln/>
        </p:spPr>
        <p:txBody>
          <a:bodyPr wrap="square" lIns="0" tIns="0" rIns="0" bIns="0" rtlCol="0" anchor="ctr"/>
          <a:lstStyle/>
          <a:p>
            <a:pPr indent="0" marL="0">
              <a:buNone/>
            </a:pPr>
            <a:r>
              <a:rPr lang="en-US" sz="1900" b="1" dirty="0">
                <a:solidFill>
                  <a:srgbClr val="D9261C"/>
                </a:solidFill>
                <a:latin typeface="Cambria" pitchFamily="34" charset="0"/>
                <a:ea typeface="Cambria" pitchFamily="34" charset="-122"/>
                <a:cs typeface="Cambria" pitchFamily="34" charset="-120"/>
              </a:rPr>
              <a:t>49%</a:t>
            </a:r>
            <a:endParaRPr lang="en-US" sz="1900" dirty="0"/>
          </a:p>
        </p:txBody>
      </p:sp>
      <p:sp>
        <p:nvSpPr>
          <p:cNvPr id="25" name="Text 22"/>
          <p:cNvSpPr/>
          <p:nvPr/>
        </p:nvSpPr>
        <p:spPr>
          <a:xfrm>
            <a:off x="6638544" y="5852160"/>
            <a:ext cx="1371600" cy="237744"/>
          </a:xfrm>
          <a:prstGeom prst="rect">
            <a:avLst/>
          </a:prstGeom>
          <a:noFill/>
          <a:ln/>
        </p:spPr>
        <p:txBody>
          <a:bodyPr wrap="square" lIns="0" tIns="0" rIns="0" bIns="0" rtlCol="0" anchor="ctr"/>
          <a:lstStyle/>
          <a:p>
            <a:pPr indent="0" marL="0">
              <a:buNone/>
            </a:pPr>
            <a:r>
              <a:rPr lang="en-US" sz="850" dirty="0">
                <a:solidFill>
                  <a:srgbClr val="3F5265"/>
                </a:solidFill>
                <a:latin typeface="Calibri" pitchFamily="34" charset="0"/>
                <a:ea typeface="Calibri" pitchFamily="34" charset="-122"/>
                <a:cs typeface="Calibri" pitchFamily="34" charset="-120"/>
              </a:rPr>
              <a:t>Fixed income</a:t>
            </a:r>
            <a:endParaRPr lang="en-US" sz="850" dirty="0"/>
          </a:p>
        </p:txBody>
      </p:sp>
      <p:sp>
        <p:nvSpPr>
          <p:cNvPr id="26" name="Text 23"/>
          <p:cNvSpPr/>
          <p:nvPr/>
        </p:nvSpPr>
        <p:spPr>
          <a:xfrm>
            <a:off x="8129016" y="5468112"/>
            <a:ext cx="1371600" cy="384048"/>
          </a:xfrm>
          <a:prstGeom prst="rect">
            <a:avLst/>
          </a:prstGeom>
          <a:noFill/>
          <a:ln/>
        </p:spPr>
        <p:txBody>
          <a:bodyPr wrap="square" lIns="0" tIns="0" rIns="0" bIns="0" rtlCol="0" anchor="ctr"/>
          <a:lstStyle/>
          <a:p>
            <a:pPr indent="0" marL="0">
              <a:buNone/>
            </a:pPr>
            <a:r>
              <a:rPr lang="en-US" sz="1900" b="1" dirty="0">
                <a:solidFill>
                  <a:srgbClr val="7A8A99"/>
                </a:solidFill>
                <a:latin typeface="Cambria" pitchFamily="34" charset="0"/>
                <a:ea typeface="Cambria" pitchFamily="34" charset="-122"/>
                <a:cs typeface="Cambria" pitchFamily="34" charset="-120"/>
              </a:rPr>
              <a:t>7%</a:t>
            </a:r>
            <a:endParaRPr lang="en-US" sz="1900" dirty="0"/>
          </a:p>
        </p:txBody>
      </p:sp>
      <p:sp>
        <p:nvSpPr>
          <p:cNvPr id="27" name="Text 24"/>
          <p:cNvSpPr/>
          <p:nvPr/>
        </p:nvSpPr>
        <p:spPr>
          <a:xfrm>
            <a:off x="8129016" y="5852160"/>
            <a:ext cx="1371600" cy="237744"/>
          </a:xfrm>
          <a:prstGeom prst="rect">
            <a:avLst/>
          </a:prstGeom>
          <a:noFill/>
          <a:ln/>
        </p:spPr>
        <p:txBody>
          <a:bodyPr wrap="square" lIns="0" tIns="0" rIns="0" bIns="0" rtlCol="0" anchor="ctr"/>
          <a:lstStyle/>
          <a:p>
            <a:pPr indent="0" marL="0">
              <a:buNone/>
            </a:pPr>
            <a:r>
              <a:rPr lang="en-US" sz="850" dirty="0">
                <a:solidFill>
                  <a:srgbClr val="3F5265"/>
                </a:solidFill>
                <a:latin typeface="Calibri" pitchFamily="34" charset="0"/>
                <a:ea typeface="Calibri" pitchFamily="34" charset="-122"/>
                <a:cs typeface="Calibri" pitchFamily="34" charset="-120"/>
              </a:rPr>
              <a:t>Crypto</a:t>
            </a:r>
            <a:endParaRPr lang="en-US" sz="850" dirty="0"/>
          </a:p>
        </p:txBody>
      </p:sp>
      <p:sp>
        <p:nvSpPr>
          <p:cNvPr id="28" name="Text 25"/>
          <p:cNvSpPr/>
          <p:nvPr/>
        </p:nvSpPr>
        <p:spPr>
          <a:xfrm>
            <a:off x="9692640" y="5468112"/>
            <a:ext cx="1920240" cy="676656"/>
          </a:xfrm>
          <a:prstGeom prst="rect">
            <a:avLst/>
          </a:prstGeom>
          <a:noFill/>
          <a:ln/>
        </p:spPr>
        <p:txBody>
          <a:bodyPr wrap="square" lIns="0" tIns="0" rIns="0" bIns="0" rtlCol="0" anchor="t"/>
          <a:lstStyle/>
          <a:p>
            <a:pPr indent="0" marL="0">
              <a:lnSpc>
                <a:spcPts val="1100"/>
              </a:lnSpc>
              <a:buNone/>
            </a:pPr>
            <a:r>
              <a:rPr lang="en-US" sz="850" b="1" dirty="0">
                <a:solidFill>
                  <a:srgbClr val="002D72"/>
                </a:solidFill>
                <a:latin typeface="Calibri" pitchFamily="34" charset="0"/>
                <a:ea typeface="Calibri" pitchFamily="34" charset="-122"/>
                <a:cs typeface="Calibri" pitchFamily="34" charset="-120"/>
              </a:rPr>
              <a:t>FX and fixed income represent the principal gaps. Non-equity electronic trading through EMS has grown 1.8 times since 2023.</a:t>
            </a:r>
            <a:endParaRPr lang="en-US" sz="850" dirty="0"/>
          </a:p>
        </p:txBody>
      </p:sp>
      <p:sp>
        <p:nvSpPr>
          <p:cNvPr id="29" name="Text 26"/>
          <p:cNvSpPr/>
          <p:nvPr/>
        </p:nvSpPr>
        <p:spPr>
          <a:xfrm>
            <a:off x="457200" y="6291072"/>
            <a:ext cx="11274552" cy="512064"/>
          </a:xfrm>
          <a:prstGeom prst="rect">
            <a:avLst/>
          </a:prstGeom>
          <a:noFill/>
          <a:ln/>
        </p:spPr>
        <p:txBody>
          <a:bodyPr wrap="square" lIns="0" tIns="0" rIns="0" bIns="0" rtlCol="0" anchor="t"/>
          <a:lstStyle/>
          <a:p>
            <a:pPr indent="0" marL="0">
              <a:lnSpc>
                <a:spcPts val="1060"/>
              </a:lnSpc>
              <a:buNone/>
            </a:pPr>
            <a:r>
              <a:rPr lang="en-US" sz="830" dirty="0">
                <a:solidFill>
                  <a:srgbClr val="7A8A99"/>
                </a:solidFill>
                <a:latin typeface="Calibri" pitchFamily="34" charset="0"/>
                <a:ea typeface="Calibri" pitchFamily="34" charset="-122"/>
                <a:cs typeface="Calibri" pitchFamily="34" charset="-120"/>
              </a:rPr>
              <a:t>Source: The TRADE EMS Survey 2025. Respondents selected up to four features, so percentages sum to more than 100. Respondent composition: 42% traders, 20% heads of trading, 22% technology, operations or support.</a:t>
            </a:r>
            <a:endParaRPr lang="en-US" sz="83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457200" y="237744"/>
            <a:ext cx="11274552" cy="219456"/>
          </a:xfrm>
          <a:prstGeom prst="rect">
            <a:avLst/>
          </a:prstGeom>
          <a:noFill/>
          <a:ln/>
        </p:spPr>
        <p:txBody>
          <a:bodyPr wrap="square" lIns="0" tIns="0" rIns="0" bIns="0" rtlCol="0" anchor="ctr"/>
          <a:lstStyle/>
          <a:p>
            <a:pPr indent="0" marL="0">
              <a:buNone/>
            </a:pPr>
            <a:r>
              <a:rPr lang="en-US" sz="1000" b="1" spc="140" kern="0" dirty="0">
                <a:solidFill>
                  <a:srgbClr val="056DAE"/>
                </a:solidFill>
                <a:latin typeface="Calibri" pitchFamily="34" charset="0"/>
                <a:ea typeface="Calibri" pitchFamily="34" charset="-122"/>
                <a:cs typeface="Calibri" pitchFamily="34" charset="-120"/>
              </a:rPr>
              <a:t>SEGMENT GUIDANCE</a:t>
            </a:r>
            <a:endParaRPr lang="en-US" sz="1000" dirty="0"/>
          </a:p>
        </p:txBody>
      </p:sp>
      <p:sp>
        <p:nvSpPr>
          <p:cNvPr id="3" name="Text 1"/>
          <p:cNvSpPr/>
          <p:nvPr/>
        </p:nvSpPr>
        <p:spPr>
          <a:xfrm>
            <a:off x="457200" y="457200"/>
            <a:ext cx="11274552" cy="512064"/>
          </a:xfrm>
          <a:prstGeom prst="rect">
            <a:avLst/>
          </a:prstGeom>
          <a:noFill/>
          <a:ln/>
        </p:spPr>
        <p:txBody>
          <a:bodyPr wrap="square" lIns="0" tIns="0" rIns="0" bIns="0" rtlCol="0" anchor="t"/>
          <a:lstStyle/>
          <a:p>
            <a:pPr indent="0" marL="0">
              <a:buNone/>
            </a:pPr>
            <a:r>
              <a:rPr lang="en-US" sz="2500" b="1" dirty="0">
                <a:solidFill>
                  <a:srgbClr val="002D72"/>
                </a:solidFill>
                <a:latin typeface="Cambria" pitchFamily="34" charset="0"/>
                <a:ea typeface="Cambria" pitchFamily="34" charset="-122"/>
                <a:cs typeface="Cambria" pitchFamily="34" charset="-120"/>
              </a:rPr>
              <a:t>Recommended approach by client type</a:t>
            </a:r>
            <a:endParaRPr lang="en-US" sz="2500" dirty="0"/>
          </a:p>
        </p:txBody>
      </p:sp>
      <p:sp>
        <p:nvSpPr>
          <p:cNvPr id="4" name="Shape 2"/>
          <p:cNvSpPr/>
          <p:nvPr/>
        </p:nvSpPr>
        <p:spPr>
          <a:xfrm>
            <a:off x="457200" y="1042416"/>
            <a:ext cx="3712464" cy="5120640"/>
          </a:xfrm>
          <a:prstGeom prst="roundRect">
            <a:avLst>
              <a:gd name="adj" fmla="val 1232"/>
            </a:avLst>
          </a:prstGeom>
          <a:solidFill>
            <a:srgbClr val="EAF1F8"/>
          </a:solidFill>
          <a:ln w="9525">
            <a:solidFill>
              <a:srgbClr val="D6E4F0"/>
            </a:solidFill>
            <a:prstDash val="solid"/>
          </a:ln>
        </p:spPr>
      </p:sp>
      <p:sp>
        <p:nvSpPr>
          <p:cNvPr id="5" name="Shape 3"/>
          <p:cNvSpPr/>
          <p:nvPr/>
        </p:nvSpPr>
        <p:spPr>
          <a:xfrm>
            <a:off x="457200" y="1042416"/>
            <a:ext cx="3712464" cy="420624"/>
          </a:xfrm>
          <a:prstGeom prst="roundRect">
            <a:avLst>
              <a:gd name="adj" fmla="val 10870"/>
            </a:avLst>
          </a:prstGeom>
          <a:solidFill>
            <a:srgbClr val="002D72"/>
          </a:solidFill>
          <a:ln w="12700">
            <a:solidFill>
              <a:srgbClr val="002D72"/>
            </a:solidFill>
            <a:prstDash val="solid"/>
          </a:ln>
        </p:spPr>
      </p:sp>
      <p:sp>
        <p:nvSpPr>
          <p:cNvPr id="6" name="Text 4"/>
          <p:cNvSpPr/>
          <p:nvPr/>
        </p:nvSpPr>
        <p:spPr>
          <a:xfrm>
            <a:off x="621792" y="1042416"/>
            <a:ext cx="3383280" cy="420624"/>
          </a:xfrm>
          <a:prstGeom prst="rect">
            <a:avLst/>
          </a:prstGeom>
          <a:noFill/>
          <a:ln/>
        </p:spPr>
        <p:txBody>
          <a:bodyPr wrap="square" lIns="0" tIns="0" rIns="0" bIns="0"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Long-only managers</a:t>
            </a:r>
            <a:endParaRPr lang="en-US" sz="1200" dirty="0"/>
          </a:p>
        </p:txBody>
      </p:sp>
      <p:sp>
        <p:nvSpPr>
          <p:cNvPr id="7" name="Text 5"/>
          <p:cNvSpPr/>
          <p:nvPr/>
        </p:nvSpPr>
        <p:spPr>
          <a:xfrm>
            <a:off x="621792" y="1609344"/>
            <a:ext cx="3383280" cy="164592"/>
          </a:xfrm>
          <a:prstGeom prst="rect">
            <a:avLst/>
          </a:prstGeom>
          <a:noFill/>
          <a:ln/>
        </p:spPr>
        <p:txBody>
          <a:bodyPr wrap="square" lIns="0" tIns="0" rIns="0" bIns="0" rtlCol="0" anchor="ctr"/>
          <a:lstStyle/>
          <a:p>
            <a:pPr indent="0" marL="0">
              <a:buNone/>
            </a:pPr>
            <a:r>
              <a:rPr lang="en-US" sz="780" b="1" spc="60" kern="0" dirty="0">
                <a:solidFill>
                  <a:srgbClr val="056DAE"/>
                </a:solidFill>
                <a:latin typeface="Calibri" pitchFamily="34" charset="0"/>
                <a:ea typeface="Calibri" pitchFamily="34" charset="-122"/>
                <a:cs typeface="Calibri" pitchFamily="34" charset="-120"/>
              </a:rPr>
              <a:t>DECISION OWNERSHIP</a:t>
            </a:r>
            <a:endParaRPr lang="en-US" sz="780" dirty="0"/>
          </a:p>
        </p:txBody>
      </p:sp>
      <p:sp>
        <p:nvSpPr>
          <p:cNvPr id="8" name="Text 6"/>
          <p:cNvSpPr/>
          <p:nvPr/>
        </p:nvSpPr>
        <p:spPr>
          <a:xfrm>
            <a:off x="621792" y="1792224"/>
            <a:ext cx="3383280" cy="896112"/>
          </a:xfrm>
          <a:prstGeom prst="rect">
            <a:avLst/>
          </a:prstGeom>
          <a:noFill/>
          <a:ln/>
        </p:spPr>
        <p:txBody>
          <a:bodyPr wrap="square" lIns="0" tIns="0" rIns="0" bIns="0" rtlCol="0" anchor="t"/>
          <a:lstStyle/>
          <a:p>
            <a:pPr indent="0" marL="0">
              <a:lnSpc>
                <a:spcPts val="1140"/>
              </a:lnSpc>
              <a:buNone/>
            </a:pPr>
            <a:r>
              <a:rPr lang="en-US" sz="880" dirty="0">
                <a:solidFill>
                  <a:srgbClr val="3F5265"/>
                </a:solidFill>
                <a:latin typeface="Calibri" pitchFamily="34" charset="0"/>
                <a:ea typeface="Calibri" pitchFamily="34" charset="-122"/>
                <a:cs typeface="Calibri" pitchFamily="34" charset="-120"/>
              </a:rPr>
              <a:t>OMS-led. The order management system is selected first and the EMS follows from it. Authority sits with the CIO office, operations and compliance rather than the trading desk.</a:t>
            </a:r>
            <a:endParaRPr lang="en-US" sz="880" dirty="0"/>
          </a:p>
        </p:txBody>
      </p:sp>
      <p:sp>
        <p:nvSpPr>
          <p:cNvPr id="9" name="Text 7"/>
          <p:cNvSpPr/>
          <p:nvPr/>
        </p:nvSpPr>
        <p:spPr>
          <a:xfrm>
            <a:off x="621792" y="2724912"/>
            <a:ext cx="3383280" cy="164592"/>
          </a:xfrm>
          <a:prstGeom prst="rect">
            <a:avLst/>
          </a:prstGeom>
          <a:noFill/>
          <a:ln/>
        </p:spPr>
        <p:txBody>
          <a:bodyPr wrap="square" lIns="0" tIns="0" rIns="0" bIns="0" rtlCol="0" anchor="ctr"/>
          <a:lstStyle/>
          <a:p>
            <a:pPr indent="0" marL="0">
              <a:buNone/>
            </a:pPr>
            <a:r>
              <a:rPr lang="en-US" sz="780" b="1" spc="60" kern="0" dirty="0">
                <a:solidFill>
                  <a:srgbClr val="056DAE"/>
                </a:solidFill>
                <a:latin typeface="Calibri" pitchFamily="34" charset="0"/>
                <a:ea typeface="Calibri" pitchFamily="34" charset="-122"/>
                <a:cs typeface="Calibri" pitchFamily="34" charset="-120"/>
              </a:rPr>
              <a:t>SYSTEMS TYPICALLY IN USE</a:t>
            </a:r>
            <a:endParaRPr lang="en-US" sz="780" dirty="0"/>
          </a:p>
        </p:txBody>
      </p:sp>
      <p:sp>
        <p:nvSpPr>
          <p:cNvPr id="10" name="Text 8"/>
          <p:cNvSpPr/>
          <p:nvPr/>
        </p:nvSpPr>
        <p:spPr>
          <a:xfrm>
            <a:off x="621792" y="2907792"/>
            <a:ext cx="3383280" cy="896112"/>
          </a:xfrm>
          <a:prstGeom prst="rect">
            <a:avLst/>
          </a:prstGeom>
          <a:noFill/>
          <a:ln/>
        </p:spPr>
        <p:txBody>
          <a:bodyPr wrap="square" lIns="0" tIns="0" rIns="0" bIns="0" rtlCol="0" anchor="t"/>
          <a:lstStyle/>
          <a:p>
            <a:pPr indent="0" marL="0">
              <a:lnSpc>
                <a:spcPts val="1140"/>
              </a:lnSpc>
              <a:buNone/>
            </a:pPr>
            <a:r>
              <a:rPr lang="en-US" sz="880" dirty="0">
                <a:solidFill>
                  <a:srgbClr val="3F5265"/>
                </a:solidFill>
                <a:latin typeface="Calibri" pitchFamily="34" charset="0"/>
                <a:ea typeface="Calibri" pitchFamily="34" charset="-122"/>
                <a:cs typeface="Calibri" pitchFamily="34" charset="-120"/>
              </a:rPr>
              <a:t>Charles River Trader, Bloomberg AIM with EMSX, FactSet Portware, SimCorp, BlackRock Aladdin.</a:t>
            </a:r>
            <a:endParaRPr lang="en-US" sz="880" dirty="0"/>
          </a:p>
        </p:txBody>
      </p:sp>
      <p:sp>
        <p:nvSpPr>
          <p:cNvPr id="11" name="Text 9"/>
          <p:cNvSpPr/>
          <p:nvPr/>
        </p:nvSpPr>
        <p:spPr>
          <a:xfrm>
            <a:off x="621792" y="3840480"/>
            <a:ext cx="3383280" cy="164592"/>
          </a:xfrm>
          <a:prstGeom prst="rect">
            <a:avLst/>
          </a:prstGeom>
          <a:noFill/>
          <a:ln/>
        </p:spPr>
        <p:txBody>
          <a:bodyPr wrap="square" lIns="0" tIns="0" rIns="0" bIns="0" rtlCol="0" anchor="ctr"/>
          <a:lstStyle/>
          <a:p>
            <a:pPr indent="0" marL="0">
              <a:buNone/>
            </a:pPr>
            <a:r>
              <a:rPr lang="en-US" sz="780" b="1" spc="60" kern="0" dirty="0">
                <a:solidFill>
                  <a:srgbClr val="056DAE"/>
                </a:solidFill>
                <a:latin typeface="Calibri" pitchFamily="34" charset="0"/>
                <a:ea typeface="Calibri" pitchFamily="34" charset="-122"/>
                <a:cs typeface="Calibri" pitchFamily="34" charset="-120"/>
              </a:rPr>
              <a:t>PRIORITIES</a:t>
            </a:r>
            <a:endParaRPr lang="en-US" sz="780" dirty="0"/>
          </a:p>
        </p:txBody>
      </p:sp>
      <p:sp>
        <p:nvSpPr>
          <p:cNvPr id="12" name="Text 10"/>
          <p:cNvSpPr/>
          <p:nvPr/>
        </p:nvSpPr>
        <p:spPr>
          <a:xfrm>
            <a:off x="621792" y="4023360"/>
            <a:ext cx="3383280" cy="896112"/>
          </a:xfrm>
          <a:prstGeom prst="rect">
            <a:avLst/>
          </a:prstGeom>
          <a:noFill/>
          <a:ln/>
        </p:spPr>
        <p:txBody>
          <a:bodyPr wrap="square" lIns="0" tIns="0" rIns="0" bIns="0" rtlCol="0" anchor="t"/>
          <a:lstStyle/>
          <a:p>
            <a:pPr indent="0" marL="0">
              <a:lnSpc>
                <a:spcPts val="1140"/>
              </a:lnSpc>
              <a:buNone/>
            </a:pPr>
            <a:r>
              <a:rPr lang="en-US" sz="880" dirty="0">
                <a:solidFill>
                  <a:srgbClr val="3F5265"/>
                </a:solidFill>
                <a:latin typeface="Calibri" pitchFamily="34" charset="0"/>
                <a:ea typeface="Calibri" pitchFamily="34" charset="-122"/>
                <a:cs typeface="Calibri" pitchFamily="34" charset="-120"/>
              </a:rPr>
              <a:t>Compliance, books and records, best-execution evidence, transaction cost analysis and coverage breadth. Evaluation cycles are extended and committee-driven.</a:t>
            </a:r>
            <a:endParaRPr lang="en-US" sz="880" dirty="0"/>
          </a:p>
        </p:txBody>
      </p:sp>
      <p:sp>
        <p:nvSpPr>
          <p:cNvPr id="13" name="Text 11"/>
          <p:cNvSpPr/>
          <p:nvPr/>
        </p:nvSpPr>
        <p:spPr>
          <a:xfrm>
            <a:off x="621792" y="4956048"/>
            <a:ext cx="3383280" cy="164592"/>
          </a:xfrm>
          <a:prstGeom prst="rect">
            <a:avLst/>
          </a:prstGeom>
          <a:noFill/>
          <a:ln/>
        </p:spPr>
        <p:txBody>
          <a:bodyPr wrap="square" lIns="0" tIns="0" rIns="0" bIns="0" rtlCol="0" anchor="ctr"/>
          <a:lstStyle/>
          <a:p>
            <a:pPr indent="0" marL="0">
              <a:buNone/>
            </a:pPr>
            <a:r>
              <a:rPr lang="en-US" sz="780" b="1" spc="60" kern="0" dirty="0">
                <a:solidFill>
                  <a:srgbClr val="D9261C"/>
                </a:solidFill>
                <a:latin typeface="Calibri" pitchFamily="34" charset="0"/>
                <a:ea typeface="Calibri" pitchFamily="34" charset="-122"/>
                <a:cs typeface="Calibri" pitchFamily="34" charset="-120"/>
              </a:rPr>
              <a:t>RECOMMENDED APPROACH</a:t>
            </a:r>
            <a:endParaRPr lang="en-US" sz="780" dirty="0"/>
          </a:p>
        </p:txBody>
      </p:sp>
      <p:sp>
        <p:nvSpPr>
          <p:cNvPr id="14" name="Text 12"/>
          <p:cNvSpPr/>
          <p:nvPr/>
        </p:nvSpPr>
        <p:spPr>
          <a:xfrm>
            <a:off x="621792" y="5138928"/>
            <a:ext cx="3383280" cy="896112"/>
          </a:xfrm>
          <a:prstGeom prst="rect">
            <a:avLst/>
          </a:prstGeom>
          <a:noFill/>
          <a:ln/>
        </p:spPr>
        <p:txBody>
          <a:bodyPr wrap="square" lIns="0" tIns="0" rIns="0" bIns="0" rtlCol="0" anchor="t"/>
          <a:lstStyle/>
          <a:p>
            <a:pPr indent="0" marL="0">
              <a:lnSpc>
                <a:spcPts val="1140"/>
              </a:lnSpc>
              <a:buNone/>
            </a:pPr>
            <a:r>
              <a:rPr lang="en-US" sz="880" dirty="0">
                <a:solidFill>
                  <a:srgbClr val="3F5265"/>
                </a:solidFill>
                <a:latin typeface="Calibri" pitchFamily="34" charset="0"/>
                <a:ea typeface="Calibri" pitchFamily="34" charset="-122"/>
                <a:cs typeface="Calibri" pitchFamily="34" charset="-120"/>
              </a:rPr>
              <a:t>Do not question the existing architecture. Concentrate on algo-wheel eligibility, algorithm parameter depth and analytics quality within it. Where the client operates Aladdin, establish which partner EMS provides execution.</a:t>
            </a:r>
            <a:endParaRPr lang="en-US" sz="880" dirty="0"/>
          </a:p>
        </p:txBody>
      </p:sp>
      <p:sp>
        <p:nvSpPr>
          <p:cNvPr id="15" name="Shape 13"/>
          <p:cNvSpPr/>
          <p:nvPr/>
        </p:nvSpPr>
        <p:spPr>
          <a:xfrm>
            <a:off x="4297680" y="1042416"/>
            <a:ext cx="3712464" cy="5120640"/>
          </a:xfrm>
          <a:prstGeom prst="roundRect">
            <a:avLst>
              <a:gd name="adj" fmla="val 1232"/>
            </a:avLst>
          </a:prstGeom>
          <a:solidFill>
            <a:srgbClr val="E3F0F9"/>
          </a:solidFill>
          <a:ln w="9525">
            <a:solidFill>
              <a:srgbClr val="D6E4F0"/>
            </a:solidFill>
            <a:prstDash val="solid"/>
          </a:ln>
        </p:spPr>
      </p:sp>
      <p:sp>
        <p:nvSpPr>
          <p:cNvPr id="16" name="Shape 14"/>
          <p:cNvSpPr/>
          <p:nvPr/>
        </p:nvSpPr>
        <p:spPr>
          <a:xfrm>
            <a:off x="4297680" y="1042416"/>
            <a:ext cx="3712464" cy="420624"/>
          </a:xfrm>
          <a:prstGeom prst="roundRect">
            <a:avLst>
              <a:gd name="adj" fmla="val 10870"/>
            </a:avLst>
          </a:prstGeom>
          <a:solidFill>
            <a:srgbClr val="002D72"/>
          </a:solidFill>
          <a:ln w="12700">
            <a:solidFill>
              <a:srgbClr val="002D72"/>
            </a:solidFill>
            <a:prstDash val="solid"/>
          </a:ln>
        </p:spPr>
      </p:sp>
      <p:sp>
        <p:nvSpPr>
          <p:cNvPr id="17" name="Text 15"/>
          <p:cNvSpPr/>
          <p:nvPr/>
        </p:nvSpPr>
        <p:spPr>
          <a:xfrm>
            <a:off x="4462272" y="1042416"/>
            <a:ext cx="3383280" cy="420624"/>
          </a:xfrm>
          <a:prstGeom prst="rect">
            <a:avLst/>
          </a:prstGeom>
          <a:noFill/>
          <a:ln/>
        </p:spPr>
        <p:txBody>
          <a:bodyPr wrap="square" lIns="0" tIns="0" rIns="0" bIns="0"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Hedge funds</a:t>
            </a:r>
            <a:endParaRPr lang="en-US" sz="1200" dirty="0"/>
          </a:p>
        </p:txBody>
      </p:sp>
      <p:sp>
        <p:nvSpPr>
          <p:cNvPr id="18" name="Text 16"/>
          <p:cNvSpPr/>
          <p:nvPr/>
        </p:nvSpPr>
        <p:spPr>
          <a:xfrm>
            <a:off x="4462272" y="1609344"/>
            <a:ext cx="3383280" cy="164592"/>
          </a:xfrm>
          <a:prstGeom prst="rect">
            <a:avLst/>
          </a:prstGeom>
          <a:noFill/>
          <a:ln/>
        </p:spPr>
        <p:txBody>
          <a:bodyPr wrap="square" lIns="0" tIns="0" rIns="0" bIns="0" rtlCol="0" anchor="ctr"/>
          <a:lstStyle/>
          <a:p>
            <a:pPr indent="0" marL="0">
              <a:buNone/>
            </a:pPr>
            <a:r>
              <a:rPr lang="en-US" sz="780" b="1" spc="60" kern="0" dirty="0">
                <a:solidFill>
                  <a:srgbClr val="056DAE"/>
                </a:solidFill>
                <a:latin typeface="Calibri" pitchFamily="34" charset="0"/>
                <a:ea typeface="Calibri" pitchFamily="34" charset="-122"/>
                <a:cs typeface="Calibri" pitchFamily="34" charset="-120"/>
              </a:rPr>
              <a:t>DECISION OWNERSHIP</a:t>
            </a:r>
            <a:endParaRPr lang="en-US" sz="780" dirty="0"/>
          </a:p>
        </p:txBody>
      </p:sp>
      <p:sp>
        <p:nvSpPr>
          <p:cNvPr id="19" name="Text 17"/>
          <p:cNvSpPr/>
          <p:nvPr/>
        </p:nvSpPr>
        <p:spPr>
          <a:xfrm>
            <a:off x="4462272" y="1792224"/>
            <a:ext cx="3383280" cy="896112"/>
          </a:xfrm>
          <a:prstGeom prst="rect">
            <a:avLst/>
          </a:prstGeom>
          <a:noFill/>
          <a:ln/>
        </p:spPr>
        <p:txBody>
          <a:bodyPr wrap="square" lIns="0" tIns="0" rIns="0" bIns="0" rtlCol="0" anchor="t"/>
          <a:lstStyle/>
          <a:p>
            <a:pPr indent="0" marL="0">
              <a:lnSpc>
                <a:spcPts val="1140"/>
              </a:lnSpc>
              <a:buNone/>
            </a:pPr>
            <a:r>
              <a:rPr lang="en-US" sz="880" dirty="0">
                <a:solidFill>
                  <a:srgbClr val="3F5265"/>
                </a:solidFill>
                <a:latin typeface="Calibri" pitchFamily="34" charset="0"/>
                <a:ea typeface="Calibri" pitchFamily="34" charset="-122"/>
                <a:cs typeface="Calibri" pitchFamily="34" charset="-120"/>
              </a:rPr>
              <a:t>EMS-led or full OEMS. The head of trading holds meaningful influence and decisions progress considerably faster.</a:t>
            </a:r>
            <a:endParaRPr lang="en-US" sz="880" dirty="0"/>
          </a:p>
        </p:txBody>
      </p:sp>
      <p:sp>
        <p:nvSpPr>
          <p:cNvPr id="20" name="Text 18"/>
          <p:cNvSpPr/>
          <p:nvPr/>
        </p:nvSpPr>
        <p:spPr>
          <a:xfrm>
            <a:off x="4462272" y="2724912"/>
            <a:ext cx="3383280" cy="164592"/>
          </a:xfrm>
          <a:prstGeom prst="rect">
            <a:avLst/>
          </a:prstGeom>
          <a:noFill/>
          <a:ln/>
        </p:spPr>
        <p:txBody>
          <a:bodyPr wrap="square" lIns="0" tIns="0" rIns="0" bIns="0" rtlCol="0" anchor="ctr"/>
          <a:lstStyle/>
          <a:p>
            <a:pPr indent="0" marL="0">
              <a:buNone/>
            </a:pPr>
            <a:r>
              <a:rPr lang="en-US" sz="780" b="1" spc="60" kern="0" dirty="0">
                <a:solidFill>
                  <a:srgbClr val="056DAE"/>
                </a:solidFill>
                <a:latin typeface="Calibri" pitchFamily="34" charset="0"/>
                <a:ea typeface="Calibri" pitchFamily="34" charset="-122"/>
                <a:cs typeface="Calibri" pitchFamily="34" charset="-120"/>
              </a:rPr>
              <a:t>SYSTEMS TYPICALLY IN USE</a:t>
            </a:r>
            <a:endParaRPr lang="en-US" sz="780" dirty="0"/>
          </a:p>
        </p:txBody>
      </p:sp>
      <p:sp>
        <p:nvSpPr>
          <p:cNvPr id="21" name="Text 19"/>
          <p:cNvSpPr/>
          <p:nvPr/>
        </p:nvSpPr>
        <p:spPr>
          <a:xfrm>
            <a:off x="4462272" y="2907792"/>
            <a:ext cx="3383280" cy="896112"/>
          </a:xfrm>
          <a:prstGeom prst="rect">
            <a:avLst/>
          </a:prstGeom>
          <a:noFill/>
          <a:ln/>
        </p:spPr>
        <p:txBody>
          <a:bodyPr wrap="square" lIns="0" tIns="0" rIns="0" bIns="0" rtlCol="0" anchor="t"/>
          <a:lstStyle/>
          <a:p>
            <a:pPr indent="0" marL="0">
              <a:lnSpc>
                <a:spcPts val="1140"/>
              </a:lnSpc>
              <a:buNone/>
            </a:pPr>
            <a:r>
              <a:rPr lang="en-US" sz="880" dirty="0">
                <a:solidFill>
                  <a:srgbClr val="3F5265"/>
                </a:solidFill>
                <a:latin typeface="Calibri" pitchFamily="34" charset="0"/>
                <a:ea typeface="Calibri" pitchFamily="34" charset="-122"/>
                <a:cs typeface="Calibri" pitchFamily="34" charset="-120"/>
              </a:rPr>
              <a:t>Virtu Triton, TS Imagine TradeSmart, FlexONE, Clearwater / Enfusion, SS&amp;C Eze RealTick.</a:t>
            </a:r>
            <a:endParaRPr lang="en-US" sz="880" dirty="0"/>
          </a:p>
        </p:txBody>
      </p:sp>
      <p:sp>
        <p:nvSpPr>
          <p:cNvPr id="22" name="Text 20"/>
          <p:cNvSpPr/>
          <p:nvPr/>
        </p:nvSpPr>
        <p:spPr>
          <a:xfrm>
            <a:off x="4462272" y="3840480"/>
            <a:ext cx="3383280" cy="164592"/>
          </a:xfrm>
          <a:prstGeom prst="rect">
            <a:avLst/>
          </a:prstGeom>
          <a:noFill/>
          <a:ln/>
        </p:spPr>
        <p:txBody>
          <a:bodyPr wrap="square" lIns="0" tIns="0" rIns="0" bIns="0" rtlCol="0" anchor="ctr"/>
          <a:lstStyle/>
          <a:p>
            <a:pPr indent="0" marL="0">
              <a:buNone/>
            </a:pPr>
            <a:r>
              <a:rPr lang="en-US" sz="780" b="1" spc="60" kern="0" dirty="0">
                <a:solidFill>
                  <a:srgbClr val="056DAE"/>
                </a:solidFill>
                <a:latin typeface="Calibri" pitchFamily="34" charset="0"/>
                <a:ea typeface="Calibri" pitchFamily="34" charset="-122"/>
                <a:cs typeface="Calibri" pitchFamily="34" charset="-120"/>
              </a:rPr>
              <a:t>PRIORITIES</a:t>
            </a:r>
            <a:endParaRPr lang="en-US" sz="780" dirty="0"/>
          </a:p>
        </p:txBody>
      </p:sp>
      <p:sp>
        <p:nvSpPr>
          <p:cNvPr id="23" name="Text 21"/>
          <p:cNvSpPr/>
          <p:nvPr/>
        </p:nvSpPr>
        <p:spPr>
          <a:xfrm>
            <a:off x="4462272" y="4023360"/>
            <a:ext cx="3383280" cy="896112"/>
          </a:xfrm>
          <a:prstGeom prst="rect">
            <a:avLst/>
          </a:prstGeom>
          <a:noFill/>
          <a:ln/>
        </p:spPr>
        <p:txBody>
          <a:bodyPr wrap="square" lIns="0" tIns="0" rIns="0" bIns="0" rtlCol="0" anchor="t"/>
          <a:lstStyle/>
          <a:p>
            <a:pPr indent="0" marL="0">
              <a:lnSpc>
                <a:spcPts val="1140"/>
              </a:lnSpc>
              <a:buNone/>
            </a:pPr>
            <a:r>
              <a:rPr lang="en-US" sz="880" dirty="0">
                <a:solidFill>
                  <a:srgbClr val="3F5265"/>
                </a:solidFill>
                <a:latin typeface="Calibri" pitchFamily="34" charset="0"/>
                <a:ea typeface="Calibri" pitchFamily="34" charset="-122"/>
                <a:cs typeface="Calibri" pitchFamily="34" charset="-120"/>
              </a:rPr>
              <a:t>Prime broker integration, short locates, cross-asset reach, onboarding speed and cost, the last of these now the most frequently cited concern.</a:t>
            </a:r>
            <a:endParaRPr lang="en-US" sz="880" dirty="0"/>
          </a:p>
        </p:txBody>
      </p:sp>
      <p:sp>
        <p:nvSpPr>
          <p:cNvPr id="24" name="Text 22"/>
          <p:cNvSpPr/>
          <p:nvPr/>
        </p:nvSpPr>
        <p:spPr>
          <a:xfrm>
            <a:off x="4462272" y="4956048"/>
            <a:ext cx="3383280" cy="164592"/>
          </a:xfrm>
          <a:prstGeom prst="rect">
            <a:avLst/>
          </a:prstGeom>
          <a:noFill/>
          <a:ln/>
        </p:spPr>
        <p:txBody>
          <a:bodyPr wrap="square" lIns="0" tIns="0" rIns="0" bIns="0" rtlCol="0" anchor="ctr"/>
          <a:lstStyle/>
          <a:p>
            <a:pPr indent="0" marL="0">
              <a:buNone/>
            </a:pPr>
            <a:r>
              <a:rPr lang="en-US" sz="780" b="1" spc="60" kern="0" dirty="0">
                <a:solidFill>
                  <a:srgbClr val="D9261C"/>
                </a:solidFill>
                <a:latin typeface="Calibri" pitchFamily="34" charset="0"/>
                <a:ea typeface="Calibri" pitchFamily="34" charset="-122"/>
                <a:cs typeface="Calibri" pitchFamily="34" charset="-120"/>
              </a:rPr>
              <a:t>RECOMMENDED APPROACH</a:t>
            </a:r>
            <a:endParaRPr lang="en-US" sz="780" dirty="0"/>
          </a:p>
        </p:txBody>
      </p:sp>
      <p:sp>
        <p:nvSpPr>
          <p:cNvPr id="25" name="Text 23"/>
          <p:cNvSpPr/>
          <p:nvPr/>
        </p:nvSpPr>
        <p:spPr>
          <a:xfrm>
            <a:off x="4462272" y="5138928"/>
            <a:ext cx="3383280" cy="896112"/>
          </a:xfrm>
          <a:prstGeom prst="rect">
            <a:avLst/>
          </a:prstGeom>
          <a:noFill/>
          <a:ln/>
        </p:spPr>
        <p:txBody>
          <a:bodyPr wrap="square" lIns="0" tIns="0" rIns="0" bIns="0" rtlCol="0" anchor="t"/>
          <a:lstStyle/>
          <a:p>
            <a:pPr indent="0" marL="0">
              <a:lnSpc>
                <a:spcPts val="1140"/>
              </a:lnSpc>
              <a:buNone/>
            </a:pPr>
            <a:r>
              <a:rPr lang="en-US" sz="880" dirty="0">
                <a:solidFill>
                  <a:srgbClr val="3F5265"/>
                </a:solidFill>
                <a:latin typeface="Calibri" pitchFamily="34" charset="0"/>
                <a:ea typeface="Calibri" pitchFamily="34" charset="-122"/>
                <a:cs typeface="Calibri" pitchFamily="34" charset="-120"/>
              </a:rPr>
              <a:t>Address the multi-asset gap directly. Managers that adopted front-to-back platforms for operational simplicity commonly encounter execution depth as the trade-off; identifying this early is constructive.</a:t>
            </a:r>
            <a:endParaRPr lang="en-US" sz="880" dirty="0"/>
          </a:p>
        </p:txBody>
      </p:sp>
      <p:sp>
        <p:nvSpPr>
          <p:cNvPr id="26" name="Shape 24"/>
          <p:cNvSpPr/>
          <p:nvPr/>
        </p:nvSpPr>
        <p:spPr>
          <a:xfrm>
            <a:off x="8138160" y="1042416"/>
            <a:ext cx="3712464" cy="5120640"/>
          </a:xfrm>
          <a:prstGeom prst="roundRect">
            <a:avLst>
              <a:gd name="adj" fmla="val 1232"/>
            </a:avLst>
          </a:prstGeom>
          <a:solidFill>
            <a:srgbClr val="FBEDEC"/>
          </a:solidFill>
          <a:ln w="9525">
            <a:solidFill>
              <a:srgbClr val="F0C9C6"/>
            </a:solidFill>
            <a:prstDash val="solid"/>
          </a:ln>
        </p:spPr>
      </p:sp>
      <p:sp>
        <p:nvSpPr>
          <p:cNvPr id="27" name="Shape 25"/>
          <p:cNvSpPr/>
          <p:nvPr/>
        </p:nvSpPr>
        <p:spPr>
          <a:xfrm>
            <a:off x="8138160" y="1042416"/>
            <a:ext cx="3712464" cy="420624"/>
          </a:xfrm>
          <a:prstGeom prst="roundRect">
            <a:avLst>
              <a:gd name="adj" fmla="val 10870"/>
            </a:avLst>
          </a:prstGeom>
          <a:solidFill>
            <a:srgbClr val="002D72"/>
          </a:solidFill>
          <a:ln w="12700">
            <a:solidFill>
              <a:srgbClr val="002D72"/>
            </a:solidFill>
            <a:prstDash val="solid"/>
          </a:ln>
        </p:spPr>
      </p:sp>
      <p:sp>
        <p:nvSpPr>
          <p:cNvPr id="28" name="Text 26"/>
          <p:cNvSpPr/>
          <p:nvPr/>
        </p:nvSpPr>
        <p:spPr>
          <a:xfrm>
            <a:off x="8302752" y="1042416"/>
            <a:ext cx="3383280" cy="420624"/>
          </a:xfrm>
          <a:prstGeom prst="rect">
            <a:avLst/>
          </a:prstGeom>
          <a:noFill/>
          <a:ln/>
        </p:spPr>
        <p:txBody>
          <a:bodyPr wrap="square" lIns="0" tIns="0" rIns="0" bIns="0"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Quantitative and systematic</a:t>
            </a:r>
            <a:endParaRPr lang="en-US" sz="1200" dirty="0"/>
          </a:p>
        </p:txBody>
      </p:sp>
      <p:sp>
        <p:nvSpPr>
          <p:cNvPr id="29" name="Text 27"/>
          <p:cNvSpPr/>
          <p:nvPr/>
        </p:nvSpPr>
        <p:spPr>
          <a:xfrm>
            <a:off x="8302752" y="1609344"/>
            <a:ext cx="3383280" cy="164592"/>
          </a:xfrm>
          <a:prstGeom prst="rect">
            <a:avLst/>
          </a:prstGeom>
          <a:noFill/>
          <a:ln/>
        </p:spPr>
        <p:txBody>
          <a:bodyPr wrap="square" lIns="0" tIns="0" rIns="0" bIns="0" rtlCol="0" anchor="ctr"/>
          <a:lstStyle/>
          <a:p>
            <a:pPr indent="0" marL="0">
              <a:buNone/>
            </a:pPr>
            <a:r>
              <a:rPr lang="en-US" sz="780" b="1" spc="60" kern="0" dirty="0">
                <a:solidFill>
                  <a:srgbClr val="056DAE"/>
                </a:solidFill>
                <a:latin typeface="Calibri" pitchFamily="34" charset="0"/>
                <a:ea typeface="Calibri" pitchFamily="34" charset="-122"/>
                <a:cs typeface="Calibri" pitchFamily="34" charset="-120"/>
              </a:rPr>
              <a:t>DECISION OWNERSHIP</a:t>
            </a:r>
            <a:endParaRPr lang="en-US" sz="780" dirty="0"/>
          </a:p>
        </p:txBody>
      </p:sp>
      <p:sp>
        <p:nvSpPr>
          <p:cNvPr id="30" name="Text 28"/>
          <p:cNvSpPr/>
          <p:nvPr/>
        </p:nvSpPr>
        <p:spPr>
          <a:xfrm>
            <a:off x="8302752" y="1792224"/>
            <a:ext cx="3383280" cy="896112"/>
          </a:xfrm>
          <a:prstGeom prst="rect">
            <a:avLst/>
          </a:prstGeom>
          <a:noFill/>
          <a:ln/>
        </p:spPr>
        <p:txBody>
          <a:bodyPr wrap="square" lIns="0" tIns="0" rIns="0" bIns="0" rtlCol="0" anchor="t"/>
          <a:lstStyle/>
          <a:p>
            <a:pPr indent="0" marL="0">
              <a:lnSpc>
                <a:spcPts val="1140"/>
              </a:lnSpc>
              <a:buNone/>
            </a:pPr>
            <a:r>
              <a:rPr lang="en-US" sz="880" dirty="0">
                <a:solidFill>
                  <a:srgbClr val="3F5265"/>
                </a:solidFill>
                <a:latin typeface="Calibri" pitchFamily="34" charset="0"/>
                <a:ea typeface="Calibri" pitchFamily="34" charset="-122"/>
                <a:cs typeface="Calibri" pitchFamily="34" charset="-120"/>
              </a:rPr>
              <a:t>Frequently no vendor is involved. An in-house EMS connects directly to brokers, and the counterparty is an engineering function.</a:t>
            </a:r>
            <a:endParaRPr lang="en-US" sz="880" dirty="0"/>
          </a:p>
        </p:txBody>
      </p:sp>
      <p:sp>
        <p:nvSpPr>
          <p:cNvPr id="31" name="Text 29"/>
          <p:cNvSpPr/>
          <p:nvPr/>
        </p:nvSpPr>
        <p:spPr>
          <a:xfrm>
            <a:off x="8302752" y="2724912"/>
            <a:ext cx="3383280" cy="164592"/>
          </a:xfrm>
          <a:prstGeom prst="rect">
            <a:avLst/>
          </a:prstGeom>
          <a:noFill/>
          <a:ln/>
        </p:spPr>
        <p:txBody>
          <a:bodyPr wrap="square" lIns="0" tIns="0" rIns="0" bIns="0" rtlCol="0" anchor="ctr"/>
          <a:lstStyle/>
          <a:p>
            <a:pPr indent="0" marL="0">
              <a:buNone/>
            </a:pPr>
            <a:r>
              <a:rPr lang="en-US" sz="780" b="1" spc="60" kern="0" dirty="0">
                <a:solidFill>
                  <a:srgbClr val="056DAE"/>
                </a:solidFill>
                <a:latin typeface="Calibri" pitchFamily="34" charset="0"/>
                <a:ea typeface="Calibri" pitchFamily="34" charset="-122"/>
                <a:cs typeface="Calibri" pitchFamily="34" charset="-120"/>
              </a:rPr>
              <a:t>SYSTEMS TYPICALLY IN USE</a:t>
            </a:r>
            <a:endParaRPr lang="en-US" sz="780" dirty="0"/>
          </a:p>
        </p:txBody>
      </p:sp>
      <p:sp>
        <p:nvSpPr>
          <p:cNvPr id="32" name="Text 30"/>
          <p:cNvSpPr/>
          <p:nvPr/>
        </p:nvSpPr>
        <p:spPr>
          <a:xfrm>
            <a:off x="8302752" y="2907792"/>
            <a:ext cx="3383280" cy="896112"/>
          </a:xfrm>
          <a:prstGeom prst="rect">
            <a:avLst/>
          </a:prstGeom>
          <a:noFill/>
          <a:ln/>
        </p:spPr>
        <p:txBody>
          <a:bodyPr wrap="square" lIns="0" tIns="0" rIns="0" bIns="0" rtlCol="0" anchor="t"/>
          <a:lstStyle/>
          <a:p>
            <a:pPr indent="0" marL="0">
              <a:lnSpc>
                <a:spcPts val="1140"/>
              </a:lnSpc>
              <a:buNone/>
            </a:pPr>
            <a:r>
              <a:rPr lang="en-US" sz="880" dirty="0">
                <a:solidFill>
                  <a:srgbClr val="3F5265"/>
                </a:solidFill>
                <a:latin typeface="Calibri" pitchFamily="34" charset="0"/>
                <a:ea typeface="Calibri" pitchFamily="34" charset="-122"/>
                <a:cs typeface="Calibri" pitchFamily="34" charset="-120"/>
              </a:rPr>
              <a:t>Proprietary systems; Trading Technologies for listed derivatives; FlexTrade in the minority of cases where a platform is purchased.</a:t>
            </a:r>
            <a:endParaRPr lang="en-US" sz="880" dirty="0"/>
          </a:p>
        </p:txBody>
      </p:sp>
      <p:sp>
        <p:nvSpPr>
          <p:cNvPr id="33" name="Text 31"/>
          <p:cNvSpPr/>
          <p:nvPr/>
        </p:nvSpPr>
        <p:spPr>
          <a:xfrm>
            <a:off x="8302752" y="3840480"/>
            <a:ext cx="3383280" cy="164592"/>
          </a:xfrm>
          <a:prstGeom prst="rect">
            <a:avLst/>
          </a:prstGeom>
          <a:noFill/>
          <a:ln/>
        </p:spPr>
        <p:txBody>
          <a:bodyPr wrap="square" lIns="0" tIns="0" rIns="0" bIns="0" rtlCol="0" anchor="ctr"/>
          <a:lstStyle/>
          <a:p>
            <a:pPr indent="0" marL="0">
              <a:buNone/>
            </a:pPr>
            <a:r>
              <a:rPr lang="en-US" sz="780" b="1" spc="60" kern="0" dirty="0">
                <a:solidFill>
                  <a:srgbClr val="056DAE"/>
                </a:solidFill>
                <a:latin typeface="Calibri" pitchFamily="34" charset="0"/>
                <a:ea typeface="Calibri" pitchFamily="34" charset="-122"/>
                <a:cs typeface="Calibri" pitchFamily="34" charset="-120"/>
              </a:rPr>
              <a:t>PRIORITIES</a:t>
            </a:r>
            <a:endParaRPr lang="en-US" sz="780" dirty="0"/>
          </a:p>
        </p:txBody>
      </p:sp>
      <p:sp>
        <p:nvSpPr>
          <p:cNvPr id="34" name="Text 32"/>
          <p:cNvSpPr/>
          <p:nvPr/>
        </p:nvSpPr>
        <p:spPr>
          <a:xfrm>
            <a:off x="8302752" y="4023360"/>
            <a:ext cx="3383280" cy="896112"/>
          </a:xfrm>
          <a:prstGeom prst="rect">
            <a:avLst/>
          </a:prstGeom>
          <a:noFill/>
          <a:ln/>
        </p:spPr>
        <p:txBody>
          <a:bodyPr wrap="square" lIns="0" tIns="0" rIns="0" bIns="0" rtlCol="0" anchor="t"/>
          <a:lstStyle/>
          <a:p>
            <a:pPr indent="0" marL="0">
              <a:lnSpc>
                <a:spcPts val="1140"/>
              </a:lnSpc>
              <a:buNone/>
            </a:pPr>
            <a:r>
              <a:rPr lang="en-US" sz="880" dirty="0">
                <a:solidFill>
                  <a:srgbClr val="3F5265"/>
                </a:solidFill>
                <a:latin typeface="Calibri" pitchFamily="34" charset="0"/>
                <a:ea typeface="Calibri" pitchFamily="34" charset="-122"/>
                <a:cs typeface="Calibri" pitchFamily="34" charset="-120"/>
              </a:rPr>
              <a:t>Latency, co-location, FIX and binary API depth, algorithm customisation and parameter control, and direct market access.</a:t>
            </a:r>
            <a:endParaRPr lang="en-US" sz="880" dirty="0"/>
          </a:p>
        </p:txBody>
      </p:sp>
      <p:sp>
        <p:nvSpPr>
          <p:cNvPr id="35" name="Text 33"/>
          <p:cNvSpPr/>
          <p:nvPr/>
        </p:nvSpPr>
        <p:spPr>
          <a:xfrm>
            <a:off x="8302752" y="4956048"/>
            <a:ext cx="3383280" cy="164592"/>
          </a:xfrm>
          <a:prstGeom prst="rect">
            <a:avLst/>
          </a:prstGeom>
          <a:noFill/>
          <a:ln/>
        </p:spPr>
        <p:txBody>
          <a:bodyPr wrap="square" lIns="0" tIns="0" rIns="0" bIns="0" rtlCol="0" anchor="ctr"/>
          <a:lstStyle/>
          <a:p>
            <a:pPr indent="0" marL="0">
              <a:buNone/>
            </a:pPr>
            <a:r>
              <a:rPr lang="en-US" sz="780" b="1" spc="60" kern="0" dirty="0">
                <a:solidFill>
                  <a:srgbClr val="D9261C"/>
                </a:solidFill>
                <a:latin typeface="Calibri" pitchFamily="34" charset="0"/>
                <a:ea typeface="Calibri" pitchFamily="34" charset="-122"/>
                <a:cs typeface="Calibri" pitchFamily="34" charset="-120"/>
              </a:rPr>
              <a:t>RECOMMENDED APPROACH</a:t>
            </a:r>
            <a:endParaRPr lang="en-US" sz="780" dirty="0"/>
          </a:p>
        </p:txBody>
      </p:sp>
      <p:sp>
        <p:nvSpPr>
          <p:cNvPr id="36" name="Text 34"/>
          <p:cNvSpPr/>
          <p:nvPr/>
        </p:nvSpPr>
        <p:spPr>
          <a:xfrm>
            <a:off x="8302752" y="5138928"/>
            <a:ext cx="3383280" cy="896112"/>
          </a:xfrm>
          <a:prstGeom prst="rect">
            <a:avLst/>
          </a:prstGeom>
          <a:noFill/>
          <a:ln/>
        </p:spPr>
        <p:txBody>
          <a:bodyPr wrap="square" lIns="0" tIns="0" rIns="0" bIns="0" rtlCol="0" anchor="t"/>
          <a:lstStyle/>
          <a:p>
            <a:pPr indent="0" marL="0">
              <a:lnSpc>
                <a:spcPts val="1140"/>
              </a:lnSpc>
              <a:buNone/>
            </a:pPr>
            <a:r>
              <a:rPr lang="en-US" sz="880" dirty="0">
                <a:solidFill>
                  <a:srgbClr val="3F5265"/>
                </a:solidFill>
                <a:latin typeface="Calibri" pitchFamily="34" charset="0"/>
                <a:ea typeface="Calibri" pitchFamily="34" charset="-122"/>
                <a:cs typeface="Calibri" pitchFamily="34" charset="-120"/>
              </a:rPr>
              <a:t>Platform selection is not the relevant discussion. The agenda should be certification, session management and custom algorithm parameters.</a:t>
            </a:r>
            <a:endParaRPr lang="en-US" sz="880" dirty="0"/>
          </a:p>
        </p:txBody>
      </p:sp>
      <p:sp>
        <p:nvSpPr>
          <p:cNvPr id="37" name="Text 35"/>
          <p:cNvSpPr/>
          <p:nvPr/>
        </p:nvSpPr>
        <p:spPr>
          <a:xfrm>
            <a:off x="457200" y="6291072"/>
            <a:ext cx="11274552" cy="512064"/>
          </a:xfrm>
          <a:prstGeom prst="rect">
            <a:avLst/>
          </a:prstGeom>
          <a:noFill/>
          <a:ln/>
        </p:spPr>
        <p:txBody>
          <a:bodyPr wrap="square" lIns="0" tIns="0" rIns="0" bIns="0" rtlCol="0" anchor="t"/>
          <a:lstStyle/>
          <a:p>
            <a:pPr indent="0" marL="0">
              <a:lnSpc>
                <a:spcPts val="1060"/>
              </a:lnSpc>
              <a:buNone/>
            </a:pPr>
            <a:r>
              <a:rPr lang="en-US" sz="830" dirty="0">
                <a:solidFill>
                  <a:srgbClr val="7A8A99"/>
                </a:solidFill>
                <a:latin typeface="Calibri" pitchFamily="34" charset="0"/>
                <a:ea typeface="Calibri" pitchFamily="34" charset="-122"/>
                <a:cs typeface="Calibri" pitchFamily="34" charset="-120"/>
              </a:rPr>
              <a:t>Segment definitions follow the terms of the brief. System assignments are inferred from the AUM bands, regional distributions and stated target markets disclosed by each vendor in The TRADE EMS Survey 2025; they are indicative of market patterns and do not represent actual client relationships.</a:t>
            </a:r>
            <a:endParaRPr lang="en-US" sz="83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457200" y="237744"/>
            <a:ext cx="11274552" cy="219456"/>
          </a:xfrm>
          <a:prstGeom prst="rect">
            <a:avLst/>
          </a:prstGeom>
          <a:noFill/>
          <a:ln/>
        </p:spPr>
        <p:txBody>
          <a:bodyPr wrap="square" lIns="0" tIns="0" rIns="0" bIns="0" rtlCol="0" anchor="ctr"/>
          <a:lstStyle/>
          <a:p>
            <a:pPr indent="0" marL="0">
              <a:buNone/>
            </a:pPr>
            <a:r>
              <a:rPr lang="en-US" sz="1000" b="1" spc="140" kern="0" dirty="0">
                <a:solidFill>
                  <a:srgbClr val="056DAE"/>
                </a:solidFill>
                <a:latin typeface="Calibri" pitchFamily="34" charset="0"/>
                <a:ea typeface="Calibri" pitchFamily="34" charset="-122"/>
                <a:cs typeface="Calibri" pitchFamily="34" charset="-120"/>
              </a:rPr>
              <a:t>ADVISORY GUIDANCE</a:t>
            </a:r>
            <a:endParaRPr lang="en-US" sz="1000" dirty="0"/>
          </a:p>
        </p:txBody>
      </p:sp>
      <p:sp>
        <p:nvSpPr>
          <p:cNvPr id="3" name="Text 1"/>
          <p:cNvSpPr/>
          <p:nvPr/>
        </p:nvSpPr>
        <p:spPr>
          <a:xfrm>
            <a:off x="457200" y="457200"/>
            <a:ext cx="11274552" cy="512064"/>
          </a:xfrm>
          <a:prstGeom prst="rect">
            <a:avLst/>
          </a:prstGeom>
          <a:noFill/>
          <a:ln/>
        </p:spPr>
        <p:txBody>
          <a:bodyPr wrap="square" lIns="0" tIns="0" rIns="0" bIns="0" rtlCol="0" anchor="t"/>
          <a:lstStyle/>
          <a:p>
            <a:pPr indent="0" marL="0">
              <a:buNone/>
            </a:pPr>
            <a:r>
              <a:rPr lang="en-US" sz="2500" b="1" dirty="0">
                <a:solidFill>
                  <a:srgbClr val="002D72"/>
                </a:solidFill>
                <a:latin typeface="Cambria" pitchFamily="34" charset="0"/>
                <a:ea typeface="Cambria" pitchFamily="34" charset="-122"/>
                <a:cs typeface="Cambria" pitchFamily="34" charset="-120"/>
              </a:rPr>
              <a:t>Responding to common client positions</a:t>
            </a:r>
            <a:endParaRPr lang="en-US" sz="2500" dirty="0"/>
          </a:p>
        </p:txBody>
      </p:sp>
      <p:sp>
        <p:nvSpPr>
          <p:cNvPr id="4" name="Text 2"/>
          <p:cNvSpPr/>
          <p:nvPr/>
        </p:nvSpPr>
        <p:spPr>
          <a:xfrm>
            <a:off x="457200" y="969264"/>
            <a:ext cx="11274552" cy="274320"/>
          </a:xfrm>
          <a:prstGeom prst="rect">
            <a:avLst/>
          </a:prstGeom>
          <a:noFill/>
          <a:ln/>
        </p:spPr>
        <p:txBody>
          <a:bodyPr wrap="square" lIns="0" tIns="0" rIns="0" bIns="0" rtlCol="0" anchor="ctr"/>
          <a:lstStyle/>
          <a:p>
            <a:pPr indent="0" marL="0">
              <a:buNone/>
            </a:pPr>
            <a:r>
              <a:rPr lang="en-US" sz="1050" dirty="0">
                <a:solidFill>
                  <a:srgbClr val="3F5265"/>
                </a:solidFill>
                <a:latin typeface="Calibri" pitchFamily="34" charset="0"/>
                <a:ea typeface="Calibri" pitchFamily="34" charset="-122"/>
                <a:cs typeface="Calibri" pitchFamily="34" charset="-120"/>
              </a:rPr>
              <a:t>Six situations account for the majority of EMS discussions. The recommended response to each is set out below, with the supporting evidence identified.</a:t>
            </a:r>
            <a:endParaRPr lang="en-US" sz="1050" dirty="0"/>
          </a:p>
        </p:txBody>
      </p:sp>
      <p:sp>
        <p:nvSpPr>
          <p:cNvPr id="5" name="Shape 3"/>
          <p:cNvSpPr/>
          <p:nvPr/>
        </p:nvSpPr>
        <p:spPr>
          <a:xfrm>
            <a:off x="457200" y="1335024"/>
            <a:ext cx="5541264" cy="1463040"/>
          </a:xfrm>
          <a:prstGeom prst="roundRect">
            <a:avLst>
              <a:gd name="adj" fmla="val 3125"/>
            </a:avLst>
          </a:prstGeom>
          <a:solidFill>
            <a:srgbClr val="EAF1F8"/>
          </a:solidFill>
          <a:ln w="9525">
            <a:solidFill>
              <a:srgbClr val="D6E4F0"/>
            </a:solidFill>
            <a:prstDash val="solid"/>
          </a:ln>
        </p:spPr>
      </p:sp>
      <p:sp>
        <p:nvSpPr>
          <p:cNvPr id="6" name="Shape 4"/>
          <p:cNvSpPr/>
          <p:nvPr/>
        </p:nvSpPr>
        <p:spPr>
          <a:xfrm>
            <a:off x="457200" y="1335024"/>
            <a:ext cx="45720" cy="1463040"/>
          </a:xfrm>
          <a:prstGeom prst="rect">
            <a:avLst/>
          </a:prstGeom>
          <a:solidFill>
            <a:srgbClr val="056DAE"/>
          </a:solidFill>
          <a:ln w="12700">
            <a:solidFill>
              <a:srgbClr val="333333"/>
            </a:solidFill>
            <a:prstDash val="solid"/>
          </a:ln>
        </p:spPr>
      </p:sp>
      <p:sp>
        <p:nvSpPr>
          <p:cNvPr id="7" name="Text 5"/>
          <p:cNvSpPr/>
          <p:nvPr/>
        </p:nvSpPr>
        <p:spPr>
          <a:xfrm>
            <a:off x="676656" y="1453896"/>
            <a:ext cx="5102352" cy="274320"/>
          </a:xfrm>
          <a:prstGeom prst="rect">
            <a:avLst/>
          </a:prstGeom>
          <a:noFill/>
          <a:ln/>
        </p:spPr>
        <p:txBody>
          <a:bodyPr wrap="square" lIns="0" tIns="0" rIns="0" bIns="0" rtlCol="0" anchor="t"/>
          <a:lstStyle/>
          <a:p>
            <a:pPr indent="0" marL="0">
              <a:buNone/>
            </a:pPr>
            <a:r>
              <a:rPr lang="en-US" sz="1050" b="1" i="1" dirty="0">
                <a:solidFill>
                  <a:srgbClr val="002D72"/>
                </a:solidFill>
                <a:latin typeface="Calibri" pitchFamily="34" charset="0"/>
                <a:ea typeface="Calibri" pitchFamily="34" charset="-122"/>
                <a:cs typeface="Calibri" pitchFamily="34" charset="-120"/>
              </a:rPr>
              <a:t>“We are satisfied with our current system.”</a:t>
            </a:r>
            <a:endParaRPr lang="en-US" sz="1050" dirty="0"/>
          </a:p>
        </p:txBody>
      </p:sp>
      <p:sp>
        <p:nvSpPr>
          <p:cNvPr id="8" name="Text 6"/>
          <p:cNvSpPr/>
          <p:nvPr/>
        </p:nvSpPr>
        <p:spPr>
          <a:xfrm>
            <a:off x="676656" y="1764792"/>
            <a:ext cx="5102352" cy="914400"/>
          </a:xfrm>
          <a:prstGeom prst="rect">
            <a:avLst/>
          </a:prstGeom>
          <a:noFill/>
          <a:ln/>
        </p:spPr>
        <p:txBody>
          <a:bodyPr wrap="square" lIns="0" tIns="0" rIns="0" bIns="0" rtlCol="0" anchor="t"/>
          <a:lstStyle/>
          <a:p>
            <a:pPr indent="0" marL="0">
              <a:lnSpc>
                <a:spcPts val="1180"/>
              </a:lnSpc>
              <a:buNone/>
            </a:pPr>
            <a:r>
              <a:rPr lang="en-US" sz="900" dirty="0">
                <a:solidFill>
                  <a:srgbClr val="3F5265"/>
                </a:solidFill>
                <a:latin typeface="Calibri" pitchFamily="34" charset="0"/>
                <a:ea typeface="Calibri" pitchFamily="34" charset="-122"/>
                <a:cs typeface="Calibri" pitchFamily="34" charset="-120"/>
              </a:rPr>
              <a:t>Accept the position. 88% of desks report no intention to replace, and challenging a satisfied incumbent user directly tends to reduce credibility. Redirect towards algo-wheel eligibility, broker coverage and asset classes still routed elsewhere.</a:t>
            </a:r>
            <a:endParaRPr lang="en-US" sz="900" dirty="0"/>
          </a:p>
        </p:txBody>
      </p:sp>
      <p:sp>
        <p:nvSpPr>
          <p:cNvPr id="9" name="Shape 7"/>
          <p:cNvSpPr/>
          <p:nvPr/>
        </p:nvSpPr>
        <p:spPr>
          <a:xfrm>
            <a:off x="6190488" y="1335024"/>
            <a:ext cx="5541264" cy="1463040"/>
          </a:xfrm>
          <a:prstGeom prst="roundRect">
            <a:avLst>
              <a:gd name="adj" fmla="val 3125"/>
            </a:avLst>
          </a:prstGeom>
          <a:solidFill>
            <a:srgbClr val="FFFFFF"/>
          </a:solidFill>
          <a:ln w="9525">
            <a:solidFill>
              <a:srgbClr val="D6E4F0"/>
            </a:solidFill>
            <a:prstDash val="solid"/>
          </a:ln>
        </p:spPr>
      </p:sp>
      <p:sp>
        <p:nvSpPr>
          <p:cNvPr id="10" name="Shape 8"/>
          <p:cNvSpPr/>
          <p:nvPr/>
        </p:nvSpPr>
        <p:spPr>
          <a:xfrm>
            <a:off x="6190488" y="1335024"/>
            <a:ext cx="45720" cy="1463040"/>
          </a:xfrm>
          <a:prstGeom prst="rect">
            <a:avLst/>
          </a:prstGeom>
          <a:solidFill>
            <a:srgbClr val="056DAE"/>
          </a:solidFill>
          <a:ln w="12700">
            <a:solidFill>
              <a:srgbClr val="333333"/>
            </a:solidFill>
            <a:prstDash val="solid"/>
          </a:ln>
        </p:spPr>
      </p:sp>
      <p:sp>
        <p:nvSpPr>
          <p:cNvPr id="11" name="Text 9"/>
          <p:cNvSpPr/>
          <p:nvPr/>
        </p:nvSpPr>
        <p:spPr>
          <a:xfrm>
            <a:off x="6409944" y="1453896"/>
            <a:ext cx="5102352" cy="274320"/>
          </a:xfrm>
          <a:prstGeom prst="rect">
            <a:avLst/>
          </a:prstGeom>
          <a:noFill/>
          <a:ln/>
        </p:spPr>
        <p:txBody>
          <a:bodyPr wrap="square" lIns="0" tIns="0" rIns="0" bIns="0" rtlCol="0" anchor="t"/>
          <a:lstStyle/>
          <a:p>
            <a:pPr indent="0" marL="0">
              <a:buNone/>
            </a:pPr>
            <a:r>
              <a:rPr lang="en-US" sz="1050" b="1" i="1" dirty="0">
                <a:solidFill>
                  <a:srgbClr val="002D72"/>
                </a:solidFill>
                <a:latin typeface="Calibri" pitchFamily="34" charset="0"/>
                <a:ea typeface="Calibri" pitchFamily="34" charset="-122"/>
                <a:cs typeface="Calibri" pitchFamily="34" charset="-120"/>
              </a:rPr>
              <a:t>“We are considering consolidating onto one platform.”</a:t>
            </a:r>
            <a:endParaRPr lang="en-US" sz="1050" dirty="0"/>
          </a:p>
        </p:txBody>
      </p:sp>
      <p:sp>
        <p:nvSpPr>
          <p:cNvPr id="12" name="Text 10"/>
          <p:cNvSpPr/>
          <p:nvPr/>
        </p:nvSpPr>
        <p:spPr>
          <a:xfrm>
            <a:off x="6409944" y="1764792"/>
            <a:ext cx="5102352" cy="914400"/>
          </a:xfrm>
          <a:prstGeom prst="rect">
            <a:avLst/>
          </a:prstGeom>
          <a:noFill/>
          <a:ln/>
        </p:spPr>
        <p:txBody>
          <a:bodyPr wrap="square" lIns="0" tIns="0" rIns="0" bIns="0" rtlCol="0" anchor="t"/>
          <a:lstStyle/>
          <a:p>
            <a:pPr indent="0" marL="0">
              <a:lnSpc>
                <a:spcPts val="1180"/>
              </a:lnSpc>
              <a:buNone/>
            </a:pPr>
            <a:r>
              <a:rPr lang="en-US" sz="900" dirty="0">
                <a:solidFill>
                  <a:srgbClr val="3F5265"/>
                </a:solidFill>
                <a:latin typeface="Calibri" pitchFamily="34" charset="0"/>
                <a:ea typeface="Calibri" pitchFamily="34" charset="-122"/>
                <a:cs typeface="Calibri" pitchFamily="34" charset="-120"/>
              </a:rPr>
              <a:t>Cost is the probable driver and is the market's most frequently cited concern. Note, however, that 58% of larger desks maintain two systems deliberately. Establish which capabilities would be lost before endorsing consolidation.</a:t>
            </a:r>
            <a:endParaRPr lang="en-US" sz="900" dirty="0"/>
          </a:p>
        </p:txBody>
      </p:sp>
      <p:sp>
        <p:nvSpPr>
          <p:cNvPr id="13" name="Shape 11"/>
          <p:cNvSpPr/>
          <p:nvPr/>
        </p:nvSpPr>
        <p:spPr>
          <a:xfrm>
            <a:off x="457200" y="2944368"/>
            <a:ext cx="5541264" cy="1463040"/>
          </a:xfrm>
          <a:prstGeom prst="roundRect">
            <a:avLst>
              <a:gd name="adj" fmla="val 3125"/>
            </a:avLst>
          </a:prstGeom>
          <a:solidFill>
            <a:srgbClr val="EAF1F8"/>
          </a:solidFill>
          <a:ln w="9525">
            <a:solidFill>
              <a:srgbClr val="D6E4F0"/>
            </a:solidFill>
            <a:prstDash val="solid"/>
          </a:ln>
        </p:spPr>
      </p:sp>
      <p:sp>
        <p:nvSpPr>
          <p:cNvPr id="14" name="Shape 12"/>
          <p:cNvSpPr/>
          <p:nvPr/>
        </p:nvSpPr>
        <p:spPr>
          <a:xfrm>
            <a:off x="457200" y="2944368"/>
            <a:ext cx="45720" cy="1463040"/>
          </a:xfrm>
          <a:prstGeom prst="rect">
            <a:avLst/>
          </a:prstGeom>
          <a:solidFill>
            <a:srgbClr val="056DAE"/>
          </a:solidFill>
          <a:ln w="12700">
            <a:solidFill>
              <a:srgbClr val="333333"/>
            </a:solidFill>
            <a:prstDash val="solid"/>
          </a:ln>
        </p:spPr>
      </p:sp>
      <p:sp>
        <p:nvSpPr>
          <p:cNvPr id="15" name="Text 13"/>
          <p:cNvSpPr/>
          <p:nvPr/>
        </p:nvSpPr>
        <p:spPr>
          <a:xfrm>
            <a:off x="676656" y="3063240"/>
            <a:ext cx="5102352" cy="274320"/>
          </a:xfrm>
          <a:prstGeom prst="rect">
            <a:avLst/>
          </a:prstGeom>
          <a:noFill/>
          <a:ln/>
        </p:spPr>
        <p:txBody>
          <a:bodyPr wrap="square" lIns="0" tIns="0" rIns="0" bIns="0" rtlCol="0" anchor="t"/>
          <a:lstStyle/>
          <a:p>
            <a:pPr indent="0" marL="0">
              <a:buNone/>
            </a:pPr>
            <a:r>
              <a:rPr lang="en-US" sz="1050" b="1" i="1" dirty="0">
                <a:solidFill>
                  <a:srgbClr val="002D72"/>
                </a:solidFill>
                <a:latin typeface="Calibri" pitchFamily="34" charset="0"/>
                <a:ea typeface="Calibri" pitchFamily="34" charset="-122"/>
                <a:cs typeface="Calibri" pitchFamily="34" charset="-120"/>
              </a:rPr>
              <a:t>“We are launching and require full coverage.”</a:t>
            </a:r>
            <a:endParaRPr lang="en-US" sz="1050" dirty="0"/>
          </a:p>
        </p:txBody>
      </p:sp>
      <p:sp>
        <p:nvSpPr>
          <p:cNvPr id="16" name="Text 14"/>
          <p:cNvSpPr/>
          <p:nvPr/>
        </p:nvSpPr>
        <p:spPr>
          <a:xfrm>
            <a:off x="676656" y="3374136"/>
            <a:ext cx="5102352" cy="914400"/>
          </a:xfrm>
          <a:prstGeom prst="rect">
            <a:avLst/>
          </a:prstGeom>
          <a:noFill/>
          <a:ln/>
        </p:spPr>
        <p:txBody>
          <a:bodyPr wrap="square" lIns="0" tIns="0" rIns="0" bIns="0" rtlCol="0" anchor="t"/>
          <a:lstStyle/>
          <a:p>
            <a:pPr indent="0" marL="0">
              <a:lnSpc>
                <a:spcPts val="1180"/>
              </a:lnSpc>
              <a:buNone/>
            </a:pPr>
            <a:r>
              <a:rPr lang="en-US" sz="900" dirty="0">
                <a:solidFill>
                  <a:srgbClr val="3F5265"/>
                </a:solidFill>
                <a:latin typeface="Calibri" pitchFamily="34" charset="0"/>
                <a:ea typeface="Calibri" pitchFamily="34" charset="-122"/>
                <a:cs typeface="Calibri" pitchFamily="34" charset="-120"/>
              </a:rPr>
              <a:t>Front-to-back platforms deliver operational simplicity at the cost of execution depth. Raising this early is advisable: it establishes credibility and identifies precisely where Citi's algorithms and connectivity contribute.</a:t>
            </a:r>
            <a:endParaRPr lang="en-US" sz="900" dirty="0"/>
          </a:p>
        </p:txBody>
      </p:sp>
      <p:sp>
        <p:nvSpPr>
          <p:cNvPr id="17" name="Shape 15"/>
          <p:cNvSpPr/>
          <p:nvPr/>
        </p:nvSpPr>
        <p:spPr>
          <a:xfrm>
            <a:off x="6190488" y="2944368"/>
            <a:ext cx="5541264" cy="1463040"/>
          </a:xfrm>
          <a:prstGeom prst="roundRect">
            <a:avLst>
              <a:gd name="adj" fmla="val 3125"/>
            </a:avLst>
          </a:prstGeom>
          <a:solidFill>
            <a:srgbClr val="FFFFFF"/>
          </a:solidFill>
          <a:ln w="9525">
            <a:solidFill>
              <a:srgbClr val="D6E4F0"/>
            </a:solidFill>
            <a:prstDash val="solid"/>
          </a:ln>
        </p:spPr>
      </p:sp>
      <p:sp>
        <p:nvSpPr>
          <p:cNvPr id="18" name="Shape 16"/>
          <p:cNvSpPr/>
          <p:nvPr/>
        </p:nvSpPr>
        <p:spPr>
          <a:xfrm>
            <a:off x="6190488" y="2944368"/>
            <a:ext cx="45720" cy="1463040"/>
          </a:xfrm>
          <a:prstGeom prst="rect">
            <a:avLst/>
          </a:prstGeom>
          <a:solidFill>
            <a:srgbClr val="056DAE"/>
          </a:solidFill>
          <a:ln w="12700">
            <a:solidFill>
              <a:srgbClr val="333333"/>
            </a:solidFill>
            <a:prstDash val="solid"/>
          </a:ln>
        </p:spPr>
      </p:sp>
      <p:sp>
        <p:nvSpPr>
          <p:cNvPr id="19" name="Text 17"/>
          <p:cNvSpPr/>
          <p:nvPr/>
        </p:nvSpPr>
        <p:spPr>
          <a:xfrm>
            <a:off x="6409944" y="3063240"/>
            <a:ext cx="5102352" cy="274320"/>
          </a:xfrm>
          <a:prstGeom prst="rect">
            <a:avLst/>
          </a:prstGeom>
          <a:noFill/>
          <a:ln/>
        </p:spPr>
        <p:txBody>
          <a:bodyPr wrap="square" lIns="0" tIns="0" rIns="0" bIns="0" rtlCol="0" anchor="t"/>
          <a:lstStyle/>
          <a:p>
            <a:pPr indent="0" marL="0">
              <a:buNone/>
            </a:pPr>
            <a:r>
              <a:rPr lang="en-US" sz="1050" b="1" i="1" dirty="0">
                <a:solidFill>
                  <a:srgbClr val="002D72"/>
                </a:solidFill>
                <a:latin typeface="Calibri" pitchFamily="34" charset="0"/>
                <a:ea typeface="Calibri" pitchFamily="34" charset="-122"/>
                <a:cs typeface="Calibri" pitchFamily="34" charset="-120"/>
              </a:rPr>
              <a:t>“We need FX and credit on the same blotter.”</a:t>
            </a:r>
            <a:endParaRPr lang="en-US" sz="1050" dirty="0"/>
          </a:p>
        </p:txBody>
      </p:sp>
      <p:sp>
        <p:nvSpPr>
          <p:cNvPr id="20" name="Text 18"/>
          <p:cNvSpPr/>
          <p:nvPr/>
        </p:nvSpPr>
        <p:spPr>
          <a:xfrm>
            <a:off x="6409944" y="3374136"/>
            <a:ext cx="5102352" cy="914400"/>
          </a:xfrm>
          <a:prstGeom prst="rect">
            <a:avLst/>
          </a:prstGeom>
          <a:noFill/>
          <a:ln/>
        </p:spPr>
        <p:txBody>
          <a:bodyPr wrap="square" lIns="0" tIns="0" rIns="0" bIns="0" rtlCol="0" anchor="t"/>
          <a:lstStyle/>
          <a:p>
            <a:pPr indent="0" marL="0">
              <a:lnSpc>
                <a:spcPts val="1180"/>
              </a:lnSpc>
              <a:buNone/>
            </a:pPr>
            <a:r>
              <a:rPr lang="en-US" sz="900" dirty="0">
                <a:solidFill>
                  <a:srgbClr val="3F5265"/>
                </a:solidFill>
                <a:latin typeface="Calibri" pitchFamily="34" charset="0"/>
                <a:ea typeface="Calibri" pitchFamily="34" charset="-122"/>
                <a:cs typeface="Calibri" pitchFamily="34" charset="-120"/>
              </a:rPr>
              <a:t>Only 52% and 49% of desks achieve this today. Coverage among mainstream EMS is limited; TS Imagine, LSEG TORA and Trading Technologies are strongest on breadth, and Adroit is the recognised leader in fixed income.</a:t>
            </a:r>
            <a:endParaRPr lang="en-US" sz="900" dirty="0"/>
          </a:p>
        </p:txBody>
      </p:sp>
      <p:sp>
        <p:nvSpPr>
          <p:cNvPr id="21" name="Shape 19"/>
          <p:cNvSpPr/>
          <p:nvPr/>
        </p:nvSpPr>
        <p:spPr>
          <a:xfrm>
            <a:off x="457200" y="4553712"/>
            <a:ext cx="5541264" cy="1463040"/>
          </a:xfrm>
          <a:prstGeom prst="roundRect">
            <a:avLst>
              <a:gd name="adj" fmla="val 3125"/>
            </a:avLst>
          </a:prstGeom>
          <a:solidFill>
            <a:srgbClr val="EAF1F8"/>
          </a:solidFill>
          <a:ln w="9525">
            <a:solidFill>
              <a:srgbClr val="D6E4F0"/>
            </a:solidFill>
            <a:prstDash val="solid"/>
          </a:ln>
        </p:spPr>
      </p:sp>
      <p:sp>
        <p:nvSpPr>
          <p:cNvPr id="22" name="Shape 20"/>
          <p:cNvSpPr/>
          <p:nvPr/>
        </p:nvSpPr>
        <p:spPr>
          <a:xfrm>
            <a:off x="457200" y="4553712"/>
            <a:ext cx="45720" cy="1463040"/>
          </a:xfrm>
          <a:prstGeom prst="rect">
            <a:avLst/>
          </a:prstGeom>
          <a:solidFill>
            <a:srgbClr val="D9261C"/>
          </a:solidFill>
          <a:ln w="12700">
            <a:solidFill>
              <a:srgbClr val="333333"/>
            </a:solidFill>
            <a:prstDash val="solid"/>
          </a:ln>
        </p:spPr>
      </p:sp>
      <p:sp>
        <p:nvSpPr>
          <p:cNvPr id="23" name="Text 21"/>
          <p:cNvSpPr/>
          <p:nvPr/>
        </p:nvSpPr>
        <p:spPr>
          <a:xfrm>
            <a:off x="676656" y="4672584"/>
            <a:ext cx="5102352" cy="274320"/>
          </a:xfrm>
          <a:prstGeom prst="rect">
            <a:avLst/>
          </a:prstGeom>
          <a:noFill/>
          <a:ln/>
        </p:spPr>
        <p:txBody>
          <a:bodyPr wrap="square" lIns="0" tIns="0" rIns="0" bIns="0" rtlCol="0" anchor="t"/>
          <a:lstStyle/>
          <a:p>
            <a:pPr indent="0" marL="0">
              <a:buNone/>
            </a:pPr>
            <a:r>
              <a:rPr lang="en-US" sz="1050" b="1" i="1" dirty="0">
                <a:solidFill>
                  <a:srgbClr val="002D72"/>
                </a:solidFill>
                <a:latin typeface="Calibri" pitchFamily="34" charset="0"/>
                <a:ea typeface="Calibri" pitchFamily="34" charset="-122"/>
                <a:cs typeface="Calibri" pitchFamily="34" charset="-120"/>
              </a:rPr>
              <a:t>“We are systematic and have built our own system.”</a:t>
            </a:r>
            <a:endParaRPr lang="en-US" sz="1050" dirty="0"/>
          </a:p>
        </p:txBody>
      </p:sp>
      <p:sp>
        <p:nvSpPr>
          <p:cNvPr id="24" name="Text 22"/>
          <p:cNvSpPr/>
          <p:nvPr/>
        </p:nvSpPr>
        <p:spPr>
          <a:xfrm>
            <a:off x="676656" y="4983480"/>
            <a:ext cx="5102352" cy="914400"/>
          </a:xfrm>
          <a:prstGeom prst="rect">
            <a:avLst/>
          </a:prstGeom>
          <a:noFill/>
          <a:ln/>
        </p:spPr>
        <p:txBody>
          <a:bodyPr wrap="square" lIns="0" tIns="0" rIns="0" bIns="0" rtlCol="0" anchor="t"/>
          <a:lstStyle/>
          <a:p>
            <a:pPr indent="0" marL="0">
              <a:lnSpc>
                <a:spcPts val="1180"/>
              </a:lnSpc>
              <a:buNone/>
            </a:pPr>
            <a:r>
              <a:rPr lang="en-US" sz="900" dirty="0">
                <a:solidFill>
                  <a:srgbClr val="3F5265"/>
                </a:solidFill>
                <a:latin typeface="Calibri" pitchFamily="34" charset="0"/>
                <a:ea typeface="Calibri" pitchFamily="34" charset="-122"/>
                <a:cs typeface="Calibri" pitchFamily="34" charset="-120"/>
              </a:rPr>
              <a:t>Platform selection is not the relevant discussion. The agenda should be certification, session management, FIX and binary API depth, and custom algorithm parameters.</a:t>
            </a:r>
            <a:endParaRPr lang="en-US" sz="900" dirty="0"/>
          </a:p>
        </p:txBody>
      </p:sp>
      <p:sp>
        <p:nvSpPr>
          <p:cNvPr id="25" name="Shape 23"/>
          <p:cNvSpPr/>
          <p:nvPr/>
        </p:nvSpPr>
        <p:spPr>
          <a:xfrm>
            <a:off x="6190488" y="4553712"/>
            <a:ext cx="5541264" cy="1463040"/>
          </a:xfrm>
          <a:prstGeom prst="roundRect">
            <a:avLst>
              <a:gd name="adj" fmla="val 3125"/>
            </a:avLst>
          </a:prstGeom>
          <a:solidFill>
            <a:srgbClr val="FFFFFF"/>
          </a:solidFill>
          <a:ln w="9525">
            <a:solidFill>
              <a:srgbClr val="D6E4F0"/>
            </a:solidFill>
            <a:prstDash val="solid"/>
          </a:ln>
        </p:spPr>
      </p:sp>
      <p:sp>
        <p:nvSpPr>
          <p:cNvPr id="26" name="Shape 24"/>
          <p:cNvSpPr/>
          <p:nvPr/>
        </p:nvSpPr>
        <p:spPr>
          <a:xfrm>
            <a:off x="6190488" y="4553712"/>
            <a:ext cx="45720" cy="1463040"/>
          </a:xfrm>
          <a:prstGeom prst="rect">
            <a:avLst/>
          </a:prstGeom>
          <a:solidFill>
            <a:srgbClr val="056DAE"/>
          </a:solidFill>
          <a:ln w="12700">
            <a:solidFill>
              <a:srgbClr val="333333"/>
            </a:solidFill>
            <a:prstDash val="solid"/>
          </a:ln>
        </p:spPr>
      </p:sp>
      <p:sp>
        <p:nvSpPr>
          <p:cNvPr id="27" name="Text 25"/>
          <p:cNvSpPr/>
          <p:nvPr/>
        </p:nvSpPr>
        <p:spPr>
          <a:xfrm>
            <a:off x="6409944" y="4672584"/>
            <a:ext cx="5102352" cy="274320"/>
          </a:xfrm>
          <a:prstGeom prst="rect">
            <a:avLst/>
          </a:prstGeom>
          <a:noFill/>
          <a:ln/>
        </p:spPr>
        <p:txBody>
          <a:bodyPr wrap="square" lIns="0" tIns="0" rIns="0" bIns="0" rtlCol="0" anchor="t"/>
          <a:lstStyle/>
          <a:p>
            <a:pPr indent="0" marL="0">
              <a:buNone/>
            </a:pPr>
            <a:r>
              <a:rPr lang="en-US" sz="1050" b="1" i="1" dirty="0">
                <a:solidFill>
                  <a:srgbClr val="002D72"/>
                </a:solidFill>
                <a:latin typeface="Calibri" pitchFamily="34" charset="0"/>
                <a:ea typeface="Calibri" pitchFamily="34" charset="-122"/>
                <a:cs typeface="Calibri" pitchFamily="34" charset="-120"/>
              </a:rPr>
              <a:t>“Our OMS provider states their EMS is sufficient.”</a:t>
            </a:r>
            <a:endParaRPr lang="en-US" sz="1050" dirty="0"/>
          </a:p>
        </p:txBody>
      </p:sp>
      <p:sp>
        <p:nvSpPr>
          <p:cNvPr id="28" name="Text 26"/>
          <p:cNvSpPr/>
          <p:nvPr/>
        </p:nvSpPr>
        <p:spPr>
          <a:xfrm>
            <a:off x="6409944" y="4983480"/>
            <a:ext cx="5102352" cy="914400"/>
          </a:xfrm>
          <a:prstGeom prst="rect">
            <a:avLst/>
          </a:prstGeom>
          <a:noFill/>
          <a:ln/>
        </p:spPr>
        <p:txBody>
          <a:bodyPr wrap="square" lIns="0" tIns="0" rIns="0" bIns="0" rtlCol="0" anchor="t"/>
          <a:lstStyle/>
          <a:p>
            <a:pPr indent="0" marL="0">
              <a:lnSpc>
                <a:spcPts val="1180"/>
              </a:lnSpc>
              <a:buNone/>
            </a:pPr>
            <a:r>
              <a:rPr lang="en-US" sz="900" dirty="0">
                <a:solidFill>
                  <a:srgbClr val="3F5265"/>
                </a:solidFill>
                <a:latin typeface="Calibri" pitchFamily="34" charset="0"/>
                <a:ea typeface="Calibri" pitchFamily="34" charset="-122"/>
                <a:cs typeface="Calibri" pitchFamily="34" charset="-120"/>
              </a:rPr>
              <a:t>Address this factually. Charles River Trader recorded 4.93, the lowest score among profiled vendors, and its own clients have requested stronger EMS capability. Aladdin delivers execution functionality through FlexTrade and FactSet partnerships rather than in-house development.</a:t>
            </a:r>
            <a:endParaRPr lang="en-US" sz="900" dirty="0"/>
          </a:p>
        </p:txBody>
      </p:sp>
      <p:sp>
        <p:nvSpPr>
          <p:cNvPr id="29" name="Text 27"/>
          <p:cNvSpPr/>
          <p:nvPr/>
        </p:nvSpPr>
        <p:spPr>
          <a:xfrm>
            <a:off x="457200" y="6291072"/>
            <a:ext cx="11274552" cy="512064"/>
          </a:xfrm>
          <a:prstGeom prst="rect">
            <a:avLst/>
          </a:prstGeom>
          <a:noFill/>
          <a:ln/>
        </p:spPr>
        <p:txBody>
          <a:bodyPr wrap="square" lIns="0" tIns="0" rIns="0" bIns="0" rtlCol="0" anchor="t"/>
          <a:lstStyle/>
          <a:p>
            <a:pPr indent="0" marL="0">
              <a:lnSpc>
                <a:spcPts val="1060"/>
              </a:lnSpc>
              <a:buNone/>
            </a:pPr>
            <a:r>
              <a:rPr lang="en-US" sz="830" dirty="0">
                <a:solidFill>
                  <a:srgbClr val="7A8A99"/>
                </a:solidFill>
                <a:latin typeface="Calibri" pitchFamily="34" charset="0"/>
                <a:ea typeface="Calibri" pitchFamily="34" charset="-122"/>
                <a:cs typeface="Calibri" pitchFamily="34" charset="-120"/>
              </a:rPr>
              <a:t>Supporting statistics are drawn from the sources cited at p5, p6 and p7. Vendor scores should not be quoted to a client without the survey caveats at p11, particularly for FactSet Portware and SS&amp;C Eze, whose 2025 response bases were 14 and 15 respectively.</a:t>
            </a:r>
            <a:endParaRPr lang="en-US" sz="83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02D72"/>
        </a:solidFill>
      </p:bgPr>
    </p:bg>
    <p:spTree>
      <p:nvGrpSpPr>
        <p:cNvPr id="1" name=""/>
        <p:cNvGrpSpPr/>
        <p:nvPr/>
      </p:nvGrpSpPr>
      <p:grpSpPr>
        <a:xfrm>
          <a:off x="0" y="0"/>
          <a:ext cx="0" cy="0"/>
          <a:chOff x="0" y="0"/>
          <a:chExt cx="0" cy="0"/>
        </a:xfrm>
      </p:grpSpPr>
      <p:sp>
        <p:nvSpPr>
          <p:cNvPr id="2" name="Text 0"/>
          <p:cNvSpPr/>
          <p:nvPr/>
        </p:nvSpPr>
        <p:spPr>
          <a:xfrm>
            <a:off x="457200" y="237744"/>
            <a:ext cx="11274552" cy="219456"/>
          </a:xfrm>
          <a:prstGeom prst="rect">
            <a:avLst/>
          </a:prstGeom>
          <a:noFill/>
          <a:ln/>
        </p:spPr>
        <p:txBody>
          <a:bodyPr wrap="square" lIns="0" tIns="0" rIns="0" bIns="0" rtlCol="0" anchor="ctr"/>
          <a:lstStyle/>
          <a:p>
            <a:pPr indent="0" marL="0">
              <a:buNone/>
            </a:pPr>
            <a:r>
              <a:rPr lang="en-US" sz="1000" b="1" spc="140" kern="0" dirty="0">
                <a:solidFill>
                  <a:srgbClr val="056DAE"/>
                </a:solidFill>
                <a:latin typeface="Calibri" pitchFamily="34" charset="0"/>
                <a:ea typeface="Calibri" pitchFamily="34" charset="-122"/>
                <a:cs typeface="Calibri" pitchFamily="34" charset="-120"/>
              </a:rPr>
              <a:t>CITI EXECUTION CAPABILITIES</a:t>
            </a:r>
            <a:endParaRPr lang="en-US" sz="1000" dirty="0"/>
          </a:p>
        </p:txBody>
      </p:sp>
      <p:sp>
        <p:nvSpPr>
          <p:cNvPr id="3" name="Text 1"/>
          <p:cNvSpPr/>
          <p:nvPr/>
        </p:nvSpPr>
        <p:spPr>
          <a:xfrm>
            <a:off x="457200" y="457200"/>
            <a:ext cx="11274552" cy="457200"/>
          </a:xfrm>
          <a:prstGeom prst="rect">
            <a:avLst/>
          </a:prstGeom>
          <a:noFill/>
          <a:ln/>
        </p:spPr>
        <p:txBody>
          <a:bodyPr wrap="square" lIns="0" tIns="0" rIns="0" bIns="0" rtlCol="0" anchor="ctr"/>
          <a:lstStyle/>
          <a:p>
            <a:pPr indent="0" marL="0">
              <a:buNone/>
            </a:pPr>
            <a:r>
              <a:rPr lang="en-US" sz="2500" b="1" dirty="0">
                <a:solidFill>
                  <a:srgbClr val="FFFFFF"/>
                </a:solidFill>
                <a:latin typeface="Cambria" pitchFamily="34" charset="0"/>
                <a:ea typeface="Cambria" pitchFamily="34" charset="-122"/>
                <a:cs typeface="Cambria" pitchFamily="34" charset="-120"/>
              </a:rPr>
              <a:t>What Citi provides, irrespective of the client's platform</a:t>
            </a:r>
            <a:endParaRPr lang="en-US" sz="2500" dirty="0"/>
          </a:p>
        </p:txBody>
      </p:sp>
      <p:sp>
        <p:nvSpPr>
          <p:cNvPr id="4" name="Text 2"/>
          <p:cNvSpPr/>
          <p:nvPr/>
        </p:nvSpPr>
        <p:spPr>
          <a:xfrm>
            <a:off x="457200" y="987552"/>
            <a:ext cx="11274552" cy="274320"/>
          </a:xfrm>
          <a:prstGeom prst="rect">
            <a:avLst/>
          </a:prstGeom>
          <a:noFill/>
          <a:ln/>
        </p:spPr>
        <p:txBody>
          <a:bodyPr wrap="square" lIns="0" tIns="0" rIns="0" bIns="0" rtlCol="0" anchor="ctr"/>
          <a:lstStyle/>
          <a:p>
            <a:pPr indent="0" marL="0">
              <a:buNone/>
            </a:pPr>
            <a:r>
              <a:rPr lang="en-US" sz="1050" i="1" dirty="0">
                <a:solidFill>
                  <a:srgbClr val="D6E4F0"/>
                </a:solidFill>
                <a:latin typeface="Calibri" pitchFamily="34" charset="0"/>
                <a:ea typeface="Calibri" pitchFamily="34" charset="-122"/>
                <a:cs typeface="Calibri" pitchFamily="34" charset="-120"/>
              </a:rPr>
              <a:t>Each capability below is publicly disclosed. Which are live on a given vendor platform, and in which region, is internal and remains subject to the certification register at p4.</a:t>
            </a:r>
            <a:endParaRPr lang="en-US" sz="1050" dirty="0"/>
          </a:p>
        </p:txBody>
      </p:sp>
      <p:sp>
        <p:nvSpPr>
          <p:cNvPr id="5" name="Shape 3"/>
          <p:cNvSpPr/>
          <p:nvPr/>
        </p:nvSpPr>
        <p:spPr>
          <a:xfrm>
            <a:off x="457200" y="1371600"/>
            <a:ext cx="3712464" cy="2286000"/>
          </a:xfrm>
          <a:prstGeom prst="roundRect">
            <a:avLst>
              <a:gd name="adj" fmla="val 2000"/>
            </a:avLst>
          </a:prstGeom>
          <a:solidFill>
            <a:srgbClr val="0A3D82"/>
          </a:solidFill>
          <a:ln w="9525">
            <a:solidFill>
              <a:srgbClr val="1E5A9E"/>
            </a:solidFill>
            <a:prstDash val="solid"/>
          </a:ln>
        </p:spPr>
      </p:sp>
      <p:sp>
        <p:nvSpPr>
          <p:cNvPr id="6" name="Text 4"/>
          <p:cNvSpPr/>
          <p:nvPr/>
        </p:nvSpPr>
        <p:spPr>
          <a:xfrm>
            <a:off x="621792" y="1481328"/>
            <a:ext cx="3383280" cy="237744"/>
          </a:xfrm>
          <a:prstGeom prst="rect">
            <a:avLst/>
          </a:prstGeom>
          <a:noFill/>
          <a:ln/>
        </p:spPr>
        <p:txBody>
          <a:bodyPr wrap="square" lIns="0" tIns="0" rIns="0" bIns="0" rtlCol="0" anchor="ctr"/>
          <a:lstStyle/>
          <a:p>
            <a:pPr indent="0" marL="0">
              <a:buNone/>
            </a:pPr>
            <a:r>
              <a:rPr lang="en-US" sz="1150" b="1" dirty="0">
                <a:solidFill>
                  <a:srgbClr val="FFFFFF"/>
                </a:solidFill>
                <a:latin typeface="Calibri" pitchFamily="34" charset="0"/>
                <a:ea typeface="Calibri" pitchFamily="34" charset="-122"/>
                <a:cs typeface="Calibri" pitchFamily="34" charset="-120"/>
              </a:rPr>
              <a:t>Cash equities</a:t>
            </a:r>
            <a:endParaRPr lang="en-US" sz="1150" dirty="0"/>
          </a:p>
        </p:txBody>
      </p:sp>
      <p:sp>
        <p:nvSpPr>
          <p:cNvPr id="7" name="Text 5"/>
          <p:cNvSpPr/>
          <p:nvPr/>
        </p:nvSpPr>
        <p:spPr>
          <a:xfrm>
            <a:off x="621792" y="1773936"/>
            <a:ext cx="3383280" cy="1755648"/>
          </a:xfrm>
          <a:prstGeom prst="rect">
            <a:avLst/>
          </a:prstGeom>
          <a:noFill/>
          <a:ln/>
        </p:spPr>
        <p:txBody>
          <a:bodyPr wrap="square" lIns="0" tIns="0" rIns="0" bIns="0" rtlCol="0" anchor="t"/>
          <a:lstStyle/>
          <a:p>
            <a:pPr indent="0" marL="0">
              <a:lnSpc>
                <a:spcPts val="1131"/>
              </a:lnSpc>
              <a:spcAft>
                <a:spcPts val="300"/>
              </a:spcAft>
              <a:buNone/>
            </a:pPr>
            <a:r>
              <a:rPr lang="en-US" sz="870" b="1" dirty="0">
                <a:solidFill>
                  <a:srgbClr val="8FC4E8"/>
                </a:solidFill>
                <a:latin typeface="Calibri" pitchFamily="34" charset="0"/>
                <a:ea typeface="Calibri" pitchFamily="34" charset="-122"/>
                <a:cs typeface="Calibri" pitchFamily="34" charset="-120"/>
              </a:rPr>
              <a:t>Algorithms  </a:t>
            </a:r>
            <a:pPr indent="0" marL="0">
              <a:lnSpc>
                <a:spcPts val="1131"/>
              </a:lnSpc>
              <a:spcAft>
                <a:spcPts val="300"/>
              </a:spcAft>
              <a:buNone/>
            </a:pPr>
            <a:r>
              <a:rPr lang="en-US" sz="870" dirty="0">
                <a:solidFill>
                  <a:srgbClr val="E8F1F9"/>
                </a:solidFill>
                <a:latin typeface="Calibri" pitchFamily="34" charset="0"/>
                <a:ea typeface="Calibri" pitchFamily="34" charset="-122"/>
                <a:cs typeface="Calibri" pitchFamily="34" charset="-120"/>
              </a:rPr>
              <a:t>Algorithmic suite with proprietary smart order routing</a:t>
            </a:r>
            <a:endParaRPr lang="en-US" sz="870" dirty="0"/>
          </a:p>
          <a:p>
            <a:pPr indent="0" marL="0">
              <a:lnSpc>
                <a:spcPts val="1131"/>
              </a:lnSpc>
              <a:spcAft>
                <a:spcPts val="300"/>
              </a:spcAft>
              <a:buNone/>
            </a:pPr>
            <a:r>
              <a:rPr lang="en-US" sz="870" b="1" dirty="0">
                <a:solidFill>
                  <a:srgbClr val="8FC4E8"/>
                </a:solidFill>
                <a:latin typeface="Calibri" pitchFamily="34" charset="0"/>
                <a:ea typeface="Calibri" pitchFamily="34" charset="-122"/>
                <a:cs typeface="Calibri" pitchFamily="34" charset="-120"/>
              </a:rPr>
              <a:t>Dark liquidity  </a:t>
            </a:r>
            <a:pPr indent="0" marL="0">
              <a:lnSpc>
                <a:spcPts val="1131"/>
              </a:lnSpc>
              <a:spcAft>
                <a:spcPts val="300"/>
              </a:spcAft>
              <a:buNone/>
            </a:pPr>
            <a:r>
              <a:rPr lang="en-US" sz="870" dirty="0">
                <a:solidFill>
                  <a:srgbClr val="E8F1F9"/>
                </a:solidFill>
                <a:latin typeface="Calibri" pitchFamily="34" charset="0"/>
                <a:ea typeface="Calibri" pitchFamily="34" charset="-122"/>
                <a:cs typeface="Calibri" pitchFamily="34" charset="-120"/>
              </a:rPr>
              <a:t>Citi Match, the bank's own non-displayed venue in EMEA</a:t>
            </a:r>
            <a:endParaRPr lang="en-US" sz="870" dirty="0"/>
          </a:p>
          <a:p>
            <a:pPr indent="0" marL="0">
              <a:lnSpc>
                <a:spcPts val="1131"/>
              </a:lnSpc>
              <a:spcAft>
                <a:spcPts val="300"/>
              </a:spcAft>
              <a:buNone/>
            </a:pPr>
            <a:r>
              <a:rPr lang="en-US" sz="870" b="1" dirty="0">
                <a:solidFill>
                  <a:srgbClr val="8FC4E8"/>
                </a:solidFill>
                <a:latin typeface="Calibri" pitchFamily="34" charset="0"/>
                <a:ea typeface="Calibri" pitchFamily="34" charset="-122"/>
                <a:cs typeface="Calibri" pitchFamily="34" charset="-120"/>
              </a:rPr>
              <a:t>Client control  </a:t>
            </a:r>
            <a:pPr indent="0" marL="0">
              <a:lnSpc>
                <a:spcPts val="1131"/>
              </a:lnSpc>
              <a:spcAft>
                <a:spcPts val="300"/>
              </a:spcAft>
              <a:buNone/>
            </a:pPr>
            <a:r>
              <a:rPr lang="en-US" sz="870" dirty="0">
                <a:solidFill>
                  <a:srgbClr val="E8F1F9"/>
                </a:solidFill>
                <a:latin typeface="Calibri" pitchFamily="34" charset="0"/>
                <a:ea typeface="Calibri" pitchFamily="34" charset="-122"/>
                <a:cs typeface="Calibri" pitchFamily="34" charset="-120"/>
              </a:rPr>
              <a:t>Clients determine whether an algorithm accesses dark liquidity; routing allocates on fill probability and reallocates on realised fill rates</a:t>
            </a:r>
            <a:endParaRPr lang="en-US" sz="870" dirty="0"/>
          </a:p>
        </p:txBody>
      </p:sp>
      <p:sp>
        <p:nvSpPr>
          <p:cNvPr id="8" name="Shape 6"/>
          <p:cNvSpPr/>
          <p:nvPr/>
        </p:nvSpPr>
        <p:spPr>
          <a:xfrm>
            <a:off x="4297680" y="1371600"/>
            <a:ext cx="3712464" cy="2286000"/>
          </a:xfrm>
          <a:prstGeom prst="roundRect">
            <a:avLst>
              <a:gd name="adj" fmla="val 2000"/>
            </a:avLst>
          </a:prstGeom>
          <a:solidFill>
            <a:srgbClr val="0A3D82"/>
          </a:solidFill>
          <a:ln w="9525">
            <a:solidFill>
              <a:srgbClr val="1E5A9E"/>
            </a:solidFill>
            <a:prstDash val="solid"/>
          </a:ln>
        </p:spPr>
      </p:sp>
      <p:sp>
        <p:nvSpPr>
          <p:cNvPr id="9" name="Text 7"/>
          <p:cNvSpPr/>
          <p:nvPr/>
        </p:nvSpPr>
        <p:spPr>
          <a:xfrm>
            <a:off x="4462272" y="1481328"/>
            <a:ext cx="3383280" cy="237744"/>
          </a:xfrm>
          <a:prstGeom prst="rect">
            <a:avLst/>
          </a:prstGeom>
          <a:noFill/>
          <a:ln/>
        </p:spPr>
        <p:txBody>
          <a:bodyPr wrap="square" lIns="0" tIns="0" rIns="0" bIns="0" rtlCol="0" anchor="ctr"/>
          <a:lstStyle/>
          <a:p>
            <a:pPr indent="0" marL="0">
              <a:buNone/>
            </a:pPr>
            <a:r>
              <a:rPr lang="en-US" sz="1150" b="1" dirty="0">
                <a:solidFill>
                  <a:srgbClr val="FFFFFF"/>
                </a:solidFill>
                <a:latin typeface="Calibri" pitchFamily="34" charset="0"/>
                <a:ea typeface="Calibri" pitchFamily="34" charset="-122"/>
                <a:cs typeface="Calibri" pitchFamily="34" charset="-120"/>
              </a:rPr>
              <a:t>FX — CitiFX and Velocity</a:t>
            </a:r>
            <a:endParaRPr lang="en-US" sz="1150" dirty="0"/>
          </a:p>
        </p:txBody>
      </p:sp>
      <p:sp>
        <p:nvSpPr>
          <p:cNvPr id="10" name="Text 8"/>
          <p:cNvSpPr/>
          <p:nvPr/>
        </p:nvSpPr>
        <p:spPr>
          <a:xfrm>
            <a:off x="4462272" y="1773936"/>
            <a:ext cx="3383280" cy="1755648"/>
          </a:xfrm>
          <a:prstGeom prst="rect">
            <a:avLst/>
          </a:prstGeom>
          <a:noFill/>
          <a:ln/>
        </p:spPr>
        <p:txBody>
          <a:bodyPr wrap="square" lIns="0" tIns="0" rIns="0" bIns="0" rtlCol="0" anchor="t"/>
          <a:lstStyle/>
          <a:p>
            <a:pPr indent="0" marL="0">
              <a:lnSpc>
                <a:spcPts val="1131"/>
              </a:lnSpc>
              <a:spcAft>
                <a:spcPts val="300"/>
              </a:spcAft>
              <a:buNone/>
            </a:pPr>
            <a:r>
              <a:rPr lang="en-US" sz="870" b="1" dirty="0">
                <a:solidFill>
                  <a:srgbClr val="8FC4E8"/>
                </a:solidFill>
                <a:latin typeface="Calibri" pitchFamily="34" charset="0"/>
                <a:ea typeface="Calibri" pitchFamily="34" charset="-122"/>
                <a:cs typeface="Calibri" pitchFamily="34" charset="-120"/>
              </a:rPr>
              <a:t>Coverage  </a:t>
            </a:r>
            <a:pPr indent="0" marL="0">
              <a:lnSpc>
                <a:spcPts val="1131"/>
              </a:lnSpc>
              <a:spcAft>
                <a:spcPts val="300"/>
              </a:spcAft>
              <a:buNone/>
            </a:pPr>
            <a:r>
              <a:rPr lang="en-US" sz="870" dirty="0">
                <a:solidFill>
                  <a:srgbClr val="E8F1F9"/>
                </a:solidFill>
                <a:latin typeface="Calibri" pitchFamily="34" charset="0"/>
                <a:ea typeface="Calibri" pitchFamily="34" charset="-122"/>
                <a:cs typeface="Calibri" pitchFamily="34" charset="-120"/>
              </a:rPr>
              <a:t>CitiFX Algo suite supported by dedicated algorithm and quantitative teams in London, New York and Singapore</a:t>
            </a:r>
            <a:endParaRPr lang="en-US" sz="870" dirty="0"/>
          </a:p>
          <a:p>
            <a:pPr indent="0" marL="0">
              <a:lnSpc>
                <a:spcPts val="1131"/>
              </a:lnSpc>
              <a:spcAft>
                <a:spcPts val="300"/>
              </a:spcAft>
              <a:buNone/>
            </a:pPr>
            <a:r>
              <a:rPr lang="en-US" sz="870" b="1" dirty="0">
                <a:solidFill>
                  <a:srgbClr val="8FC4E8"/>
                </a:solidFill>
                <a:latin typeface="Calibri" pitchFamily="34" charset="0"/>
                <a:ea typeface="Calibri" pitchFamily="34" charset="-122"/>
                <a:cs typeface="Calibri" pitchFamily="34" charset="-120"/>
              </a:rPr>
              <a:t>Strategies  </a:t>
            </a:r>
            <a:pPr indent="0" marL="0">
              <a:lnSpc>
                <a:spcPts val="1131"/>
              </a:lnSpc>
              <a:spcAft>
                <a:spcPts val="300"/>
              </a:spcAft>
              <a:buNone/>
            </a:pPr>
            <a:r>
              <a:rPr lang="en-US" sz="870" dirty="0">
                <a:solidFill>
                  <a:srgbClr val="E8F1F9"/>
                </a:solidFill>
                <a:latin typeface="Calibri" pitchFamily="34" charset="0"/>
                <a:ea typeface="Calibri" pitchFamily="34" charset="-122"/>
                <a:cs typeface="Calibri" pitchFamily="34" charset="-120"/>
              </a:rPr>
              <a:t>Velocity Dynamic Algos: TWAP, VWAP, Arrival and Volume Tracker, with urgency control</a:t>
            </a:r>
            <a:endParaRPr lang="en-US" sz="870" dirty="0"/>
          </a:p>
          <a:p>
            <a:pPr indent="0" marL="0">
              <a:lnSpc>
                <a:spcPts val="1131"/>
              </a:lnSpc>
              <a:spcAft>
                <a:spcPts val="300"/>
              </a:spcAft>
              <a:buNone/>
            </a:pPr>
            <a:r>
              <a:rPr lang="en-US" sz="870" b="1" dirty="0">
                <a:solidFill>
                  <a:srgbClr val="8FC4E8"/>
                </a:solidFill>
                <a:latin typeface="Calibri" pitchFamily="34" charset="0"/>
                <a:ea typeface="Calibri" pitchFamily="34" charset="-122"/>
                <a:cs typeface="Calibri" pitchFamily="34" charset="-120"/>
              </a:rPr>
              <a:t>APAC  </a:t>
            </a:r>
            <a:pPr indent="0" marL="0">
              <a:lnSpc>
                <a:spcPts val="1131"/>
              </a:lnSpc>
              <a:spcAft>
                <a:spcPts val="300"/>
              </a:spcAft>
              <a:buNone/>
            </a:pPr>
            <a:r>
              <a:rPr lang="en-US" sz="870" dirty="0">
                <a:solidFill>
                  <a:srgbClr val="E8F1F9"/>
                </a:solidFill>
                <a:latin typeface="Calibri" pitchFamily="34" charset="0"/>
                <a:ea typeface="Calibri" pitchFamily="34" charset="-122"/>
                <a:cs typeface="Calibri" pitchFamily="34" charset="-120"/>
              </a:rPr>
              <a:t>Asian and LatAm NDF algorithmic execution across all strategies</a:t>
            </a:r>
            <a:endParaRPr lang="en-US" sz="870" dirty="0"/>
          </a:p>
        </p:txBody>
      </p:sp>
      <p:sp>
        <p:nvSpPr>
          <p:cNvPr id="11" name="Shape 9"/>
          <p:cNvSpPr/>
          <p:nvPr/>
        </p:nvSpPr>
        <p:spPr>
          <a:xfrm>
            <a:off x="8138160" y="1371600"/>
            <a:ext cx="3712464" cy="2286000"/>
          </a:xfrm>
          <a:prstGeom prst="roundRect">
            <a:avLst>
              <a:gd name="adj" fmla="val 2000"/>
            </a:avLst>
          </a:prstGeom>
          <a:solidFill>
            <a:srgbClr val="0A3D82"/>
          </a:solidFill>
          <a:ln w="9525">
            <a:solidFill>
              <a:srgbClr val="1E5A9E"/>
            </a:solidFill>
            <a:prstDash val="solid"/>
          </a:ln>
        </p:spPr>
      </p:sp>
      <p:sp>
        <p:nvSpPr>
          <p:cNvPr id="12" name="Text 10"/>
          <p:cNvSpPr/>
          <p:nvPr/>
        </p:nvSpPr>
        <p:spPr>
          <a:xfrm>
            <a:off x="8302752" y="1481328"/>
            <a:ext cx="3383280" cy="237744"/>
          </a:xfrm>
          <a:prstGeom prst="rect">
            <a:avLst/>
          </a:prstGeom>
          <a:noFill/>
          <a:ln/>
        </p:spPr>
        <p:txBody>
          <a:bodyPr wrap="square" lIns="0" tIns="0" rIns="0" bIns="0" rtlCol="0" anchor="ctr"/>
          <a:lstStyle/>
          <a:p>
            <a:pPr indent="0" marL="0">
              <a:buNone/>
            </a:pPr>
            <a:r>
              <a:rPr lang="en-US" sz="1150" b="1" dirty="0">
                <a:solidFill>
                  <a:srgbClr val="FFFFFF"/>
                </a:solidFill>
                <a:latin typeface="Calibri" pitchFamily="34" charset="0"/>
                <a:ea typeface="Calibri" pitchFamily="34" charset="-122"/>
                <a:cs typeface="Calibri" pitchFamily="34" charset="-120"/>
              </a:rPr>
              <a:t>Listed derivatives and options</a:t>
            </a:r>
            <a:endParaRPr lang="en-US" sz="1150" dirty="0"/>
          </a:p>
        </p:txBody>
      </p:sp>
      <p:sp>
        <p:nvSpPr>
          <p:cNvPr id="13" name="Text 11"/>
          <p:cNvSpPr/>
          <p:nvPr/>
        </p:nvSpPr>
        <p:spPr>
          <a:xfrm>
            <a:off x="8302752" y="1773936"/>
            <a:ext cx="3383280" cy="1755648"/>
          </a:xfrm>
          <a:prstGeom prst="rect">
            <a:avLst/>
          </a:prstGeom>
          <a:noFill/>
          <a:ln/>
        </p:spPr>
        <p:txBody>
          <a:bodyPr wrap="square" lIns="0" tIns="0" rIns="0" bIns="0" rtlCol="0" anchor="t"/>
          <a:lstStyle/>
          <a:p>
            <a:pPr indent="0" marL="0">
              <a:lnSpc>
                <a:spcPts val="1131"/>
              </a:lnSpc>
              <a:spcAft>
                <a:spcPts val="300"/>
              </a:spcAft>
              <a:buNone/>
            </a:pPr>
            <a:r>
              <a:rPr lang="en-US" sz="870" b="1" dirty="0">
                <a:solidFill>
                  <a:srgbClr val="8FC4E8"/>
                </a:solidFill>
                <a:latin typeface="Calibri" pitchFamily="34" charset="0"/>
                <a:ea typeface="Calibri" pitchFamily="34" charset="-122"/>
                <a:cs typeface="Calibri" pitchFamily="34" charset="-120"/>
              </a:rPr>
              <a:t>Futures  </a:t>
            </a:r>
            <a:pPr indent="0" marL="0">
              <a:lnSpc>
                <a:spcPts val="1131"/>
              </a:lnSpc>
              <a:spcAft>
                <a:spcPts val="300"/>
              </a:spcAft>
              <a:buNone/>
            </a:pPr>
            <a:r>
              <a:rPr lang="en-US" sz="870" dirty="0">
                <a:solidFill>
                  <a:srgbClr val="E8F1F9"/>
                </a:solidFill>
                <a:latin typeface="Calibri" pitchFamily="34" charset="0"/>
                <a:ea typeface="Calibri" pitchFamily="34" charset="-122"/>
                <a:cs typeface="Calibri" pitchFamily="34" charset="-120"/>
              </a:rPr>
              <a:t>Listed derivatives algorithms assembled by Citi Futures and OTC Clearing</a:t>
            </a:r>
            <a:endParaRPr lang="en-US" sz="870" dirty="0"/>
          </a:p>
          <a:p>
            <a:pPr indent="0" marL="0">
              <a:lnSpc>
                <a:spcPts val="1131"/>
              </a:lnSpc>
              <a:spcAft>
                <a:spcPts val="300"/>
              </a:spcAft>
              <a:buNone/>
            </a:pPr>
            <a:r>
              <a:rPr lang="en-US" sz="870" b="1" dirty="0">
                <a:solidFill>
                  <a:srgbClr val="8FC4E8"/>
                </a:solidFill>
                <a:latin typeface="Calibri" pitchFamily="34" charset="0"/>
                <a:ea typeface="Calibri" pitchFamily="34" charset="-122"/>
                <a:cs typeface="Calibri" pitchFamily="34" charset="-120"/>
              </a:rPr>
              <a:t>Options  </a:t>
            </a:r>
            <a:pPr indent="0" marL="0">
              <a:lnSpc>
                <a:spcPts val="1131"/>
              </a:lnSpc>
              <a:spcAft>
                <a:spcPts val="300"/>
              </a:spcAft>
              <a:buNone/>
            </a:pPr>
            <a:r>
              <a:rPr lang="en-US" sz="870" dirty="0">
                <a:solidFill>
                  <a:srgbClr val="E8F1F9"/>
                </a:solidFill>
                <a:latin typeface="Calibri" pitchFamily="34" charset="0"/>
                <a:ea typeface="Calibri" pitchFamily="34" charset="-122"/>
                <a:cs typeface="Calibri" pitchFamily="34" charset="-120"/>
              </a:rPr>
              <a:t>US listed options algorithm suite including liquidity-seeking strategies</a:t>
            </a:r>
            <a:endParaRPr lang="en-US" sz="870" dirty="0"/>
          </a:p>
          <a:p>
            <a:pPr indent="0" marL="0">
              <a:lnSpc>
                <a:spcPts val="1131"/>
              </a:lnSpc>
              <a:spcAft>
                <a:spcPts val="300"/>
              </a:spcAft>
              <a:buNone/>
            </a:pPr>
            <a:r>
              <a:rPr lang="en-US" sz="870" b="1" dirty="0">
                <a:solidFill>
                  <a:srgbClr val="8FC4E8"/>
                </a:solidFill>
                <a:latin typeface="Calibri" pitchFamily="34" charset="0"/>
                <a:ea typeface="Calibri" pitchFamily="34" charset="-122"/>
                <a:cs typeface="Calibri" pitchFamily="34" charset="-120"/>
              </a:rPr>
              <a:t>Reporting  </a:t>
            </a:r>
            <a:pPr indent="0" marL="0">
              <a:lnSpc>
                <a:spcPts val="1131"/>
              </a:lnSpc>
              <a:spcAft>
                <a:spcPts val="300"/>
              </a:spcAft>
              <a:buNone/>
            </a:pPr>
            <a:r>
              <a:rPr lang="en-US" sz="870" dirty="0">
                <a:solidFill>
                  <a:srgbClr val="E8F1F9"/>
                </a:solidFill>
                <a:latin typeface="Calibri" pitchFamily="34" charset="0"/>
                <a:ea typeface="Calibri" pitchFamily="34" charset="-122"/>
                <a:cs typeface="Calibri" pitchFamily="34" charset="-120"/>
              </a:rPr>
              <a:t>Per-order execution performance reporting provided to the client</a:t>
            </a:r>
            <a:endParaRPr lang="en-US" sz="870" dirty="0"/>
          </a:p>
        </p:txBody>
      </p:sp>
      <p:sp>
        <p:nvSpPr>
          <p:cNvPr id="14" name="Shape 12"/>
          <p:cNvSpPr/>
          <p:nvPr/>
        </p:nvSpPr>
        <p:spPr>
          <a:xfrm>
            <a:off x="457200" y="3803904"/>
            <a:ext cx="3712464" cy="2286000"/>
          </a:xfrm>
          <a:prstGeom prst="roundRect">
            <a:avLst>
              <a:gd name="adj" fmla="val 2000"/>
            </a:avLst>
          </a:prstGeom>
          <a:solidFill>
            <a:srgbClr val="0A3D82"/>
          </a:solidFill>
          <a:ln w="9525">
            <a:solidFill>
              <a:srgbClr val="1E5A9E"/>
            </a:solidFill>
            <a:prstDash val="solid"/>
          </a:ln>
        </p:spPr>
      </p:sp>
      <p:sp>
        <p:nvSpPr>
          <p:cNvPr id="15" name="Text 13"/>
          <p:cNvSpPr/>
          <p:nvPr/>
        </p:nvSpPr>
        <p:spPr>
          <a:xfrm>
            <a:off x="621792" y="3913632"/>
            <a:ext cx="3383280" cy="237744"/>
          </a:xfrm>
          <a:prstGeom prst="rect">
            <a:avLst/>
          </a:prstGeom>
          <a:noFill/>
          <a:ln/>
        </p:spPr>
        <p:txBody>
          <a:bodyPr wrap="square" lIns="0" tIns="0" rIns="0" bIns="0" rtlCol="0" anchor="ctr"/>
          <a:lstStyle/>
          <a:p>
            <a:pPr indent="0" marL="0">
              <a:buNone/>
            </a:pPr>
            <a:r>
              <a:rPr lang="en-US" sz="1150" b="1" dirty="0">
                <a:solidFill>
                  <a:srgbClr val="FFFFFF"/>
                </a:solidFill>
                <a:latin typeface="Calibri" pitchFamily="34" charset="0"/>
                <a:ea typeface="Calibri" pitchFamily="34" charset="-122"/>
                <a:cs typeface="Calibri" pitchFamily="34" charset="-120"/>
              </a:rPr>
              <a:t>Citi Velocity</a:t>
            </a:r>
            <a:endParaRPr lang="en-US" sz="1150" dirty="0"/>
          </a:p>
        </p:txBody>
      </p:sp>
      <p:sp>
        <p:nvSpPr>
          <p:cNvPr id="16" name="Text 14"/>
          <p:cNvSpPr/>
          <p:nvPr/>
        </p:nvSpPr>
        <p:spPr>
          <a:xfrm>
            <a:off x="621792" y="4206240"/>
            <a:ext cx="3383280" cy="1755648"/>
          </a:xfrm>
          <a:prstGeom prst="rect">
            <a:avLst/>
          </a:prstGeom>
          <a:noFill/>
          <a:ln/>
        </p:spPr>
        <p:txBody>
          <a:bodyPr wrap="square" lIns="0" tIns="0" rIns="0" bIns="0" rtlCol="0" anchor="t"/>
          <a:lstStyle/>
          <a:p>
            <a:pPr indent="0" marL="0">
              <a:lnSpc>
                <a:spcPts val="1131"/>
              </a:lnSpc>
              <a:spcAft>
                <a:spcPts val="300"/>
              </a:spcAft>
              <a:buNone/>
            </a:pPr>
            <a:r>
              <a:rPr lang="en-US" sz="870" b="1" dirty="0">
                <a:solidFill>
                  <a:srgbClr val="8FC4E8"/>
                </a:solidFill>
                <a:latin typeface="Calibri" pitchFamily="34" charset="0"/>
                <a:ea typeface="Calibri" pitchFamily="34" charset="-122"/>
                <a:cs typeface="Calibri" pitchFamily="34" charset="-120"/>
              </a:rPr>
              <a:t>Reach  </a:t>
            </a:r>
            <a:pPr indent="0" marL="0">
              <a:lnSpc>
                <a:spcPts val="1131"/>
              </a:lnSpc>
              <a:spcAft>
                <a:spcPts val="300"/>
              </a:spcAft>
              <a:buNone/>
            </a:pPr>
            <a:r>
              <a:rPr lang="en-US" sz="870" dirty="0">
                <a:solidFill>
                  <a:srgbClr val="E8F1F9"/>
                </a:solidFill>
                <a:latin typeface="Calibri" pitchFamily="34" charset="0"/>
                <a:ea typeface="Calibri" pitchFamily="34" charset="-122"/>
                <a:cs typeface="Calibri" pitchFamily="34" charset="-120"/>
              </a:rPr>
              <a:t>Bank-owned trading, analytics and content platform across desktop, web and mobile</a:t>
            </a:r>
            <a:endParaRPr lang="en-US" sz="870" dirty="0"/>
          </a:p>
          <a:p>
            <a:pPr indent="0" marL="0">
              <a:lnSpc>
                <a:spcPts val="1131"/>
              </a:lnSpc>
              <a:spcAft>
                <a:spcPts val="300"/>
              </a:spcAft>
              <a:buNone/>
            </a:pPr>
            <a:r>
              <a:rPr lang="en-US" sz="870" b="1" dirty="0">
                <a:solidFill>
                  <a:srgbClr val="8FC4E8"/>
                </a:solidFill>
                <a:latin typeface="Calibri" pitchFamily="34" charset="0"/>
                <a:ea typeface="Calibri" pitchFamily="34" charset="-122"/>
                <a:cs typeface="Calibri" pitchFamily="34" charset="-120"/>
              </a:rPr>
              <a:t>In-flight control  </a:t>
            </a:r>
            <a:pPr indent="0" marL="0">
              <a:lnSpc>
                <a:spcPts val="1131"/>
              </a:lnSpc>
              <a:spcAft>
                <a:spcPts val="300"/>
              </a:spcAft>
              <a:buNone/>
            </a:pPr>
            <a:r>
              <a:rPr lang="en-US" sz="870" dirty="0">
                <a:solidFill>
                  <a:srgbClr val="E8F1F9"/>
                </a:solidFill>
                <a:latin typeface="Calibri" pitchFamily="34" charset="0"/>
                <a:ea typeface="Calibri" pitchFamily="34" charset="-122"/>
                <a:cs typeface="Calibri" pitchFamily="34" charset="-120"/>
              </a:rPr>
              <a:t>Pre-trade, live and post-trade analytics with monitoring and amendment of algorithms in flight</a:t>
            </a:r>
            <a:endParaRPr lang="en-US" sz="870" dirty="0"/>
          </a:p>
          <a:p>
            <a:pPr indent="0" marL="0">
              <a:lnSpc>
                <a:spcPts val="1131"/>
              </a:lnSpc>
              <a:spcAft>
                <a:spcPts val="300"/>
              </a:spcAft>
              <a:buNone/>
            </a:pPr>
            <a:r>
              <a:rPr lang="en-US" sz="870" b="1" dirty="0">
                <a:solidFill>
                  <a:srgbClr val="8FC4E8"/>
                </a:solidFill>
                <a:latin typeface="Calibri" pitchFamily="34" charset="0"/>
                <a:ea typeface="Calibri" pitchFamily="34" charset="-122"/>
                <a:cs typeface="Calibri" pitchFamily="34" charset="-120"/>
              </a:rPr>
              <a:t>Integration  </a:t>
            </a:r>
            <a:pPr indent="0" marL="0">
              <a:lnSpc>
                <a:spcPts val="1131"/>
              </a:lnSpc>
              <a:spcAft>
                <a:spcPts val="300"/>
              </a:spcAft>
              <a:buNone/>
            </a:pPr>
            <a:r>
              <a:rPr lang="en-US" sz="870" dirty="0">
                <a:solidFill>
                  <a:srgbClr val="E8F1F9"/>
                </a:solidFill>
                <a:latin typeface="Calibri" pitchFamily="34" charset="0"/>
                <a:ea typeface="Calibri" pitchFamily="34" charset="-122"/>
                <a:cs typeface="Calibri" pitchFamily="34" charset="-120"/>
              </a:rPr>
              <a:t>Operates as a gateway, including hedging directly from a client's treasury or ERP system</a:t>
            </a:r>
            <a:endParaRPr lang="en-US" sz="870" dirty="0"/>
          </a:p>
        </p:txBody>
      </p:sp>
      <p:sp>
        <p:nvSpPr>
          <p:cNvPr id="17" name="Shape 15"/>
          <p:cNvSpPr/>
          <p:nvPr/>
        </p:nvSpPr>
        <p:spPr>
          <a:xfrm>
            <a:off x="4297680" y="3803904"/>
            <a:ext cx="3712464" cy="2286000"/>
          </a:xfrm>
          <a:prstGeom prst="roundRect">
            <a:avLst>
              <a:gd name="adj" fmla="val 2000"/>
            </a:avLst>
          </a:prstGeom>
          <a:solidFill>
            <a:srgbClr val="0A3D82"/>
          </a:solidFill>
          <a:ln w="9525">
            <a:solidFill>
              <a:srgbClr val="1E5A9E"/>
            </a:solidFill>
            <a:prstDash val="solid"/>
          </a:ln>
        </p:spPr>
      </p:sp>
      <p:sp>
        <p:nvSpPr>
          <p:cNvPr id="18" name="Text 16"/>
          <p:cNvSpPr/>
          <p:nvPr/>
        </p:nvSpPr>
        <p:spPr>
          <a:xfrm>
            <a:off x="4462272" y="3913632"/>
            <a:ext cx="3383280" cy="237744"/>
          </a:xfrm>
          <a:prstGeom prst="rect">
            <a:avLst/>
          </a:prstGeom>
          <a:noFill/>
          <a:ln/>
        </p:spPr>
        <p:txBody>
          <a:bodyPr wrap="square" lIns="0" tIns="0" rIns="0" bIns="0" rtlCol="0" anchor="ctr"/>
          <a:lstStyle/>
          <a:p>
            <a:pPr indent="0" marL="0">
              <a:buNone/>
            </a:pPr>
            <a:r>
              <a:rPr lang="en-US" sz="1150" b="1" dirty="0">
                <a:solidFill>
                  <a:srgbClr val="FFFFFF"/>
                </a:solidFill>
                <a:latin typeface="Calibri" pitchFamily="34" charset="0"/>
                <a:ea typeface="Calibri" pitchFamily="34" charset="-122"/>
                <a:cs typeface="Calibri" pitchFamily="34" charset="-120"/>
              </a:rPr>
              <a:t>Analytics and TCA</a:t>
            </a:r>
            <a:endParaRPr lang="en-US" sz="1150" dirty="0"/>
          </a:p>
        </p:txBody>
      </p:sp>
      <p:sp>
        <p:nvSpPr>
          <p:cNvPr id="19" name="Text 17"/>
          <p:cNvSpPr/>
          <p:nvPr/>
        </p:nvSpPr>
        <p:spPr>
          <a:xfrm>
            <a:off x="4462272" y="4206240"/>
            <a:ext cx="3383280" cy="1755648"/>
          </a:xfrm>
          <a:prstGeom prst="rect">
            <a:avLst/>
          </a:prstGeom>
          <a:noFill/>
          <a:ln/>
        </p:spPr>
        <p:txBody>
          <a:bodyPr wrap="square" lIns="0" tIns="0" rIns="0" bIns="0" rtlCol="0" anchor="t"/>
          <a:lstStyle/>
          <a:p>
            <a:pPr indent="0" marL="0">
              <a:lnSpc>
                <a:spcPts val="1131"/>
              </a:lnSpc>
              <a:spcAft>
                <a:spcPts val="300"/>
              </a:spcAft>
              <a:buNone/>
            </a:pPr>
            <a:r>
              <a:rPr lang="en-US" sz="870" b="1" dirty="0">
                <a:solidFill>
                  <a:srgbClr val="8FC4E8"/>
                </a:solidFill>
                <a:latin typeface="Calibri" pitchFamily="34" charset="0"/>
                <a:ea typeface="Calibri" pitchFamily="34" charset="-122"/>
                <a:cs typeface="Calibri" pitchFamily="34" charset="-120"/>
              </a:rPr>
              <a:t>Real time  </a:t>
            </a:r>
            <a:pPr indent="0" marL="0">
              <a:lnSpc>
                <a:spcPts val="1131"/>
              </a:lnSpc>
              <a:spcAft>
                <a:spcPts val="300"/>
              </a:spcAft>
              <a:buNone/>
            </a:pPr>
            <a:r>
              <a:rPr lang="en-US" sz="870" dirty="0">
                <a:solidFill>
                  <a:srgbClr val="E8F1F9"/>
                </a:solidFill>
                <a:latin typeface="Calibri" pitchFamily="34" charset="0"/>
                <a:ea typeface="Calibri" pitchFamily="34" charset="-122"/>
                <a:cs typeface="Calibri" pitchFamily="34" charset="-120"/>
              </a:rPr>
              <a:t>Real-time transaction cost analysis, child-order breakdown and pre-trade analytics</a:t>
            </a:r>
            <a:endParaRPr lang="en-US" sz="870" dirty="0"/>
          </a:p>
          <a:p>
            <a:pPr indent="0" marL="0">
              <a:lnSpc>
                <a:spcPts val="1131"/>
              </a:lnSpc>
              <a:spcAft>
                <a:spcPts val="300"/>
              </a:spcAft>
              <a:buNone/>
            </a:pPr>
            <a:r>
              <a:rPr lang="en-US" sz="870" b="1" dirty="0">
                <a:solidFill>
                  <a:srgbClr val="8FC4E8"/>
                </a:solidFill>
                <a:latin typeface="Calibri" pitchFamily="34" charset="0"/>
                <a:ea typeface="Calibri" pitchFamily="34" charset="-122"/>
                <a:cs typeface="Calibri" pitchFamily="34" charset="-120"/>
              </a:rPr>
              <a:t>Independent  </a:t>
            </a:r>
            <a:pPr indent="0" marL="0">
              <a:lnSpc>
                <a:spcPts val="1131"/>
              </a:lnSpc>
              <a:spcAft>
                <a:spcPts val="300"/>
              </a:spcAft>
              <a:buNone/>
            </a:pPr>
            <a:r>
              <a:rPr lang="en-US" sz="870" dirty="0">
                <a:solidFill>
                  <a:srgbClr val="E8F1F9"/>
                </a:solidFill>
                <a:latin typeface="Calibri" pitchFamily="34" charset="0"/>
                <a:ea typeface="Calibri" pitchFamily="34" charset="-122"/>
                <a:cs typeface="Calibri" pitchFamily="34" charset="-120"/>
              </a:rPr>
              <a:t>Automated feed to third-party post-trade analysis</a:t>
            </a:r>
            <a:endParaRPr lang="en-US" sz="870" dirty="0"/>
          </a:p>
          <a:p>
            <a:pPr indent="0" marL="0">
              <a:lnSpc>
                <a:spcPts val="1131"/>
              </a:lnSpc>
              <a:spcAft>
                <a:spcPts val="300"/>
              </a:spcAft>
              <a:buNone/>
            </a:pPr>
            <a:r>
              <a:rPr lang="en-US" sz="870" b="1" dirty="0">
                <a:solidFill>
                  <a:srgbClr val="8FC4E8"/>
                </a:solidFill>
                <a:latin typeface="Calibri" pitchFamily="34" charset="0"/>
                <a:ea typeface="Calibri" pitchFamily="34" charset="-122"/>
                <a:cs typeface="Calibri" pitchFamily="34" charset="-120"/>
              </a:rPr>
              <a:t>Advisory  </a:t>
            </a:r>
            <a:pPr indent="0" marL="0">
              <a:lnSpc>
                <a:spcPts val="1131"/>
              </a:lnSpc>
              <a:spcAft>
                <a:spcPts val="300"/>
              </a:spcAft>
              <a:buNone/>
            </a:pPr>
            <a:r>
              <a:rPr lang="en-US" sz="870" dirty="0">
                <a:solidFill>
                  <a:srgbClr val="E8F1F9"/>
                </a:solidFill>
                <a:latin typeface="Calibri" pitchFamily="34" charset="0"/>
                <a:ea typeface="Calibri" pitchFamily="34" charset="-122"/>
                <a:cs typeface="Calibri" pitchFamily="34" charset="-120"/>
              </a:rPr>
              <a:t>Execution consultancy and quantitative research support</a:t>
            </a:r>
            <a:endParaRPr lang="en-US" sz="870" dirty="0"/>
          </a:p>
        </p:txBody>
      </p:sp>
      <p:sp>
        <p:nvSpPr>
          <p:cNvPr id="20" name="Shape 18"/>
          <p:cNvSpPr/>
          <p:nvPr/>
        </p:nvSpPr>
        <p:spPr>
          <a:xfrm>
            <a:off x="8138160" y="3803904"/>
            <a:ext cx="3712464" cy="2286000"/>
          </a:xfrm>
          <a:prstGeom prst="roundRect">
            <a:avLst>
              <a:gd name="adj" fmla="val 2000"/>
            </a:avLst>
          </a:prstGeom>
          <a:solidFill>
            <a:srgbClr val="056DAE"/>
          </a:solidFill>
          <a:ln w="9525">
            <a:solidFill>
              <a:srgbClr val="056DAE"/>
            </a:solidFill>
            <a:prstDash val="solid"/>
          </a:ln>
        </p:spPr>
      </p:sp>
      <p:sp>
        <p:nvSpPr>
          <p:cNvPr id="21" name="Text 19"/>
          <p:cNvSpPr/>
          <p:nvPr/>
        </p:nvSpPr>
        <p:spPr>
          <a:xfrm>
            <a:off x="8302752" y="3913632"/>
            <a:ext cx="3383280" cy="237744"/>
          </a:xfrm>
          <a:prstGeom prst="rect">
            <a:avLst/>
          </a:prstGeom>
          <a:noFill/>
          <a:ln/>
        </p:spPr>
        <p:txBody>
          <a:bodyPr wrap="square" lIns="0" tIns="0" rIns="0" bIns="0" rtlCol="0" anchor="ctr"/>
          <a:lstStyle/>
          <a:p>
            <a:pPr indent="0" marL="0">
              <a:buNone/>
            </a:pPr>
            <a:r>
              <a:rPr lang="en-US" sz="1150" b="1" dirty="0">
                <a:solidFill>
                  <a:srgbClr val="FFFFFF"/>
                </a:solidFill>
                <a:latin typeface="Calibri" pitchFamily="34" charset="0"/>
                <a:ea typeface="Calibri" pitchFamily="34" charset="-122"/>
                <a:cs typeface="Calibri" pitchFamily="34" charset="-120"/>
              </a:rPr>
              <a:t>Where to concentrate effort</a:t>
            </a:r>
            <a:endParaRPr lang="en-US" sz="1150" dirty="0"/>
          </a:p>
        </p:txBody>
      </p:sp>
      <p:sp>
        <p:nvSpPr>
          <p:cNvPr id="22" name="Text 20"/>
          <p:cNvSpPr/>
          <p:nvPr/>
        </p:nvSpPr>
        <p:spPr>
          <a:xfrm>
            <a:off x="8302752" y="4206240"/>
            <a:ext cx="3383280" cy="1755648"/>
          </a:xfrm>
          <a:prstGeom prst="rect">
            <a:avLst/>
          </a:prstGeom>
          <a:noFill/>
          <a:ln/>
        </p:spPr>
        <p:txBody>
          <a:bodyPr wrap="square" lIns="0" tIns="0" rIns="0" bIns="0" rtlCol="0" anchor="t"/>
          <a:lstStyle/>
          <a:p>
            <a:pPr indent="0" marL="0">
              <a:lnSpc>
                <a:spcPts val="1131"/>
              </a:lnSpc>
              <a:spcAft>
                <a:spcPts val="300"/>
              </a:spcAft>
              <a:buNone/>
            </a:pPr>
            <a:r>
              <a:rPr lang="en-US" sz="870" b="1" dirty="0">
                <a:solidFill>
                  <a:srgbClr val="FFFFFF"/>
                </a:solidFill>
                <a:latin typeface="Calibri" pitchFamily="34" charset="0"/>
                <a:ea typeface="Calibri" pitchFamily="34" charset="-122"/>
                <a:cs typeface="Calibri" pitchFamily="34" charset="-120"/>
              </a:rPr>
              <a:t>Given  </a:t>
            </a:r>
            <a:pPr indent="0" marL="0">
              <a:lnSpc>
                <a:spcPts val="1131"/>
              </a:lnSpc>
              <a:spcAft>
                <a:spcPts val="300"/>
              </a:spcAft>
              <a:buNone/>
            </a:pPr>
            <a:r>
              <a:rPr lang="en-US" sz="870" dirty="0">
                <a:solidFill>
                  <a:srgbClr val="FFFFFF"/>
                </a:solidFill>
                <a:latin typeface="Calibri" pitchFamily="34" charset="0"/>
                <a:ea typeface="Calibri" pitchFamily="34" charset="-122"/>
                <a:cs typeface="Calibri" pitchFamily="34" charset="-120"/>
              </a:rPr>
              <a:t>88% will not replace their EMS and 86% will not add one</a:t>
            </a:r>
            <a:endParaRPr lang="en-US" sz="870" dirty="0"/>
          </a:p>
          <a:p>
            <a:pPr indent="0" marL="0">
              <a:lnSpc>
                <a:spcPts val="1131"/>
              </a:lnSpc>
              <a:spcAft>
                <a:spcPts val="300"/>
              </a:spcAft>
              <a:buNone/>
            </a:pPr>
            <a:r>
              <a:rPr lang="en-US" sz="870" b="1" dirty="0">
                <a:solidFill>
                  <a:srgbClr val="FFFFFF"/>
                </a:solidFill>
                <a:latin typeface="Calibri" pitchFamily="34" charset="0"/>
                <a:ea typeface="Calibri" pitchFamily="34" charset="-122"/>
                <a:cs typeface="Calibri" pitchFamily="34" charset="-120"/>
              </a:rPr>
              <a:t>The objective is  </a:t>
            </a:r>
            <a:pPr indent="0" marL="0">
              <a:lnSpc>
                <a:spcPts val="1131"/>
              </a:lnSpc>
              <a:spcAft>
                <a:spcPts val="300"/>
              </a:spcAft>
              <a:buNone/>
            </a:pPr>
            <a:r>
              <a:rPr lang="en-US" sz="870" dirty="0">
                <a:solidFill>
                  <a:srgbClr val="FFFFFF"/>
                </a:solidFill>
                <a:latin typeface="Calibri" pitchFamily="34" charset="0"/>
                <a:ea typeface="Calibri" pitchFamily="34" charset="-122"/>
                <a:cs typeface="Calibri" pitchFamily="34" charset="-120"/>
              </a:rPr>
              <a:t>presence and quality within the incumbent platform: certification coverage, algorithm parameter richness and algo-wheel eligibility</a:t>
            </a:r>
            <a:endParaRPr lang="en-US" sz="870" dirty="0"/>
          </a:p>
          <a:p>
            <a:pPr indent="0" marL="0">
              <a:lnSpc>
                <a:spcPts val="1131"/>
              </a:lnSpc>
              <a:spcAft>
                <a:spcPts val="300"/>
              </a:spcAft>
              <a:buNone/>
            </a:pPr>
            <a:r>
              <a:rPr lang="en-US" sz="870" b="1" dirty="0">
                <a:solidFill>
                  <a:srgbClr val="FFFFFF"/>
                </a:solidFill>
                <a:latin typeface="Calibri" pitchFamily="34" charset="0"/>
                <a:ea typeface="Calibri" pitchFamily="34" charset="-122"/>
                <a:cs typeface="Calibri" pitchFamily="34" charset="-120"/>
              </a:rPr>
              <a:t>Documented openings  </a:t>
            </a:r>
            <a:pPr indent="0" marL="0">
              <a:lnSpc>
                <a:spcPts val="1131"/>
              </a:lnSpc>
              <a:spcAft>
                <a:spcPts val="300"/>
              </a:spcAft>
              <a:buNone/>
            </a:pPr>
            <a:r>
              <a:rPr lang="en-US" sz="870" dirty="0">
                <a:solidFill>
                  <a:srgbClr val="FFFFFF"/>
                </a:solidFill>
                <a:latin typeface="Calibri" pitchFamily="34" charset="0"/>
                <a:ea typeface="Calibri" pitchFamily="34" charset="-122"/>
                <a:cs typeface="Calibri" pitchFamily="34" charset="-120"/>
              </a:rPr>
              <a:t>FX and fixed income coverage gaps; TORA's APAC concentration; limited execution depth in front-to-back platforms</a:t>
            </a:r>
            <a:endParaRPr lang="en-US" sz="870" dirty="0"/>
          </a:p>
        </p:txBody>
      </p:sp>
      <p:sp>
        <p:nvSpPr>
          <p:cNvPr id="23" name="Text 21"/>
          <p:cNvSpPr/>
          <p:nvPr/>
        </p:nvSpPr>
        <p:spPr>
          <a:xfrm>
            <a:off x="457200" y="6291072"/>
            <a:ext cx="11274552" cy="365760"/>
          </a:xfrm>
          <a:prstGeom prst="rect">
            <a:avLst/>
          </a:prstGeom>
          <a:noFill/>
          <a:ln/>
        </p:spPr>
        <p:txBody>
          <a:bodyPr wrap="square" lIns="0" tIns="0" rIns="0" bIns="0" rtlCol="0" anchor="t"/>
          <a:lstStyle/>
          <a:p>
            <a:pPr indent="0" marL="0">
              <a:buNone/>
            </a:pPr>
            <a:r>
              <a:rPr lang="en-US" sz="830" dirty="0">
                <a:solidFill>
                  <a:srgbClr val="7A8A99"/>
                </a:solidFill>
                <a:latin typeface="Calibri" pitchFamily="34" charset="0"/>
                <a:ea typeface="Calibri" pitchFamily="34" charset="-122"/>
                <a:cs typeface="Calibri" pitchFamily="34" charset="-120"/>
              </a:rPr>
              <a:t>Sources: Citi Markets FX pages; CitiFX Algo platform materials; FX Algo News on Citi Velocity Dynamic Algos and NDF coverage; Markets Media on Citi options algorithms; The TRADE vendor guide on Citi Match and smart order routing.</a:t>
            </a:r>
            <a:endParaRPr lang="en-US" sz="83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457200" y="237744"/>
            <a:ext cx="11274552" cy="219456"/>
          </a:xfrm>
          <a:prstGeom prst="rect">
            <a:avLst/>
          </a:prstGeom>
          <a:noFill/>
          <a:ln/>
        </p:spPr>
        <p:txBody>
          <a:bodyPr wrap="square" lIns="0" tIns="0" rIns="0" bIns="0" rtlCol="0" anchor="ctr"/>
          <a:lstStyle/>
          <a:p>
            <a:pPr indent="0" marL="0">
              <a:buNone/>
            </a:pPr>
            <a:r>
              <a:rPr lang="en-US" sz="1000" b="1" spc="140" kern="0" dirty="0">
                <a:solidFill>
                  <a:srgbClr val="056DAE"/>
                </a:solidFill>
                <a:latin typeface="Calibri" pitchFamily="34" charset="0"/>
                <a:ea typeface="Calibri" pitchFamily="34" charset="-122"/>
                <a:cs typeface="Calibri" pitchFamily="34" charset="-120"/>
              </a:rPr>
              <a:t>APPENDIX</a:t>
            </a:r>
            <a:endParaRPr lang="en-US" sz="1000" dirty="0"/>
          </a:p>
        </p:txBody>
      </p:sp>
      <p:sp>
        <p:nvSpPr>
          <p:cNvPr id="3" name="Text 1"/>
          <p:cNvSpPr/>
          <p:nvPr/>
        </p:nvSpPr>
        <p:spPr>
          <a:xfrm>
            <a:off x="457200" y="457200"/>
            <a:ext cx="11274552" cy="512064"/>
          </a:xfrm>
          <a:prstGeom prst="rect">
            <a:avLst/>
          </a:prstGeom>
          <a:noFill/>
          <a:ln/>
        </p:spPr>
        <p:txBody>
          <a:bodyPr wrap="square" lIns="0" tIns="0" rIns="0" bIns="0" rtlCol="0" anchor="t"/>
          <a:lstStyle/>
          <a:p>
            <a:pPr indent="0" marL="0">
              <a:buNone/>
            </a:pPr>
            <a:r>
              <a:rPr lang="en-US" sz="2500" b="1" dirty="0">
                <a:solidFill>
                  <a:srgbClr val="002D72"/>
                </a:solidFill>
                <a:latin typeface="Cambria" pitchFamily="34" charset="0"/>
                <a:ea typeface="Cambria" pitchFamily="34" charset="-122"/>
                <a:cs typeface="Cambria" pitchFamily="34" charset="-120"/>
              </a:rPr>
              <a:t>Appendix: outstanding inputs, references and limitations</a:t>
            </a:r>
            <a:endParaRPr lang="en-US" sz="2500" dirty="0"/>
          </a:p>
        </p:txBody>
      </p:sp>
      <p:sp>
        <p:nvSpPr>
          <p:cNvPr id="4" name="Shape 2"/>
          <p:cNvSpPr/>
          <p:nvPr/>
        </p:nvSpPr>
        <p:spPr>
          <a:xfrm>
            <a:off x="457200" y="1042416"/>
            <a:ext cx="5541264" cy="2286000"/>
          </a:xfrm>
          <a:prstGeom prst="roundRect">
            <a:avLst>
              <a:gd name="adj" fmla="val 2000"/>
            </a:avLst>
          </a:prstGeom>
          <a:solidFill>
            <a:srgbClr val="FDF6E8"/>
          </a:solidFill>
          <a:ln w="9525">
            <a:solidFill>
              <a:srgbClr val="EBD9B8"/>
            </a:solidFill>
            <a:prstDash val="solid"/>
          </a:ln>
        </p:spPr>
      </p:sp>
      <p:sp>
        <p:nvSpPr>
          <p:cNvPr id="5" name="Text 3"/>
          <p:cNvSpPr/>
          <p:nvPr/>
        </p:nvSpPr>
        <p:spPr>
          <a:xfrm>
            <a:off x="676656" y="1152144"/>
            <a:ext cx="5102352" cy="237744"/>
          </a:xfrm>
          <a:prstGeom prst="rect">
            <a:avLst/>
          </a:prstGeom>
          <a:noFill/>
          <a:ln/>
        </p:spPr>
        <p:txBody>
          <a:bodyPr wrap="square" lIns="0" tIns="0" rIns="0" bIns="0" rtlCol="0" anchor="ctr"/>
          <a:lstStyle/>
          <a:p>
            <a:pPr indent="0" marL="0">
              <a:buNone/>
            </a:pPr>
            <a:r>
              <a:rPr lang="en-US" sz="1150" b="1" dirty="0">
                <a:solidFill>
                  <a:srgbClr val="002D72"/>
                </a:solidFill>
                <a:latin typeface="Calibri" pitchFamily="34" charset="0"/>
                <a:ea typeface="Calibri" pitchFamily="34" charset="-122"/>
                <a:cs typeface="Calibri" pitchFamily="34" charset="-120"/>
              </a:rPr>
              <a:t>Outstanding internal inputs</a:t>
            </a:r>
            <a:endParaRPr lang="en-US" sz="1150" dirty="0"/>
          </a:p>
        </p:txBody>
      </p:sp>
      <p:sp>
        <p:nvSpPr>
          <p:cNvPr id="6" name="Text 4"/>
          <p:cNvSpPr/>
          <p:nvPr/>
        </p:nvSpPr>
        <p:spPr>
          <a:xfrm>
            <a:off x="676656" y="1444752"/>
            <a:ext cx="5102352" cy="1792224"/>
          </a:xfrm>
          <a:prstGeom prst="rect">
            <a:avLst/>
          </a:prstGeom>
          <a:noFill/>
          <a:ln/>
        </p:spPr>
        <p:txBody>
          <a:bodyPr wrap="square" lIns="0" tIns="0" rIns="0" bIns="0" rtlCol="0" anchor="t"/>
          <a:lstStyle/>
          <a:p>
            <a:pPr indent="0" marL="0">
              <a:lnSpc>
                <a:spcPts val="1079"/>
              </a:lnSpc>
              <a:spcAft>
                <a:spcPts val="300"/>
              </a:spcAft>
              <a:buNone/>
            </a:pPr>
            <a:r>
              <a:rPr lang="en-US" sz="830" b="1" dirty="0">
                <a:solidFill>
                  <a:srgbClr val="002D72"/>
                </a:solidFill>
                <a:latin typeface="Calibri" pitchFamily="34" charset="0"/>
                <a:ea typeface="Calibri" pitchFamily="34" charset="-122"/>
                <a:cs typeface="Calibri" pitchFamily="34" charset="-120"/>
              </a:rPr>
              <a:t>A. Certification status.  </a:t>
            </a:r>
            <a:pPr indent="0" marL="0">
              <a:lnSpc>
                <a:spcPts val="1079"/>
              </a:lnSpc>
              <a:spcAft>
                <a:spcPts val="300"/>
              </a:spcAft>
              <a:buNone/>
            </a:pPr>
            <a:r>
              <a:rPr lang="en-US" sz="830" dirty="0">
                <a:solidFill>
                  <a:srgbClr val="3F5265"/>
                </a:solidFill>
                <a:latin typeface="Calibri" pitchFamily="34" charset="0"/>
                <a:ea typeface="Calibri" pitchFamily="34" charset="-122"/>
                <a:cs typeface="Calibri" pitchFamily="34" charset="-120"/>
              </a:rPr>
              <a:t>The register at p4 lists the vendor universe and connectivity models but cannot state which links are live for Citi. To be completed by Technology (Chandana Satyanarayana, with Swarajpal Singh copied), recording asset classes certified, region, protocol, algorithm suites live and wheel eligibility.</a:t>
            </a:r>
            <a:endParaRPr lang="en-US" sz="830" dirty="0"/>
          </a:p>
          <a:p>
            <a:pPr indent="0" marL="0">
              <a:lnSpc>
                <a:spcPts val="1079"/>
              </a:lnSpc>
              <a:spcAft>
                <a:spcPts val="300"/>
              </a:spcAft>
              <a:buNone/>
            </a:pPr>
            <a:r>
              <a:rPr lang="en-US" sz="830" b="1" dirty="0">
                <a:solidFill>
                  <a:srgbClr val="002D72"/>
                </a:solidFill>
                <a:latin typeface="Calibri" pitchFamily="34" charset="0"/>
                <a:ea typeface="Calibri" pitchFamily="34" charset="-122"/>
                <a:cs typeface="Calibri" pitchFamily="34" charset="-120"/>
              </a:rPr>
              <a:t>B. Citi client distribution.  </a:t>
            </a:r>
            <a:pPr indent="0" marL="0">
              <a:lnSpc>
                <a:spcPts val="1079"/>
              </a:lnSpc>
              <a:spcAft>
                <a:spcPts val="300"/>
              </a:spcAft>
              <a:buNone/>
            </a:pPr>
            <a:r>
              <a:rPr lang="en-US" sz="830" dirty="0">
                <a:solidFill>
                  <a:srgbClr val="3F5265"/>
                </a:solidFill>
                <a:latin typeface="Calibri" pitchFamily="34" charset="0"/>
                <a:ea typeface="Calibri" pitchFamily="34" charset="-122"/>
                <a:cs typeface="Calibri" pitchFamily="34" charset="-120"/>
              </a:rPr>
              <a:t>Page 5 quantifies vendor adoption across the buy side as a whole. Citi's own client distribution by vendor is internal. Banded counts segmented by client type are recommended over exact figures: simpler to clear, sufficient for the purpose, and avoiding any band small enough to identify a client.</a:t>
            </a:r>
            <a:endParaRPr lang="en-US" sz="830" dirty="0"/>
          </a:p>
          <a:p>
            <a:pPr indent="0" marL="0">
              <a:lnSpc>
                <a:spcPts val="1079"/>
              </a:lnSpc>
              <a:spcAft>
                <a:spcPts val="300"/>
              </a:spcAft>
              <a:buNone/>
            </a:pPr>
            <a:r>
              <a:rPr lang="en-US" sz="830" b="1" dirty="0">
                <a:solidFill>
                  <a:srgbClr val="002D72"/>
                </a:solidFill>
                <a:latin typeface="Calibri" pitchFamily="34" charset="0"/>
                <a:ea typeface="Calibri" pitchFamily="34" charset="-122"/>
                <a:cs typeface="Calibri" pitchFamily="34" charset="-120"/>
              </a:rPr>
              <a:t>Handling.  </a:t>
            </a:r>
            <a:pPr indent="0" marL="0">
              <a:lnSpc>
                <a:spcPts val="1079"/>
              </a:lnSpc>
              <a:spcAft>
                <a:spcPts val="300"/>
              </a:spcAft>
              <a:buNone/>
            </a:pPr>
            <a:r>
              <a:rPr lang="en-US" sz="830" dirty="0">
                <a:solidFill>
                  <a:srgbClr val="3F5265"/>
                </a:solidFill>
                <a:latin typeface="Calibri" pitchFamily="34" charset="0"/>
                <a:ea typeface="Calibri" pitchFamily="34" charset="-122"/>
                <a:cs typeface="Calibri" pitchFamily="34" charset="-120"/>
              </a:rPr>
              <a:t>Once populated, the combined document becomes internal and client-confidential. Maintain the public research and the internal register as separate files, and confirm classification with Compliance before circulation.</a:t>
            </a:r>
            <a:endParaRPr lang="en-US" sz="830" dirty="0"/>
          </a:p>
        </p:txBody>
      </p:sp>
      <p:sp>
        <p:nvSpPr>
          <p:cNvPr id="7" name="Shape 5"/>
          <p:cNvSpPr/>
          <p:nvPr/>
        </p:nvSpPr>
        <p:spPr>
          <a:xfrm>
            <a:off x="6190488" y="1042416"/>
            <a:ext cx="5541264" cy="2286000"/>
          </a:xfrm>
          <a:prstGeom prst="roundRect">
            <a:avLst>
              <a:gd name="adj" fmla="val 2000"/>
            </a:avLst>
          </a:prstGeom>
          <a:solidFill>
            <a:srgbClr val="EAF1F8"/>
          </a:solidFill>
          <a:ln w="9525">
            <a:solidFill>
              <a:srgbClr val="D6E4F0"/>
            </a:solidFill>
            <a:prstDash val="solid"/>
          </a:ln>
        </p:spPr>
      </p:sp>
      <p:sp>
        <p:nvSpPr>
          <p:cNvPr id="8" name="Text 6"/>
          <p:cNvSpPr/>
          <p:nvPr/>
        </p:nvSpPr>
        <p:spPr>
          <a:xfrm>
            <a:off x="6409944" y="1152144"/>
            <a:ext cx="5102352" cy="237744"/>
          </a:xfrm>
          <a:prstGeom prst="rect">
            <a:avLst/>
          </a:prstGeom>
          <a:noFill/>
          <a:ln/>
        </p:spPr>
        <p:txBody>
          <a:bodyPr wrap="square" lIns="0" tIns="0" rIns="0" bIns="0" rtlCol="0" anchor="ctr"/>
          <a:lstStyle/>
          <a:p>
            <a:pPr indent="0" marL="0">
              <a:buNone/>
            </a:pPr>
            <a:r>
              <a:rPr lang="en-US" sz="1150" b="1" dirty="0">
                <a:solidFill>
                  <a:srgbClr val="002D72"/>
                </a:solidFill>
                <a:latin typeface="Calibri" pitchFamily="34" charset="0"/>
                <a:ea typeface="Calibri" pitchFamily="34" charset="-122"/>
                <a:cs typeface="Calibri" pitchFamily="34" charset="-120"/>
              </a:rPr>
              <a:t>Primary sources</a:t>
            </a:r>
            <a:endParaRPr lang="en-US" sz="1150" dirty="0"/>
          </a:p>
        </p:txBody>
      </p:sp>
      <p:sp>
        <p:nvSpPr>
          <p:cNvPr id="9" name="Text 7"/>
          <p:cNvSpPr/>
          <p:nvPr/>
        </p:nvSpPr>
        <p:spPr>
          <a:xfrm>
            <a:off x="6409944" y="1444752"/>
            <a:ext cx="5102352" cy="1792224"/>
          </a:xfrm>
          <a:prstGeom prst="rect">
            <a:avLst/>
          </a:prstGeom>
          <a:noFill/>
          <a:ln/>
        </p:spPr>
        <p:txBody>
          <a:bodyPr wrap="square" lIns="0" tIns="0" rIns="0" bIns="0" rtlCol="0" anchor="t"/>
          <a:lstStyle/>
          <a:p>
            <a:pPr indent="0" marL="0">
              <a:lnSpc>
                <a:spcPts val="1079"/>
              </a:lnSpc>
              <a:spcAft>
                <a:spcPts val="300"/>
              </a:spcAft>
              <a:buNone/>
            </a:pPr>
            <a:r>
              <a:rPr lang="en-US" sz="830" b="1" dirty="0">
                <a:solidFill>
                  <a:srgbClr val="002D72"/>
                </a:solidFill>
                <a:latin typeface="Calibri" pitchFamily="34" charset="0"/>
                <a:ea typeface="Calibri" pitchFamily="34" charset="-122"/>
                <a:cs typeface="Calibri" pitchFamily="34" charset="-120"/>
              </a:rPr>
              <a:t>1.  </a:t>
            </a:r>
            <a:pPr indent="0" marL="0">
              <a:lnSpc>
                <a:spcPts val="1079"/>
              </a:lnSpc>
              <a:spcAft>
                <a:spcPts val="300"/>
              </a:spcAft>
              <a:buNone/>
            </a:pPr>
            <a:r>
              <a:rPr lang="en-US" sz="830" dirty="0">
                <a:solidFill>
                  <a:srgbClr val="3F5265"/>
                </a:solidFill>
                <a:latin typeface="Calibri" pitchFamily="34" charset="0"/>
                <a:ea typeface="Calibri" pitchFamily="34" charset="-122"/>
                <a:cs typeface="Calibri" pitchFamily="34" charset="-120"/>
              </a:rPr>
              <a:t>The TRADE, Execution Management Systems Survey 2025. Published October 2025; analysis by Datos Insights. 315+ respondents, approximately 500 evaluations, 20+ vendors rated, 10 profiled. Primary basis for all scores, client counts, ratings volumes and respondent characteristics.</a:t>
            </a:r>
            <a:endParaRPr lang="en-US" sz="830" dirty="0"/>
          </a:p>
          <a:p>
            <a:pPr indent="0" marL="0">
              <a:lnSpc>
                <a:spcPts val="1079"/>
              </a:lnSpc>
              <a:spcAft>
                <a:spcPts val="300"/>
              </a:spcAft>
              <a:buNone/>
            </a:pPr>
            <a:r>
              <a:rPr lang="en-US" sz="830" b="1" dirty="0">
                <a:solidFill>
                  <a:srgbClr val="002D72"/>
                </a:solidFill>
                <a:latin typeface="Calibri" pitchFamily="34" charset="0"/>
                <a:ea typeface="Calibri" pitchFamily="34" charset="-122"/>
                <a:cs typeface="Calibri" pitchFamily="34" charset="-120"/>
              </a:rPr>
              <a:t>2.  </a:t>
            </a:r>
            <a:pPr indent="0" marL="0">
              <a:lnSpc>
                <a:spcPts val="1079"/>
              </a:lnSpc>
              <a:spcAft>
                <a:spcPts val="300"/>
              </a:spcAft>
              <a:buNone/>
            </a:pPr>
            <a:r>
              <a:rPr lang="en-US" sz="830" dirty="0">
                <a:solidFill>
                  <a:srgbClr val="3F5265"/>
                </a:solidFill>
                <a:latin typeface="Calibri" pitchFamily="34" charset="0"/>
                <a:ea typeface="Calibri" pitchFamily="34" charset="-122"/>
                <a:cs typeface="Calibri" pitchFamily="34" charset="-120"/>
              </a:rPr>
              <a:t>The TRADE, Execution Management Systems Survey 2024. Year-on-year movements and prior-period client counts.</a:t>
            </a:r>
            <a:endParaRPr lang="en-US" sz="830" dirty="0"/>
          </a:p>
          <a:p>
            <a:pPr indent="0" marL="0">
              <a:lnSpc>
                <a:spcPts val="1079"/>
              </a:lnSpc>
              <a:spcAft>
                <a:spcPts val="300"/>
              </a:spcAft>
              <a:buNone/>
            </a:pPr>
            <a:r>
              <a:rPr lang="en-US" sz="830" b="1" dirty="0">
                <a:solidFill>
                  <a:srgbClr val="002D72"/>
                </a:solidFill>
                <a:latin typeface="Calibri" pitchFamily="34" charset="0"/>
                <a:ea typeface="Calibri" pitchFamily="34" charset="-122"/>
                <a:cs typeface="Calibri" pitchFamily="34" charset="-120"/>
              </a:rPr>
              <a:t>3.  </a:t>
            </a:r>
            <a:pPr indent="0" marL="0">
              <a:lnSpc>
                <a:spcPts val="1079"/>
              </a:lnSpc>
              <a:spcAft>
                <a:spcPts val="300"/>
              </a:spcAft>
              <a:buNone/>
            </a:pPr>
            <a:r>
              <a:rPr lang="en-US" sz="830" dirty="0">
                <a:solidFill>
                  <a:srgbClr val="3F5265"/>
                </a:solidFill>
                <a:latin typeface="Calibri" pitchFamily="34" charset="0"/>
                <a:ea typeface="Calibri" pitchFamily="34" charset="-122"/>
                <a:cs typeface="Calibri" pitchFamily="34" charset="-120"/>
              </a:rPr>
              <a:t>Crisil Coalition Greenwich, “U.S. Equities OMS and EMS 2025: The Buy-Side View.” August 2025; 40 North American buy-side equity traders interviewed July–September 2024.</a:t>
            </a:r>
            <a:endParaRPr lang="en-US" sz="830" dirty="0"/>
          </a:p>
          <a:p>
            <a:pPr indent="0" marL="0">
              <a:lnSpc>
                <a:spcPts val="1079"/>
              </a:lnSpc>
              <a:spcAft>
                <a:spcPts val="300"/>
              </a:spcAft>
              <a:buNone/>
            </a:pPr>
            <a:r>
              <a:rPr lang="en-US" sz="830" b="1" dirty="0">
                <a:solidFill>
                  <a:srgbClr val="002D72"/>
                </a:solidFill>
                <a:latin typeface="Calibri" pitchFamily="34" charset="0"/>
                <a:ea typeface="Calibri" pitchFamily="34" charset="-122"/>
                <a:cs typeface="Calibri" pitchFamily="34" charset="-120"/>
              </a:rPr>
              <a:t>4.  </a:t>
            </a:r>
            <a:pPr indent="0" marL="0">
              <a:lnSpc>
                <a:spcPts val="1079"/>
              </a:lnSpc>
              <a:spcAft>
                <a:spcPts val="300"/>
              </a:spcAft>
              <a:buNone/>
            </a:pPr>
            <a:r>
              <a:rPr lang="en-US" sz="830" dirty="0">
                <a:solidFill>
                  <a:srgbClr val="3F5265"/>
                </a:solidFill>
                <a:latin typeface="Calibri" pitchFamily="34" charset="0"/>
                <a:ea typeface="Calibri" pitchFamily="34" charset="-122"/>
                <a:cs typeface="Calibri" pitchFamily="34" charset="-120"/>
              </a:rPr>
              <a:t>Vendor primary disclosures: Bloomberg, Virtu, FlexTrade, LSEG, TS Imagine, SS&amp;C, FactSet, State Street, Clearwater Analytics, Trading Technologies, Adroit, Quod Financial, BlackRock.</a:t>
            </a:r>
            <a:endParaRPr lang="en-US" sz="830" dirty="0"/>
          </a:p>
          <a:p>
            <a:pPr indent="0" marL="0">
              <a:lnSpc>
                <a:spcPts val="1079"/>
              </a:lnSpc>
              <a:spcAft>
                <a:spcPts val="300"/>
              </a:spcAft>
              <a:buNone/>
            </a:pPr>
            <a:r>
              <a:rPr lang="en-US" sz="830" b="1" dirty="0">
                <a:solidFill>
                  <a:srgbClr val="002D72"/>
                </a:solidFill>
                <a:latin typeface="Calibri" pitchFamily="34" charset="0"/>
                <a:ea typeface="Calibri" pitchFamily="34" charset="-122"/>
                <a:cs typeface="Calibri" pitchFamily="34" charset="-120"/>
              </a:rPr>
              <a:t>5.  </a:t>
            </a:r>
            <a:pPr indent="0" marL="0">
              <a:lnSpc>
                <a:spcPts val="1079"/>
              </a:lnSpc>
              <a:spcAft>
                <a:spcPts val="300"/>
              </a:spcAft>
              <a:buNone/>
            </a:pPr>
            <a:r>
              <a:rPr lang="en-US" sz="830" dirty="0">
                <a:solidFill>
                  <a:srgbClr val="3F5265"/>
                </a:solidFill>
                <a:latin typeface="Calibri" pitchFamily="34" charset="0"/>
                <a:ea typeface="Calibri" pitchFamily="34" charset="-122"/>
                <a:cs typeface="Calibri" pitchFamily="34" charset="-120"/>
              </a:rPr>
              <a:t>Citi Markets and CitiFX published materials; FX Algo News; Markets Media; The TRADE vendor guide.</a:t>
            </a:r>
            <a:endParaRPr lang="en-US" sz="830" dirty="0"/>
          </a:p>
        </p:txBody>
      </p:sp>
      <p:sp>
        <p:nvSpPr>
          <p:cNvPr id="10" name="Shape 8"/>
          <p:cNvSpPr/>
          <p:nvPr/>
        </p:nvSpPr>
        <p:spPr>
          <a:xfrm>
            <a:off x="457200" y="3456432"/>
            <a:ext cx="5541264" cy="2286000"/>
          </a:xfrm>
          <a:prstGeom prst="roundRect">
            <a:avLst>
              <a:gd name="adj" fmla="val 2000"/>
            </a:avLst>
          </a:prstGeom>
          <a:solidFill>
            <a:srgbClr val="FBEDEC"/>
          </a:solidFill>
          <a:ln w="9525">
            <a:solidFill>
              <a:srgbClr val="F0C9C6"/>
            </a:solidFill>
            <a:prstDash val="solid"/>
          </a:ln>
        </p:spPr>
      </p:sp>
      <p:sp>
        <p:nvSpPr>
          <p:cNvPr id="11" name="Shape 9"/>
          <p:cNvSpPr/>
          <p:nvPr/>
        </p:nvSpPr>
        <p:spPr>
          <a:xfrm>
            <a:off x="457200" y="3456432"/>
            <a:ext cx="45720" cy="2286000"/>
          </a:xfrm>
          <a:prstGeom prst="rect">
            <a:avLst/>
          </a:prstGeom>
          <a:solidFill>
            <a:srgbClr val="D9261C"/>
          </a:solidFill>
          <a:ln w="12700">
            <a:solidFill>
              <a:srgbClr val="333333"/>
            </a:solidFill>
            <a:prstDash val="solid"/>
          </a:ln>
        </p:spPr>
      </p:sp>
      <p:sp>
        <p:nvSpPr>
          <p:cNvPr id="12" name="Text 10"/>
          <p:cNvSpPr/>
          <p:nvPr/>
        </p:nvSpPr>
        <p:spPr>
          <a:xfrm>
            <a:off x="713232" y="3566160"/>
            <a:ext cx="5029200" cy="237744"/>
          </a:xfrm>
          <a:prstGeom prst="rect">
            <a:avLst/>
          </a:prstGeom>
          <a:noFill/>
          <a:ln/>
        </p:spPr>
        <p:txBody>
          <a:bodyPr wrap="square" lIns="0" tIns="0" rIns="0" bIns="0" rtlCol="0" anchor="ctr"/>
          <a:lstStyle/>
          <a:p>
            <a:pPr indent="0" marL="0">
              <a:buNone/>
            </a:pPr>
            <a:r>
              <a:rPr lang="en-US" sz="1150" b="1" dirty="0">
                <a:solidFill>
                  <a:srgbClr val="002D72"/>
                </a:solidFill>
                <a:latin typeface="Calibri" pitchFamily="34" charset="0"/>
                <a:ea typeface="Calibri" pitchFamily="34" charset="-122"/>
                <a:cs typeface="Calibri" pitchFamily="34" charset="-120"/>
              </a:rPr>
              <a:t>Limitations — to be read before quoting any figure</a:t>
            </a:r>
            <a:endParaRPr lang="en-US" sz="1150" dirty="0"/>
          </a:p>
        </p:txBody>
      </p:sp>
      <p:sp>
        <p:nvSpPr>
          <p:cNvPr id="13" name="Text 11"/>
          <p:cNvSpPr/>
          <p:nvPr/>
        </p:nvSpPr>
        <p:spPr>
          <a:xfrm>
            <a:off x="713232" y="3858768"/>
            <a:ext cx="5029200" cy="1792224"/>
          </a:xfrm>
          <a:prstGeom prst="rect">
            <a:avLst/>
          </a:prstGeom>
          <a:noFill/>
          <a:ln/>
        </p:spPr>
        <p:txBody>
          <a:bodyPr wrap="square" lIns="0" tIns="0" rIns="0" bIns="0" rtlCol="0" anchor="t"/>
          <a:lstStyle/>
          <a:p>
            <a:pPr indent="0" marL="0">
              <a:lnSpc>
                <a:spcPts val="1079"/>
              </a:lnSpc>
              <a:spcAft>
                <a:spcPts val="300"/>
              </a:spcAft>
              <a:buNone/>
            </a:pPr>
            <a:r>
              <a:rPr lang="en-US" sz="830" b="1" dirty="0">
                <a:solidFill>
                  <a:srgbClr val="002D72"/>
                </a:solidFill>
                <a:latin typeface="Calibri" pitchFamily="34" charset="0"/>
                <a:ea typeface="Calibri" pitchFamily="34" charset="-122"/>
                <a:cs typeface="Calibri" pitchFamily="34" charset="-120"/>
              </a:rPr>
              <a:t>No audited share data exists.  </a:t>
            </a:r>
            <a:pPr indent="0" marL="0">
              <a:lnSpc>
                <a:spcPts val="1079"/>
              </a:lnSpc>
              <a:spcAft>
                <a:spcPts val="300"/>
              </a:spcAft>
              <a:buNone/>
            </a:pPr>
            <a:r>
              <a:rPr lang="en-US" sz="830" dirty="0">
                <a:solidFill>
                  <a:srgbClr val="3F5265"/>
                </a:solidFill>
                <a:latin typeface="Calibri" pitchFamily="34" charset="0"/>
                <a:ea typeface="Calibri" pitchFamily="34" charset="-122"/>
                <a:cs typeface="Calibri" pitchFamily="34" charset="-120"/>
              </a:rPr>
              <a:t>Revenue is not disclosed by segment by any owner. Every share-like figure in this document is a labelled proxy; a licensed Coalition Greenwich or Datos Insights extract is the only defensible route to a market-share number.</a:t>
            </a:r>
            <a:endParaRPr lang="en-US" sz="830" dirty="0"/>
          </a:p>
          <a:p>
            <a:pPr indent="0" marL="0">
              <a:lnSpc>
                <a:spcPts val="1079"/>
              </a:lnSpc>
              <a:spcAft>
                <a:spcPts val="300"/>
              </a:spcAft>
              <a:buNone/>
            </a:pPr>
            <a:r>
              <a:rPr lang="en-US" sz="830" b="1" dirty="0">
                <a:solidFill>
                  <a:srgbClr val="002D72"/>
                </a:solidFill>
                <a:latin typeface="Calibri" pitchFamily="34" charset="0"/>
                <a:ea typeface="Calibri" pitchFamily="34" charset="-122"/>
                <a:cs typeface="Calibri" pitchFamily="34" charset="-120"/>
              </a:rPr>
              <a:t>Client counts are vendor-stated.  </a:t>
            </a:r>
            <a:pPr indent="0" marL="0">
              <a:lnSpc>
                <a:spcPts val="1079"/>
              </a:lnSpc>
              <a:spcAft>
                <a:spcPts val="300"/>
              </a:spcAft>
              <a:buNone/>
            </a:pPr>
            <a:r>
              <a:rPr lang="en-US" sz="830" dirty="0">
                <a:solidFill>
                  <a:srgbClr val="3F5265"/>
                </a:solidFill>
                <a:latin typeface="Calibri" pitchFamily="34" charset="0"/>
                <a:ea typeface="Calibri" pitchFamily="34" charset="-122"/>
                <a:cs typeface="Calibri" pitchFamily="34" charset="-120"/>
              </a:rPr>
              <a:t>Definitions of “client” differ between providers, and a client may be a two-person fund or a $2tn manager.</a:t>
            </a:r>
            <a:endParaRPr lang="en-US" sz="830" dirty="0"/>
          </a:p>
          <a:p>
            <a:pPr indent="0" marL="0">
              <a:lnSpc>
                <a:spcPts val="1079"/>
              </a:lnSpc>
              <a:spcAft>
                <a:spcPts val="300"/>
              </a:spcAft>
              <a:buNone/>
            </a:pPr>
            <a:r>
              <a:rPr lang="en-US" sz="830" b="1" dirty="0">
                <a:solidFill>
                  <a:srgbClr val="002D72"/>
                </a:solidFill>
                <a:latin typeface="Calibri" pitchFamily="34" charset="0"/>
                <a:ea typeface="Calibri" pitchFamily="34" charset="-122"/>
                <a:cs typeface="Calibri" pitchFamily="34" charset="-120"/>
              </a:rPr>
              <a:t>Response bases are uneven.  </a:t>
            </a:r>
            <a:pPr indent="0" marL="0">
              <a:lnSpc>
                <a:spcPts val="1079"/>
              </a:lnSpc>
              <a:spcAft>
                <a:spcPts val="300"/>
              </a:spcAft>
              <a:buNone/>
            </a:pPr>
            <a:r>
              <a:rPr lang="en-US" sz="830" dirty="0">
                <a:solidFill>
                  <a:srgbClr val="3F5265"/>
                </a:solidFill>
                <a:latin typeface="Calibri" pitchFamily="34" charset="0"/>
                <a:ea typeface="Calibri" pitchFamily="34" charset="-122"/>
                <a:cs typeface="Calibri" pitchFamily="34" charset="-120"/>
              </a:rPr>
              <a:t>From 102 to 14 across profiled vendors; small-base scores are directional only.</a:t>
            </a:r>
            <a:endParaRPr lang="en-US" sz="830" dirty="0"/>
          </a:p>
          <a:p>
            <a:pPr indent="0" marL="0">
              <a:lnSpc>
                <a:spcPts val="1079"/>
              </a:lnSpc>
              <a:spcAft>
                <a:spcPts val="300"/>
              </a:spcAft>
              <a:buNone/>
            </a:pPr>
            <a:r>
              <a:rPr lang="en-US" sz="830" b="1" dirty="0">
                <a:solidFill>
                  <a:srgbClr val="002D72"/>
                </a:solidFill>
                <a:latin typeface="Calibri" pitchFamily="34" charset="0"/>
                <a:ea typeface="Calibri" pitchFamily="34" charset="-122"/>
                <a:cs typeface="Calibri" pitchFamily="34" charset="-120"/>
              </a:rPr>
              <a:t>An unresolved inconsistency.  </a:t>
            </a:r>
            <a:pPr indent="0" marL="0">
              <a:lnSpc>
                <a:spcPts val="1079"/>
              </a:lnSpc>
              <a:spcAft>
                <a:spcPts val="300"/>
              </a:spcAft>
              <a:buNone/>
            </a:pPr>
            <a:r>
              <a:rPr lang="en-US" sz="830" dirty="0">
                <a:solidFill>
                  <a:srgbClr val="3F5265"/>
                </a:solidFill>
                <a:latin typeface="Calibri" pitchFamily="34" charset="0"/>
                <a:ea typeface="Calibri" pitchFamily="34" charset="-122"/>
                <a:cs typeface="Calibri" pitchFamily="34" charset="-120"/>
              </a:rPr>
              <a:t>The 2025 survey text describes both Bloomberg (111 ratings) and Virtu (102) as the response leader. The counts are consistent; the ranking is not.</a:t>
            </a:r>
            <a:endParaRPr lang="en-US" sz="830" dirty="0"/>
          </a:p>
          <a:p>
            <a:pPr indent="0" marL="0">
              <a:lnSpc>
                <a:spcPts val="1079"/>
              </a:lnSpc>
              <a:spcAft>
                <a:spcPts val="300"/>
              </a:spcAft>
              <a:buNone/>
            </a:pPr>
            <a:r>
              <a:rPr lang="en-US" sz="830" b="1" dirty="0">
                <a:solidFill>
                  <a:srgbClr val="002D72"/>
                </a:solidFill>
                <a:latin typeface="Calibri" pitchFamily="34" charset="0"/>
                <a:ea typeface="Calibri" pitchFamily="34" charset="-122"/>
                <a:cs typeface="Calibri" pitchFamily="34" charset="-120"/>
              </a:rPr>
              <a:t>Survey composition.  </a:t>
            </a:r>
            <a:pPr indent="0" marL="0">
              <a:lnSpc>
                <a:spcPts val="1079"/>
              </a:lnSpc>
              <a:spcAft>
                <a:spcPts val="300"/>
              </a:spcAft>
              <a:buNone/>
            </a:pPr>
            <a:r>
              <a:rPr lang="en-US" sz="830" dirty="0">
                <a:solidFill>
                  <a:srgbClr val="3F5265"/>
                </a:solidFill>
                <a:latin typeface="Calibri" pitchFamily="34" charset="0"/>
                <a:ea typeface="Calibri" pitchFamily="34" charset="-122"/>
                <a:cs typeface="Calibri" pitchFamily="34" charset="-120"/>
              </a:rPr>
              <a:t>48% North America and 91% equities, so APAC and non-equity readings are less robust than the headline figures suggest.</a:t>
            </a:r>
            <a:endParaRPr lang="en-US" sz="830" dirty="0"/>
          </a:p>
        </p:txBody>
      </p:sp>
      <p:sp>
        <p:nvSpPr>
          <p:cNvPr id="14" name="Shape 12"/>
          <p:cNvSpPr/>
          <p:nvPr/>
        </p:nvSpPr>
        <p:spPr>
          <a:xfrm>
            <a:off x="6190488" y="3456432"/>
            <a:ext cx="5541264" cy="2286000"/>
          </a:xfrm>
          <a:prstGeom prst="roundRect">
            <a:avLst>
              <a:gd name="adj" fmla="val 2000"/>
            </a:avLst>
          </a:prstGeom>
          <a:solidFill>
            <a:srgbClr val="FFFFFF"/>
          </a:solidFill>
          <a:ln w="9525">
            <a:solidFill>
              <a:srgbClr val="D6E4F0"/>
            </a:solidFill>
            <a:prstDash val="solid"/>
          </a:ln>
        </p:spPr>
      </p:sp>
      <p:sp>
        <p:nvSpPr>
          <p:cNvPr id="15" name="Text 13"/>
          <p:cNvSpPr/>
          <p:nvPr/>
        </p:nvSpPr>
        <p:spPr>
          <a:xfrm>
            <a:off x="6409944" y="3566160"/>
            <a:ext cx="5102352" cy="237744"/>
          </a:xfrm>
          <a:prstGeom prst="rect">
            <a:avLst/>
          </a:prstGeom>
          <a:noFill/>
          <a:ln/>
        </p:spPr>
        <p:txBody>
          <a:bodyPr wrap="square" lIns="0" tIns="0" rIns="0" bIns="0" rtlCol="0" anchor="ctr"/>
          <a:lstStyle/>
          <a:p>
            <a:pPr indent="0" marL="0">
              <a:buNone/>
            </a:pPr>
            <a:r>
              <a:rPr lang="en-US" sz="1150" b="1" dirty="0">
                <a:solidFill>
                  <a:srgbClr val="002D72"/>
                </a:solidFill>
                <a:latin typeface="Calibri" pitchFamily="34" charset="0"/>
                <a:ea typeface="Calibri" pitchFamily="34" charset="-122"/>
                <a:cs typeface="Calibri" pitchFamily="34" charset="-120"/>
              </a:rPr>
              <a:t>Glossary</a:t>
            </a:r>
            <a:endParaRPr lang="en-US" sz="1150" dirty="0"/>
          </a:p>
        </p:txBody>
      </p:sp>
      <p:sp>
        <p:nvSpPr>
          <p:cNvPr id="16" name="Text 14"/>
          <p:cNvSpPr/>
          <p:nvPr/>
        </p:nvSpPr>
        <p:spPr>
          <a:xfrm>
            <a:off x="6409944" y="3858768"/>
            <a:ext cx="5102352" cy="1792224"/>
          </a:xfrm>
          <a:prstGeom prst="rect">
            <a:avLst/>
          </a:prstGeom>
          <a:noFill/>
          <a:ln/>
        </p:spPr>
        <p:txBody>
          <a:bodyPr wrap="square" lIns="0" tIns="0" rIns="0" bIns="0" rtlCol="0" anchor="t"/>
          <a:lstStyle/>
          <a:p>
            <a:pPr indent="0" marL="0">
              <a:lnSpc>
                <a:spcPts val="1079"/>
              </a:lnSpc>
              <a:spcAft>
                <a:spcPts val="300"/>
              </a:spcAft>
              <a:buNone/>
            </a:pPr>
            <a:r>
              <a:rPr lang="en-US" sz="830" b="1" dirty="0">
                <a:solidFill>
                  <a:srgbClr val="002D72"/>
                </a:solidFill>
                <a:latin typeface="Calibri" pitchFamily="34" charset="0"/>
                <a:ea typeface="Calibri" pitchFamily="34" charset="-122"/>
                <a:cs typeface="Calibri" pitchFamily="34" charset="-120"/>
              </a:rPr>
              <a:t>OMS  </a:t>
            </a:r>
            <a:pPr indent="0" marL="0">
              <a:lnSpc>
                <a:spcPts val="1079"/>
              </a:lnSpc>
              <a:spcAft>
                <a:spcPts val="300"/>
              </a:spcAft>
              <a:buNone/>
            </a:pPr>
            <a:r>
              <a:rPr lang="en-US" sz="830" dirty="0">
                <a:solidFill>
                  <a:srgbClr val="3F5265"/>
                </a:solidFill>
                <a:latin typeface="Calibri" pitchFamily="34" charset="0"/>
                <a:ea typeface="Calibri" pitchFamily="34" charset="-122"/>
                <a:cs typeface="Calibri" pitchFamily="34" charset="-120"/>
              </a:rPr>
              <a:t>Order Management System. Owns the order lifecycle, compliance rules and books and records.</a:t>
            </a:r>
            <a:endParaRPr lang="en-US" sz="830" dirty="0"/>
          </a:p>
          <a:p>
            <a:pPr indent="0" marL="0">
              <a:lnSpc>
                <a:spcPts val="1079"/>
              </a:lnSpc>
              <a:spcAft>
                <a:spcPts val="300"/>
              </a:spcAft>
              <a:buNone/>
            </a:pPr>
            <a:r>
              <a:rPr lang="en-US" sz="830" b="1" dirty="0">
                <a:solidFill>
                  <a:srgbClr val="002D72"/>
                </a:solidFill>
                <a:latin typeface="Calibri" pitchFamily="34" charset="0"/>
                <a:ea typeface="Calibri" pitchFamily="34" charset="-122"/>
                <a:cs typeface="Calibri" pitchFamily="34" charset="-120"/>
              </a:rPr>
              <a:t>EMS  </a:t>
            </a:r>
            <a:pPr indent="0" marL="0">
              <a:lnSpc>
                <a:spcPts val="1079"/>
              </a:lnSpc>
              <a:spcAft>
                <a:spcPts val="300"/>
              </a:spcAft>
              <a:buNone/>
            </a:pPr>
            <a:r>
              <a:rPr lang="en-US" sz="830" dirty="0">
                <a:solidFill>
                  <a:srgbClr val="3F5265"/>
                </a:solidFill>
                <a:latin typeface="Calibri" pitchFamily="34" charset="0"/>
                <a:ea typeface="Calibri" pitchFamily="34" charset="-122"/>
                <a:cs typeface="Calibri" pitchFamily="34" charset="-120"/>
              </a:rPr>
              <a:t>Execution Management System. Owns the route to market: broker algorithms, DMA, venue access and TCA.</a:t>
            </a:r>
            <a:endParaRPr lang="en-US" sz="830" dirty="0"/>
          </a:p>
          <a:p>
            <a:pPr indent="0" marL="0">
              <a:lnSpc>
                <a:spcPts val="1079"/>
              </a:lnSpc>
              <a:spcAft>
                <a:spcPts val="300"/>
              </a:spcAft>
              <a:buNone/>
            </a:pPr>
            <a:r>
              <a:rPr lang="en-US" sz="830" b="1" dirty="0">
                <a:solidFill>
                  <a:srgbClr val="002D72"/>
                </a:solidFill>
                <a:latin typeface="Calibri" pitchFamily="34" charset="0"/>
                <a:ea typeface="Calibri" pitchFamily="34" charset="-122"/>
                <a:cs typeface="Calibri" pitchFamily="34" charset="-120"/>
              </a:rPr>
              <a:t>OEMS  </a:t>
            </a:r>
            <a:pPr indent="0" marL="0">
              <a:lnSpc>
                <a:spcPts val="1079"/>
              </a:lnSpc>
              <a:spcAft>
                <a:spcPts val="300"/>
              </a:spcAft>
              <a:buNone/>
            </a:pPr>
            <a:r>
              <a:rPr lang="en-US" sz="830" dirty="0">
                <a:solidFill>
                  <a:srgbClr val="3F5265"/>
                </a:solidFill>
                <a:latin typeface="Calibri" pitchFamily="34" charset="0"/>
                <a:ea typeface="Calibri" pitchFamily="34" charset="-122"/>
                <a:cs typeface="Calibri" pitchFamily="34" charset="-120"/>
              </a:rPr>
              <a:t>Combined order and execution management within one platform and one contract.</a:t>
            </a:r>
            <a:endParaRPr lang="en-US" sz="830" dirty="0"/>
          </a:p>
          <a:p>
            <a:pPr indent="0" marL="0">
              <a:lnSpc>
                <a:spcPts val="1079"/>
              </a:lnSpc>
              <a:spcAft>
                <a:spcPts val="300"/>
              </a:spcAft>
              <a:buNone/>
            </a:pPr>
            <a:r>
              <a:rPr lang="en-US" sz="830" b="1" dirty="0">
                <a:solidFill>
                  <a:srgbClr val="002D72"/>
                </a:solidFill>
                <a:latin typeface="Calibri" pitchFamily="34" charset="0"/>
                <a:ea typeface="Calibri" pitchFamily="34" charset="-122"/>
                <a:cs typeface="Calibri" pitchFamily="34" charset="-120"/>
              </a:rPr>
              <a:t>Algo wheel  </a:t>
            </a:r>
            <a:pPr indent="0" marL="0">
              <a:lnSpc>
                <a:spcPts val="1079"/>
              </a:lnSpc>
              <a:spcAft>
                <a:spcPts val="300"/>
              </a:spcAft>
              <a:buNone/>
            </a:pPr>
            <a:r>
              <a:rPr lang="en-US" sz="830" dirty="0">
                <a:solidFill>
                  <a:srgbClr val="3F5265"/>
                </a:solidFill>
                <a:latin typeface="Calibri" pitchFamily="34" charset="0"/>
                <a:ea typeface="Calibri" pitchFamily="34" charset="-122"/>
                <a:cs typeface="Calibri" pitchFamily="34" charset="-120"/>
              </a:rPr>
              <a:t>Rules-based allocation of orders across broker algorithms. Eligibility is configured by the client within the EMS.</a:t>
            </a:r>
            <a:endParaRPr lang="en-US" sz="830" dirty="0"/>
          </a:p>
          <a:p>
            <a:pPr indent="0" marL="0">
              <a:lnSpc>
                <a:spcPts val="1079"/>
              </a:lnSpc>
              <a:spcAft>
                <a:spcPts val="300"/>
              </a:spcAft>
              <a:buNone/>
            </a:pPr>
            <a:r>
              <a:rPr lang="en-US" sz="830" b="1" dirty="0">
                <a:solidFill>
                  <a:srgbClr val="002D72"/>
                </a:solidFill>
                <a:latin typeface="Calibri" pitchFamily="34" charset="0"/>
                <a:ea typeface="Calibri" pitchFamily="34" charset="-122"/>
                <a:cs typeface="Calibri" pitchFamily="34" charset="-120"/>
              </a:rPr>
              <a:t>TCA  </a:t>
            </a:r>
            <a:pPr indent="0" marL="0">
              <a:lnSpc>
                <a:spcPts val="1079"/>
              </a:lnSpc>
              <a:spcAft>
                <a:spcPts val="300"/>
              </a:spcAft>
              <a:buNone/>
            </a:pPr>
            <a:r>
              <a:rPr lang="en-US" sz="830" dirty="0">
                <a:solidFill>
                  <a:srgbClr val="3F5265"/>
                </a:solidFill>
                <a:latin typeface="Calibri" pitchFamily="34" charset="0"/>
                <a:ea typeface="Calibri" pitchFamily="34" charset="-122"/>
                <a:cs typeface="Calibri" pitchFamily="34" charset="-120"/>
              </a:rPr>
              <a:t>Transaction Cost Analysis. Pre-trade, real-time or post-trade measurement of execution quality.</a:t>
            </a:r>
            <a:endParaRPr lang="en-US" sz="830" dirty="0"/>
          </a:p>
          <a:p>
            <a:pPr indent="0" marL="0">
              <a:lnSpc>
                <a:spcPts val="1079"/>
              </a:lnSpc>
              <a:spcAft>
                <a:spcPts val="300"/>
              </a:spcAft>
              <a:buNone/>
            </a:pPr>
            <a:r>
              <a:rPr lang="en-US" sz="830" b="1" dirty="0">
                <a:solidFill>
                  <a:srgbClr val="002D72"/>
                </a:solidFill>
                <a:latin typeface="Calibri" pitchFamily="34" charset="0"/>
                <a:ea typeface="Calibri" pitchFamily="34" charset="-122"/>
                <a:cs typeface="Calibri" pitchFamily="34" charset="-120"/>
              </a:rPr>
              <a:t>n/r  </a:t>
            </a:r>
            <a:pPr indent="0" marL="0">
              <a:lnSpc>
                <a:spcPts val="1079"/>
              </a:lnSpc>
              <a:spcAft>
                <a:spcPts val="300"/>
              </a:spcAft>
              <a:buNone/>
            </a:pPr>
            <a:r>
              <a:rPr lang="en-US" sz="830" dirty="0">
                <a:solidFill>
                  <a:srgbClr val="3F5265"/>
                </a:solidFill>
                <a:latin typeface="Calibri" pitchFamily="34" charset="0"/>
                <a:ea typeface="Calibri" pitchFamily="34" charset="-122"/>
                <a:cs typeface="Calibri" pitchFamily="34" charset="-120"/>
              </a:rPr>
              <a:t>Not rated — below the survey's profiling threshold, which is not a negative assessment.</a:t>
            </a:r>
            <a:endParaRPr lang="en-US" sz="830" dirty="0"/>
          </a:p>
        </p:txBody>
      </p:sp>
      <p:sp>
        <p:nvSpPr>
          <p:cNvPr id="17" name="Text 15"/>
          <p:cNvSpPr/>
          <p:nvPr/>
        </p:nvSpPr>
        <p:spPr>
          <a:xfrm>
            <a:off x="457200" y="6291072"/>
            <a:ext cx="11274552" cy="512064"/>
          </a:xfrm>
          <a:prstGeom prst="rect">
            <a:avLst/>
          </a:prstGeom>
          <a:noFill/>
          <a:ln/>
        </p:spPr>
        <p:txBody>
          <a:bodyPr wrap="square" lIns="0" tIns="0" rIns="0" bIns="0" rtlCol="0" anchor="t"/>
          <a:lstStyle/>
          <a:p>
            <a:pPr indent="0" marL="0">
              <a:lnSpc>
                <a:spcPts val="1060"/>
              </a:lnSpc>
              <a:buNone/>
            </a:pPr>
            <a:r>
              <a:rPr lang="en-US" sz="830" dirty="0">
                <a:solidFill>
                  <a:srgbClr val="7A8A99"/>
                </a:solidFill>
                <a:latin typeface="Calibri" pitchFamily="34" charset="0"/>
                <a:ea typeface="Calibri" pitchFamily="34" charset="-122"/>
                <a:cs typeface="Calibri" pitchFamily="34" charset="-120"/>
              </a:rPr>
              <a:t>Compiled July 2026. All figures public as at that date. This document contains no non-public Citi or client information. Scores, client counts and ratings volumes should be refreshed each September, when The TRADE publishes its annual survey.</a:t>
            </a:r>
            <a:endParaRPr lang="en-US" sz="83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11</Slides>
  <Notes>11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11</vt:i4>
      </vt:variant>
    </vt:vector>
  </HeadingPairs>
  <TitlesOfParts>
    <vt:vector size="1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Advising Clients on EMS Selection</dc:title>
  <dc:subject>PptxGenJS Presentation</dc:subject>
  <dc:creator>APAC Platform Sales - Quantitative Investment Solutions</dc:creator>
  <cp:lastModifiedBy>APAC Platform Sales - Quantitative Investment Solutions</cp:lastModifiedBy>
  <cp:revision>1</cp:revision>
  <dcterms:created xsi:type="dcterms:W3CDTF">2026-08-11T23:02:14Z</dcterms:created>
  <dcterms:modified xsi:type="dcterms:W3CDTF">2026-08-11T23:02:14Z</dcterms:modified>
</cp:coreProperties>
</file>